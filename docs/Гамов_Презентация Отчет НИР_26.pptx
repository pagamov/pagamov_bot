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4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1" lang="ru-RU" sz="2800" strike="noStrike" u="none">
                <a:solidFill>
                  <a:srgbClr val="595959"/>
                </a:solidFill>
                <a:uFillTx/>
                <a:latin typeface="Times New Roman"/>
                <a:ea typeface="DejaVu Sans"/>
              </a:rPr>
              <a:t>Результаты</a:t>
            </a:r>
            <a:r>
              <a:rPr b="1" lang="ru-RU" sz="2800" strike="noStrike" u="none">
                <a:solidFill>
                  <a:srgbClr val="595959"/>
                </a:solidFill>
                <a:uFillTx/>
                <a:latin typeface="Times New Roman"/>
                <a:ea typeface="DejaVu Sans"/>
              </a:rPr>
              <a:t> тестирования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Традиционные методы</c:v>
                </c:pt>
              </c:strCache>
            </c:strRef>
          </c:tx>
          <c:spPr>
            <a:solidFill>
              <a:srgbClr val="18a303"/>
            </a:solidFill>
            <a:ln w="0">
              <a:noFill/>
            </a:ln>
          </c:spPr>
          <c:invertIfNegative val="0"/>
          <c:dLbls>
            <c:numFmt formatCode="0%" sourceLinked="0"/>
            <c:spPr>
              <a:solidFill>
                <a:srgbClr val="ffffff"/>
              </a:solidFill>
            </c:spPr>
            <c:txPr>
              <a:bodyPr wrap="square"/>
              <a:lstStyle/>
              <a:p>
                <a:pPr>
                  <a:defRPr b="0" sz="1197" strike="noStrike" u="none">
                    <a:solidFill>
                      <a:srgbClr val="595959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Вовлеченность</c:v>
                </c:pt>
                <c:pt idx="1">
                  <c:v>Выполнение задач</c:v>
                </c:pt>
                <c:pt idx="2">
                  <c:v>Удержание</c:v>
                </c:pt>
              </c:strCache>
            </c:strRef>
          </c:cat>
          <c:val>
            <c:numRef>
              <c:f>0</c:f>
              <c:numCache>
                <c:formatCode>0%</c:formatCode>
                <c:ptCount val="3"/>
                <c:pt idx="0">
                  <c:v>0.34</c:v>
                </c:pt>
                <c:pt idx="1">
                  <c:v>0.42</c:v>
                </c:pt>
                <c:pt idx="2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Геймификация</c:v>
                </c:pt>
              </c:strCache>
            </c:strRef>
          </c:tx>
          <c:spPr>
            <a:solidFill>
              <a:srgbClr val="0369a3"/>
            </a:solidFill>
            <a:ln w="0">
              <a:noFill/>
            </a:ln>
          </c:spPr>
          <c:invertIfNegative val="0"/>
          <c:dLbls>
            <c:numFmt formatCode="0%" sourceLinked="0"/>
            <c:spPr>
              <a:solidFill>
                <a:srgbClr val="ffffff"/>
              </a:solidFill>
            </c:spPr>
            <c:txPr>
              <a:bodyPr wrap="square"/>
              <a:lstStyle/>
              <a:p>
                <a:pPr>
                  <a:defRPr b="0" sz="1197" strike="noStrike" u="none">
                    <a:solidFill>
                      <a:srgbClr val="595959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Вовлеченность</c:v>
                </c:pt>
                <c:pt idx="1">
                  <c:v>Выполнение задач</c:v>
                </c:pt>
                <c:pt idx="2">
                  <c:v>Удержание</c:v>
                </c:pt>
              </c:strCache>
            </c:strRef>
          </c:cat>
          <c:val>
            <c:numRef>
              <c:f>1</c:f>
              <c:numCache>
                <c:formatCode>0%</c:formatCode>
                <c:ptCount val="3"/>
                <c:pt idx="0">
                  <c:v>0.78</c:v>
                </c:pt>
                <c:pt idx="1">
                  <c:v>0.67</c:v>
                </c:pt>
                <c:pt idx="2">
                  <c:v>0.63</c:v>
                </c:pt>
              </c:numCache>
            </c:numRef>
          </c:val>
        </c:ser>
        <c:gapWidth val="219"/>
        <c:overlap val="-27"/>
        <c:axId val="55736033"/>
        <c:axId val="41624237"/>
      </c:barChart>
      <c:catAx>
        <c:axId val="557360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Arial"/>
                <a:ea typeface="DejaVu Sans"/>
              </a:defRPr>
            </a:pPr>
          </a:p>
        </c:txPr>
        <c:crossAx val="41624237"/>
        <c:crosses val="autoZero"/>
        <c:auto val="1"/>
        <c:lblAlgn val="ctr"/>
        <c:lblOffset val="100"/>
        <c:noMultiLvlLbl val="0"/>
      </c:catAx>
      <c:valAx>
        <c:axId val="41624237"/>
        <c:scaling>
          <c:orientation val="minMax"/>
        </c:scaling>
        <c:delete val="1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0%" sourceLinked="1"/>
        <c:majorTickMark val="none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55736033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trike="noStrike" u="none">
              <a:solidFill>
                <a:srgbClr val="595959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9CCBBCD-EDA0-44F9-98D9-991EB7CE301B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573120" y="1336680"/>
            <a:ext cx="6413040" cy="3607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BF72EE2-1C9D-45EB-9423-BA8CE5A70DBA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6F92BE-2794-4F0C-B16D-D6343D0ED314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22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0047BB-8A94-4874-826F-FBC3A8B24CD5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E1ABD6-1839-408B-BD26-06FCEB732561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ru-RU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0C05E56-3291-4110-BEC9-E64D236402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>
            <a:fillRect l="-10470" t="-11674" r="-10470" b="-11674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ftr" idx="10"/>
          </p:nvPr>
        </p:nvSpPr>
        <p:spPr>
          <a:xfrm>
            <a:off x="3339000" y="5256000"/>
            <a:ext cx="340164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11"/>
          </p:nvPr>
        </p:nvSpPr>
        <p:spPr>
          <a:xfrm>
            <a:off x="7119000" y="5256000"/>
            <a:ext cx="226764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24B473-7049-41D9-B63C-23A97585FE5F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2"/>
          </p:nvPr>
        </p:nvSpPr>
        <p:spPr>
          <a:xfrm>
            <a:off x="692640" y="5256000"/>
            <a:ext cx="226764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6"/>
          <p:cNvSpPr/>
          <p:nvPr/>
        </p:nvSpPr>
        <p:spPr>
          <a:xfrm>
            <a:off x="360000" y="2020320"/>
            <a:ext cx="45270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2400" strike="noStrike" u="non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Times New Roman"/>
                <a:ea typeface="Tahoma"/>
              </a:rPr>
              <a:t>Изучение использования элементов геймификации в неигровом контенте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22"/>
          <p:cNvSpPr/>
          <p:nvPr/>
        </p:nvSpPr>
        <p:spPr>
          <a:xfrm>
            <a:off x="360000" y="4465800"/>
            <a:ext cx="42667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Отчет о производственной практике: 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Гамов Павел Антонович ЭМС-271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23"/>
          <p:cNvSpPr/>
          <p:nvPr/>
        </p:nvSpPr>
        <p:spPr>
          <a:xfrm>
            <a:off x="360000" y="4864320"/>
            <a:ext cx="426672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Москва 2026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Цель и задачи исследования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Цель: Изучение применения игровых механик в боте для профилактики здоровых привычек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Ключевые задачи практики: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Анализ существующих решений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Разработка концепции чат-бота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Реализация прототипа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Тестирование эффективности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05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2" descr=""/>
          <p:cNvPicPr/>
          <p:nvPr/>
        </p:nvPicPr>
        <p:blipFill>
          <a:blip r:embed="rId1"/>
          <a:stretch/>
        </p:blipFill>
        <p:spPr>
          <a:xfrm>
            <a:off x="6140880" y="1732680"/>
            <a:ext cx="2475000" cy="247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Почему это важно?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64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60% взрослого населения страдает от нездоровых привычек (по данным ВОЗ)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Традиционные методы мотивации недостаточно эффективны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Средний пользователь проводит 6+ часов в день в цифровой среде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4+ млрд пользователей мессенджеров ежедневно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05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6" name="Рисунок 28" descr=""/>
          <p:cNvPicPr/>
          <p:nvPr/>
        </p:nvPicPr>
        <p:blipFill>
          <a:blip r:embed="rId1"/>
          <a:stretch/>
        </p:blipFill>
        <p:spPr>
          <a:xfrm>
            <a:off x="5397480" y="1260000"/>
            <a:ext cx="4142160" cy="305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Что такое геймификация?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0" y="1326600"/>
            <a:ext cx="4534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Процесс применения игровых элементов в неигровых контекстах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Ключевые элементы: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Системы наград и достижений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Прогресс-бары и уровни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Социальные элементы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Мгновенная обратная связь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9" name="Picture 2" descr="Геймификация - что это такое в образовании и бизнесе | принципы и  инструменты геймификации"/>
          <p:cNvPicPr/>
          <p:nvPr/>
        </p:nvPicPr>
        <p:blipFill>
          <a:blip r:embed="rId1"/>
          <a:stretch/>
        </p:blipFill>
        <p:spPr>
          <a:xfrm>
            <a:off x="461520" y="1362960"/>
            <a:ext cx="4253040" cy="318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1" descr=""/>
          <p:cNvPicPr/>
          <p:nvPr/>
        </p:nvPicPr>
        <p:blipFill>
          <a:blip r:embed="rId1"/>
          <a:stretch/>
        </p:blipFill>
        <p:spPr>
          <a:xfrm>
            <a:off x="5040000" y="2520000"/>
            <a:ext cx="2739240" cy="14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Что уже есть на рынке?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640" cy="383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Образование: Duolingo (очки опыта, уровни)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Фитнес: Fitbit, Nike Run Club (награды, соц. сравнение)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Здоровье: Habitica (RPG-подход), Streaks (прогресс, напоминания)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Основные ограничения: зависимость от дисциплины, отсутствие соц. поддержки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3" name="Рисунок 34" descr=""/>
          <p:cNvPicPr/>
          <p:nvPr/>
        </p:nvPicPr>
        <p:blipFill>
          <a:blip r:embed="rId2"/>
          <a:stretch/>
        </p:blipFill>
        <p:spPr>
          <a:xfrm>
            <a:off x="5220000" y="720000"/>
            <a:ext cx="1439640" cy="126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Рисунок 35" descr=""/>
          <p:cNvPicPr/>
          <p:nvPr/>
        </p:nvPicPr>
        <p:blipFill>
          <a:blip r:embed="rId3"/>
          <a:stretch/>
        </p:blipFill>
        <p:spPr>
          <a:xfrm>
            <a:off x="6660000" y="1620000"/>
            <a:ext cx="1439640" cy="14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" name="Рисунок 36" descr=""/>
          <p:cNvPicPr/>
          <p:nvPr/>
        </p:nvPicPr>
        <p:blipFill>
          <a:blip r:embed="rId4"/>
          <a:stretch/>
        </p:blipFill>
        <p:spPr>
          <a:xfrm>
            <a:off x="8280000" y="1620000"/>
            <a:ext cx="1439640" cy="14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Рисунок 37" descr=""/>
          <p:cNvPicPr/>
          <p:nvPr/>
        </p:nvPicPr>
        <p:blipFill>
          <a:blip r:embed="rId5"/>
          <a:stretch/>
        </p:blipFill>
        <p:spPr>
          <a:xfrm>
            <a:off x="7920000" y="3060000"/>
            <a:ext cx="1497240" cy="14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" descr=""/>
          <p:cNvPicPr/>
          <p:nvPr/>
        </p:nvPicPr>
        <p:blipFill>
          <a:blip r:embed="rId1"/>
          <a:stretch/>
        </p:blipFill>
        <p:spPr>
          <a:xfrm>
            <a:off x="5873040" y="912240"/>
            <a:ext cx="3701520" cy="370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Для кого это решение?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076400"/>
            <a:ext cx="5368680" cy="353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Возраст: 18-45 лет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Сегменты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Молодые профессионалы (стресс, дефицит времени)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Начинающие путь к ЗОЖ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Цифровые нативы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Требования: простота, персонализация, соц. поддержка, безопасность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Найденное решение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5039640" y="892800"/>
            <a:ext cx="5039280" cy="39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Платформа: Telegram (4+ млрд пользователей)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Основной функционал: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Программы формирования привычек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рекомендации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отслеживания прогресса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Игровые механики: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Очки опыта и уровни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Достижения и бейджи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Виртуальная валюта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Рисунок 6" descr=""/>
          <p:cNvPicPr/>
          <p:nvPr/>
        </p:nvPicPr>
        <p:blipFill>
          <a:blip r:embed="rId1"/>
          <a:stretch/>
        </p:blipFill>
        <p:spPr>
          <a:xfrm>
            <a:off x="504000" y="1191240"/>
            <a:ext cx="2088360" cy="208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Рисунок 8" descr=""/>
          <p:cNvPicPr/>
          <p:nvPr/>
        </p:nvPicPr>
        <p:blipFill>
          <a:blip r:embed="rId2"/>
          <a:stretch/>
        </p:blipFill>
        <p:spPr>
          <a:xfrm>
            <a:off x="2472480" y="2703600"/>
            <a:ext cx="2566800" cy="256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2808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Как это работает?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773680" cy="363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Технологии: Python 3.13, Telegram Bot API, MongoDB, Redis, Docker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Архитектура: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управления пользователями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программ привычек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игровых механик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социального взаимодействия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аналитики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46"/>
          <p:cNvSpPr/>
          <p:nvPr/>
        </p:nvSpPr>
        <p:spPr>
          <a:xfrm>
            <a:off x="5039640" y="5268960"/>
            <a:ext cx="359064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Графика: Техническая архитектура, логотипы технологий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7" name="Группа 11"/>
          <p:cNvGrpSpPr/>
          <p:nvPr/>
        </p:nvGrpSpPr>
        <p:grpSpPr>
          <a:xfrm>
            <a:off x="5828040" y="892440"/>
            <a:ext cx="3702240" cy="904680"/>
            <a:chOff x="5828040" y="892440"/>
            <a:chExt cx="3702240" cy="904680"/>
          </a:xfrm>
        </p:grpSpPr>
        <p:pic>
          <p:nvPicPr>
            <p:cNvPr id="58" name="Рисунок 4" descr=""/>
            <p:cNvPicPr/>
            <p:nvPr/>
          </p:nvPicPr>
          <p:blipFill>
            <a:blip r:embed="rId1"/>
            <a:stretch/>
          </p:blipFill>
          <p:spPr>
            <a:xfrm>
              <a:off x="58280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" name="Рисунок 6" descr=""/>
            <p:cNvPicPr/>
            <p:nvPr/>
          </p:nvPicPr>
          <p:blipFill>
            <a:blip r:embed="rId2"/>
            <a:stretch/>
          </p:blipFill>
          <p:spPr>
            <a:xfrm>
              <a:off x="86306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" name="Рисунок 8" descr=""/>
            <p:cNvPicPr/>
            <p:nvPr/>
          </p:nvPicPr>
          <p:blipFill>
            <a:blip r:embed="rId3"/>
            <a:stretch/>
          </p:blipFill>
          <p:spPr>
            <a:xfrm>
              <a:off x="76280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" name="Рисунок 10" descr=""/>
            <p:cNvPicPr/>
            <p:nvPr/>
          </p:nvPicPr>
          <p:blipFill>
            <a:blip r:embed="rId4"/>
            <a:stretch/>
          </p:blipFill>
          <p:spPr>
            <a:xfrm>
              <a:off x="6728040" y="89748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62" name="Рисунок 15" descr=""/>
          <p:cNvPicPr/>
          <p:nvPr/>
        </p:nvPicPr>
        <p:blipFill>
          <a:blip r:embed="rId5"/>
          <a:stretch/>
        </p:blipFill>
        <p:spPr>
          <a:xfrm>
            <a:off x="5751000" y="3078000"/>
            <a:ext cx="899640" cy="899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3" name="Группа 24"/>
          <p:cNvGrpSpPr/>
          <p:nvPr/>
        </p:nvGrpSpPr>
        <p:grpSpPr>
          <a:xfrm>
            <a:off x="8413200" y="2145600"/>
            <a:ext cx="899640" cy="2764800"/>
            <a:chOff x="8413200" y="2145600"/>
            <a:chExt cx="899640" cy="2764800"/>
          </a:xfrm>
        </p:grpSpPr>
        <p:pic>
          <p:nvPicPr>
            <p:cNvPr id="64" name="Рисунок 13" descr=""/>
            <p:cNvPicPr/>
            <p:nvPr/>
          </p:nvPicPr>
          <p:blipFill>
            <a:blip r:embed="rId6"/>
            <a:stretch/>
          </p:blipFill>
          <p:spPr>
            <a:xfrm>
              <a:off x="8413200" y="401076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5" name="Рисунок 19" descr=""/>
            <p:cNvPicPr/>
            <p:nvPr/>
          </p:nvPicPr>
          <p:blipFill>
            <a:blip r:embed="rId7"/>
            <a:stretch/>
          </p:blipFill>
          <p:spPr>
            <a:xfrm>
              <a:off x="8413200" y="307800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" name="Рисунок 21" descr=""/>
            <p:cNvPicPr/>
            <p:nvPr/>
          </p:nvPicPr>
          <p:blipFill>
            <a:blip r:embed="rId8"/>
            <a:stretch/>
          </p:blipFill>
          <p:spPr>
            <a:xfrm>
              <a:off x="8413200" y="214560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67" name="Рисунок 23" descr=""/>
          <p:cNvPicPr/>
          <p:nvPr/>
        </p:nvPicPr>
        <p:blipFill>
          <a:blip r:embed="rId9"/>
          <a:stretch/>
        </p:blipFill>
        <p:spPr>
          <a:xfrm>
            <a:off x="7082280" y="3078000"/>
            <a:ext cx="899640" cy="899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68" name="Прямая со стрелкой 26"/>
          <p:cNvCxnSpPr>
            <a:stCxn id="62" idx="3"/>
            <a:endCxn id="67" idx="1"/>
          </p:cNvCxnSpPr>
          <p:nvPr/>
        </p:nvCxnSpPr>
        <p:spPr>
          <a:xfrm>
            <a:off x="6650640" y="3527640"/>
            <a:ext cx="43200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69" name="Прямая со стрелкой 30"/>
          <p:cNvCxnSpPr>
            <a:stCxn id="67" idx="3"/>
            <a:endCxn id="66" idx="1"/>
          </p:cNvCxnSpPr>
          <p:nvPr/>
        </p:nvCxnSpPr>
        <p:spPr>
          <a:xfrm flipV="1">
            <a:off x="7981920" y="2595240"/>
            <a:ext cx="431640" cy="9327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70" name="Прямая со стрелкой 31"/>
          <p:cNvCxnSpPr>
            <a:stCxn id="67" idx="3"/>
            <a:endCxn id="65" idx="1"/>
          </p:cNvCxnSpPr>
          <p:nvPr/>
        </p:nvCxnSpPr>
        <p:spPr>
          <a:xfrm>
            <a:off x="7981920" y="3527640"/>
            <a:ext cx="43164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71" name="Прямая со стрелкой 34"/>
          <p:cNvCxnSpPr>
            <a:stCxn id="67" idx="3"/>
            <a:endCxn id="64" idx="1"/>
          </p:cNvCxnSpPr>
          <p:nvPr/>
        </p:nvCxnSpPr>
        <p:spPr>
          <a:xfrm>
            <a:off x="7981920" y="3527640"/>
            <a:ext cx="431640" cy="93312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2" name="Диаграмма 3"/>
          <p:cNvGraphicFramePr/>
          <p:nvPr/>
        </p:nvGraphicFramePr>
        <p:xfrm>
          <a:off x="575640" y="165240"/>
          <a:ext cx="8910720" cy="511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04000" y="2808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Эффективные механики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Наиболее успешные элементы: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уровней и очков опыта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Ежедневные челленджи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Социальное взаимодействие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достижения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Менее эффективные: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Глобальные лидерборды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Сложные экономические системы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Итоги и дальнейшие шаги 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71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Геймификация повышает мотивацию и вовлеченность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Баланс между игрой и содержанием критически важен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Проект имеет коммерческие перспективы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Полученные навыки: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Научное исследование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Разработка ИС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Тестирование и аналитика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Преимущества мессенджеров как платформы включают: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Высокую доступность и удобство использования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Возможность постоянного взаимодействия с пользователем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Интеграцию в привычную цифровую среду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Низкий порог входа для пользователей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Ключевые элементы геймификации включают: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Системы наград и достижений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Прогресс-бары и уровни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Социальные элементы (рейтинги, лидерборды)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Истории и нарративы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Мгновенную обратную связь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Анализ существующих решений показал, что геймификация успешно применяется в различных сферах. В образовании популярны платформы типа Duolingo, которые используют очки опыта, уровни и серии для мотивации обучения языкам. В фитнесе приложения Fitbit и Nike Run Club применяют систему наград, достижений и социальное сравнение.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Однако большинство существующих решений имеют ограничения: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Сильная зависимость от самодисциплины пользователя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Отсутствие социальной поддержки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Недостаточная персонализация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Ограниченные возможности адаптации под индивидуальные потребности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504000" y="65592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Основными сегментами являются: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Молодые профессионалы, испытывающие стресс и нехватку времени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Люди, начинающие путь к здоровому образу жизни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Пользователи цифровых технологий, открытые новым форматам взаимодействия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" name="Прямоугольник 70"/>
          <p:cNvSpPr/>
          <p:nvPr/>
        </p:nvSpPr>
        <p:spPr>
          <a:xfrm>
            <a:off x="0" y="540000"/>
            <a:ext cx="993168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Целевая аудитория проекта включает людей в возрасте от 18 до 45 лет, заинтересованных в формировании здоровых привычек.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Ключевые требования целевой аудитории: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Простота использования и интуитивный интерфейс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Персонализация под индивидуальные цели и график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Социальная поддержка и мотивация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Конфиденциальность и безопасность данных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Гибкость в планировании и адаптации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Концепция разработанного чат-бота основана на интеграции нескольких ключевых элементов: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571760"/>
            <a:ext cx="435492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Основной функционал: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Подписка на готовые программы формирования привычек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рекомендации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отслеживания прогресса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Анонимное наставничество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Социальные элементы и рейтинг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1" name="Прямоугольник 75"/>
          <p:cNvSpPr/>
          <p:nvPr/>
        </p:nvSpPr>
        <p:spPr>
          <a:xfrm>
            <a:off x="5220000" y="1571760"/>
            <a:ext cx="4354920" cy="328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Игровые механики: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Очки опыта за выполнение задач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Уровневая система с новыми возможностями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Система достижений и бейджей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Ежедневные и недельные челленджи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Виртуальная валюта для покупки бонусов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Социальные элементы: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Анонимные чаты с наставниками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Сообщества по интересам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Совместные челленджи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Система взаимной поддержки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Ключевые метрики оценки эффективности: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Уровень вовлеченности (ежедневная активность)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Процент выполнения задач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Удержание пользователей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Самооценка удовлетворенности процессом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Достижение поставленных целей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Результаты показали значительное превосходство геймифицированного подхода: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Уровень вовлеченности составил 78% против 34% в контрольной группе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Процент выполнения задач – 67% против 42%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Удержание через 3 месяца – 63% против 28%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Оптимальная комбинация: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Простая, но наглядная система прогресса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Социальная поддержка без давления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Персонализация контента и наград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-228600" defTabSz="9144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Регулярная обратная связь</a:t>
            </a:r>
            <a:endParaRPr b="0" lang="ru-RU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Application>LibreOffice/25.2.7.2$Windows_X86_64 LibreOffice_project/5cbfd1ab6520636bb5f7b99185aa69bd7456825d</Application>
  <AppVersion>15.0000</AppVersion>
  <Words>701</Words>
  <Paragraphs>153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2026-03-04T15:09:59Z</dcterms:created>
  <dc:creator/>
  <dc:description/>
  <dc:language>ru-RU</dc:language>
  <cp:lastModifiedBy/>
  <dcterms:modified xsi:type="dcterms:W3CDTF">2026-03-12T14:44:03Z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11</vt:i4>
  </property>
  <property fmtid="{D5CDD505-2E9C-101B-9397-08002B2CF9AE}" pid="3" name="Notes">
    <vt:i4>1</vt:i4>
  </property>
  <property fmtid="{D5CDD505-2E9C-101B-9397-08002B2CF9AE}" pid="4" name="PresentationFormat">
    <vt:lpwstr>Произвольный</vt:lpwstr>
  </property>
  <property fmtid="{D5CDD505-2E9C-101B-9397-08002B2CF9AE}" pid="5" name="Slides">
    <vt:i4>22</vt:i4>
  </property>
</Properties>
</file>