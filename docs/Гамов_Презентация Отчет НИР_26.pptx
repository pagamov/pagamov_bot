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2" r:id="rId2"/>
  </p:sldMasterIdLst>
  <p:notesMasterIdLst>
    <p:notesMasterId r:id="rId25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</p:sldIdLst>
  <p:sldSz cx="10080625" cy="5670550"/>
  <p:notesSz cx="7559675" cy="10691813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786" userDrawn="1">
          <p15:clr>
            <a:srgbClr val="A4A3A4"/>
          </p15:clr>
        </p15:guide>
        <p15:guide id="2" pos="3175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>
        <p:scale>
          <a:sx n="150" d="100"/>
          <a:sy n="150" d="100"/>
        </p:scale>
        <p:origin x="448" y="820"/>
      </p:cViewPr>
      <p:guideLst>
        <p:guide orient="horz" pos="1786"/>
        <p:guide pos="3175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presProps" Target="presProps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ru-R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Результаты</a:t>
            </a:r>
            <a:r>
              <a:rPr lang="ru-RU" sz="2800" b="1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тестирования</a:t>
            </a:r>
            <a:endParaRPr lang="ru-RU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Лист1!$B$1</c:f>
              <c:strCache>
                <c:ptCount val="1"/>
                <c:pt idx="0">
                  <c:v>Традиционные методы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solidFill>
                <a:srgbClr val="FFFFFF"/>
              </a:solidFill>
              <a:ln>
                <a:solidFill>
                  <a:srgbClr val="000000">
                    <a:lumMod val="25000"/>
                    <a:lumOff val="75000"/>
                  </a:srgbClr>
                </a:solidFill>
              </a:ln>
              <a:effectLst/>
            </c:spPr>
            <c:txPr>
              <a:bodyPr rot="0" spcFirstLastPara="1" vertOverflow="clip" horzOverflow="clip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dk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showLegendKey val="0"/>
            <c:showVal val="1"/>
            <c:showCatName val="1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wedgeRectCallout">
                    <a:avLst/>
                  </a:prstGeom>
                  <a:noFill/>
                  <a:ln>
                    <a:noFill/>
                  </a:ln>
                </c15:spPr>
                <c15:showLeaderLines val="0"/>
              </c:ext>
            </c:extLst>
          </c:dLbls>
          <c:cat>
            <c:strRef>
              <c:f>Лист1!$A$2:$A$4</c:f>
              <c:strCache>
                <c:ptCount val="3"/>
                <c:pt idx="0">
                  <c:v>Вовлеченность</c:v>
                </c:pt>
                <c:pt idx="1">
                  <c:v>Выполнение задач</c:v>
                </c:pt>
                <c:pt idx="2">
                  <c:v>Удержание</c:v>
                </c:pt>
              </c:strCache>
            </c:strRef>
          </c:cat>
          <c:val>
            <c:numRef>
              <c:f>Лист1!$B$2:$B$4</c:f>
              <c:numCache>
                <c:formatCode>0%</c:formatCode>
                <c:ptCount val="3"/>
                <c:pt idx="0">
                  <c:v>0.34</c:v>
                </c:pt>
                <c:pt idx="1">
                  <c:v>0.42</c:v>
                </c:pt>
                <c:pt idx="2">
                  <c:v>0.28000000000000003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2CF-40E5-9A11-D0D7326BD43B}"/>
            </c:ext>
          </c:extLst>
        </c:ser>
        <c:ser>
          <c:idx val="1"/>
          <c:order val="1"/>
          <c:tx>
            <c:strRef>
              <c:f>Лист1!$C$1</c:f>
              <c:strCache>
                <c:ptCount val="1"/>
                <c:pt idx="0">
                  <c:v>Геймификация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solidFill>
                <a:srgbClr val="FFFFFF"/>
              </a:solidFill>
              <a:ln>
                <a:solidFill>
                  <a:srgbClr val="000000">
                    <a:lumMod val="25000"/>
                    <a:lumOff val="75000"/>
                  </a:srgbClr>
                </a:solidFill>
              </a:ln>
              <a:effectLst/>
            </c:spPr>
            <c:txPr>
              <a:bodyPr rot="0" spcFirstLastPara="1" vertOverflow="clip" horzOverflow="clip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dk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showLegendKey val="0"/>
            <c:showVal val="1"/>
            <c:showCatName val="1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wedgeRectCallout">
                    <a:avLst/>
                  </a:prstGeom>
                  <a:noFill/>
                  <a:ln>
                    <a:noFill/>
                  </a:ln>
                </c15:spPr>
                <c15:showLeaderLines val="0"/>
              </c:ext>
            </c:extLst>
          </c:dLbls>
          <c:cat>
            <c:strRef>
              <c:f>Лист1!$A$2:$A$4</c:f>
              <c:strCache>
                <c:ptCount val="3"/>
                <c:pt idx="0">
                  <c:v>Вовлеченность</c:v>
                </c:pt>
                <c:pt idx="1">
                  <c:v>Выполнение задач</c:v>
                </c:pt>
                <c:pt idx="2">
                  <c:v>Удержание</c:v>
                </c:pt>
              </c:strCache>
            </c:strRef>
          </c:cat>
          <c:val>
            <c:numRef>
              <c:f>Лист1!$C$2:$C$4</c:f>
              <c:numCache>
                <c:formatCode>0%</c:formatCode>
                <c:ptCount val="3"/>
                <c:pt idx="0">
                  <c:v>0.78</c:v>
                </c:pt>
                <c:pt idx="1">
                  <c:v>0.67</c:v>
                </c:pt>
                <c:pt idx="2">
                  <c:v>0.63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92CF-40E5-9A11-D0D7326BD43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094462016"/>
        <c:axId val="1094454816"/>
      </c:barChart>
      <c:catAx>
        <c:axId val="109446201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094454816"/>
        <c:crosses val="autoZero"/>
        <c:auto val="1"/>
        <c:lblAlgn val="ctr"/>
        <c:lblOffset val="100"/>
        <c:noMultiLvlLbl val="0"/>
      </c:catAx>
      <c:valAx>
        <c:axId val="1094454816"/>
        <c:scaling>
          <c:orientation val="minMax"/>
        </c:scaling>
        <c:delete val="1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1"/>
        <c:majorTickMark val="none"/>
        <c:minorTickMark val="none"/>
        <c:tickLblPos val="nextTo"/>
        <c:crossAx val="109446201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4281488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377AAE1-3244-4E89-85CD-E01779E0814F}" type="datetimeFigureOut">
              <a:rPr lang="ru-RU" smtClean="0"/>
              <a:t>11.03.2026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573088" y="1336675"/>
            <a:ext cx="6413500" cy="36083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F9E5646-D9E9-40E0-8A4D-1147EF49F5B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901476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9E5646-D9E9-40E0-8A4D-1147EF49F5B5}" type="slidenum">
              <a:rPr lang="ru-RU" smtClean="0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929738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Обычны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504000" y="561600"/>
            <a:ext cx="9070920" cy="274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</a:p>
        </p:txBody>
      </p:sp>
      <p:sp>
        <p:nvSpPr>
          <p:cNvPr id="6" name="PlaceHolder 2"/>
          <p:cNvSpPr>
            <a:spLocks noGrp="1"/>
          </p:cNvSpPr>
          <p:nvPr>
            <p:ph type="ftr" idx="1"/>
          </p:nvPr>
        </p:nvSpPr>
        <p:spPr>
          <a:xfrm>
            <a:off x="3447360" y="5165280"/>
            <a:ext cx="3194280" cy="389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2" name="PlaceHolder 3"/>
          <p:cNvSpPr>
            <a:spLocks noGrp="1"/>
          </p:cNvSpPr>
          <p:nvPr>
            <p:ph type="sldNum" idx="2"/>
          </p:nvPr>
        </p:nvSpPr>
        <p:spPr>
          <a:xfrm>
            <a:off x="7227360" y="5165280"/>
            <a:ext cx="2347560" cy="389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F75D8027-F4F2-45BB-AF74-317ADC6A78B6}" type="slidenum"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‹#›</a:t>
            </a:fld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dt" idx="3"/>
          </p:nvPr>
        </p:nvSpPr>
        <p:spPr>
          <a:xfrm>
            <a:off x="504000" y="5165280"/>
            <a:ext cx="2347560" cy="389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Обычный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504000" y="561600"/>
            <a:ext cx="9070920" cy="274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</a:p>
        </p:txBody>
      </p:sp>
      <p:sp>
        <p:nvSpPr>
          <p:cNvPr id="11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0920" cy="3287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</a:p>
        </p:txBody>
      </p:sp>
      <p:sp>
        <p:nvSpPr>
          <p:cNvPr id="12" name="PlaceHolder 3"/>
          <p:cNvSpPr>
            <a:spLocks noGrp="1"/>
          </p:cNvSpPr>
          <p:nvPr>
            <p:ph type="ftr" idx="7"/>
          </p:nvPr>
        </p:nvSpPr>
        <p:spPr>
          <a:xfrm>
            <a:off x="3447360" y="5165280"/>
            <a:ext cx="3194280" cy="389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</a:p>
        </p:txBody>
      </p:sp>
      <p:sp>
        <p:nvSpPr>
          <p:cNvPr id="13" name="PlaceHolder 4"/>
          <p:cNvSpPr>
            <a:spLocks noGrp="1"/>
          </p:cNvSpPr>
          <p:nvPr>
            <p:ph type="sldNum" idx="8"/>
          </p:nvPr>
        </p:nvSpPr>
        <p:spPr>
          <a:xfrm>
            <a:off x="7227360" y="5165280"/>
            <a:ext cx="2347560" cy="389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81C6E548-237A-4C27-B71D-849D6ECA2A0C}" type="slidenum"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‹#›</a:t>
            </a:fld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5"/>
          <p:cNvSpPr>
            <a:spLocks noGrp="1"/>
          </p:cNvSpPr>
          <p:nvPr>
            <p:ph type="dt" idx="9"/>
          </p:nvPr>
        </p:nvSpPr>
        <p:spPr>
          <a:xfrm>
            <a:off x="504000" y="5165280"/>
            <a:ext cx="2347560" cy="389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&lt;дата/время&gt;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Обычный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504000" y="561600"/>
            <a:ext cx="9070920" cy="274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</a:p>
        </p:txBody>
      </p:sp>
      <p:sp>
        <p:nvSpPr>
          <p:cNvPr id="6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0920" cy="3287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</a:p>
        </p:txBody>
      </p:sp>
      <p:sp>
        <p:nvSpPr>
          <p:cNvPr id="7" name="PlaceHolder 3"/>
          <p:cNvSpPr>
            <a:spLocks noGrp="1"/>
          </p:cNvSpPr>
          <p:nvPr>
            <p:ph type="ftr" idx="4"/>
          </p:nvPr>
        </p:nvSpPr>
        <p:spPr>
          <a:xfrm>
            <a:off x="3447360" y="5165280"/>
            <a:ext cx="3194280" cy="389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</a:p>
        </p:txBody>
      </p:sp>
      <p:sp>
        <p:nvSpPr>
          <p:cNvPr id="8" name="PlaceHolder 4"/>
          <p:cNvSpPr>
            <a:spLocks noGrp="1"/>
          </p:cNvSpPr>
          <p:nvPr>
            <p:ph type="sldNum" idx="5"/>
          </p:nvPr>
        </p:nvSpPr>
        <p:spPr>
          <a:xfrm>
            <a:off x="7227360" y="5165280"/>
            <a:ext cx="2347560" cy="389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C05D8E8B-1C9B-4EEB-94ED-96EDA4BA2153}" type="slidenum"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‹#›</a:t>
            </a:fld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5"/>
          <p:cNvSpPr>
            <a:spLocks noGrp="1"/>
          </p:cNvSpPr>
          <p:nvPr>
            <p:ph type="dt" idx="6"/>
          </p:nvPr>
        </p:nvSpPr>
        <p:spPr>
          <a:xfrm>
            <a:off x="504000" y="5165280"/>
            <a:ext cx="2347560" cy="389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&lt;дата/время&gt;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504000" y="73800"/>
            <a:ext cx="9070920" cy="1250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ctr">
              <a:buNone/>
            </a:pPr>
            <a:endParaRPr lang="ru-RU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0920" cy="3287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ctr">
              <a:buNone/>
            </a:pPr>
            <a:endParaRPr lang="ru-RU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941B9A5-252B-4B92-B35B-6ACC91468A28}" type="slidenum"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3"/>
          <a:stretch>
            <a:fillRect l="-10472" t="-11677" r="-10472" b="-11677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1259640" y="928080"/>
            <a:ext cx="7560000" cy="1973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algn="ctr" defTabSz="914400">
              <a:lnSpc>
                <a:spcPct val="90000"/>
              </a:lnSpc>
              <a:buNone/>
            </a:pPr>
            <a:r>
              <a:rPr lang="ru-RU" sz="60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Образец заголовка</a:t>
            </a:r>
            <a:endParaRPr lang="ru-RU" sz="6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 type="dt" idx="10"/>
          </p:nvPr>
        </p:nvSpPr>
        <p:spPr>
          <a:xfrm>
            <a:off x="692640" y="5256000"/>
            <a:ext cx="2268000" cy="301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&lt;дата/время&gt;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 type="ftr" idx="11"/>
          </p:nvPr>
        </p:nvSpPr>
        <p:spPr>
          <a:xfrm>
            <a:off x="3339000" y="5256000"/>
            <a:ext cx="3402000" cy="301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</a:p>
        </p:txBody>
      </p:sp>
      <p:sp>
        <p:nvSpPr>
          <p:cNvPr id="18" name="PlaceHolder 4"/>
          <p:cNvSpPr>
            <a:spLocks noGrp="1"/>
          </p:cNvSpPr>
          <p:nvPr>
            <p:ph type="sldNum" idx="12"/>
          </p:nvPr>
        </p:nvSpPr>
        <p:spPr>
          <a:xfrm>
            <a:off x="7119000" y="5256000"/>
            <a:ext cx="2268000" cy="301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5E8F8B5-4412-4F08-BF9B-ED5BF1BF400A}" type="slidenum">
              <a: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5"/>
          <p:cNvSpPr>
            <a:spLocks noGrp="1"/>
          </p:cNvSpPr>
          <p:nvPr>
            <p:ph type="body"/>
          </p:nvPr>
        </p:nvSpPr>
        <p:spPr>
          <a:xfrm>
            <a:off x="503640" y="1326600"/>
            <a:ext cx="9072360" cy="328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lnSpc>
                <a:spcPct val="90000"/>
              </a:lnSpc>
              <a:spcBef>
                <a:spcPts val="1168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3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</a:p>
          <a:p>
            <a:pPr marL="864000" lvl="1" indent="-324000">
              <a:lnSpc>
                <a:spcPct val="90000"/>
              </a:lnSpc>
              <a:spcBef>
                <a:spcPts val="935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65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</a:p>
          <a:p>
            <a:pPr marL="1296000" lvl="2" indent="-288000">
              <a:lnSpc>
                <a:spcPct val="90000"/>
              </a:lnSpc>
              <a:spcBef>
                <a:spcPts val="70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49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</a:p>
          <a:p>
            <a:pPr marL="1728000" lvl="3" indent="-216000">
              <a:lnSpc>
                <a:spcPct val="90000"/>
              </a:lnSpc>
              <a:spcBef>
                <a:spcPts val="468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49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</a:p>
          <a:p>
            <a:pPr marL="2160000" lvl="4" indent="-216000">
              <a:lnSpc>
                <a:spcPct val="90000"/>
              </a:lnSpc>
              <a:spcBef>
                <a:spcPts val="232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65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</a:p>
          <a:p>
            <a:pPr marL="2592000" lvl="5" indent="-216000">
              <a:lnSpc>
                <a:spcPct val="90000"/>
              </a:lnSpc>
              <a:spcBef>
                <a:spcPts val="232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65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</a:p>
          <a:p>
            <a:pPr marL="3024000" lvl="6" indent="-216000">
              <a:lnSpc>
                <a:spcPct val="90000"/>
              </a:lnSpc>
              <a:spcBef>
                <a:spcPts val="232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65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10" Type="http://schemas.openxmlformats.org/officeDocument/2006/relationships/image" Target="../media/image22.png"/><Relationship Id="rId4" Type="http://schemas.openxmlformats.org/officeDocument/2006/relationships/image" Target="../media/image16.png"/><Relationship Id="rId9" Type="http://schemas.openxmlformats.org/officeDocument/2006/relationships/image" Target="../media/image21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3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Box 6"/>
          <p:cNvSpPr/>
          <p:nvPr/>
        </p:nvSpPr>
        <p:spPr>
          <a:xfrm>
            <a:off x="360000" y="2020355"/>
            <a:ext cx="4527360" cy="1187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ru-RU" sz="2400" b="1" u="none" strike="noStrike" dirty="0">
                <a:solidFill>
                  <a:schemeClr val="accent5">
                    <a:lumMod val="75000"/>
                  </a:schemeClr>
                </a:solidFill>
                <a:effectLst/>
                <a:uFillTx/>
                <a:latin typeface="Times New Roman" panose="02020603050405020304" pitchFamily="18" charset="0"/>
                <a:ea typeface="Tahoma"/>
                <a:cs typeface="Times New Roman" panose="02020603050405020304" pitchFamily="18" charset="0"/>
              </a:rPr>
              <a:t>Изучение использования элементов геймификации в неигровом контенте</a:t>
            </a:r>
            <a:endParaRPr lang="ru-RU" sz="2400" b="0" u="none" strike="noStrike" dirty="0"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360000" y="4465695"/>
            <a:ext cx="4267080" cy="398655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lstStyle/>
          <a:p>
            <a:r>
              <a:rPr lang="ru-RU" sz="1000" b="0" u="none" strike="noStrike" dirty="0">
                <a:solidFill>
                  <a:srgbClr val="000000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Отчет о производственной практике: </a:t>
            </a:r>
          </a:p>
          <a:p>
            <a:r>
              <a:rPr lang="ru-RU" sz="1000" b="0" u="none" strike="noStrike" dirty="0">
                <a:solidFill>
                  <a:srgbClr val="000000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Гамов Павел Антонович ЭМС-271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0000" y="4864350"/>
            <a:ext cx="4267080" cy="244767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lstStyle/>
          <a:p>
            <a:r>
              <a:rPr lang="ru-RU" sz="1000" b="0" u="none" strike="noStrike" dirty="0">
                <a:solidFill>
                  <a:srgbClr val="000000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Москва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laceHolder 1"/>
          <p:cNvSpPr>
            <a:spLocks noGrp="1"/>
          </p:cNvSpPr>
          <p:nvPr>
            <p:ph type="title"/>
          </p:nvPr>
        </p:nvSpPr>
        <p:spPr>
          <a:xfrm>
            <a:off x="504000" y="505401"/>
            <a:ext cx="9070920" cy="387798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>
              <a:spcBef>
                <a:spcPts val="1191"/>
              </a:spcBef>
              <a:spcAft>
                <a:spcPts val="992"/>
              </a:spcAft>
              <a:buNone/>
            </a:pPr>
            <a:r>
              <a:rPr lang="ru-RU" sz="2800" b="1" u="none" strike="noStrike" dirty="0">
                <a:solidFill>
                  <a:srgbClr val="000000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Цель и задачи исследования </a:t>
            </a:r>
          </a:p>
        </p:txBody>
      </p:sp>
      <p:sp>
        <p:nvSpPr>
          <p:cNvPr id="26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0920" cy="3287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 dirty="0">
                <a:solidFill>
                  <a:srgbClr val="000000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Цель: Изучение применения игровых механик в боте для профилактики здоровых привычек</a:t>
            </a:r>
          </a:p>
          <a:p>
            <a:pPr marL="432000" indent="-3240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 dirty="0">
                <a:solidFill>
                  <a:srgbClr val="000000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Ключевые задачи практики: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000" b="0" u="none" strike="noStrike" dirty="0">
                <a:solidFill>
                  <a:srgbClr val="000000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Анализ существующих решений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000" b="0" u="none" strike="noStrike" dirty="0">
                <a:solidFill>
                  <a:srgbClr val="000000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Разработка концепции чат-бота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000" b="0" u="none" strike="noStrike" dirty="0">
                <a:solidFill>
                  <a:srgbClr val="000000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Реализация прототипа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000" b="0" u="none" strike="noStrike" dirty="0">
                <a:solidFill>
                  <a:srgbClr val="000000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Тестирование эффективности</a:t>
            </a:r>
          </a:p>
          <a:p>
            <a:pPr marL="432000" indent="0">
              <a:spcBef>
                <a:spcPts val="1191"/>
              </a:spcBef>
              <a:spcAft>
                <a:spcPts val="992"/>
              </a:spcAft>
              <a:buNone/>
            </a:pPr>
            <a:endParaRPr lang="ru-RU" sz="1050" b="0" u="none" strike="noStrike" dirty="0"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083469D8-CD6B-A30D-09DD-07D4E1B84B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40979" y="1732639"/>
            <a:ext cx="2475442" cy="247544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504000" y="505401"/>
            <a:ext cx="9070920" cy="387798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>
              <a:spcBef>
                <a:spcPts val="1191"/>
              </a:spcBef>
              <a:spcAft>
                <a:spcPts val="992"/>
              </a:spcAft>
              <a:buNone/>
            </a:pPr>
            <a:r>
              <a:rPr lang="ru-RU" sz="2800" b="1" u="none" strike="noStrike" dirty="0">
                <a:solidFill>
                  <a:srgbClr val="000000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Почему это важно? </a:t>
            </a: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536000" cy="3287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lnSpcReduction="10000"/>
          </a:bodyPr>
          <a:lstStyle/>
          <a:p>
            <a:pPr marL="432000" indent="-3240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 dirty="0">
                <a:solidFill>
                  <a:srgbClr val="000000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60% взрослого населения страдает от нездоровых привычек (по данным ВОЗ)</a:t>
            </a:r>
          </a:p>
          <a:p>
            <a:pPr marL="432000" indent="-3240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 dirty="0">
                <a:solidFill>
                  <a:srgbClr val="000000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Традиционные методы мотивации недостаточно эффективны</a:t>
            </a:r>
          </a:p>
          <a:p>
            <a:pPr marL="432000" indent="-3240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 dirty="0">
                <a:solidFill>
                  <a:srgbClr val="000000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Средний пользователь проводит 6+ часов в день в цифровой среде</a:t>
            </a:r>
          </a:p>
          <a:p>
            <a:pPr marL="432000" indent="-3240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 dirty="0">
                <a:solidFill>
                  <a:srgbClr val="000000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4+ млрд пользователей мессенджеров ежедневно</a:t>
            </a:r>
          </a:p>
          <a:p>
            <a:pPr marL="432000" indent="0">
              <a:spcBef>
                <a:spcPts val="1191"/>
              </a:spcBef>
              <a:spcAft>
                <a:spcPts val="992"/>
              </a:spcAft>
              <a:buNone/>
            </a:pPr>
            <a:endParaRPr lang="ru-RU" sz="1050" b="0" u="none" strike="noStrike" dirty="0"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9" name="Рисунок 28"/>
          <p:cNvPicPr/>
          <p:nvPr/>
        </p:nvPicPr>
        <p:blipFill>
          <a:blip r:embed="rId2"/>
          <a:stretch/>
        </p:blipFill>
        <p:spPr>
          <a:xfrm>
            <a:off x="5397480" y="1260000"/>
            <a:ext cx="4142520" cy="305244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504000" y="505401"/>
            <a:ext cx="9070920" cy="387798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>
              <a:spcBef>
                <a:spcPts val="1191"/>
              </a:spcBef>
              <a:spcAft>
                <a:spcPts val="992"/>
              </a:spcAft>
              <a:buNone/>
            </a:pPr>
            <a:r>
              <a:rPr lang="ru-RU" sz="2800" b="1" u="none" strike="noStrike">
                <a:solidFill>
                  <a:srgbClr val="000000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Что такое геймификация? </a:t>
            </a:r>
          </a:p>
        </p:txBody>
      </p:sp>
      <p:sp>
        <p:nvSpPr>
          <p:cNvPr id="31" name="PlaceHolder 2"/>
          <p:cNvSpPr>
            <a:spLocks noGrp="1"/>
          </p:cNvSpPr>
          <p:nvPr>
            <p:ph/>
          </p:nvPr>
        </p:nvSpPr>
        <p:spPr>
          <a:xfrm>
            <a:off x="5040000" y="1326600"/>
            <a:ext cx="4534920" cy="3287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Процесс применения игровых элементов в неигровых контекстах</a:t>
            </a:r>
          </a:p>
          <a:p>
            <a:pPr marL="432000" indent="-3240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Ключевые элементы: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Системы наград и достижений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Прогресс-бары и уровни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Социальные элементы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Мгновенная обратная связь</a:t>
            </a:r>
          </a:p>
        </p:txBody>
      </p:sp>
      <p:pic>
        <p:nvPicPr>
          <p:cNvPr id="1026" name="Picture 2" descr="Геймификация - что это такое в образовании и бизнесе | принципы и  инструменты геймификации">
            <a:extLst>
              <a:ext uri="{FF2B5EF4-FFF2-40B4-BE49-F238E27FC236}">
                <a16:creationId xmlns:a16="http://schemas.microsoft.com/office/drawing/2014/main" id="{07A44EF9-E0DD-B91F-28EB-562F748A07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1667" y="1363134"/>
            <a:ext cx="4253385" cy="31898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Рисунок 31"/>
          <p:cNvPicPr/>
          <p:nvPr/>
        </p:nvPicPr>
        <p:blipFill>
          <a:blip r:embed="rId2"/>
          <a:stretch/>
        </p:blipFill>
        <p:spPr>
          <a:xfrm>
            <a:off x="5040000" y="2520000"/>
            <a:ext cx="2739600" cy="1440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504000" y="505041"/>
            <a:ext cx="9070920" cy="387798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>
              <a:spcBef>
                <a:spcPts val="1191"/>
              </a:spcBef>
              <a:spcAft>
                <a:spcPts val="992"/>
              </a:spcAft>
              <a:buNone/>
            </a:pPr>
            <a:r>
              <a:rPr lang="ru-RU" sz="2800" b="1" u="none" strike="noStrike">
                <a:solidFill>
                  <a:srgbClr val="000000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Что уже есть на рынке? </a:t>
            </a:r>
          </a:p>
        </p:txBody>
      </p:sp>
      <p:sp>
        <p:nvSpPr>
          <p:cNvPr id="34" name="PlaceHolder 2"/>
          <p:cNvSpPr>
            <a:spLocks noGrp="1"/>
          </p:cNvSpPr>
          <p:nvPr>
            <p:ph/>
          </p:nvPr>
        </p:nvSpPr>
        <p:spPr>
          <a:xfrm>
            <a:off x="504000" y="1326599"/>
            <a:ext cx="4536000" cy="383891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 dirty="0">
                <a:solidFill>
                  <a:srgbClr val="000000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Образование: </a:t>
            </a:r>
            <a:r>
              <a:rPr lang="ru-RU" sz="2000" b="0" u="none" strike="noStrike" dirty="0" err="1">
                <a:solidFill>
                  <a:srgbClr val="000000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Duolingo</a:t>
            </a:r>
            <a:r>
              <a:rPr lang="ru-RU" sz="2000" b="0" u="none" strike="noStrike" dirty="0">
                <a:solidFill>
                  <a:srgbClr val="000000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(очки опыта, уровни)</a:t>
            </a:r>
          </a:p>
          <a:p>
            <a:pPr marL="432000" indent="-3240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 dirty="0">
                <a:solidFill>
                  <a:srgbClr val="000000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Фитнес: </a:t>
            </a:r>
            <a:r>
              <a:rPr lang="ru-RU" sz="2000" b="0" u="none" strike="noStrike" dirty="0" err="1">
                <a:solidFill>
                  <a:srgbClr val="000000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Fitbit</a:t>
            </a:r>
            <a:r>
              <a:rPr lang="ru-RU" sz="2000" b="0" u="none" strike="noStrike" dirty="0">
                <a:solidFill>
                  <a:srgbClr val="000000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, Nike </a:t>
            </a:r>
            <a:r>
              <a:rPr lang="ru-RU" sz="2000" b="0" u="none" strike="noStrike" dirty="0" err="1">
                <a:solidFill>
                  <a:srgbClr val="000000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Run</a:t>
            </a:r>
            <a:r>
              <a:rPr lang="ru-RU" sz="2000" b="0" u="none" strike="noStrike" dirty="0">
                <a:solidFill>
                  <a:srgbClr val="000000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Club (награды, соц. сравнение)</a:t>
            </a:r>
          </a:p>
          <a:p>
            <a:pPr marL="432000" indent="-3240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 dirty="0">
                <a:solidFill>
                  <a:srgbClr val="000000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Здоровье: </a:t>
            </a:r>
            <a:r>
              <a:rPr lang="ru-RU" sz="2000" b="0" u="none" strike="noStrike" dirty="0" err="1">
                <a:solidFill>
                  <a:srgbClr val="000000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Habitica</a:t>
            </a:r>
            <a:r>
              <a:rPr lang="ru-RU" sz="2000" b="0" u="none" strike="noStrike" dirty="0">
                <a:solidFill>
                  <a:srgbClr val="000000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(RPG-подход), </a:t>
            </a:r>
            <a:r>
              <a:rPr lang="ru-RU" sz="2000" b="0" u="none" strike="noStrike" dirty="0" err="1">
                <a:solidFill>
                  <a:srgbClr val="000000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Streaks</a:t>
            </a:r>
            <a:r>
              <a:rPr lang="ru-RU" sz="2000" b="0" u="none" strike="noStrike" dirty="0">
                <a:solidFill>
                  <a:srgbClr val="000000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(прогресс, напоминания)</a:t>
            </a:r>
          </a:p>
          <a:p>
            <a:pPr marL="432000" indent="-3240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 dirty="0">
                <a:solidFill>
                  <a:srgbClr val="000000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Основные ограничения: зависимость от дисциплины, отсутствие соц. поддержки</a:t>
            </a:r>
          </a:p>
        </p:txBody>
      </p:sp>
      <p:pic>
        <p:nvPicPr>
          <p:cNvPr id="35" name="Рисунок 34"/>
          <p:cNvPicPr/>
          <p:nvPr/>
        </p:nvPicPr>
        <p:blipFill>
          <a:blip r:embed="rId3"/>
          <a:stretch/>
        </p:blipFill>
        <p:spPr>
          <a:xfrm>
            <a:off x="5220000" y="720000"/>
            <a:ext cx="1440000" cy="1267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6" name="Рисунок 35"/>
          <p:cNvPicPr/>
          <p:nvPr/>
        </p:nvPicPr>
        <p:blipFill>
          <a:blip r:embed="rId4"/>
          <a:stretch/>
        </p:blipFill>
        <p:spPr>
          <a:xfrm>
            <a:off x="6660000" y="1620000"/>
            <a:ext cx="1440000" cy="14400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7" name="Рисунок 36"/>
          <p:cNvPicPr/>
          <p:nvPr/>
        </p:nvPicPr>
        <p:blipFill>
          <a:blip r:embed="rId5"/>
          <a:stretch/>
        </p:blipFill>
        <p:spPr>
          <a:xfrm>
            <a:off x="8280000" y="1620000"/>
            <a:ext cx="1440000" cy="14400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8" name="Рисунок 37"/>
          <p:cNvPicPr/>
          <p:nvPr/>
        </p:nvPicPr>
        <p:blipFill>
          <a:blip r:embed="rId6"/>
          <a:stretch/>
        </p:blipFill>
        <p:spPr>
          <a:xfrm>
            <a:off x="7920000" y="3060000"/>
            <a:ext cx="1497600" cy="144000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4B689172-3B54-5C0B-CD8B-638CD8362A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2870" y="912070"/>
            <a:ext cx="3702050" cy="3702050"/>
          </a:xfrm>
          <a:prstGeom prst="rect">
            <a:avLst/>
          </a:prstGeom>
        </p:spPr>
      </p:pic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504000" y="505042"/>
            <a:ext cx="9070920" cy="387798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>
              <a:spcBef>
                <a:spcPts val="1191"/>
              </a:spcBef>
              <a:spcAft>
                <a:spcPts val="992"/>
              </a:spcAft>
              <a:buNone/>
            </a:pPr>
            <a:r>
              <a:rPr lang="ru-RU" sz="2800" b="1" u="none" strike="noStrike" dirty="0">
                <a:solidFill>
                  <a:srgbClr val="000000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Для кого это решение? </a:t>
            </a: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504001" y="1076325"/>
            <a:ext cx="5368870" cy="353779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66700" indent="-1778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Arial" panose="020B0604020202020204" pitchFamily="34" charset="0"/>
              <a:buChar char="•"/>
            </a:pPr>
            <a:r>
              <a:rPr lang="ru-RU" sz="2000" b="0" u="none" strike="noStrike" dirty="0">
                <a:solidFill>
                  <a:srgbClr val="000000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Возраст: 18-45 лет</a:t>
            </a:r>
            <a:endParaRPr lang="en-US" sz="2000" b="0" u="none" strike="noStrike" dirty="0"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66700" indent="-1778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Arial" panose="020B0604020202020204" pitchFamily="34" charset="0"/>
              <a:buChar char="•"/>
            </a:pPr>
            <a:r>
              <a:rPr lang="ru-RU" sz="2000" b="0" u="none" strike="noStrike" dirty="0">
                <a:solidFill>
                  <a:srgbClr val="000000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Сегменты</a:t>
            </a: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sz="2000" b="0" u="none" strike="noStrike" dirty="0"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49263" indent="-1778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+mj-lt"/>
              <a:buAutoNum type="arabicPeriod"/>
            </a:pPr>
            <a:r>
              <a:rPr lang="ru-RU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Молодые профессионалы (стресс, дефицит времени)</a:t>
            </a:r>
            <a:endParaRPr lang="en-US" sz="20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49263" indent="-1778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+mj-lt"/>
              <a:buAutoNum type="arabicPeriod"/>
            </a:pPr>
            <a:r>
              <a:rPr lang="ru-RU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Начинающие путь к ЗОЖ</a:t>
            </a:r>
            <a:endParaRPr lang="en-US" sz="20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49263" indent="-1778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+mj-lt"/>
              <a:buAutoNum type="arabicPeriod"/>
            </a:pPr>
            <a:r>
              <a:rPr lang="ru-RU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Цифровые </a:t>
            </a:r>
            <a:r>
              <a:rPr lang="ru-RU" sz="20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нативы</a:t>
            </a:r>
            <a:endParaRPr lang="en-US" sz="20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66700" indent="-1778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Arial" panose="020B0604020202020204" pitchFamily="34" charset="0"/>
              <a:buChar char="•"/>
            </a:pPr>
            <a:r>
              <a:rPr lang="ru-RU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Требования: простота, персонализация, соц. поддержка, безопасность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504000" y="505041"/>
            <a:ext cx="9070920" cy="387798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>
              <a:spcBef>
                <a:spcPts val="1191"/>
              </a:spcBef>
              <a:spcAft>
                <a:spcPts val="992"/>
              </a:spcAft>
              <a:buNone/>
            </a:pPr>
            <a:r>
              <a:rPr lang="ru-RU" sz="2800" b="1" u="none" strike="noStrike" dirty="0">
                <a:solidFill>
                  <a:srgbClr val="000000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Найденное решение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8740E9B-4C6D-0916-98EF-8B7E0FEED37A}"/>
              </a:ext>
            </a:extLst>
          </p:cNvPr>
          <p:cNvSpPr txBox="1"/>
          <p:nvPr/>
        </p:nvSpPr>
        <p:spPr>
          <a:xfrm>
            <a:off x="5039460" y="892839"/>
            <a:ext cx="5039782" cy="39908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08000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  <a:buClr>
                <a:srgbClr val="000000"/>
              </a:buClr>
              <a:buSzPct val="45000"/>
            </a:pPr>
            <a:r>
              <a:rPr lang="ru-RU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Платформа: Telegram (4+ млрд пользователей)</a:t>
            </a:r>
          </a:p>
          <a:p>
            <a:pPr marL="108000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  <a:buClr>
                <a:srgbClr val="000000"/>
              </a:buClr>
              <a:buSzPct val="45000"/>
            </a:pPr>
            <a:r>
              <a:rPr lang="ru-RU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Основной функционал:</a:t>
            </a:r>
            <a:endParaRPr lang="en-US" sz="20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0900" indent="-342900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  <a:buClr>
                <a:srgbClr val="000000"/>
              </a:buClr>
              <a:buSzPct val="45000"/>
              <a:buFont typeface="Arial" panose="020B0604020202020204" pitchFamily="34" charset="0"/>
              <a:buChar char="•"/>
            </a:pPr>
            <a:r>
              <a:rPr lang="ru-RU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Программы формирования привычек</a:t>
            </a:r>
            <a:endParaRPr lang="en-US" sz="20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0900" indent="-342900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  <a:buClr>
                <a:srgbClr val="000000"/>
              </a:buClr>
              <a:buSzPct val="45000"/>
              <a:buFont typeface="Arial" panose="020B0604020202020204" pitchFamily="34" charset="0"/>
              <a:buChar char="•"/>
            </a:pPr>
            <a:r>
              <a:rPr lang="ru-RU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Персонализированные рекомендации</a:t>
            </a:r>
            <a:endParaRPr lang="en-US" sz="20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0900" indent="-342900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  <a:buClr>
                <a:srgbClr val="000000"/>
              </a:buClr>
              <a:buSzPct val="45000"/>
              <a:buFont typeface="Arial" panose="020B0604020202020204" pitchFamily="34" charset="0"/>
              <a:buChar char="•"/>
            </a:pPr>
            <a:r>
              <a:rPr lang="ru-RU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Система отслеживания прогресса</a:t>
            </a:r>
            <a:endParaRPr lang="ru-RU" sz="2000" b="0" u="none" strike="noStrike" dirty="0"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08000">
              <a:spcBef>
                <a:spcPts val="600"/>
              </a:spcBef>
              <a:spcAft>
                <a:spcPts val="200"/>
              </a:spcAft>
              <a:buClr>
                <a:srgbClr val="000000"/>
              </a:buClr>
              <a:buSzPct val="45000"/>
            </a:pPr>
            <a:r>
              <a:rPr lang="ru-RU" sz="2000" b="0" u="none" strike="noStrike" dirty="0">
                <a:solidFill>
                  <a:srgbClr val="000000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Игровые механики:</a:t>
            </a:r>
            <a:endParaRPr lang="en-US" sz="2000" b="0" u="none" strike="noStrike" dirty="0"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0900" indent="-342900">
              <a:spcBef>
                <a:spcPts val="600"/>
              </a:spcBef>
              <a:spcAft>
                <a:spcPts val="200"/>
              </a:spcAft>
              <a:buClr>
                <a:srgbClr val="000000"/>
              </a:buClr>
              <a:buSzPct val="45000"/>
              <a:buFont typeface="Arial" panose="020B0604020202020204" pitchFamily="34" charset="0"/>
              <a:buChar char="•"/>
            </a:pPr>
            <a:r>
              <a:rPr lang="ru-RU" sz="2000" b="0" u="none" strike="noStrike" dirty="0">
                <a:solidFill>
                  <a:srgbClr val="000000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Очки опыта и уровни</a:t>
            </a:r>
            <a:endParaRPr lang="en-US" sz="2000" b="0" u="none" strike="noStrike" dirty="0"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0900" indent="-342900">
              <a:spcBef>
                <a:spcPts val="600"/>
              </a:spcBef>
              <a:spcAft>
                <a:spcPts val="200"/>
              </a:spcAft>
              <a:buClr>
                <a:srgbClr val="000000"/>
              </a:buClr>
              <a:buSzPct val="45000"/>
              <a:buFont typeface="Arial" panose="020B0604020202020204" pitchFamily="34" charset="0"/>
              <a:buChar char="•"/>
            </a:pPr>
            <a:r>
              <a:rPr lang="ru-RU" sz="2000" b="0" u="none" strike="noStrike" dirty="0">
                <a:solidFill>
                  <a:srgbClr val="000000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Достижения и бейджи</a:t>
            </a:r>
            <a:endParaRPr lang="en-US" sz="2000" b="0" u="none" strike="noStrike" dirty="0"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0900" indent="-342900">
              <a:spcBef>
                <a:spcPts val="600"/>
              </a:spcBef>
              <a:spcAft>
                <a:spcPts val="200"/>
              </a:spcAft>
              <a:buClr>
                <a:srgbClr val="000000"/>
              </a:buClr>
              <a:buSzPct val="45000"/>
              <a:buFont typeface="Arial" panose="020B0604020202020204" pitchFamily="34" charset="0"/>
              <a:buChar char="•"/>
            </a:pPr>
            <a:r>
              <a:rPr lang="ru-RU" sz="2000" b="0" u="none" strike="noStrike" dirty="0">
                <a:solidFill>
                  <a:srgbClr val="000000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Виртуальная валюта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855F3922-D0C0-EF03-21AF-2A3E7CE52B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000" y="1191154"/>
            <a:ext cx="2088621" cy="2088621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A0260212-0344-A0B0-E781-CA4D248A2E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72472" y="2703426"/>
            <a:ext cx="2566988" cy="256698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504000" y="504681"/>
            <a:ext cx="9070920" cy="387798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>
              <a:spcBef>
                <a:spcPts val="1191"/>
              </a:spcBef>
              <a:spcAft>
                <a:spcPts val="992"/>
              </a:spcAft>
              <a:buNone/>
            </a:pPr>
            <a:r>
              <a:rPr lang="ru-RU" sz="2800" b="1" u="none" strike="noStrike" dirty="0">
                <a:solidFill>
                  <a:srgbClr val="000000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Как это работает? </a:t>
            </a:r>
            <a:endParaRPr lang="ru-RU" sz="2800" b="0" u="none" strike="noStrike" dirty="0"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/>
          </p:nvPr>
        </p:nvSpPr>
        <p:spPr>
          <a:xfrm>
            <a:off x="504000" y="1326599"/>
            <a:ext cx="5774033" cy="3630633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432000" indent="-3240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 dirty="0">
                <a:solidFill>
                  <a:srgbClr val="000000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Технологии: Python 3.13, Telegram </a:t>
            </a:r>
            <a:r>
              <a:rPr lang="ru-RU" sz="2000" b="0" u="none" strike="noStrike" dirty="0" err="1">
                <a:solidFill>
                  <a:srgbClr val="000000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Bot</a:t>
            </a:r>
            <a:r>
              <a:rPr lang="ru-RU" sz="2000" b="0" u="none" strike="noStrike" dirty="0">
                <a:solidFill>
                  <a:srgbClr val="000000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API, </a:t>
            </a:r>
            <a:r>
              <a:rPr lang="ru-RU" sz="2000" b="0" u="none" strike="noStrike" dirty="0" err="1">
                <a:solidFill>
                  <a:srgbClr val="000000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MongoDB</a:t>
            </a:r>
            <a:r>
              <a:rPr lang="ru-RU" sz="2000" b="0" u="none" strike="noStrike" dirty="0">
                <a:solidFill>
                  <a:srgbClr val="000000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000" b="0" u="none" strike="noStrike" dirty="0" err="1">
                <a:solidFill>
                  <a:srgbClr val="000000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Redis</a:t>
            </a:r>
            <a:r>
              <a:rPr lang="ru-RU" sz="2000" b="0" u="none" strike="noStrike" dirty="0">
                <a:solidFill>
                  <a:srgbClr val="000000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000" b="0" u="none" strike="noStrike" dirty="0" err="1">
                <a:solidFill>
                  <a:srgbClr val="000000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Docker</a:t>
            </a:r>
            <a:endParaRPr lang="ru-RU" sz="2000" b="0" u="none" strike="noStrike" dirty="0"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32000" indent="-3240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 dirty="0">
                <a:solidFill>
                  <a:srgbClr val="000000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Архитектура:</a:t>
            </a:r>
            <a:endParaRPr lang="en-US" sz="2000" b="0" u="none" strike="noStrike" dirty="0"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65150" indent="-204788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+mj-lt"/>
              <a:buAutoNum type="arabicPeriod"/>
            </a:pPr>
            <a:r>
              <a:rPr lang="ru-RU" sz="2000" b="0" u="none" strike="noStrike" dirty="0">
                <a:solidFill>
                  <a:srgbClr val="000000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Модуль управления пользователями</a:t>
            </a:r>
            <a:endParaRPr lang="en-US" sz="2000" b="0" u="none" strike="noStrike" dirty="0"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65150" indent="-204788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+mj-lt"/>
              <a:buAutoNum type="arabicPeriod"/>
            </a:pPr>
            <a:r>
              <a:rPr lang="ru-RU" sz="2000" b="0" u="none" strike="noStrike" dirty="0">
                <a:solidFill>
                  <a:srgbClr val="000000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Модуль программ привычек</a:t>
            </a:r>
            <a:endParaRPr lang="en-US" sz="2000" b="0" u="none" strike="noStrike" dirty="0"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65150" indent="-204788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+mj-lt"/>
              <a:buAutoNum type="arabicPeriod"/>
            </a:pPr>
            <a:r>
              <a:rPr lang="ru-RU" sz="2000" b="0" u="none" strike="noStrike" dirty="0">
                <a:solidFill>
                  <a:srgbClr val="000000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Модуль игровых механик</a:t>
            </a:r>
            <a:endParaRPr lang="en-US" sz="2000" b="0" u="none" strike="noStrike" dirty="0"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65150" indent="-204788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+mj-lt"/>
              <a:buAutoNum type="arabicPeriod"/>
            </a:pPr>
            <a:r>
              <a:rPr lang="ru-RU" sz="2000" b="0" u="none" strike="noStrike" dirty="0">
                <a:solidFill>
                  <a:srgbClr val="000000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Модуль социального взаимодействия</a:t>
            </a:r>
            <a:endParaRPr lang="en-US" sz="2000" b="0" u="none" strike="noStrike" dirty="0"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65150" indent="-204788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+mj-lt"/>
              <a:buAutoNum type="arabicPeriod"/>
            </a:pPr>
            <a:r>
              <a:rPr lang="ru-RU" sz="2000" b="0" u="none" strike="noStrike" dirty="0">
                <a:solidFill>
                  <a:srgbClr val="000000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Модуль аналитики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039460" y="5268968"/>
            <a:ext cx="3591000" cy="244767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lstStyle/>
          <a:p>
            <a:r>
              <a:rPr lang="ru-RU" sz="1000" b="0" u="none" strike="noStrike">
                <a:solidFill>
                  <a:srgbClr val="000000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Графика: Техническая архитектура, логотипы технологий </a:t>
            </a:r>
          </a:p>
        </p:txBody>
      </p:sp>
      <p:grpSp>
        <p:nvGrpSpPr>
          <p:cNvPr id="12" name="Группа 11">
            <a:extLst>
              <a:ext uri="{FF2B5EF4-FFF2-40B4-BE49-F238E27FC236}">
                <a16:creationId xmlns:a16="http://schemas.microsoft.com/office/drawing/2014/main" id="{DB1FC1F4-C9A6-3DBF-304B-F4CB80F9435E}"/>
              </a:ext>
            </a:extLst>
          </p:cNvPr>
          <p:cNvGrpSpPr/>
          <p:nvPr/>
        </p:nvGrpSpPr>
        <p:grpSpPr>
          <a:xfrm>
            <a:off x="5828033" y="892479"/>
            <a:ext cx="3702427" cy="905148"/>
            <a:chOff x="5828033" y="1014863"/>
            <a:chExt cx="3702427" cy="905148"/>
          </a:xfrm>
        </p:grpSpPr>
        <p:pic>
          <p:nvPicPr>
            <p:cNvPr id="5" name="Рисунок 4">
              <a:extLst>
                <a:ext uri="{FF2B5EF4-FFF2-40B4-BE49-F238E27FC236}">
                  <a16:creationId xmlns:a16="http://schemas.microsoft.com/office/drawing/2014/main" id="{CA0057F2-7A60-AC2D-FC5A-B0FB9534936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828033" y="1014863"/>
              <a:ext cx="900000" cy="900000"/>
            </a:xfrm>
            <a:prstGeom prst="rect">
              <a:avLst/>
            </a:prstGeom>
          </p:spPr>
        </p:pic>
        <p:pic>
          <p:nvPicPr>
            <p:cNvPr id="7" name="Рисунок 6">
              <a:extLst>
                <a:ext uri="{FF2B5EF4-FFF2-40B4-BE49-F238E27FC236}">
                  <a16:creationId xmlns:a16="http://schemas.microsoft.com/office/drawing/2014/main" id="{43CE8E8C-F943-0D85-8A4D-B9CC8D6C7D3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630460" y="1014863"/>
              <a:ext cx="900000" cy="900000"/>
            </a:xfrm>
            <a:prstGeom prst="rect">
              <a:avLst/>
            </a:prstGeom>
          </p:spPr>
        </p:pic>
        <p:pic>
          <p:nvPicPr>
            <p:cNvPr id="9" name="Рисунок 8">
              <a:extLst>
                <a:ext uri="{FF2B5EF4-FFF2-40B4-BE49-F238E27FC236}">
                  <a16:creationId xmlns:a16="http://schemas.microsoft.com/office/drawing/2014/main" id="{20930EC3-329E-23EE-E7F3-A4772815BB1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628033" y="1014863"/>
              <a:ext cx="900000" cy="900000"/>
            </a:xfrm>
            <a:prstGeom prst="rect">
              <a:avLst/>
            </a:prstGeom>
          </p:spPr>
        </p:pic>
        <p:pic>
          <p:nvPicPr>
            <p:cNvPr id="11" name="Рисунок 10">
              <a:extLst>
                <a:ext uri="{FF2B5EF4-FFF2-40B4-BE49-F238E27FC236}">
                  <a16:creationId xmlns:a16="http://schemas.microsoft.com/office/drawing/2014/main" id="{46267562-74F8-E6B6-DB48-BF427C89387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728033" y="1020011"/>
              <a:ext cx="900000" cy="900000"/>
            </a:xfrm>
            <a:prstGeom prst="rect">
              <a:avLst/>
            </a:prstGeom>
          </p:spPr>
        </p:pic>
      </p:grpSp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E3C7D5DB-54E6-A525-5D71-B8AF6A13F30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51095" y="3078149"/>
            <a:ext cx="900000" cy="900000"/>
          </a:xfrm>
          <a:prstGeom prst="rect">
            <a:avLst/>
          </a:prstGeom>
        </p:spPr>
      </p:pic>
      <p:grpSp>
        <p:nvGrpSpPr>
          <p:cNvPr id="25" name="Группа 24">
            <a:extLst>
              <a:ext uri="{FF2B5EF4-FFF2-40B4-BE49-F238E27FC236}">
                <a16:creationId xmlns:a16="http://schemas.microsoft.com/office/drawing/2014/main" id="{9F81F087-F7F0-C70D-08EC-0E8A71B5320D}"/>
              </a:ext>
            </a:extLst>
          </p:cNvPr>
          <p:cNvGrpSpPr/>
          <p:nvPr/>
        </p:nvGrpSpPr>
        <p:grpSpPr>
          <a:xfrm>
            <a:off x="8413293" y="2145688"/>
            <a:ext cx="900000" cy="2764922"/>
            <a:chOff x="8346545" y="2276201"/>
            <a:chExt cx="900000" cy="2764922"/>
          </a:xfrm>
        </p:grpSpPr>
        <p:pic>
          <p:nvPicPr>
            <p:cNvPr id="14" name="Рисунок 13">
              <a:extLst>
                <a:ext uri="{FF2B5EF4-FFF2-40B4-BE49-F238E27FC236}">
                  <a16:creationId xmlns:a16="http://schemas.microsoft.com/office/drawing/2014/main" id="{54EB6C01-5D69-3F6E-2EA1-C3F90A06F047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8346545" y="4141123"/>
              <a:ext cx="900000" cy="900000"/>
            </a:xfrm>
            <a:prstGeom prst="rect">
              <a:avLst/>
            </a:prstGeom>
          </p:spPr>
        </p:pic>
        <p:pic>
          <p:nvPicPr>
            <p:cNvPr id="20" name="Рисунок 19">
              <a:extLst>
                <a:ext uri="{FF2B5EF4-FFF2-40B4-BE49-F238E27FC236}">
                  <a16:creationId xmlns:a16="http://schemas.microsoft.com/office/drawing/2014/main" id="{ECC7E17C-1DB9-AA73-513B-A3B7F3BC4E18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8346545" y="3208662"/>
              <a:ext cx="900000" cy="900000"/>
            </a:xfrm>
            <a:prstGeom prst="rect">
              <a:avLst/>
            </a:prstGeom>
          </p:spPr>
        </p:pic>
        <p:pic>
          <p:nvPicPr>
            <p:cNvPr id="22" name="Рисунок 21">
              <a:extLst>
                <a:ext uri="{FF2B5EF4-FFF2-40B4-BE49-F238E27FC236}">
                  <a16:creationId xmlns:a16="http://schemas.microsoft.com/office/drawing/2014/main" id="{420B6CA5-D985-849A-5142-D36C9A6D58DA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8346545" y="2276201"/>
              <a:ext cx="900000" cy="900000"/>
            </a:xfrm>
            <a:prstGeom prst="rect">
              <a:avLst/>
            </a:prstGeom>
          </p:spPr>
        </p:pic>
      </p:grpSp>
      <p:pic>
        <p:nvPicPr>
          <p:cNvPr id="24" name="Рисунок 23">
            <a:extLst>
              <a:ext uri="{FF2B5EF4-FFF2-40B4-BE49-F238E27FC236}">
                <a16:creationId xmlns:a16="http://schemas.microsoft.com/office/drawing/2014/main" id="{1384EB66-BECD-7D61-B1FE-03A7CDB40476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082194" y="3078149"/>
            <a:ext cx="900000" cy="900000"/>
          </a:xfrm>
          <a:prstGeom prst="rect">
            <a:avLst/>
          </a:prstGeom>
        </p:spPr>
      </p:pic>
      <p:cxnSp>
        <p:nvCxnSpPr>
          <p:cNvPr id="27" name="Прямая со стрелкой 26">
            <a:extLst>
              <a:ext uri="{FF2B5EF4-FFF2-40B4-BE49-F238E27FC236}">
                <a16:creationId xmlns:a16="http://schemas.microsoft.com/office/drawing/2014/main" id="{9CF7F4A2-97E4-3AC1-F7EB-E0DF95F26CEC}"/>
              </a:ext>
            </a:extLst>
          </p:cNvPr>
          <p:cNvCxnSpPr>
            <a:cxnSpLocks/>
            <a:stCxn id="16" idx="3"/>
            <a:endCxn id="24" idx="1"/>
          </p:cNvCxnSpPr>
          <p:nvPr/>
        </p:nvCxnSpPr>
        <p:spPr>
          <a:xfrm>
            <a:off x="6651095" y="3528149"/>
            <a:ext cx="431099" cy="0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Прямая со стрелкой 30">
            <a:extLst>
              <a:ext uri="{FF2B5EF4-FFF2-40B4-BE49-F238E27FC236}">
                <a16:creationId xmlns:a16="http://schemas.microsoft.com/office/drawing/2014/main" id="{497B988B-1863-467B-4FFA-E0EC89E6916C}"/>
              </a:ext>
            </a:extLst>
          </p:cNvPr>
          <p:cNvCxnSpPr>
            <a:stCxn id="24" idx="3"/>
            <a:endCxn id="22" idx="1"/>
          </p:cNvCxnSpPr>
          <p:nvPr/>
        </p:nvCxnSpPr>
        <p:spPr>
          <a:xfrm flipV="1">
            <a:off x="7982194" y="2595688"/>
            <a:ext cx="431099" cy="932461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Прямая со стрелкой 31">
            <a:extLst>
              <a:ext uri="{FF2B5EF4-FFF2-40B4-BE49-F238E27FC236}">
                <a16:creationId xmlns:a16="http://schemas.microsoft.com/office/drawing/2014/main" id="{EAE511FB-BABC-3C06-F0FC-D92B14BAF1F4}"/>
              </a:ext>
            </a:extLst>
          </p:cNvPr>
          <p:cNvCxnSpPr>
            <a:cxnSpLocks/>
            <a:stCxn id="24" idx="3"/>
            <a:endCxn id="20" idx="1"/>
          </p:cNvCxnSpPr>
          <p:nvPr/>
        </p:nvCxnSpPr>
        <p:spPr>
          <a:xfrm>
            <a:off x="7982194" y="3528149"/>
            <a:ext cx="431099" cy="0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Прямая со стрелкой 34">
            <a:extLst>
              <a:ext uri="{FF2B5EF4-FFF2-40B4-BE49-F238E27FC236}">
                <a16:creationId xmlns:a16="http://schemas.microsoft.com/office/drawing/2014/main" id="{E1D69712-2E4D-6D18-7010-535931E3E87A}"/>
              </a:ext>
            </a:extLst>
          </p:cNvPr>
          <p:cNvCxnSpPr>
            <a:cxnSpLocks/>
            <a:stCxn id="24" idx="3"/>
            <a:endCxn id="14" idx="1"/>
          </p:cNvCxnSpPr>
          <p:nvPr/>
        </p:nvCxnSpPr>
        <p:spPr>
          <a:xfrm>
            <a:off x="7982194" y="3528149"/>
            <a:ext cx="431099" cy="932461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Диаграмма 3">
            <a:extLst>
              <a:ext uri="{FF2B5EF4-FFF2-40B4-BE49-F238E27FC236}">
                <a16:creationId xmlns:a16="http://schemas.microsoft.com/office/drawing/2014/main" id="{E2BAB1CD-2070-0BF9-8120-6EBF8620E08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35403210"/>
              </p:ext>
            </p:extLst>
          </p:nvPr>
        </p:nvGraphicFramePr>
        <p:xfrm>
          <a:off x="575734" y="165100"/>
          <a:ext cx="8911166" cy="511351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title"/>
          </p:nvPr>
        </p:nvSpPr>
        <p:spPr>
          <a:xfrm>
            <a:off x="504000" y="504681"/>
            <a:ext cx="9070920" cy="387798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>
              <a:spcBef>
                <a:spcPts val="1191"/>
              </a:spcBef>
              <a:spcAft>
                <a:spcPts val="992"/>
              </a:spcAft>
              <a:buNone/>
            </a:pPr>
            <a:r>
              <a:rPr lang="ru-RU" sz="2800" b="1" u="none" strike="noStrike" dirty="0">
                <a:solidFill>
                  <a:srgbClr val="000000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Эффективные механики</a:t>
            </a:r>
          </a:p>
        </p:txBody>
      </p:sp>
      <p:sp>
        <p:nvSpPr>
          <p:cNvPr id="52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0920" cy="3287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432000" indent="-3240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 dirty="0">
                <a:solidFill>
                  <a:srgbClr val="000000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Наиболее успешные элементы: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000" b="0" u="none" strike="noStrike" dirty="0">
                <a:solidFill>
                  <a:srgbClr val="000000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Система уровней и очков опыта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000" b="0" u="none" strike="noStrike" dirty="0">
                <a:solidFill>
                  <a:srgbClr val="000000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Ежедневные челленджи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000" b="0" u="none" strike="noStrike" dirty="0">
                <a:solidFill>
                  <a:srgbClr val="000000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Социальное взаимодействие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000" b="0" u="none" strike="noStrike" dirty="0">
                <a:solidFill>
                  <a:srgbClr val="000000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Персонализированные достижения</a:t>
            </a:r>
          </a:p>
          <a:p>
            <a:pPr marL="432000" indent="-3240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 dirty="0">
                <a:solidFill>
                  <a:srgbClr val="000000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Менее эффективные: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000" b="0" u="none" strike="noStrike" dirty="0">
                <a:solidFill>
                  <a:srgbClr val="000000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Глобальные </a:t>
            </a:r>
            <a:r>
              <a:rPr lang="ru-RU" sz="2000" b="0" u="none" strike="noStrike" dirty="0" err="1">
                <a:solidFill>
                  <a:srgbClr val="000000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лидерборды</a:t>
            </a:r>
            <a:endParaRPr lang="ru-RU" sz="2000" b="0" u="none" strike="noStrike" dirty="0"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000" b="0" u="none" strike="noStrike" dirty="0">
                <a:solidFill>
                  <a:srgbClr val="000000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Сложные экономические системы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909533" y="5048241"/>
            <a:ext cx="3524400" cy="706432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lstStyle/>
          <a:p>
            <a:r>
              <a:rPr lang="ru-RU" sz="2000" b="0" u="none" strike="noStrike" dirty="0">
                <a:solidFill>
                  <a:srgbClr val="000000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Графика: Рейтинг механик, иконки успешных элементов 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504000" y="505041"/>
            <a:ext cx="9070920" cy="387798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>
              <a:spcBef>
                <a:spcPts val="1191"/>
              </a:spcBef>
              <a:spcAft>
                <a:spcPts val="992"/>
              </a:spcAft>
              <a:buNone/>
            </a:pPr>
            <a:r>
              <a:rPr lang="ru-RU" sz="2800" b="1" u="none" strike="noStrike" dirty="0">
                <a:solidFill>
                  <a:srgbClr val="000000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Итоги и дальнейшие шаги </a:t>
            </a:r>
          </a:p>
        </p:txBody>
      </p:sp>
      <p:sp>
        <p:nvSpPr>
          <p:cNvPr id="55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0920" cy="3713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432000" indent="-3240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 dirty="0">
                <a:solidFill>
                  <a:srgbClr val="000000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Геймификация повышает мотивацию и вовлеченность</a:t>
            </a:r>
          </a:p>
          <a:p>
            <a:pPr marL="432000" indent="-3240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 dirty="0">
                <a:solidFill>
                  <a:srgbClr val="000000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Баланс между игрой и содержанием критически важен</a:t>
            </a:r>
          </a:p>
          <a:p>
            <a:pPr marL="432000" indent="-3240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 dirty="0">
                <a:solidFill>
                  <a:srgbClr val="000000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Проект имеет коммерческие перспективы</a:t>
            </a:r>
          </a:p>
          <a:p>
            <a:pPr marL="432000" indent="-3240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 dirty="0">
                <a:solidFill>
                  <a:srgbClr val="000000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Полученные навыки: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000" b="0" u="none" strike="noStrike" dirty="0">
                <a:solidFill>
                  <a:srgbClr val="000000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Научное исследование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000" b="0" u="none" strike="noStrike" dirty="0">
                <a:solidFill>
                  <a:srgbClr val="000000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Разработка ИС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000" b="0" u="none" strike="noStrike" dirty="0">
                <a:solidFill>
                  <a:srgbClr val="000000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Тестирование и аналитика</a:t>
            </a:r>
          </a:p>
          <a:p>
            <a:pPr marL="432000" indent="0">
              <a:spcBef>
                <a:spcPts val="1191"/>
              </a:spcBef>
              <a:spcAft>
                <a:spcPts val="992"/>
              </a:spcAft>
              <a:buNone/>
            </a:pPr>
            <a:r>
              <a:rPr lang="ru-RU" sz="2000" b="0" u="none" strike="noStrike" dirty="0">
                <a:solidFill>
                  <a:srgbClr val="000000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427534" y="4953751"/>
            <a:ext cx="3843720" cy="706432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lstStyle/>
          <a:p>
            <a:r>
              <a:rPr lang="ru-RU" sz="2000" b="0" u="none" strike="noStrike" dirty="0">
                <a:solidFill>
                  <a:srgbClr val="000000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Графика: </a:t>
            </a:r>
            <a:r>
              <a:rPr lang="ru-RU" sz="2000" b="0" u="none" strike="noStrike" dirty="0" err="1">
                <a:solidFill>
                  <a:srgbClr val="000000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Roadmap</a:t>
            </a:r>
            <a:r>
              <a:rPr lang="ru-RU" sz="2000" b="0" u="none" strike="noStrike" dirty="0">
                <a:solidFill>
                  <a:srgbClr val="000000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развития, иконки приобретенных навыков 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504000" y="225360"/>
            <a:ext cx="9070920" cy="947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>
              <a:lnSpc>
                <a:spcPct val="110000"/>
              </a:lnSpc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Calibri"/>
              </a:rPr>
              <a:t>Преимущества мессенджеров как платформы включают: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0920" cy="3287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216000" indent="0">
              <a:lnSpc>
                <a:spcPct val="110000"/>
              </a:lnSpc>
              <a:buNone/>
              <a:tabLst>
                <a:tab pos="0" algn="l"/>
              </a:tabLst>
            </a:pP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>
              <a:lnSpc>
                <a:spcPct val="110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Calibri"/>
              </a:rPr>
              <a:t>Высокую доступность и удобство использования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>
              <a:lnSpc>
                <a:spcPct val="110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Calibri"/>
              </a:rPr>
              <a:t>Возможность постоянного взаимодействия с пользователем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>
              <a:lnSpc>
                <a:spcPct val="110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Calibri"/>
              </a:rPr>
              <a:t>Интеграцию в привычную цифровую среду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>
              <a:lnSpc>
                <a:spcPct val="110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Calibri"/>
              </a:rPr>
              <a:t>Низкий порог входа для пользователей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PlaceHolder 1"/>
          <p:cNvSpPr>
            <a:spLocks noGrp="1"/>
          </p:cNvSpPr>
          <p:nvPr>
            <p:ph type="title"/>
          </p:nvPr>
        </p:nvSpPr>
        <p:spPr>
          <a:xfrm>
            <a:off x="504000" y="225360"/>
            <a:ext cx="9070920" cy="947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>
              <a:lnSpc>
                <a:spcPct val="110000"/>
              </a:lnSpc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Calibri"/>
              </a:rPr>
              <a:t>Ключевые элементы геймификации включают: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0920" cy="3287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216000" indent="0">
              <a:lnSpc>
                <a:spcPct val="110000"/>
              </a:lnSpc>
              <a:buNone/>
              <a:tabLst>
                <a:tab pos="0" algn="l"/>
              </a:tabLst>
            </a:pP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>
              <a:lnSpc>
                <a:spcPct val="110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Calibri"/>
              </a:rPr>
              <a:t>Системы наград и достижений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>
              <a:lnSpc>
                <a:spcPct val="110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Calibri"/>
              </a:rPr>
              <a:t>Прогресс-бары и уровни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>
              <a:lnSpc>
                <a:spcPct val="110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Calibri"/>
              </a:rPr>
              <a:t>Социальные элементы (рейтинги, лидерборды)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>
              <a:lnSpc>
                <a:spcPct val="110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Calibri"/>
              </a:rPr>
              <a:t>Истории и нарративы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>
              <a:lnSpc>
                <a:spcPct val="110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Calibri"/>
              </a:rPr>
              <a:t>Мгновенную обратную связь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/>
          </p:nvPr>
        </p:nvSpPr>
        <p:spPr>
          <a:xfrm>
            <a:off x="504000" y="1326600"/>
            <a:ext cx="9070920" cy="3287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110000"/>
              </a:lnSpc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Calibri"/>
              </a:rPr>
              <a:t>Анализ существующих решений показал, что геймификация успешно применяется в различных сферах. В образовании популярны платформы типа Duolingo, которые используют очки опыта, уровни и серии для мотивации обучения языкам. В фитнесе приложения Fitbit и Nike Run Club применяют систему наград, достижений и социальное сравнение.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504000" y="73440"/>
            <a:ext cx="9070920" cy="125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>
              <a:lnSpc>
                <a:spcPct val="110000"/>
              </a:lnSpc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Однако большинство существующих решений имеют ограничения: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0920" cy="3287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110000"/>
              </a:lnSpc>
              <a:buNone/>
              <a:tabLst>
                <a:tab pos="0" algn="l"/>
              </a:tabLst>
            </a:pP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10000"/>
              </a:lnSpc>
              <a:buNone/>
              <a:tabLst>
                <a:tab pos="0" algn="l"/>
              </a:tabLst>
            </a:pP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228600">
              <a:lnSpc>
                <a:spcPct val="110000"/>
              </a:lnSpc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Calibri"/>
              </a:rPr>
              <a:t>Сильная зависимость от самодисциплины пользователя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228600">
              <a:lnSpc>
                <a:spcPct val="110000"/>
              </a:lnSpc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Calibri"/>
              </a:rPr>
              <a:t>Отсутствие социальной поддержки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228600">
              <a:lnSpc>
                <a:spcPct val="110000"/>
              </a:lnSpc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Calibri"/>
              </a:rPr>
              <a:t>Недостаточная персонализация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228600">
              <a:lnSpc>
                <a:spcPct val="110000"/>
              </a:lnSpc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Calibri"/>
              </a:rPr>
              <a:t>Ограниченные возможности адаптации под индивидуальные потребности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PlaceHolder 1"/>
          <p:cNvSpPr>
            <a:spLocks noGrp="1"/>
          </p:cNvSpPr>
          <p:nvPr>
            <p:ph type="title"/>
          </p:nvPr>
        </p:nvSpPr>
        <p:spPr>
          <a:xfrm>
            <a:off x="504000" y="852840"/>
            <a:ext cx="9070920" cy="947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>
              <a:lnSpc>
                <a:spcPct val="110000"/>
              </a:lnSpc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Calibri"/>
              </a:rPr>
              <a:t>Основными сегментами являются: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0920" cy="3287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110000"/>
              </a:lnSpc>
              <a:buNone/>
              <a:tabLst>
                <a:tab pos="0" algn="l"/>
              </a:tabLst>
            </a:pP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10000"/>
              </a:lnSpc>
              <a:buNone/>
              <a:tabLst>
                <a:tab pos="0" algn="l"/>
              </a:tabLst>
            </a:pP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228600">
              <a:lnSpc>
                <a:spcPct val="110000"/>
              </a:lnSpc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Calibri"/>
              </a:rPr>
              <a:t>Молодые профессионалы, испытывающие стресс и нехватку времени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228600">
              <a:lnSpc>
                <a:spcPct val="110000"/>
              </a:lnSpc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Calibri"/>
              </a:rPr>
              <a:t>Люди, начинающие путь к здоровому образу жизни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228600">
              <a:lnSpc>
                <a:spcPct val="110000"/>
              </a:lnSpc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Calibri"/>
              </a:rPr>
              <a:t>Пользователи цифровых технологий, открытые новым форматам взаимодействия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Прямоугольник 70"/>
          <p:cNvSpPr/>
          <p:nvPr/>
        </p:nvSpPr>
        <p:spPr>
          <a:xfrm>
            <a:off x="0" y="540000"/>
            <a:ext cx="9932040" cy="286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Calibri"/>
              </a:rPr>
              <a:t>Целевая аудитория проекта включает людей в возрасте от 18 до 45 лет, заинтересованных в формировании здоровых привычек. 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PlaceHolder 1"/>
          <p:cNvSpPr>
            <a:spLocks noGrp="1"/>
          </p:cNvSpPr>
          <p:nvPr>
            <p:ph type="title"/>
          </p:nvPr>
        </p:nvSpPr>
        <p:spPr>
          <a:xfrm>
            <a:off x="504000" y="225360"/>
            <a:ext cx="9070920" cy="947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>
              <a:lnSpc>
                <a:spcPct val="110000"/>
              </a:lnSpc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Calibri"/>
              </a:rPr>
              <a:t>Ключевые требования целевой аудитории: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0920" cy="3287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110000"/>
              </a:lnSpc>
              <a:buNone/>
              <a:tabLst>
                <a:tab pos="0" algn="l"/>
              </a:tabLst>
            </a:pP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10000"/>
              </a:lnSpc>
              <a:buNone/>
              <a:tabLst>
                <a:tab pos="0" algn="l"/>
              </a:tabLst>
            </a:pP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228600">
              <a:lnSpc>
                <a:spcPct val="110000"/>
              </a:lnSpc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Calibri"/>
              </a:rPr>
              <a:t>Простота использования и интуитивный интерфейс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228600">
              <a:lnSpc>
                <a:spcPct val="110000"/>
              </a:lnSpc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Calibri"/>
              </a:rPr>
              <a:t>Персонализация под индивидуальные цели и график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228600">
              <a:lnSpc>
                <a:spcPct val="110000"/>
              </a:lnSpc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Calibri"/>
              </a:rPr>
              <a:t>Социальная поддержка и мотивация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228600">
              <a:lnSpc>
                <a:spcPct val="110000"/>
              </a:lnSpc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Calibri"/>
              </a:rPr>
              <a:t>Конфиденциальность и безопасность данных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228600">
              <a:lnSpc>
                <a:spcPct val="110000"/>
              </a:lnSpc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Calibri"/>
              </a:rPr>
              <a:t>Гибкость в планировании и адаптации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PlaceHolder 1"/>
          <p:cNvSpPr>
            <a:spLocks noGrp="1"/>
          </p:cNvSpPr>
          <p:nvPr>
            <p:ph type="title"/>
          </p:nvPr>
        </p:nvSpPr>
        <p:spPr>
          <a:xfrm>
            <a:off x="504000" y="225360"/>
            <a:ext cx="9070920" cy="947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ctr">
              <a:lnSpc>
                <a:spcPct val="110000"/>
              </a:lnSpc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Calibri"/>
              </a:rPr>
              <a:t>Концепция разработанного чат-бота основана на интеграции нескольких ключевых элементов: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PlaceHolder 2"/>
          <p:cNvSpPr>
            <a:spLocks noGrp="1"/>
          </p:cNvSpPr>
          <p:nvPr>
            <p:ph/>
          </p:nvPr>
        </p:nvSpPr>
        <p:spPr>
          <a:xfrm>
            <a:off x="504000" y="1571760"/>
            <a:ext cx="4355280" cy="3287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110000"/>
              </a:lnSpc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Основной функционал: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228600">
              <a:lnSpc>
                <a:spcPct val="110000"/>
              </a:lnSpc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Подписка на готовые программы формирования привычек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228600">
              <a:lnSpc>
                <a:spcPct val="110000"/>
              </a:lnSpc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Персонализированные рекомендации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228600">
              <a:lnSpc>
                <a:spcPct val="110000"/>
              </a:lnSpc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Система отслеживания прогресса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228600">
              <a:lnSpc>
                <a:spcPct val="110000"/>
              </a:lnSpc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Анонимное наставничество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228600">
              <a:lnSpc>
                <a:spcPct val="110000"/>
              </a:lnSpc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Социальные элементы и рейтинг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Прямоугольник 75"/>
          <p:cNvSpPr/>
          <p:nvPr/>
        </p:nvSpPr>
        <p:spPr>
          <a:xfrm>
            <a:off x="5220000" y="1571760"/>
            <a:ext cx="4355280" cy="3287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 lnSpcReduction="9999"/>
          </a:bodyPr>
          <a:lstStyle/>
          <a:p>
            <a:pPr>
              <a:lnSpc>
                <a:spcPct val="110000"/>
              </a:lnSpc>
              <a:spcBef>
                <a:spcPts val="1417"/>
              </a:spcBef>
              <a:tabLst>
                <a:tab pos="0" algn="l"/>
              </a:tabLst>
            </a:pPr>
            <a:r>
              <a:rPr lang="ru-RU" sz="16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Игровые механики:</a:t>
            </a:r>
            <a:endParaRPr lang="ru-RU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10000"/>
              </a:lnSpc>
              <a:spcBef>
                <a:spcPts val="1417"/>
              </a:spcBef>
              <a:tabLst>
                <a:tab pos="0" algn="l"/>
              </a:tabLst>
            </a:pPr>
            <a:endParaRPr lang="ru-RU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228600">
              <a:lnSpc>
                <a:spcPct val="110000"/>
              </a:lnSpc>
              <a:spcBef>
                <a:spcPts val="1417"/>
              </a:spcBef>
              <a:tabLst>
                <a:tab pos="0" algn="l"/>
              </a:tabLst>
            </a:pPr>
            <a:r>
              <a:rPr lang="ru-RU" sz="16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Очки опыта за выполнение задач</a:t>
            </a:r>
            <a:endParaRPr lang="ru-RU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228600">
              <a:lnSpc>
                <a:spcPct val="110000"/>
              </a:lnSpc>
              <a:spcBef>
                <a:spcPts val="1417"/>
              </a:spcBef>
              <a:tabLst>
                <a:tab pos="0" algn="l"/>
              </a:tabLst>
            </a:pPr>
            <a:r>
              <a:rPr lang="ru-RU" sz="16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Уровневая система с новыми возможностями</a:t>
            </a:r>
            <a:endParaRPr lang="ru-RU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228600">
              <a:lnSpc>
                <a:spcPct val="110000"/>
              </a:lnSpc>
              <a:spcBef>
                <a:spcPts val="1417"/>
              </a:spcBef>
              <a:tabLst>
                <a:tab pos="0" algn="l"/>
              </a:tabLst>
            </a:pPr>
            <a:r>
              <a:rPr lang="ru-RU" sz="16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Система достижений и бейджей</a:t>
            </a:r>
            <a:endParaRPr lang="ru-RU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228600">
              <a:lnSpc>
                <a:spcPct val="110000"/>
              </a:lnSpc>
              <a:spcBef>
                <a:spcPts val="1417"/>
              </a:spcBef>
              <a:tabLst>
                <a:tab pos="0" algn="l"/>
              </a:tabLst>
            </a:pPr>
            <a:r>
              <a:rPr lang="ru-RU" sz="16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Ежедневные и недельные челленджи</a:t>
            </a:r>
            <a:endParaRPr lang="ru-RU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228600">
              <a:lnSpc>
                <a:spcPct val="110000"/>
              </a:lnSpc>
              <a:spcBef>
                <a:spcPts val="1417"/>
              </a:spcBef>
              <a:tabLst>
                <a:tab pos="0" algn="l"/>
              </a:tabLst>
            </a:pPr>
            <a:r>
              <a:rPr lang="ru-RU" sz="16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Виртуальная валюта для покупки бонусов</a:t>
            </a:r>
            <a:endParaRPr lang="ru-RU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PlaceHolder 1"/>
          <p:cNvSpPr>
            <a:spLocks noGrp="1"/>
          </p:cNvSpPr>
          <p:nvPr>
            <p:ph/>
          </p:nvPr>
        </p:nvSpPr>
        <p:spPr>
          <a:xfrm>
            <a:off x="504000" y="1326600"/>
            <a:ext cx="9070920" cy="3287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110000"/>
              </a:lnSpc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Социальные элементы: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10000"/>
              </a:lnSpc>
              <a:buNone/>
              <a:tabLst>
                <a:tab pos="0" algn="l"/>
              </a:tabLst>
            </a:pP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228600">
              <a:lnSpc>
                <a:spcPct val="110000"/>
              </a:lnSpc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Calibri"/>
              </a:rPr>
              <a:t>Анонимные чаты с наставниками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228600">
              <a:lnSpc>
                <a:spcPct val="110000"/>
              </a:lnSpc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Calibri"/>
              </a:rPr>
              <a:t>Сообщества по интересам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228600">
              <a:lnSpc>
                <a:spcPct val="110000"/>
              </a:lnSpc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Calibri"/>
              </a:rPr>
              <a:t>Совместные челленджи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228600">
              <a:lnSpc>
                <a:spcPct val="110000"/>
              </a:lnSpc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Calibri"/>
              </a:rPr>
              <a:t>Система взаимной поддержки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PlaceHolder 1"/>
          <p:cNvSpPr>
            <a:spLocks noGrp="1"/>
          </p:cNvSpPr>
          <p:nvPr>
            <p:ph type="title"/>
          </p:nvPr>
        </p:nvSpPr>
        <p:spPr>
          <a:xfrm>
            <a:off x="504000" y="225360"/>
            <a:ext cx="9070920" cy="947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>
              <a:lnSpc>
                <a:spcPct val="110000"/>
              </a:lnSpc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Calibri"/>
              </a:rPr>
              <a:t>Ключевые метрики оценки эффективности: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0920" cy="3287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110000"/>
              </a:lnSpc>
              <a:buNone/>
              <a:tabLst>
                <a:tab pos="0" algn="l"/>
              </a:tabLst>
            </a:pP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10000"/>
              </a:lnSpc>
              <a:buNone/>
              <a:tabLst>
                <a:tab pos="0" algn="l"/>
              </a:tabLst>
            </a:pP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228600">
              <a:lnSpc>
                <a:spcPct val="110000"/>
              </a:lnSpc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Calibri"/>
              </a:rPr>
              <a:t>Уровень вовлеченности (ежедневная активность)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228600">
              <a:lnSpc>
                <a:spcPct val="110000"/>
              </a:lnSpc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Calibri"/>
              </a:rPr>
              <a:t>Процент выполнения задач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228600">
              <a:lnSpc>
                <a:spcPct val="110000"/>
              </a:lnSpc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Calibri"/>
              </a:rPr>
              <a:t>Удержание пользователей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228600">
              <a:lnSpc>
                <a:spcPct val="110000"/>
              </a:lnSpc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Calibri"/>
              </a:rPr>
              <a:t>Самооценка удовлетворенности процессом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228600">
              <a:lnSpc>
                <a:spcPct val="110000"/>
              </a:lnSpc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Calibri"/>
              </a:rPr>
              <a:t>Достижение поставленных целей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PlaceHolder 1"/>
          <p:cNvSpPr>
            <a:spLocks noGrp="1"/>
          </p:cNvSpPr>
          <p:nvPr>
            <p:ph type="title"/>
          </p:nvPr>
        </p:nvSpPr>
        <p:spPr>
          <a:xfrm>
            <a:off x="504000" y="225360"/>
            <a:ext cx="9070920" cy="947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>
              <a:lnSpc>
                <a:spcPct val="110000"/>
              </a:lnSpc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Calibri"/>
              </a:rPr>
              <a:t>Результаты показали значительное превосходство геймифицированного подхода: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0920" cy="3287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110000"/>
              </a:lnSpc>
              <a:buNone/>
              <a:tabLst>
                <a:tab pos="0" algn="l"/>
              </a:tabLst>
            </a:pP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10000"/>
              </a:lnSpc>
              <a:buNone/>
              <a:tabLst>
                <a:tab pos="0" algn="l"/>
              </a:tabLst>
            </a:pP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228600">
              <a:lnSpc>
                <a:spcPct val="110000"/>
              </a:lnSpc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Calibri"/>
              </a:rPr>
              <a:t>Уровень вовлеченности составил 78% против 34% в контрольной группе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228600">
              <a:lnSpc>
                <a:spcPct val="110000"/>
              </a:lnSpc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Calibri"/>
              </a:rPr>
              <a:t>Процент выполнения задач – 67% против 42%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228600">
              <a:lnSpc>
                <a:spcPct val="110000"/>
              </a:lnSpc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Calibri"/>
              </a:rPr>
              <a:t>Удержание через 3 месяца – 63% против 28%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504000" y="225360"/>
            <a:ext cx="9070920" cy="947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>
              <a:lnSpc>
                <a:spcPct val="110000"/>
              </a:lnSpc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Calibri"/>
              </a:rPr>
              <a:t>Оптимальная комбинация: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0920" cy="3287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110000"/>
              </a:lnSpc>
              <a:buNone/>
              <a:tabLst>
                <a:tab pos="0" algn="l"/>
              </a:tabLst>
            </a:pP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10000"/>
              </a:lnSpc>
              <a:buNone/>
              <a:tabLst>
                <a:tab pos="0" algn="l"/>
              </a:tabLst>
            </a:pP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228600">
              <a:lnSpc>
                <a:spcPct val="110000"/>
              </a:lnSpc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Calibri"/>
              </a:rPr>
              <a:t>Простая, но наглядная система прогресса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228600">
              <a:lnSpc>
                <a:spcPct val="110000"/>
              </a:lnSpc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Calibri"/>
              </a:rPr>
              <a:t>Социальная поддержка без давления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228600">
              <a:lnSpc>
                <a:spcPct val="110000"/>
              </a:lnSpc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Calibri"/>
              </a:rPr>
              <a:t>Персонализация контента и наград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228600">
              <a:lnSpc>
                <a:spcPct val="110000"/>
              </a:lnSpc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Calibri"/>
              </a:rPr>
              <a:t>Регулярная обратная связь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</a:majorFont>
      <a:minorFont>
        <a:latin typeface="Calibri" panose="020F050202020403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182</TotalTime>
  <Words>701</Words>
  <Application>Microsoft Office PowerPoint</Application>
  <PresentationFormat>Произвольный</PresentationFormat>
  <Paragraphs>153</Paragraphs>
  <Slides>22</Slides>
  <Notes>1</Notes>
  <HiddenSlides>11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2</vt:i4>
      </vt:variant>
      <vt:variant>
        <vt:lpstr>Заголовки слайдов</vt:lpstr>
      </vt:variant>
      <vt:variant>
        <vt:i4>22</vt:i4>
      </vt:variant>
    </vt:vector>
  </HeadingPairs>
  <TitlesOfParts>
    <vt:vector size="30" baseType="lpstr">
      <vt:lpstr>Arial</vt:lpstr>
      <vt:lpstr>Calibri</vt:lpstr>
      <vt:lpstr>Calibri Light</vt:lpstr>
      <vt:lpstr>Symbol</vt:lpstr>
      <vt:lpstr>Times New Roman</vt:lpstr>
      <vt:lpstr>Wingdings</vt:lpstr>
      <vt:lpstr>Office</vt:lpstr>
      <vt:lpstr>Тема Office</vt:lpstr>
      <vt:lpstr>Презентация PowerPoint</vt:lpstr>
      <vt:lpstr>Цель и задачи исследования </vt:lpstr>
      <vt:lpstr>Почему это важно? </vt:lpstr>
      <vt:lpstr>Что такое геймификация? </vt:lpstr>
      <vt:lpstr>Что уже есть на рынке? </vt:lpstr>
      <vt:lpstr>Для кого это решение? </vt:lpstr>
      <vt:lpstr>Найденное решение </vt:lpstr>
      <vt:lpstr>Как это работает? </vt:lpstr>
      <vt:lpstr>Презентация PowerPoint</vt:lpstr>
      <vt:lpstr>Эффективные механики</vt:lpstr>
      <vt:lpstr>Итоги и дальнейшие шаги </vt:lpstr>
      <vt:lpstr>Преимущества мессенджеров как платформы включают:</vt:lpstr>
      <vt:lpstr>Ключевые элементы геймификации включают:</vt:lpstr>
      <vt:lpstr>Презентация PowerPoint</vt:lpstr>
      <vt:lpstr>Однако большинство существующих решений имеют ограничения:</vt:lpstr>
      <vt:lpstr>Основными сегментами являются:</vt:lpstr>
      <vt:lpstr>Ключевые требования целевой аудитории:</vt:lpstr>
      <vt:lpstr>Концепция разработанного чат-бота основана на интеграции нескольких ключевых элементов:</vt:lpstr>
      <vt:lpstr>Презентация PowerPoint</vt:lpstr>
      <vt:lpstr>Ключевые метрики оценки эффективности:</vt:lpstr>
      <vt:lpstr>Результаты показали значительное превосходство геймифицированного подхода:</vt:lpstr>
      <vt:lpstr>Оптимальная комбинация: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dc:description/>
  <cp:lastModifiedBy>Павел Гамов</cp:lastModifiedBy>
  <cp:revision>16</cp:revision>
  <dcterms:created xsi:type="dcterms:W3CDTF">2026-03-04T15:09:59Z</dcterms:created>
  <dcterms:modified xsi:type="dcterms:W3CDTF">2026-03-11T17:12:04Z</dcterms:modified>
  <dc:language>ru-RU</dc:language>
</cp:coreProperties>
</file>