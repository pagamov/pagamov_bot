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3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4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2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0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75D8027-F4F2-45BB-AF74-317ADC6A78B6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0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ftr" idx="7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sldNum" idx="8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1C6E548-237A-4C27-B71D-849D6ECA2A0C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dt" idx="9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0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05D8E8B-1C9B-4EEB-94ED-96EDA4BA2153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504000" y="73800"/>
            <a:ext cx="907092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0941B9A5-252B-4B92-B35B-6ACC91468A2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>
            <a:fillRect l="-10472" t="-11677" r="-10472" b="-11677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259640" y="928080"/>
            <a:ext cx="7560000" cy="197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ru-RU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6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dt" idx="10"/>
          </p:nvPr>
        </p:nvSpPr>
        <p:spPr>
          <a:xfrm>
            <a:off x="692640" y="5256000"/>
            <a:ext cx="2268000" cy="301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ftr" idx="11"/>
          </p:nvPr>
        </p:nvSpPr>
        <p:spPr>
          <a:xfrm>
            <a:off x="3339000" y="5256000"/>
            <a:ext cx="3402000" cy="301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sldNum" idx="12"/>
          </p:nvPr>
        </p:nvSpPr>
        <p:spPr>
          <a:xfrm>
            <a:off x="7119000" y="5256000"/>
            <a:ext cx="2268000" cy="301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5E8F8B5-4412-4F08-BF9B-ED5BF1BF400A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body"/>
          </p:nvPr>
        </p:nvSpPr>
        <p:spPr>
          <a:xfrm>
            <a:off x="503640" y="1326600"/>
            <a:ext cx="907236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16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31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b="0" lang="ru-RU" sz="231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935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65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b="0" lang="ru-RU" sz="165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70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9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b="0" lang="ru-RU" sz="149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468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49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b="0" lang="ru-RU" sz="149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3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65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b="0" lang="ru-RU" sz="165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3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65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b="0" lang="ru-RU" sz="165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3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65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b="0" lang="ru-RU" sz="165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6"/>
          <p:cNvSpPr/>
          <p:nvPr/>
        </p:nvSpPr>
        <p:spPr>
          <a:xfrm>
            <a:off x="332640" y="1872360"/>
            <a:ext cx="452736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2400" strike="noStrike" u="none">
                <a:solidFill>
                  <a:schemeClr val="accent5">
                    <a:lumMod val="75000"/>
                  </a:schemeClr>
                </a:solidFill>
                <a:effectLst/>
                <a:uFillTx/>
                <a:latin typeface="Tahoma"/>
                <a:ea typeface="Tahoma"/>
              </a:rPr>
              <a:t>Изучение использования элементов геймификации в неигровом контенте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360000" y="4793400"/>
            <a:ext cx="4267080" cy="374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Отчет о производственной практике: Гамов Павел Антонович ЭМС-271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360000" y="5167440"/>
            <a:ext cx="4267080" cy="232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Москва 2026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504000" y="529200"/>
            <a:ext cx="9070920" cy="340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1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Цель и задачи исследования </a:t>
            </a:r>
            <a:endParaRPr b="1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Цель: Изучение применения игровых механик в боте для профилактики здоровых привычек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Ключевые задачи практики: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Анализ существующих решений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Разработка концепции чат-бота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Реализация прототипа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Тестирование эффективности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spcBef>
                <a:spcPts val="1191"/>
              </a:spcBef>
              <a:spcAft>
                <a:spcPts val="992"/>
              </a:spcAft>
              <a:buNone/>
            </a:pP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504000" y="529200"/>
            <a:ext cx="9070920" cy="340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1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Почему это важно? </a:t>
            </a:r>
            <a:endParaRPr b="1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53600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60% взрослого населения страдает от нездоровых привычек (по данным ВОЗ)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Традиционные методы мотивации недостаточно эффективны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Средний пользователь проводит 6+ часов в день в цифровой среде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4+ млрд пользователей мессенджеров ежедневно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spcBef>
                <a:spcPts val="1191"/>
              </a:spcBef>
              <a:spcAft>
                <a:spcPts val="992"/>
              </a:spcAft>
              <a:buNone/>
            </a:pP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" name="" descr=""/>
          <p:cNvPicPr/>
          <p:nvPr/>
        </p:nvPicPr>
        <p:blipFill>
          <a:blip r:embed="rId1"/>
          <a:stretch/>
        </p:blipFill>
        <p:spPr>
          <a:xfrm>
            <a:off x="5397480" y="1260000"/>
            <a:ext cx="4142520" cy="3052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504000" y="529200"/>
            <a:ext cx="9070920" cy="340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1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Что такое геймификация? </a:t>
            </a:r>
            <a:endParaRPr b="1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5040000" y="1326600"/>
            <a:ext cx="4534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Процесс применения игровых элементов в неигровых контекстах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Ключевые элементы: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Системы наград и достижений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Прогресс-бары и уровни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Социальные элементы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Мгновенная обратная связь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" descr=""/>
          <p:cNvPicPr/>
          <p:nvPr/>
        </p:nvPicPr>
        <p:blipFill>
          <a:blip r:embed="rId1"/>
          <a:stretch/>
        </p:blipFill>
        <p:spPr>
          <a:xfrm>
            <a:off x="5040000" y="2520000"/>
            <a:ext cx="2739600" cy="144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504000" y="528840"/>
            <a:ext cx="9070920" cy="340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1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Что уже есть на рынке? </a:t>
            </a:r>
            <a:endParaRPr b="1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53600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Образование: Duolingo (очки опыта, уровни)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Фитнес: Fitbit, Nike Run Club (награды, соц. сравнение)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Здоровье: Habitica (RPG-подход), Streaks (прогресс, напоминания)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Основные ограничения: зависимость от дисциплины, отсутствие соц. поддержки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" name="" descr=""/>
          <p:cNvPicPr/>
          <p:nvPr/>
        </p:nvPicPr>
        <p:blipFill>
          <a:blip r:embed="rId2"/>
          <a:stretch/>
        </p:blipFill>
        <p:spPr>
          <a:xfrm>
            <a:off x="5220000" y="720000"/>
            <a:ext cx="1440000" cy="126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" name="" descr=""/>
          <p:cNvPicPr/>
          <p:nvPr/>
        </p:nvPicPr>
        <p:blipFill>
          <a:blip r:embed="rId3"/>
          <a:stretch/>
        </p:blipFill>
        <p:spPr>
          <a:xfrm>
            <a:off x="6660000" y="1620000"/>
            <a:ext cx="1440000" cy="144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" name="" descr=""/>
          <p:cNvPicPr/>
          <p:nvPr/>
        </p:nvPicPr>
        <p:blipFill>
          <a:blip r:embed="rId4"/>
          <a:stretch/>
        </p:blipFill>
        <p:spPr>
          <a:xfrm>
            <a:off x="8280000" y="1620000"/>
            <a:ext cx="1440000" cy="144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" name="" descr=""/>
          <p:cNvPicPr/>
          <p:nvPr/>
        </p:nvPicPr>
        <p:blipFill>
          <a:blip r:embed="rId5"/>
          <a:stretch/>
        </p:blipFill>
        <p:spPr>
          <a:xfrm>
            <a:off x="7920000" y="3060000"/>
            <a:ext cx="1497600" cy="144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0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кого это решение? 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Возраст: 18-45 лет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Сегменты: • Молодые профессионалы (стресс, дефицит времени) • Начинающие путь к ЗОЖ • Цифровые нативы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Требования: простота, персонализация, соц. поддержка, безопасность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2520000" y="5040000"/>
            <a:ext cx="5008320" cy="232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Графика: Персонажи-аватары разных сегментов, карта пользовательских персон 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0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Найденное решение 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Платформа: Telegram (4+ млрд пользователей)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Основной функционал: • Программы формирования привычек • Персонализированные рекомендации • Система отслеживания прогресса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Игровые механики: • Очки опыта и уровни • Достижения и бейджи • Виртуальная валюта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3240000" y="5040000"/>
            <a:ext cx="3619440" cy="232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Графика: Архитектурная схема бота, мокапы интерфейса 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504000" y="561240"/>
            <a:ext cx="9070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r>
              <a:rPr b="1" lang="ru-RU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Как это работает? 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Технологии: Python 3.13, Telegram Bot API, MongoDB, Redis, Docker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Архитектура: • Модуль управления пользователями • Модуль программ привычек • Модуль игровых механик • Модуль социального взаимодействия • Модуль аналитики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3240000" y="4987440"/>
            <a:ext cx="3591000" cy="232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Графика: Техническая архитектура, логотипы технологий 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4000" y="472680"/>
            <a:ext cx="9070920" cy="45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r>
              <a:rPr b="1" lang="ru-RU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Результаты тестирования</a:t>
            </a:r>
            <a:br>
              <a:rPr sz="1600"/>
            </a:br>
            <a:endParaRPr b="1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150 добровольцев, 3 месяца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Сравнение: традиционные методы vs геймификация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Результаты: • Вовлеченность: 78% vs 34% • Выполнение задач: 67% vs 42% • Удержание: 63% vs 28%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3240000" y="5040000"/>
            <a:ext cx="3424680" cy="232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Графика: Графики сравнения, диаграммы результатов 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504000" y="472680"/>
            <a:ext cx="9070920" cy="45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r>
              <a:rPr b="1" lang="ru-RU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Эффективные механики</a:t>
            </a:r>
            <a:br>
              <a:rPr sz="1600"/>
            </a:br>
            <a:endParaRPr b="1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Наиболее успешные элементы: • 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Система уровней и очков опыта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Ежедневные челленджи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Социальное взаимодействие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Персонализированные достижения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Менее эффективные: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Глобальные лидерборды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Сложные экономические системы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2955600" y="4987440"/>
            <a:ext cx="3524400" cy="232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Графика: Рейтинг механик, иконки успешных элементов 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0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Итоги и дальнейшие шаги 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Геймификация повышает мотивацию и вовлеченность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Баланс между игрой и содержанием критически важен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Проект имеет коммерческие перспективы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Полученные навыки: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Научное исследование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Разработка ИС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Тестирование и аналитика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2880000" y="5040000"/>
            <a:ext cx="3843720" cy="232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Графика: Roadmap развития, иконки приобретенных навыков 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0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Спасибо за внимание! 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Вопросы и обсуждение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Контактная информация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3253320" y="4860000"/>
            <a:ext cx="3406680" cy="232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ru-RU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Графика: QR-код для связи, минималистичный дизайн</a:t>
            </a:r>
            <a:endParaRPr b="0" lang="ru-RU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504000" y="73800"/>
            <a:ext cx="907092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Преимущества мессенджеров как платформы включают: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0">
              <a:lnSpc>
                <a:spcPct val="110000"/>
              </a:lnSpc>
              <a:buNone/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Высокую доступность и удобство использования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Возможность постоянного взаимодействия с пользователем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Интеграцию в привычную цифровую среду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Низкий порог входа для пользователей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Ключевые элементы геймификации включают: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0">
              <a:lnSpc>
                <a:spcPct val="110000"/>
              </a:lnSpc>
              <a:buNone/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Системы наград и достижений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Прогресс-бары и уровни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Социальные элементы (рейтинги, лидерборды)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Истории и нарративы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11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Мгновенную обратную связь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Анализ существующих решений показал, что геймификация успешно применяется в различных сферах. В образовании популярны платформы типа Duolingo, которые используют очки опыта, уровни и серии для мотивации обучения языкам. В фитнесе приложения Fitbit и Nike Run Club применяют систему наград, достижений и социальное сравнение.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504000" y="73440"/>
            <a:ext cx="9070920" cy="125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Однако большинство существующих решений имеют ограничения: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10000"/>
              </a:lnSpc>
              <a:buNone/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0000"/>
              </a:lnSpc>
              <a:buNone/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Сильная зависимость от самодисциплины пользователя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Отсутствие социальной поддержки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Недостаточная персонализация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Ограниченные возможности адаптации под индивидуальные потребности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504000" y="85284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Основными сегментами являются: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10000"/>
              </a:lnSpc>
              <a:buNone/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0000"/>
              </a:lnSpc>
              <a:buNone/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Молодые профессионалы, испытывающие стресс и нехватку времени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Люди, начинающие путь к здоровому образу жизни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Пользователи цифровых технологий, открытые новым форматам взаимодействия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0" y="540000"/>
            <a:ext cx="99320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Целевая аудитория проекта включает людей в возрасте от 18 до 45 лет, заинтересованных в формировании здоровых привычек.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Ключевые требования целевой аудитории: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10000"/>
              </a:lnSpc>
              <a:buNone/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0000"/>
              </a:lnSpc>
              <a:buNone/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Простота использования и интуитивный интерфейс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Персонализация под индивидуальные цели и график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Социальная поддержка и мотивация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Конфиденциальность и безопасность данных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Гибкость в планировании и адаптации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Концепция разработанного чат-бота основана на интеграции нескольких ключевых элементов: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/>
          </p:nvPr>
        </p:nvSpPr>
        <p:spPr>
          <a:xfrm>
            <a:off x="504000" y="1571760"/>
            <a:ext cx="435528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Основной функционал: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Подписка на готовые программы формирования привычек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Персонализированные рекомендации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Система отслеживания прогресса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Анонимное наставничество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Социальные элементы и рейтинг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5220000" y="1571760"/>
            <a:ext cx="4355280" cy="328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 lnSpcReduction="9999"/>
          </a:bodyPr>
          <a:p>
            <a:pPr>
              <a:lnSpc>
                <a:spcPct val="11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ru-RU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Игровые механики: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  <a:spcBef>
                <a:spcPts val="1417"/>
              </a:spcBef>
              <a:tabLst>
                <a:tab algn="l" pos="0"/>
              </a:tabLst>
            </a:pP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ru-RU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Очки опыта за выполнение задач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ru-RU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Уровневая система с новыми возможностями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ru-RU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Система достижений и бейджей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ru-RU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Ежедневные и недельные челленджи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ru-RU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Виртуальная валюта для покупки бонусов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Социальные элементы: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0000"/>
              </a:lnSpc>
              <a:buNone/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Анонимные чаты с наставниками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Сообщества по интересам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Совместные челленджи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Система взаимной поддержки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Ключевые метрики оценки эффективности: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10000"/>
              </a:lnSpc>
              <a:buNone/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0000"/>
              </a:lnSpc>
              <a:buNone/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Уровень вовлеченности (ежедневная активность)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Процент выполнения задач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Удержание пользователей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Самооценка удовлетворенности процессом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Достижение поставленных целей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Результаты показали значительное превосходство геймифицированного подхода: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10000"/>
              </a:lnSpc>
              <a:buNone/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0000"/>
              </a:lnSpc>
              <a:buNone/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Уровень вовлеченности составил 78% против 34% в контрольной группе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Процент выполнения задач – 67% против 42%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Удержание через 3 месяца – 63% против 28%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Оптимальная комбинация: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10000"/>
              </a:lnSpc>
              <a:buNone/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0000"/>
              </a:lnSpc>
              <a:buNone/>
              <a:tabLst>
                <a:tab algn="l" pos="0"/>
              </a:tabLst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Простая, но наглядная система прогресса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Социальная поддержка без давления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Персонализация контента и наград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Регулярная обратная связь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134</TotalTime>
  <Application>LibreOffice/25.2.7.2$Windows_X86_64 LibreOffice_project/5cbfd1ab6520636bb5f7b99185aa69bd7456825d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2026-03-04T15:09:59Z</dcterms:created>
  <dc:creator/>
  <dc:description/>
  <dc:language>ru-RU</dc:language>
  <cp:lastModifiedBy/>
  <dcterms:modified xsi:type="dcterms:W3CDTF">2026-03-10T17:33:14Z</dcterms:modified>
  <cp:revision>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