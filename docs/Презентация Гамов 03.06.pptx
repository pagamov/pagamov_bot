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314" r:id="rId3"/>
    <p:sldId id="315" r:id="rId4"/>
    <p:sldId id="320" r:id="rId5"/>
    <p:sldId id="304" r:id="rId6"/>
    <p:sldId id="319" r:id="rId7"/>
    <p:sldId id="318" r:id="rId8"/>
    <p:sldId id="321" r:id="rId9"/>
    <p:sldId id="309" r:id="rId10"/>
    <p:sldId id="306" r:id="rId11"/>
    <p:sldId id="316" r:id="rId12"/>
    <p:sldId id="308" r:id="rId13"/>
    <p:sldId id="310" r:id="rId14"/>
    <p:sldId id="32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E9C"/>
    <a:srgbClr val="000000"/>
    <a:srgbClr val="F3F7FF"/>
    <a:srgbClr val="232323"/>
    <a:srgbClr val="1A3773"/>
    <a:srgbClr val="005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6" autoAdjust="0"/>
    <p:restoredTop sz="94657"/>
  </p:normalViewPr>
  <p:slideViewPr>
    <p:cSldViewPr snapToGrid="0" showGuides="1">
      <p:cViewPr varScale="1">
        <p:scale>
          <a:sx n="148" d="100"/>
          <a:sy n="148" d="100"/>
        </p:scale>
        <p:origin x="92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барьеры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эксперимент для подтверждения эффективности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Реализовать сервис с авторской методикой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комплексный анализ проблемы, выявлены барьеры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Сформулированы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эксперимент подтвердивший эффективность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Реализован сервис с авторской методикой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676665" y="438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барьеры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382"/>
        <a:ext cx="5568739" cy="875524"/>
      </dsp:txXfrm>
    </dsp:sp>
    <dsp:sp modelId="{461663A7-095E-5349-A58D-186EEEBCE797}">
      <dsp:nvSpPr>
        <dsp:cNvPr id="0" name=""/>
        <dsp:cNvSpPr/>
      </dsp:nvSpPr>
      <dsp:spPr>
        <a:xfrm>
          <a:off x="1238902" y="438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676665" y="114125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1141257"/>
        <a:ext cx="5568739" cy="875524"/>
      </dsp:txXfrm>
    </dsp:sp>
    <dsp:sp modelId="{91C536B7-3FF0-7540-A9E6-94ED27AD4BFD}">
      <dsp:nvSpPr>
        <dsp:cNvPr id="0" name=""/>
        <dsp:cNvSpPr/>
      </dsp:nvSpPr>
      <dsp:spPr>
        <a:xfrm>
          <a:off x="1238902" y="114125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676665" y="227813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2278132"/>
        <a:ext cx="5568739" cy="875524"/>
      </dsp:txXfrm>
    </dsp:sp>
    <dsp:sp modelId="{D40C6A89-69F2-4547-B292-3B110D581711}">
      <dsp:nvSpPr>
        <dsp:cNvPr id="0" name=""/>
        <dsp:cNvSpPr/>
      </dsp:nvSpPr>
      <dsp:spPr>
        <a:xfrm>
          <a:off x="1238902" y="227813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676665" y="341500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Реализовать сервис с авторской методикой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3415007"/>
        <a:ext cx="5568739" cy="875524"/>
      </dsp:txXfrm>
    </dsp:sp>
    <dsp:sp modelId="{BD4E3E7B-E244-FD4B-95F0-3CD7EAD42C42}">
      <dsp:nvSpPr>
        <dsp:cNvPr id="0" name=""/>
        <dsp:cNvSpPr/>
      </dsp:nvSpPr>
      <dsp:spPr>
        <a:xfrm>
          <a:off x="1238902" y="341500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676665" y="4551883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эксперимент для подтверждения эффективности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551883"/>
        <a:ext cx="5568739" cy="875524"/>
      </dsp:txXfrm>
    </dsp:sp>
    <dsp:sp modelId="{7CD4DBAE-3334-D541-8C7D-FC4CB0F79389}">
      <dsp:nvSpPr>
        <dsp:cNvPr id="0" name=""/>
        <dsp:cNvSpPr/>
      </dsp:nvSpPr>
      <dsp:spPr>
        <a:xfrm>
          <a:off x="1238902" y="4551883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676665" y="438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комплексный анализ проблемы, выявлены барьеры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382"/>
        <a:ext cx="5568739" cy="875524"/>
      </dsp:txXfrm>
    </dsp:sp>
    <dsp:sp modelId="{461663A7-095E-5349-A58D-186EEEBCE797}">
      <dsp:nvSpPr>
        <dsp:cNvPr id="0" name=""/>
        <dsp:cNvSpPr/>
      </dsp:nvSpPr>
      <dsp:spPr>
        <a:xfrm>
          <a:off x="1238902" y="438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676665" y="114125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1141257"/>
        <a:ext cx="5568739" cy="875524"/>
      </dsp:txXfrm>
    </dsp:sp>
    <dsp:sp modelId="{91C536B7-3FF0-7540-A9E6-94ED27AD4BFD}">
      <dsp:nvSpPr>
        <dsp:cNvPr id="0" name=""/>
        <dsp:cNvSpPr/>
      </dsp:nvSpPr>
      <dsp:spPr>
        <a:xfrm>
          <a:off x="1238902" y="114125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676665" y="227813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Сформулированы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2278132"/>
        <a:ext cx="5568739" cy="875524"/>
      </dsp:txXfrm>
    </dsp:sp>
    <dsp:sp modelId="{D40C6A89-69F2-4547-B292-3B110D581711}">
      <dsp:nvSpPr>
        <dsp:cNvPr id="0" name=""/>
        <dsp:cNvSpPr/>
      </dsp:nvSpPr>
      <dsp:spPr>
        <a:xfrm>
          <a:off x="1238902" y="227813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676665" y="341500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Реализован сервис с авторской методикой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3415007"/>
        <a:ext cx="5568739" cy="875524"/>
      </dsp:txXfrm>
    </dsp:sp>
    <dsp:sp modelId="{BD4E3E7B-E244-FD4B-95F0-3CD7EAD42C42}">
      <dsp:nvSpPr>
        <dsp:cNvPr id="0" name=""/>
        <dsp:cNvSpPr/>
      </dsp:nvSpPr>
      <dsp:spPr>
        <a:xfrm>
          <a:off x="1238902" y="341500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676665" y="4551883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эксперимент подтвердивший эффективность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551883"/>
        <a:ext cx="5568739" cy="875524"/>
      </dsp:txXfrm>
    </dsp:sp>
    <dsp:sp modelId="{7CD4DBAE-3334-D541-8C7D-FC4CB0F79389}">
      <dsp:nvSpPr>
        <dsp:cNvPr id="0" name=""/>
        <dsp:cNvSpPr/>
      </dsp:nvSpPr>
      <dsp:spPr>
        <a:xfrm>
          <a:off x="1238902" y="4551883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5A6D9-C591-48FC-BCC5-4F44DCD5D36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F1928-7763-4D19-8FE7-5ACFF015A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2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4C51-AD00-F301-A103-DCB52D82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69F49B-57E6-A3E4-DD46-B9984D994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E74509-91F2-7456-62CE-EB9BCFD3A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2840D2-F40F-3A03-BD5F-9BAC553BB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5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738C-59DE-A698-E7A9-7A314AC3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F60B42-0EAF-F65C-3B0E-0E55C67E8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E604E6-0A7C-14D2-9BC8-D2F24E360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A552FA-ED9E-97B9-9DCE-A22486D91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4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E8C9-93C8-C856-140D-8F1523C3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9846FF-873C-760F-2DD4-BC1F7AE2E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84C0CB-77C0-0923-26C8-31AFC4B87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7160B2-F037-2D9C-8B34-F403AF3C1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12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85FD-850C-4ECB-0564-9ABCBDA7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3D7CED-83FB-77DA-E2A9-42BEBA5A0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EDB6CF-DD2F-BB7E-F2CA-4D60114DD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E4F755-398D-C099-C589-74378CB0D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1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CD25C-10CF-6ECD-731E-6223051E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C01B11E-83CB-5A16-7625-054C396B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0D8572-3ECD-ED6D-61D7-B352FBF4F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F9F463-4217-4CD8-BB82-296B4C389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6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1EC2-2E36-1FF1-635A-977656D03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1B318E-FCB3-608B-7C2B-C3EAE71A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B0E46E-4360-0A37-43ED-BB1D99C12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27467E-BE9F-35F5-EC5E-6AB3D5593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30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3CB8-9C92-5026-0195-7E2A0650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DD8355-8B96-9D7D-499C-749C8AC8F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D5CF2F-7373-BBA5-DEF5-90C457F05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3D2D70-5FB5-F10D-3515-F705B72E6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89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9331-7E3D-D4D3-588F-6B9DD707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59E5573-1958-E69A-55C5-009C17876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EEF5F34-0B90-DE41-92FF-3568E40CA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4118B2-E302-0F6E-1E8C-5FF6D177D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2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E552-6268-2CA8-6037-E2133875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6944F2-E378-A3F2-3600-974757F76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A72047-B537-2C79-ECE2-BB35E01F1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C819E2-D969-3ADB-E866-8C9263037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64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317F-2D9C-9B76-DF40-01B6EF54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FC0CAFC-2AAD-B9C8-BC6D-ECE416E4E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3753651-334F-8F4F-256C-974244254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7FB3BC-7C2D-C564-115D-08DDEFB18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70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F570-91E3-2540-5C77-F9A1D8BC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ADCB1F-2BA3-3F07-3FAA-CEFF3EA87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06C3B1-4EBF-F378-0CBE-90A9A91AF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E40326-B102-0E4E-399E-63FD07ACF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5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AA34-C84D-DDE8-E5BD-128022B9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4C835E-B0CD-8595-08FA-783FEAC0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D9D1B4-0C60-A6AE-883D-384E4944D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8BE6FC-BC64-FBDD-591E-A7789F954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2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CD9A7-26A0-558D-E48B-3DA81ED64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70BBA-46C2-5337-2139-4826A39F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6DEB3-69B5-D689-F691-2D3BEBE1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ED81F-42E1-091D-62D5-EF2A612C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89A0E-1B72-FF7D-0909-F23FB050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1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ED5F6-5374-76DC-57D9-992D3DA7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6514D-2189-56FC-FFDB-4A6C2FF6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C6B7D3-345D-F093-26D0-A6C6AF4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52BB-8FD4-4EDD-FB38-CFE6A5B2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851FC6-D106-C6E2-DD7B-B8117C41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9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16E4B-5DB0-E445-A76B-AA414F6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ECCB7-C83C-9710-E9F9-E7AD054F6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156FFD-D93A-38FF-2999-48F5052C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8AF727-CB03-3EDD-2BE3-493F881E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F96E8-E81D-7040-46CF-B8C6FBA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E553-02F3-CD99-B015-447CDD78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68026-3021-EDA0-610D-46A9D34F8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A9D97F-FD09-7F88-2031-99B2F839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EF5E71-6907-A9DD-9171-7FFC3B7B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822552-C430-BEE1-37E3-3D2EED4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E06298-D658-3F14-7B92-DE737CC5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2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B572C-C978-AA19-412C-CB769FF5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43F3D-3592-3842-6774-EED8A0DC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74E90-DB44-E10F-5644-E428AD46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2248D-D4E9-F70E-0DDB-C007DDB4A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D58770-6E32-4DB3-38B1-D0E1D7E8B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306C3D-4091-9C9C-AF29-79283981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CBD93B-3E6D-EE28-4D2A-0D40A2E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8FDE51-1323-7C66-4D6C-CA2DEEE8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E4CB-4AF3-9121-EB40-22017A6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6D4A7E-9EBC-6C89-3C34-A21985A5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B98B5-A93A-11DF-7B89-5B239DD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B72C7-52B8-4201-8EEB-543F4C3D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2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3B8230-4050-B141-D7BA-36E27709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23A9D9-865B-9B6E-0E3A-7B232B88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5B269-5C40-F5CC-7DA2-16D43CB5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6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B313-D6F4-5E53-826C-EEA2F57B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94EE3-CADE-175B-370D-F3141958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7041BC-0A54-612F-1F7C-704D10CE9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34793-6496-87EF-7D34-13C42540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FD95C-9829-7ADE-4182-311A56EA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D197E-75FA-F0D4-B27A-C34FF0ED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90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4DC17-FCF0-5BAE-8020-2BF11C51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8251E-7329-1F92-BEB1-DAAFB9C2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D2D194-A432-9AE7-9108-9F950986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FFCB2-3EEE-B76E-B243-BFE4F5FA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5C4689-CC8B-7D0D-8ACB-705DE9CF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9A0B99-147E-9E25-A4AF-6F1D96B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FE45D-38FF-218B-E5A9-8F35063D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BFEB12-4A2D-97EC-D003-F318EE36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9860D-6536-A1D5-2033-74584BA8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9CBF98-F785-4E91-0EB7-AF44BB2F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C9C5C-2403-3E49-54A2-3BC9678F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8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BE845B-6DB4-B7E8-3404-377AC267D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C728E5-86D4-829D-B823-91F27094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AADE6-D954-D4DB-31A9-0300CBF1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3535A-311F-CD29-540D-95C1AF6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BBC46-2D11-8C22-DE87-A244DAD1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200DF-7309-D8CD-1863-0E6E0960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BA1A5A-444D-A36E-C737-8DCE92D1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E98A1-5FF7-0F7B-EE9A-4DE330D87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41A35-9E0E-854D-AA68-667636D6212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9189CA-4343-18CF-BC48-101FEAE25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B7DC1-24A3-8AF0-2561-8ACDD691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12.svg"/><Relationship Id="rId4" Type="http://schemas.openxmlformats.org/officeDocument/2006/relationships/diagramData" Target="../diagrams/data1.xml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21.sv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2.svg"/><Relationship Id="rId4" Type="http://schemas.openxmlformats.org/officeDocument/2006/relationships/diagramData" Target="../diagrams/data2.xml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178A3-F511-D226-2956-40A2464B9526}"/>
              </a:ext>
            </a:extLst>
          </p:cNvPr>
          <p:cNvSpPr txBox="1"/>
          <p:nvPr/>
        </p:nvSpPr>
        <p:spPr>
          <a:xfrm>
            <a:off x="300037" y="1663799"/>
            <a:ext cx="768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ru-RU" sz="3600" b="1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методики формирования здоровых привычек средствами игровой психологии и наставнической поддержки в Телеграм-боте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2571-CE1A-9124-F61D-FE02B6459C68}"/>
              </a:ext>
            </a:extLst>
          </p:cNvPr>
          <p:cNvSpPr txBox="1"/>
          <p:nvPr/>
        </p:nvSpPr>
        <p:spPr>
          <a:xfrm>
            <a:off x="300037" y="5500187"/>
            <a:ext cx="71920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Студент группы ЭМС-271 Гамов Павел Антонович</a:t>
            </a:r>
          </a:p>
          <a:p>
            <a:endParaRPr lang="ru-RU" sz="2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Inter Variable Text" panose="02000503000000020004" pitchFamily="2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Научный руководитель Демидов Андрей Викторович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32ACB8-8A05-C3B8-A59C-A29D700F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177AD0-C179-B96C-20F0-758F8DF24C99}"/>
              </a:ext>
            </a:extLst>
          </p:cNvPr>
          <p:cNvGrpSpPr/>
          <p:nvPr/>
        </p:nvGrpSpPr>
        <p:grpSpPr>
          <a:xfrm>
            <a:off x="9066068" y="4936490"/>
            <a:ext cx="3125932" cy="4025879"/>
            <a:chOff x="9066069" y="1480379"/>
            <a:chExt cx="3125932" cy="4025879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2AB808DE-DEDE-B9C1-02DE-E5BBA45C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31176" r="60969" b="10607"/>
            <a:stretch>
              <a:fillRect/>
            </a:stretch>
          </p:blipFill>
          <p:spPr>
            <a:xfrm>
              <a:off x="9066069" y="1480379"/>
              <a:ext cx="3125932" cy="4025879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0FC1641-E058-44C3-4EB2-6FF05A31CA27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ED13E26-E889-60DE-EE81-1EEF495B5271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8CDAC3-1569-5BE0-2658-39A5C674D334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47F50C-CE4A-156E-DE62-F39CAA0D7A3C}"/>
              </a:ext>
            </a:extLst>
          </p:cNvPr>
          <p:cNvGrpSpPr/>
          <p:nvPr/>
        </p:nvGrpSpPr>
        <p:grpSpPr>
          <a:xfrm>
            <a:off x="9066068" y="156097"/>
            <a:ext cx="3125932" cy="4721745"/>
            <a:chOff x="9066069" y="784513"/>
            <a:chExt cx="3125932" cy="4721745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52FB1375-D23A-DABD-BF39-231B123E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21113" r="60969" b="10607"/>
            <a:stretch>
              <a:fillRect/>
            </a:stretch>
          </p:blipFill>
          <p:spPr>
            <a:xfrm>
              <a:off x="9066069" y="784513"/>
              <a:ext cx="3125932" cy="4721745"/>
            </a:xfrm>
            <a:prstGeom prst="rect">
              <a:avLst/>
            </a:prstGeom>
          </p:spPr>
        </p:pic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94207A2-862F-D6BD-A183-DA4593922874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738318F-B22B-B4A1-A385-185C2F9FCB09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2215235-0382-F748-8940-D6BB19BD58B2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20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71E4-7AE6-CAB0-76A5-E69BBC62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4727B0-0353-CC7D-EB7A-0A296BA6D707}"/>
              </a:ext>
            </a:extLst>
          </p:cNvPr>
          <p:cNvSpPr txBox="1"/>
          <p:nvPr/>
        </p:nvSpPr>
        <p:spPr>
          <a:xfrm>
            <a:off x="3728540" y="230966"/>
            <a:ext cx="8067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Объект и предмет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1E6521-2A73-B03C-ED25-8E7D8FDC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B4D5965-A6C3-060A-449F-EBFA5482B3CC}"/>
              </a:ext>
            </a:extLst>
          </p:cNvPr>
          <p:cNvGrpSpPr/>
          <p:nvPr/>
        </p:nvGrpSpPr>
        <p:grpSpPr>
          <a:xfrm>
            <a:off x="300037" y="1602589"/>
            <a:ext cx="11342719" cy="5109156"/>
            <a:chOff x="374555" y="2318761"/>
            <a:chExt cx="11961679" cy="4818137"/>
          </a:xfrm>
        </p:grpSpPr>
        <p:sp>
          <p:nvSpPr>
            <p:cNvPr id="19" name="Фигура, имеющая форму буквы L 18">
              <a:extLst>
                <a:ext uri="{FF2B5EF4-FFF2-40B4-BE49-F238E27FC236}">
                  <a16:creationId xmlns:a16="http://schemas.microsoft.com/office/drawing/2014/main" id="{C6EB7A23-4CDF-E412-D661-51C0A780F5AF}"/>
                </a:ext>
              </a:extLst>
            </p:cNvPr>
            <p:cNvSpPr/>
            <p:nvPr/>
          </p:nvSpPr>
          <p:spPr>
            <a:xfrm rot="5400000">
              <a:off x="1244827" y="3189743"/>
              <a:ext cx="918180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Полилиния 21">
              <a:extLst>
                <a:ext uri="{FF2B5EF4-FFF2-40B4-BE49-F238E27FC236}">
                  <a16:creationId xmlns:a16="http://schemas.microsoft.com/office/drawing/2014/main" id="{E6DFA2BF-9513-618B-F024-5733EBB48792}"/>
                </a:ext>
              </a:extLst>
            </p:cNvPr>
            <p:cNvSpPr/>
            <p:nvPr/>
          </p:nvSpPr>
          <p:spPr>
            <a:xfrm>
              <a:off x="473758" y="4105599"/>
              <a:ext cx="3023920" cy="2537777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pPr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Актуальность: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Повышенная нагрузка на психику, рост заболеваний, вызванных нездоровыми привычками</a:t>
              </a:r>
              <a:endParaRPr lang="ru-RU" sz="2400" dirty="0">
                <a:latin typeface="Times New Roman" panose="02020603050405020304" pitchFamily="18" charset="0"/>
                <a:ea typeface="Inter Variable Text Medium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Треугольник 22">
              <a:extLst>
                <a:ext uri="{FF2B5EF4-FFF2-40B4-BE49-F238E27FC236}">
                  <a16:creationId xmlns:a16="http://schemas.microsoft.com/office/drawing/2014/main" id="{2C953B47-50FF-01F2-B2E5-98F0AC59025B}"/>
                </a:ext>
              </a:extLst>
            </p:cNvPr>
            <p:cNvSpPr/>
            <p:nvPr/>
          </p:nvSpPr>
          <p:spPr>
            <a:xfrm>
              <a:off x="2570712" y="3525144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Фигура, имеющая форму буквы L 21">
              <a:extLst>
                <a:ext uri="{FF2B5EF4-FFF2-40B4-BE49-F238E27FC236}">
                  <a16:creationId xmlns:a16="http://schemas.microsoft.com/office/drawing/2014/main" id="{D3C551DA-F08D-A9A5-81F4-4A4E2B6D1278}"/>
                </a:ext>
              </a:extLst>
            </p:cNvPr>
            <p:cNvSpPr/>
            <p:nvPr/>
          </p:nvSpPr>
          <p:spPr>
            <a:xfrm rot="5400000">
              <a:off x="4008404" y="2960988"/>
              <a:ext cx="845931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Полилиния 24">
              <a:extLst>
                <a:ext uri="{FF2B5EF4-FFF2-40B4-BE49-F238E27FC236}">
                  <a16:creationId xmlns:a16="http://schemas.microsoft.com/office/drawing/2014/main" id="{9846FE19-4349-5B2D-775D-A4B0DBA6A9EB}"/>
                </a:ext>
              </a:extLst>
            </p:cNvPr>
            <p:cNvSpPr/>
            <p:nvPr/>
          </p:nvSpPr>
          <p:spPr>
            <a:xfrm>
              <a:off x="3203419" y="3935633"/>
              <a:ext cx="3023920" cy="3201265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Объектом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Процесс формирования устойчивых здоровых привычек у пользователей</a:t>
              </a:r>
            </a:p>
          </p:txBody>
        </p:sp>
        <p:sp>
          <p:nvSpPr>
            <p:cNvPr id="24" name="Треугольник 25">
              <a:extLst>
                <a:ext uri="{FF2B5EF4-FFF2-40B4-BE49-F238E27FC236}">
                  <a16:creationId xmlns:a16="http://schemas.microsoft.com/office/drawing/2014/main" id="{465F4799-71A8-D4BD-E5C8-A225C1ADD905}"/>
                </a:ext>
              </a:extLst>
            </p:cNvPr>
            <p:cNvSpPr/>
            <p:nvPr/>
          </p:nvSpPr>
          <p:spPr>
            <a:xfrm>
              <a:off x="5307108" y="3356598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Фигура, имеющая форму буквы L 24">
              <a:extLst>
                <a:ext uri="{FF2B5EF4-FFF2-40B4-BE49-F238E27FC236}">
                  <a16:creationId xmlns:a16="http://schemas.microsoft.com/office/drawing/2014/main" id="{B8A9A123-F65B-363A-5F9F-394E47BA0536}"/>
                </a:ext>
              </a:extLst>
            </p:cNvPr>
            <p:cNvSpPr/>
            <p:nvPr/>
          </p:nvSpPr>
          <p:spPr>
            <a:xfrm rot="5400000">
              <a:off x="6984526" y="2198802"/>
              <a:ext cx="845932" cy="2967664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Полилиния 27">
              <a:extLst>
                <a:ext uri="{FF2B5EF4-FFF2-40B4-BE49-F238E27FC236}">
                  <a16:creationId xmlns:a16="http://schemas.microsoft.com/office/drawing/2014/main" id="{0E16A83D-D1CC-6AB9-80CF-2D3176183D04}"/>
                </a:ext>
              </a:extLst>
            </p:cNvPr>
            <p:cNvSpPr/>
            <p:nvPr/>
          </p:nvSpPr>
          <p:spPr>
            <a:xfrm>
              <a:off x="6025505" y="3259667"/>
              <a:ext cx="3225743" cy="3877231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Предметом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Авторская методика формирования привычек в виде чат-бота с применением геймификации и анонимного взаимодействия</a:t>
              </a:r>
            </a:p>
          </p:txBody>
        </p:sp>
        <p:sp>
          <p:nvSpPr>
            <p:cNvPr id="27" name="Треугольник 28">
              <a:extLst>
                <a:ext uri="{FF2B5EF4-FFF2-40B4-BE49-F238E27FC236}">
                  <a16:creationId xmlns:a16="http://schemas.microsoft.com/office/drawing/2014/main" id="{2ED82B84-BEDA-FA10-252D-0EA51CC2DF26}"/>
                </a:ext>
              </a:extLst>
            </p:cNvPr>
            <p:cNvSpPr/>
            <p:nvPr/>
          </p:nvSpPr>
          <p:spPr>
            <a:xfrm>
              <a:off x="8136049" y="2722111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Фигура, имеющая форму буквы L 27">
              <a:extLst>
                <a:ext uri="{FF2B5EF4-FFF2-40B4-BE49-F238E27FC236}">
                  <a16:creationId xmlns:a16="http://schemas.microsoft.com/office/drawing/2014/main" id="{8EEB327F-F75B-89F0-77C9-9E9C77F9C4F5}"/>
                </a:ext>
              </a:extLst>
            </p:cNvPr>
            <p:cNvSpPr/>
            <p:nvPr/>
          </p:nvSpPr>
          <p:spPr>
            <a:xfrm rot="5400000">
              <a:off x="10059751" y="1247360"/>
              <a:ext cx="1100588" cy="3243390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Полилиния 30">
              <a:extLst>
                <a:ext uri="{FF2B5EF4-FFF2-40B4-BE49-F238E27FC236}">
                  <a16:creationId xmlns:a16="http://schemas.microsoft.com/office/drawing/2014/main" id="{9685821A-ED94-74F4-C3DB-1D318C1A821E}"/>
                </a:ext>
              </a:extLst>
            </p:cNvPr>
            <p:cNvSpPr/>
            <p:nvPr/>
          </p:nvSpPr>
          <p:spPr>
            <a:xfrm>
              <a:off x="9135709" y="2387027"/>
              <a:ext cx="3200525" cy="4749871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Научная новизна исследования: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Предложена оригинальная концепция формирования привычек, основанная на синергии геймификации и анонимного социального взаимодействия</a:t>
              </a: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62EC47-09FC-0A08-E549-9BCBC0FD0B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4" y="2604096"/>
            <a:ext cx="475173" cy="737700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A7A7561-CC77-2434-70D0-4190BA2C4E72}"/>
              </a:ext>
            </a:extLst>
          </p:cNvPr>
          <p:cNvGrpSpPr/>
          <p:nvPr/>
        </p:nvGrpSpPr>
        <p:grpSpPr>
          <a:xfrm>
            <a:off x="3784995" y="2160341"/>
            <a:ext cx="575090" cy="961618"/>
            <a:chOff x="4183975" y="1757105"/>
            <a:chExt cx="1125843" cy="1882541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E3A728C9-EB45-DF61-44E9-AE643C940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3095283"/>
              <a:ext cx="1105223" cy="544363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ED69C349-5D30-5EC6-C315-07E28C077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2442690"/>
              <a:ext cx="1125843" cy="507248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8A493787-8F7B-189E-79BB-EA54E493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1757105"/>
              <a:ext cx="1092851" cy="540240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B94A46B-28B0-9977-797D-BCF61A6D6BA2}"/>
              </a:ext>
            </a:extLst>
          </p:cNvPr>
          <p:cNvGrpSpPr/>
          <p:nvPr/>
        </p:nvGrpSpPr>
        <p:grpSpPr>
          <a:xfrm>
            <a:off x="6574437" y="1569790"/>
            <a:ext cx="531023" cy="940754"/>
            <a:chOff x="7046611" y="1067397"/>
            <a:chExt cx="1141610" cy="1885778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B1CD701B-2303-DC55-84C2-54E31F45B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6611" y="2398656"/>
              <a:ext cx="1125843" cy="554519"/>
            </a:xfrm>
            <a:prstGeom prst="rect">
              <a:avLst/>
            </a:prstGeom>
          </p:spPr>
        </p:pic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D0E8070F-012E-A13E-6FFD-374080E221F8}"/>
                </a:ext>
              </a:extLst>
            </p:cNvPr>
            <p:cNvGrpSpPr/>
            <p:nvPr/>
          </p:nvGrpSpPr>
          <p:grpSpPr>
            <a:xfrm>
              <a:off x="7062378" y="1067397"/>
              <a:ext cx="1125843" cy="1192833"/>
              <a:chOff x="4183975" y="1757105"/>
              <a:chExt cx="1125843" cy="1192833"/>
            </a:xfrm>
          </p:grpSpPr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018769AC-F2CC-CA7E-C9C0-A1B964F47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2442690"/>
                <a:ext cx="1125843" cy="507248"/>
              </a:xfrm>
              <a:prstGeom prst="rect">
                <a:avLst/>
              </a:prstGeom>
            </p:spPr>
          </p:pic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E5E8B24C-5119-E435-C52E-08F027A96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1757105"/>
                <a:ext cx="1092851" cy="540240"/>
              </a:xfrm>
              <a:prstGeom prst="rect">
                <a:avLst/>
              </a:prstGeom>
            </p:spPr>
          </p:pic>
        </p:grpSp>
      </p:grpSp>
      <p:sp>
        <p:nvSpPr>
          <p:cNvPr id="10" name="Полилиния 10">
            <a:extLst>
              <a:ext uri="{FF2B5EF4-FFF2-40B4-BE49-F238E27FC236}">
                <a16:creationId xmlns:a16="http://schemas.microsoft.com/office/drawing/2014/main" id="{CA77D553-F7CF-5785-4D9A-373D3A9CAB6C}"/>
              </a:ext>
            </a:extLst>
          </p:cNvPr>
          <p:cNvSpPr/>
          <p:nvPr/>
        </p:nvSpPr>
        <p:spPr>
          <a:xfrm>
            <a:off x="8949140" y="3049766"/>
            <a:ext cx="2239456" cy="693288"/>
          </a:xfrm>
          <a:custGeom>
            <a:avLst/>
            <a:gdLst>
              <a:gd name="connsiteX0" fmla="*/ 0 w 2400310"/>
              <a:gd name="connsiteY0" fmla="*/ 0 h 2104012"/>
              <a:gd name="connsiteX1" fmla="*/ 2400310 w 2400310"/>
              <a:gd name="connsiteY1" fmla="*/ 0 h 2104012"/>
              <a:gd name="connsiteX2" fmla="*/ 2400310 w 2400310"/>
              <a:gd name="connsiteY2" fmla="*/ 2104012 h 2104012"/>
              <a:gd name="connsiteX3" fmla="*/ 0 w 2400310"/>
              <a:gd name="connsiteY3" fmla="*/ 2104012 h 2104012"/>
              <a:gd name="connsiteX4" fmla="*/ 0 w 2400310"/>
              <a:gd name="connsiteY4" fmla="*/ 0 h 210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0310" h="2104012">
                <a:moveTo>
                  <a:pt x="0" y="0"/>
                </a:moveTo>
                <a:lnTo>
                  <a:pt x="2400310" y="0"/>
                </a:lnTo>
                <a:lnTo>
                  <a:pt x="2400310" y="2104012"/>
                </a:lnTo>
                <a:lnTo>
                  <a:pt x="0" y="210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350" tIns="133350" rIns="133350" bIns="133350" numCol="1" spcCol="1270" anchor="b" anchorCtr="0">
            <a:noAutofit/>
          </a:bodyPr>
          <a:lstStyle/>
          <a:p>
            <a:pPr marL="0" lvl="1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ru-RU" sz="1600" b="0" i="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943AA9-0560-89EF-1A5D-7C9D6823BD81}"/>
              </a:ext>
            </a:extLst>
          </p:cNvPr>
          <p:cNvPicPr>
            <a:picLocks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673" y="843411"/>
            <a:ext cx="769721" cy="71219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2EFD4DF1-5D53-277E-11CF-C8A6BE6E830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2A2BD67B-53B3-4218-AFFE-1704F7DB1BF0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804F7A5-8BA6-E755-70AC-39E41EF7EB8D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30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AD95-6AA3-0406-E4E1-59EC7CBD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45E20B-9422-3076-A3EC-2F01881D26CA}"/>
              </a:ext>
            </a:extLst>
          </p:cNvPr>
          <p:cNvSpPr txBox="1"/>
          <p:nvPr/>
        </p:nvSpPr>
        <p:spPr>
          <a:xfrm>
            <a:off x="3638792" y="238690"/>
            <a:ext cx="347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Цели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0911FE-E445-2327-821A-EB1444D9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71E376DE-B482-E7D3-2C0A-997716648108}"/>
              </a:ext>
            </a:extLst>
          </p:cNvPr>
          <p:cNvSpPr txBox="1">
            <a:spLocks/>
          </p:cNvSpPr>
          <p:nvPr/>
        </p:nvSpPr>
        <p:spPr>
          <a:xfrm>
            <a:off x="485193" y="1184989"/>
            <a:ext cx="4132527" cy="5340298"/>
          </a:xfrm>
          <a:prstGeom prst="roundRect">
            <a:avLst>
              <a:gd name="adj" fmla="val 4817"/>
            </a:avLst>
          </a:prstGeom>
          <a:ln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авторской методики формирования здоровых привычек, создании прототипа на её основе и комплексной оценке технической и экономической эффективности данного решения.</a:t>
            </a:r>
          </a:p>
        </p:txBody>
      </p:sp>
      <p:pic>
        <p:nvPicPr>
          <p:cNvPr id="5" name="Рисунок 4" descr="В яблочко">
            <a:extLst>
              <a:ext uri="{FF2B5EF4-FFF2-40B4-BE49-F238E27FC236}">
                <a16:creationId xmlns:a16="http://schemas.microsoft.com/office/drawing/2014/main" id="{BD0E453C-00AC-0993-B076-D54F761C6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92" y="1184989"/>
            <a:ext cx="542081" cy="542081"/>
          </a:xfrm>
          <a:prstGeom prst="rect">
            <a:avLst/>
          </a:prstGeom>
        </p:spPr>
      </p:pic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2BC9AECF-D1E8-08BB-0FDF-F184B37EE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4943620"/>
              </p:ext>
            </p:extLst>
          </p:nvPr>
        </p:nvGraphicFramePr>
        <p:xfrm>
          <a:off x="3645706" y="1012217"/>
          <a:ext cx="8703188" cy="543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B5F74B7-F9BC-65E4-445C-B11470F40D85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CFC532B2-E8D5-09A8-95CC-0C9736DAB07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5F0BF7-326D-51AB-0A25-72EF6A2FAE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</a:p>
          </p:txBody>
        </p:sp>
      </p:grpSp>
      <p:sp>
        <p:nvSpPr>
          <p:cNvPr id="19" name="Shape 2530">
            <a:extLst>
              <a:ext uri="{FF2B5EF4-FFF2-40B4-BE49-F238E27FC236}">
                <a16:creationId xmlns:a16="http://schemas.microsoft.com/office/drawing/2014/main" id="{E5F3C459-3F9C-4359-7595-021C77C6466C}"/>
              </a:ext>
            </a:extLst>
          </p:cNvPr>
          <p:cNvSpPr/>
          <p:nvPr/>
        </p:nvSpPr>
        <p:spPr>
          <a:xfrm>
            <a:off x="5129342" y="1184989"/>
            <a:ext cx="408769" cy="53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538">
            <a:extLst>
              <a:ext uri="{FF2B5EF4-FFF2-40B4-BE49-F238E27FC236}">
                <a16:creationId xmlns:a16="http://schemas.microsoft.com/office/drawing/2014/main" id="{94A2EF59-76AC-EB0E-07B0-95CACC5E1131}"/>
              </a:ext>
            </a:extLst>
          </p:cNvPr>
          <p:cNvSpPr/>
          <p:nvPr/>
        </p:nvSpPr>
        <p:spPr>
          <a:xfrm>
            <a:off x="5102427" y="3427217"/>
            <a:ext cx="429515" cy="561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25" name="Рисунок 24" descr="Одна шестеренка">
            <a:extLst>
              <a:ext uri="{FF2B5EF4-FFF2-40B4-BE49-F238E27FC236}">
                <a16:creationId xmlns:a16="http://schemas.microsoft.com/office/drawing/2014/main" id="{B77BC6B3-FF8F-4A02-897B-F71FF0605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9656" y="4507431"/>
            <a:ext cx="657837" cy="703146"/>
          </a:xfrm>
          <a:prstGeom prst="rect">
            <a:avLst/>
          </a:prstGeom>
        </p:spPr>
      </p:pic>
      <p:pic>
        <p:nvPicPr>
          <p:cNvPr id="26" name="Рисунок 25" descr="Исследование">
            <a:extLst>
              <a:ext uri="{FF2B5EF4-FFF2-40B4-BE49-F238E27FC236}">
                <a16:creationId xmlns:a16="http://schemas.microsoft.com/office/drawing/2014/main" id="{E27A09DB-2A8D-243E-E472-EDFB5822A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1624" y="5698345"/>
            <a:ext cx="563597" cy="602415"/>
          </a:xfrm>
          <a:prstGeom prst="rect">
            <a:avLst/>
          </a:prstGeom>
        </p:spPr>
      </p:pic>
      <p:sp>
        <p:nvSpPr>
          <p:cNvPr id="7" name="Shape 2930">
            <a:extLst>
              <a:ext uri="{FF2B5EF4-FFF2-40B4-BE49-F238E27FC236}">
                <a16:creationId xmlns:a16="http://schemas.microsoft.com/office/drawing/2014/main" id="{C7EFA93D-E658-BBB9-6CEC-A61477F43521}"/>
              </a:ext>
            </a:extLst>
          </p:cNvPr>
          <p:cNvSpPr/>
          <p:nvPr/>
        </p:nvSpPr>
        <p:spPr>
          <a:xfrm>
            <a:off x="5033648" y="2410673"/>
            <a:ext cx="589852" cy="401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27988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A5B0-8FAD-45CE-9A3E-8B004454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FAE6CD-D5F9-85C2-5BEF-49C82F7D42B0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</a:rPr>
              <a:t>Ограничения традиционных подходов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E74F3B-1BC8-C3D9-2E82-E68BB611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C099524-DE11-7082-5258-FD57CD851FCD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EE32CE5-C8C2-281C-5299-9C428793949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0BE736-C424-ED3C-AAC4-EF9B0CD86DE2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4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95BDBAB-A106-F1B4-1B50-DCCD9CFADA8E}"/>
              </a:ext>
            </a:extLst>
          </p:cNvPr>
          <p:cNvSpPr txBox="1"/>
          <p:nvPr/>
        </p:nvSpPr>
        <p:spPr>
          <a:xfrm>
            <a:off x="3908081" y="3914940"/>
            <a:ext cx="3800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функции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Отметки о выполнении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напоминания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8086132-B181-B1C0-D5A9-BD831FD54F8D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247333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8858543-2C17-18C5-6BBB-74205E9208E1}"/>
              </a:ext>
            </a:extLst>
          </p:cNvPr>
          <p:cNvCxnSpPr>
            <a:cxnSpLocks/>
          </p:cNvCxnSpPr>
          <p:nvPr/>
        </p:nvCxnSpPr>
        <p:spPr>
          <a:xfrm>
            <a:off x="3824759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7E2936-9EBC-C39C-E15F-DB1B7036CD04}"/>
              </a:ext>
            </a:extLst>
          </p:cNvPr>
          <p:cNvSpPr txBox="1"/>
          <p:nvPr/>
        </p:nvSpPr>
        <p:spPr>
          <a:xfrm>
            <a:off x="462747" y="1720840"/>
            <a:ext cx="3286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человек имеет доступ к информации о здоровом образе жизни. Проблема заключается в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перевести знания в устойчивое поведение.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083DB-B9F5-7440-5C16-F4E9CAD99C19}"/>
              </a:ext>
            </a:extLst>
          </p:cNvPr>
          <p:cNvSpPr txBox="1"/>
          <p:nvPr/>
        </p:nvSpPr>
        <p:spPr>
          <a:xfrm>
            <a:off x="7984119" y="1259183"/>
            <a:ext cx="3745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363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порог входа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Отдельные приложения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Платная подписка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создания аккаунтов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0E321-C939-C296-E8BC-B0B04166D7F0}"/>
              </a:ext>
            </a:extLst>
          </p:cNvPr>
          <p:cNvSpPr txBox="1"/>
          <p:nvPr/>
        </p:nvSpPr>
        <p:spPr>
          <a:xfrm>
            <a:off x="3908081" y="1259183"/>
            <a:ext cx="38881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363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мгновенной обратной связи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человеческой поддержки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разнообразия в сообщениях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5A2C3-6639-196C-F2B1-E6390E6D2EDF}"/>
              </a:ext>
            </a:extLst>
          </p:cNvPr>
          <p:cNvSpPr txBox="1"/>
          <p:nvPr/>
        </p:nvSpPr>
        <p:spPr>
          <a:xfrm>
            <a:off x="7984118" y="3914940"/>
            <a:ext cx="35381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363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персонализации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рекомендации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усталость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00BAC58-6097-6C85-CBF8-AB369BE82B8E}"/>
              </a:ext>
            </a:extLst>
          </p:cNvPr>
          <p:cNvCxnSpPr>
            <a:cxnSpLocks/>
          </p:cNvCxnSpPr>
          <p:nvPr/>
        </p:nvCxnSpPr>
        <p:spPr>
          <a:xfrm>
            <a:off x="7897061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2F05F64-9669-56C5-478B-BC0E5437AB6E}"/>
              </a:ext>
            </a:extLst>
          </p:cNvPr>
          <p:cNvCxnSpPr>
            <a:cxnSpLocks/>
          </p:cNvCxnSpPr>
          <p:nvPr/>
        </p:nvCxnSpPr>
        <p:spPr>
          <a:xfrm>
            <a:off x="3829521" y="391494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2D0848E9-C705-8F0C-DAD8-999FDD6D1DD1}"/>
              </a:ext>
            </a:extLst>
          </p:cNvPr>
          <p:cNvCxnSpPr>
            <a:cxnSpLocks/>
          </p:cNvCxnSpPr>
          <p:nvPr/>
        </p:nvCxnSpPr>
        <p:spPr>
          <a:xfrm>
            <a:off x="7899100" y="391494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2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F3A9-89F0-C507-2228-C39F8AC8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0C2DEE-F6FF-173F-809E-C44A9FFA9E0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Архитектура авторской методики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6AB62A-348F-9827-EB9C-ECBE0E2A0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C89114B-91A8-5CB8-1621-84455384AC0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625FBA2-57D2-1DD0-663A-46838EF01CD1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9F281B-300F-E545-8A5E-991DD30C5D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4648A3-B21E-1539-D918-7C9A88BFBA83}"/>
              </a:ext>
            </a:extLst>
          </p:cNvPr>
          <p:cNvSpPr txBox="1"/>
          <p:nvPr/>
        </p:nvSpPr>
        <p:spPr>
          <a:xfrm>
            <a:off x="4066366" y="1248366"/>
            <a:ext cx="34520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механика мотивации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опыта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достижений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CCBC09-E132-50B1-9E33-B5C720C9B983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427638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5A8C5A7-EF5E-7D21-A826-9FD7CD988654}"/>
              </a:ext>
            </a:extLst>
          </p:cNvPr>
          <p:cNvCxnSpPr>
            <a:cxnSpLocks/>
          </p:cNvCxnSpPr>
          <p:nvPr/>
        </p:nvCxnSpPr>
        <p:spPr>
          <a:xfrm>
            <a:off x="3979307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BE9ADE-8FCB-07E9-7693-A90600D595DB}"/>
              </a:ext>
            </a:extLst>
          </p:cNvPr>
          <p:cNvSpPr txBox="1"/>
          <p:nvPr/>
        </p:nvSpPr>
        <p:spPr>
          <a:xfrm>
            <a:off x="497840" y="2090172"/>
            <a:ext cx="32867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методики включает четыре ключевых компонента, каждый из которых имеет четкий функционал и механизмы реализации.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6B2C5-15FF-835C-1F25-1CE2B9BBE976}"/>
              </a:ext>
            </a:extLst>
          </p:cNvPr>
          <p:cNvSpPr txBox="1"/>
          <p:nvPr/>
        </p:nvSpPr>
        <p:spPr>
          <a:xfrm>
            <a:off x="7967610" y="1259183"/>
            <a:ext cx="35589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автоматизированного наставничества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собеседника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жалоб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15700-4928-9F2E-5721-B24F5061766A}"/>
              </a:ext>
            </a:extLst>
          </p:cNvPr>
          <p:cNvSpPr txBox="1"/>
          <p:nvPr/>
        </p:nvSpPr>
        <p:spPr>
          <a:xfrm>
            <a:off x="4066364" y="3429000"/>
            <a:ext cx="37338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программа формирования привычек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Минималистичный дизайн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Персонализированная коммуникация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1E459-65BF-BE20-BC9B-8340289BD608}"/>
              </a:ext>
            </a:extLst>
          </p:cNvPr>
          <p:cNvSpPr txBox="1"/>
          <p:nvPr/>
        </p:nvSpPr>
        <p:spPr>
          <a:xfrm>
            <a:off x="7967608" y="3429000"/>
            <a:ext cx="36487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сбора данных и аналитики прогресса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в личном кабинете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Отчеты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A7F7889-E289-4E2D-2474-566CD3191DB7}"/>
              </a:ext>
            </a:extLst>
          </p:cNvPr>
          <p:cNvCxnSpPr>
            <a:cxnSpLocks/>
          </p:cNvCxnSpPr>
          <p:nvPr/>
        </p:nvCxnSpPr>
        <p:spPr>
          <a:xfrm>
            <a:off x="7880552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D83F036-57E0-3DCC-5B5F-37F6A6E5DD2C}"/>
              </a:ext>
            </a:extLst>
          </p:cNvPr>
          <p:cNvCxnSpPr>
            <a:cxnSpLocks/>
          </p:cNvCxnSpPr>
          <p:nvPr/>
        </p:nvCxnSpPr>
        <p:spPr>
          <a:xfrm>
            <a:off x="3984069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3544180-32ED-A74E-1DA1-FE8AF2984B6D}"/>
              </a:ext>
            </a:extLst>
          </p:cNvPr>
          <p:cNvCxnSpPr>
            <a:cxnSpLocks/>
          </p:cNvCxnSpPr>
          <p:nvPr/>
        </p:nvCxnSpPr>
        <p:spPr>
          <a:xfrm>
            <a:off x="7882591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3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003D84-5393-0BEC-27FF-AC148811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119832-1916-BAA2-C1DB-864AE227846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Методы геймификации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5A0A39-A97C-4C9E-0E68-2FC53C490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132DFB6-F8CF-6157-A8FF-98677646CFD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3E8565E-0516-EC6D-13A3-67547531915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3D67FC-8294-9E90-50E8-4E4F28FE0544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6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052DBB2-280D-D3F6-24F4-86BC8210F7AE}"/>
              </a:ext>
            </a:extLst>
          </p:cNvPr>
          <p:cNvSpPr txBox="1"/>
          <p:nvPr/>
        </p:nvSpPr>
        <p:spPr>
          <a:xfrm>
            <a:off x="4499958" y="1965739"/>
            <a:ext cx="30425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уровней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конвертируется в очки опыта, в зависимости от сложности выполненного задания начисляется различное количество очков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7830C2F8-3A8F-5051-8273-39121780F2DF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688370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4DD9E71-56B5-B63F-6812-A67C816056BD}"/>
              </a:ext>
            </a:extLst>
          </p:cNvPr>
          <p:cNvCxnSpPr>
            <a:cxnSpLocks/>
          </p:cNvCxnSpPr>
          <p:nvPr/>
        </p:nvCxnSpPr>
        <p:spPr>
          <a:xfrm>
            <a:off x="4412900" y="1976556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1F40C9-5EAC-D6BF-BB95-A270D5470983}"/>
              </a:ext>
            </a:extLst>
          </p:cNvPr>
          <p:cNvSpPr txBox="1"/>
          <p:nvPr/>
        </p:nvSpPr>
        <p:spPr>
          <a:xfrm>
            <a:off x="611206" y="1720840"/>
            <a:ext cx="32800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методы геймификации для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уровня вовлеченности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работает синхронно с уровнем, создавая непрерывный цикл положительного подкрепления.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9CA5FA-F93C-5CF2-4C8A-8B119E687E6D}"/>
              </a:ext>
            </a:extLst>
          </p:cNvPr>
          <p:cNvSpPr txBox="1"/>
          <p:nvPr/>
        </p:nvSpPr>
        <p:spPr>
          <a:xfrm>
            <a:off x="7546707" y="1976556"/>
            <a:ext cx="44521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достижений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Коллекционные (бейджи): присуждаются за качественные или ситуативные успехи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Прогрессивные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майлстоуны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присуждаются за количественные показатели 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3938FB7-ED46-1DFC-E791-A15863D201C8}"/>
              </a:ext>
            </a:extLst>
          </p:cNvPr>
          <p:cNvCxnSpPr>
            <a:cxnSpLocks/>
          </p:cNvCxnSpPr>
          <p:nvPr/>
        </p:nvCxnSpPr>
        <p:spPr>
          <a:xfrm>
            <a:off x="7459650" y="1976556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24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98DC1E-EF8A-B041-36DE-B468FC4E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0092A8-EF90-92CC-6007-FD2B2E39C707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Анонимное наставничество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E96327-EB72-73F1-0E91-A65491B2C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06BBF59-0B29-EC0D-385F-AD7C5F4E9692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52747888-2F36-FAD5-EA9A-2B15CF066A31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196115-A8CD-C6D4-ADD8-A756E9586446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7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55B79BA-F3FF-1C39-9831-C68373B38100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4140707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E0F46AB-8CA3-8AFE-8942-B2CA3BAD1CA3}"/>
              </a:ext>
            </a:extLst>
          </p:cNvPr>
          <p:cNvCxnSpPr>
            <a:cxnSpLocks/>
          </p:cNvCxnSpPr>
          <p:nvPr/>
        </p:nvCxnSpPr>
        <p:spPr>
          <a:xfrm>
            <a:off x="4761486" y="1259899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19700C-4DD9-181B-EB70-AAB13CD2A72A}"/>
              </a:ext>
            </a:extLst>
          </p:cNvPr>
          <p:cNvSpPr txBox="1"/>
          <p:nvPr/>
        </p:nvSpPr>
        <p:spPr>
          <a:xfrm>
            <a:off x="675087" y="1720840"/>
            <a:ext cx="36282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преодоления изоляции пользователя в процессе саморазвития реализован модуль социальной поддержки, основанный на принципах анонимности и случайного взаимодействия.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A882E434-8B83-2C21-20F8-8BB78E67FB88}"/>
              </a:ext>
            </a:extLst>
          </p:cNvPr>
          <p:cNvCxnSpPr>
            <a:cxnSpLocks/>
          </p:cNvCxnSpPr>
          <p:nvPr/>
        </p:nvCxnSpPr>
        <p:spPr>
          <a:xfrm>
            <a:off x="8400474" y="1264888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3424AC-50C5-ED54-0520-BA14B703C547}"/>
              </a:ext>
            </a:extLst>
          </p:cNvPr>
          <p:cNvSpPr txBox="1"/>
          <p:nvPr/>
        </p:nvSpPr>
        <p:spPr>
          <a:xfrm>
            <a:off x="4860574" y="1259899"/>
            <a:ext cx="3506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Механика идентификации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Каждому пользователю присваивается уникальный случайный идентификатор.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исключает когнитивные искажения, связанные с социальным статусом или полом.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D03FF-20DC-5BA5-CAF0-E10F10BE6089}"/>
              </a:ext>
            </a:extLst>
          </p:cNvPr>
          <p:cNvSpPr txBox="1"/>
          <p:nvPr/>
        </p:nvSpPr>
        <p:spPr>
          <a:xfrm>
            <a:off x="8509558" y="1259899"/>
            <a:ext cx="30688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имеет возможность сменить идентификатор в личном кабинете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подать жалобу на собеседника</a:t>
            </a:r>
          </a:p>
        </p:txBody>
      </p:sp>
    </p:spTree>
    <p:extLst>
      <p:ext uri="{BB962C8B-B14F-4D97-AF65-F5344CB8AC3E}">
        <p14:creationId xmlns:p14="http://schemas.microsoft.com/office/powerpoint/2010/main" val="128349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8410-CDBC-CBC0-EBCF-E50C5697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F51B1F-82F3-0A02-E1CA-64422849A50E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Программные средства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34ED21-2B30-DEC3-DFED-6E1964624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A0683E5-BEC3-C676-6C30-2480617A2C3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DA6443F-0E4B-AC19-89C9-BF20C8E5832C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C92915-18D4-DA2D-6491-DACDE02FE726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6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7BF17A3-3DC1-EC04-1981-44459C035167}"/>
              </a:ext>
            </a:extLst>
          </p:cNvPr>
          <p:cNvCxnSpPr>
            <a:cxnSpLocks/>
          </p:cNvCxnSpPr>
          <p:nvPr/>
        </p:nvCxnSpPr>
        <p:spPr>
          <a:xfrm>
            <a:off x="345952" y="1259898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7C97DBD-8267-E50A-8781-006D55040F18}"/>
              </a:ext>
            </a:extLst>
          </p:cNvPr>
          <p:cNvCxnSpPr>
            <a:cxnSpLocks/>
          </p:cNvCxnSpPr>
          <p:nvPr/>
        </p:nvCxnSpPr>
        <p:spPr>
          <a:xfrm>
            <a:off x="5616363" y="1259898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E3B0D3-1408-8A86-BAD7-3A60C8E81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3835" y="4925096"/>
            <a:ext cx="900000" cy="90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DBABC6-8283-A29C-1F92-1B485D245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09" y="1269283"/>
            <a:ext cx="900000" cy="9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909EED7-70F8-80CA-00FF-6275A6C710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723" y="4528644"/>
            <a:ext cx="900000" cy="9000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14F597F-6337-A35C-396D-195244535D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319" y="1269283"/>
            <a:ext cx="900000" cy="900000"/>
          </a:xfrm>
          <a:prstGeom prst="rect">
            <a:avLst/>
          </a:prstGeom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68B747D-B6C4-EFFD-5098-50AEC586BB36}"/>
              </a:ext>
            </a:extLst>
          </p:cNvPr>
          <p:cNvCxnSpPr>
            <a:cxnSpLocks/>
          </p:cNvCxnSpPr>
          <p:nvPr/>
        </p:nvCxnSpPr>
        <p:spPr>
          <a:xfrm>
            <a:off x="340537" y="4498650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FCDE733-27BA-0F6E-6154-5BF8062F9096}"/>
              </a:ext>
            </a:extLst>
          </p:cNvPr>
          <p:cNvCxnSpPr>
            <a:cxnSpLocks/>
          </p:cNvCxnSpPr>
          <p:nvPr/>
        </p:nvCxnSpPr>
        <p:spPr>
          <a:xfrm>
            <a:off x="5630333" y="4909924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3EE28C-9BA4-C1BA-C7D6-BE5C9F7F8AC1}"/>
              </a:ext>
            </a:extLst>
          </p:cNvPr>
          <p:cNvSpPr txBox="1"/>
          <p:nvPr/>
        </p:nvSpPr>
        <p:spPr>
          <a:xfrm>
            <a:off x="1351864" y="4409015"/>
            <a:ext cx="41327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Telegram API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Низкий порог входа</a:t>
            </a:r>
            <a:endParaRPr lang="en-US" sz="2400" dirty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Кроссплатформенность и бесшовная синхронизация</a:t>
            </a:r>
            <a:endParaRPr lang="en-US" sz="2400" dirty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Мощный и гибкий API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830497-2BB0-E02B-354E-C2670EEE64DF}"/>
              </a:ext>
            </a:extLst>
          </p:cNvPr>
          <p:cNvSpPr txBox="1"/>
          <p:nvPr/>
        </p:nvSpPr>
        <p:spPr>
          <a:xfrm>
            <a:off x="1351865" y="1269283"/>
            <a:ext cx="41327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400" dirty="0">
              <a:solidFill>
                <a:srgbClr val="274E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Высокоуровневый язык с простым синтаксисом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библиотек для анализа данных и разработки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ботов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Шифрование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A0E92-5F63-DFA4-7E40-682CB8D98ABD}"/>
              </a:ext>
            </a:extLst>
          </p:cNvPr>
          <p:cNvSpPr txBox="1"/>
          <p:nvPr/>
        </p:nvSpPr>
        <p:spPr>
          <a:xfrm>
            <a:off x="6669264" y="4908073"/>
            <a:ext cx="49364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Легковесность и эффективность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Быстрое развертывание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Портативность и согласованность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6C4651-7811-DC37-120F-541D240B33B3}"/>
              </a:ext>
            </a:extLst>
          </p:cNvPr>
          <p:cNvSpPr txBox="1"/>
          <p:nvPr/>
        </p:nvSpPr>
        <p:spPr>
          <a:xfrm>
            <a:off x="6669264" y="1265552"/>
            <a:ext cx="4971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285750" indent="-285750">
              <a:buFontTx/>
              <a:buChar char="-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Бессерверная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легкость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837EF7B3-EE94-923D-7C3C-54DFE462A5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9799" y="3027084"/>
            <a:ext cx="900000" cy="90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5D497FC-D1FF-D095-AE12-889DF3F8DD3A}"/>
              </a:ext>
            </a:extLst>
          </p:cNvPr>
          <p:cNvSpPr txBox="1"/>
          <p:nvPr/>
        </p:nvSpPr>
        <p:spPr>
          <a:xfrm>
            <a:off x="6669264" y="3027084"/>
            <a:ext cx="49718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Source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стоимость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и кастомизация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и надежность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Независимость</a:t>
            </a:r>
          </a:p>
        </p:txBody>
      </p: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A6018588-AC56-EBF1-532C-9C621C809FD4}"/>
              </a:ext>
            </a:extLst>
          </p:cNvPr>
          <p:cNvCxnSpPr>
            <a:cxnSpLocks/>
          </p:cNvCxnSpPr>
          <p:nvPr/>
        </p:nvCxnSpPr>
        <p:spPr>
          <a:xfrm>
            <a:off x="5630333" y="3032353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65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64B1-CFDE-5903-3AEF-FC6A5277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2784AD-F57A-4DF0-F7BB-D6DF69DD27F4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Пользовательский путь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633CF3-FBC5-5827-043C-62BF04D3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98EC4E1-F01B-D0C8-B87B-4303F7DEB6F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9EE35CB-815B-D5EA-3EAA-A4A2E69BF9F3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0F926F-0E23-0407-765F-0D0E35931168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7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36B802B-ED97-0C20-0594-F231A3315B2E}"/>
              </a:ext>
            </a:extLst>
          </p:cNvPr>
          <p:cNvSpPr/>
          <p:nvPr/>
        </p:nvSpPr>
        <p:spPr>
          <a:xfrm>
            <a:off x="6786880" y="1255366"/>
            <a:ext cx="2880000" cy="900000"/>
          </a:xfrm>
          <a:prstGeom prst="roundRect">
            <a:avLst/>
          </a:prstGeom>
          <a:ln w="9525" cap="flat" cmpd="sng" algn="ctr">
            <a:solidFill>
              <a:srgbClr val="274E9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привычки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C76BD47-F376-BA4B-0980-95875A09CDC2}"/>
              </a:ext>
            </a:extLst>
          </p:cNvPr>
          <p:cNvSpPr/>
          <p:nvPr/>
        </p:nvSpPr>
        <p:spPr>
          <a:xfrm>
            <a:off x="8519203" y="3799276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Положительное подкрепление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4441B19-E09A-47A4-91C4-0606796B0352}"/>
              </a:ext>
            </a:extLst>
          </p:cNvPr>
          <p:cNvSpPr/>
          <p:nvPr/>
        </p:nvSpPr>
        <p:spPr>
          <a:xfrm>
            <a:off x="8519203" y="2528737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ХР / достижения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0ABFC66-1F9A-4AA4-DDF3-9781CC1FFEBB}"/>
              </a:ext>
            </a:extLst>
          </p:cNvPr>
          <p:cNvSpPr/>
          <p:nvPr/>
        </p:nvSpPr>
        <p:spPr>
          <a:xfrm>
            <a:off x="5130023" y="2527321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Анонимная поддержка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3221FE8-2C81-0CE8-E9F2-EFA452DF440C}"/>
              </a:ext>
            </a:extLst>
          </p:cNvPr>
          <p:cNvSpPr/>
          <p:nvPr/>
        </p:nvSpPr>
        <p:spPr>
          <a:xfrm>
            <a:off x="5130023" y="3797859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мотивации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5A3DF5A-FC1D-6745-3482-E2D73237E937}"/>
              </a:ext>
            </a:extLst>
          </p:cNvPr>
          <p:cNvSpPr/>
          <p:nvPr/>
        </p:nvSpPr>
        <p:spPr>
          <a:xfrm>
            <a:off x="6824613" y="5077299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 действия</a:t>
            </a:r>
          </a:p>
        </p:txBody>
      </p:sp>
      <p:sp>
        <p:nvSpPr>
          <p:cNvPr id="94" name="Объект 2">
            <a:extLst>
              <a:ext uri="{FF2B5EF4-FFF2-40B4-BE49-F238E27FC236}">
                <a16:creationId xmlns:a16="http://schemas.microsoft.com/office/drawing/2014/main" id="{7061037D-0D91-6C8D-7C85-4190FE37C51C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4140707" cy="4717400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98" name="Соединитель: изогнутый 97">
            <a:extLst>
              <a:ext uri="{FF2B5EF4-FFF2-40B4-BE49-F238E27FC236}">
                <a16:creationId xmlns:a16="http://schemas.microsoft.com/office/drawing/2014/main" id="{A0A9A019-3175-946F-3FCA-876212650087}"/>
              </a:ext>
            </a:extLst>
          </p:cNvPr>
          <p:cNvCxnSpPr>
            <a:stCxn id="7" idx="1"/>
            <a:endCxn id="18" idx="0"/>
          </p:cNvCxnSpPr>
          <p:nvPr/>
        </p:nvCxnSpPr>
        <p:spPr>
          <a:xfrm rot="10800000" flipV="1">
            <a:off x="6570024" y="1705365"/>
            <a:ext cx="216857" cy="82195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Соединитель: изогнутый 99">
            <a:extLst>
              <a:ext uri="{FF2B5EF4-FFF2-40B4-BE49-F238E27FC236}">
                <a16:creationId xmlns:a16="http://schemas.microsoft.com/office/drawing/2014/main" id="{C20D1A49-D496-A64F-1C70-19199191D7F3}"/>
              </a:ext>
            </a:extLst>
          </p:cNvPr>
          <p:cNvCxnSpPr>
            <a:stCxn id="7" idx="3"/>
            <a:endCxn id="13" idx="0"/>
          </p:cNvCxnSpPr>
          <p:nvPr/>
        </p:nvCxnSpPr>
        <p:spPr>
          <a:xfrm>
            <a:off x="9666880" y="1705366"/>
            <a:ext cx="292323" cy="82337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Соединитель: изогнутый 107">
            <a:extLst>
              <a:ext uri="{FF2B5EF4-FFF2-40B4-BE49-F238E27FC236}">
                <a16:creationId xmlns:a16="http://schemas.microsoft.com/office/drawing/2014/main" id="{02DB8682-9356-192F-536B-F8B0318EFB32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rot="5400000">
            <a:off x="6384754" y="3612590"/>
            <a:ext cx="370538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Соединитель: изогнутый 109">
            <a:extLst>
              <a:ext uri="{FF2B5EF4-FFF2-40B4-BE49-F238E27FC236}">
                <a16:creationId xmlns:a16="http://schemas.microsoft.com/office/drawing/2014/main" id="{CDE4E85D-827B-B135-83BF-FEC441F344D1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rot="5400000">
            <a:off x="9773934" y="3614006"/>
            <a:ext cx="370539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Соединитель: изогнутый 113">
            <a:extLst>
              <a:ext uri="{FF2B5EF4-FFF2-40B4-BE49-F238E27FC236}">
                <a16:creationId xmlns:a16="http://schemas.microsoft.com/office/drawing/2014/main" id="{E1959F05-1846-66CF-B6CC-56204C4BF59E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 rot="16200000" flipH="1">
            <a:off x="7227598" y="4040284"/>
            <a:ext cx="379440" cy="16945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Соединитель: изогнутый 115">
            <a:extLst>
              <a:ext uri="{FF2B5EF4-FFF2-40B4-BE49-F238E27FC236}">
                <a16:creationId xmlns:a16="http://schemas.microsoft.com/office/drawing/2014/main" id="{BE68F898-8CCA-D0A2-54B6-2C92B19D8A86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rot="5400000">
            <a:off x="8922897" y="4040992"/>
            <a:ext cx="378023" cy="16945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4250E4D-10B7-7A94-1C9D-AAEE33EF5893}"/>
              </a:ext>
            </a:extLst>
          </p:cNvPr>
          <p:cNvSpPr txBox="1"/>
          <p:nvPr/>
        </p:nvSpPr>
        <p:spPr>
          <a:xfrm>
            <a:off x="583126" y="2030311"/>
            <a:ext cx="38011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отличие от традиционных трекеров, фокус методики смещен с пассивной фиксации действий на активное конструирование устойчивой мотивационной среды.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ACFB206-2129-1E31-916B-B498707E676B}"/>
              </a:ext>
            </a:extLst>
          </p:cNvPr>
          <p:cNvCxnSpPr>
            <a:stCxn id="13" idx="1"/>
            <a:endCxn id="18" idx="3"/>
          </p:cNvCxnSpPr>
          <p:nvPr/>
        </p:nvCxnSpPr>
        <p:spPr>
          <a:xfrm flipH="1" flipV="1">
            <a:off x="8010023" y="2977321"/>
            <a:ext cx="509180" cy="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276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BC20-965B-864B-03AD-4AC561AF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78C194-1F40-B6AC-5C57-348F7496BCEE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A9B3423-5361-A58F-3312-DB44C9D3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CCAFD45-09AC-7B0C-5CED-BA3933F524EF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5451DD0-9625-0D25-5526-9677785D89D4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9E9DFF-4E5D-9417-FE41-47879482FFAE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8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Изображение1">
            <a:extLst>
              <a:ext uri="{FF2B5EF4-FFF2-40B4-BE49-F238E27FC236}">
                <a16:creationId xmlns:a16="http://schemas.microsoft.com/office/drawing/2014/main" id="{FBBCA8E2-FDAA-8965-B0AD-2E60BD8D3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422" y="1259899"/>
            <a:ext cx="7405706" cy="4320000"/>
          </a:xfrm>
          <a:prstGeom prst="rect">
            <a:avLst/>
          </a:prstGeom>
          <a:noFill/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C03053D3-3493-80E7-7552-0998A89684E6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24B29-E4E2-F9B4-140E-E60E9B59DC86}"/>
              </a:ext>
            </a:extLst>
          </p:cNvPr>
          <p:cNvSpPr txBox="1"/>
          <p:nvPr/>
        </p:nvSpPr>
        <p:spPr>
          <a:xfrm>
            <a:off x="564934" y="1896405"/>
            <a:ext cx="33810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результаты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подтверждают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превращение рутинного отслеживания в игру снижает психологическое сопротивление и когнитивную нагрузку. </a:t>
            </a:r>
          </a:p>
        </p:txBody>
      </p:sp>
    </p:spTree>
    <p:extLst>
      <p:ext uri="{BB962C8B-B14F-4D97-AF65-F5344CB8AC3E}">
        <p14:creationId xmlns:p14="http://schemas.microsoft.com/office/powerpoint/2010/main" val="277366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EB772-634C-DE5A-785D-567ED848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CCF800-C160-2A38-BE10-656DBD5D86EA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D93022-032D-DC41-346C-0A11950EF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5" name="Изображение4">
            <a:extLst>
              <a:ext uri="{FF2B5EF4-FFF2-40B4-BE49-F238E27FC236}">
                <a16:creationId xmlns:a16="http://schemas.microsoft.com/office/drawing/2014/main" id="{CBE9BA77-5F14-6E3E-5FDC-5275C2184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046" y="1259899"/>
            <a:ext cx="7406082" cy="4320000"/>
          </a:xfrm>
          <a:prstGeom prst="rect">
            <a:avLst/>
          </a:prstGeom>
          <a:noFill/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34D6268-6D27-8AD8-89DC-052C5038D3C8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9F2A3-4214-7896-12C9-E6BD6C5F0680}"/>
              </a:ext>
            </a:extLst>
          </p:cNvPr>
          <p:cNvSpPr txBox="1"/>
          <p:nvPr/>
        </p:nvSpPr>
        <p:spPr>
          <a:xfrm>
            <a:off x="564934" y="1840525"/>
            <a:ext cx="33810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Эмпатия и совет другого человека, находящегося в аналогичной ситуации, позволяли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преодолеть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прокрастинацию, что недоступно в стандартных приложениях-трекерах.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494A353-DE78-9F59-7FBA-A499971E7F3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94AFB9D1-3277-6629-D314-D3A30BE9101A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464CDB-7D62-9C66-93F6-27E7F1CC29AA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9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5215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5F3B3-9B10-812E-6471-F3679806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887BAA-23F4-A993-EEB8-7BCD8205EBD1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3775DF1-A5F2-E927-8862-239540BD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4" name="Изображение5">
            <a:extLst>
              <a:ext uri="{FF2B5EF4-FFF2-40B4-BE49-F238E27FC236}">
                <a16:creationId xmlns:a16="http://schemas.microsoft.com/office/drawing/2014/main" id="{2EDBA5E6-C059-7E77-EAEC-F0F455A9B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549" y="1259899"/>
            <a:ext cx="7405579" cy="4320000"/>
          </a:xfrm>
          <a:prstGeom prst="rect">
            <a:avLst/>
          </a:prstGeom>
          <a:noFill/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7D8E011D-E31C-1487-49CC-2BC759DFC235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0F79D-F36F-B8AF-CA85-81E172F2F3F2}"/>
              </a:ext>
            </a:extLst>
          </p:cNvPr>
          <p:cNvSpPr txBox="1"/>
          <p:nvPr/>
        </p:nvSpPr>
        <p:spPr>
          <a:xfrm>
            <a:off x="564934" y="1720840"/>
            <a:ext cx="33810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80% участников экспериментальной группы отметили, что бейджи и уровни сделали процесс формирования привычек «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менее обременительным и более интересным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AF3276F-5623-6D4D-1D33-6DB4CC343F4D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CEDFF0AA-AA3D-EB8E-6E00-82F366B52A64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F57CB0-5D90-2AFA-32E4-428019F00141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10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1081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2A5A-FC23-BFB4-9A75-51AC3115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B93CD8-9F62-A5A8-D0DB-AEC4AD446D4A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Оценка экономической эффективности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1D8B1C-EDC3-C57C-02AC-BA8E2EB3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168EE77-BAB9-B370-9C58-1BAE512BD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519797"/>
              </p:ext>
            </p:extLst>
          </p:nvPr>
        </p:nvGraphicFramePr>
        <p:xfrm>
          <a:off x="300037" y="1136649"/>
          <a:ext cx="11591926" cy="495934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802699">
                  <a:extLst>
                    <a:ext uri="{9D8B030D-6E8A-4147-A177-3AD203B41FA5}">
                      <a16:colId xmlns:a16="http://schemas.microsoft.com/office/drawing/2014/main" val="1738581461"/>
                    </a:ext>
                  </a:extLst>
                </a:gridCol>
                <a:gridCol w="1849008">
                  <a:extLst>
                    <a:ext uri="{9D8B030D-6E8A-4147-A177-3AD203B41FA5}">
                      <a16:colId xmlns:a16="http://schemas.microsoft.com/office/drawing/2014/main" val="3626096163"/>
                    </a:ext>
                  </a:extLst>
                </a:gridCol>
                <a:gridCol w="1136685">
                  <a:extLst>
                    <a:ext uri="{9D8B030D-6E8A-4147-A177-3AD203B41FA5}">
                      <a16:colId xmlns:a16="http://schemas.microsoft.com/office/drawing/2014/main" val="2091020232"/>
                    </a:ext>
                  </a:extLst>
                </a:gridCol>
                <a:gridCol w="2803534">
                  <a:extLst>
                    <a:ext uri="{9D8B030D-6E8A-4147-A177-3AD203B41FA5}">
                      <a16:colId xmlns:a16="http://schemas.microsoft.com/office/drawing/2014/main" val="532211291"/>
                    </a:ext>
                  </a:extLst>
                </a:gridCol>
              </a:tblGrid>
              <a:tr h="8915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effectLst/>
                        </a:rPr>
                        <a:t>Наименование показателя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Обозначение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Ед. изм.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Величина показателя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extLst>
                  <a:ext uri="{0D108BD9-81ED-4DB2-BD59-A6C34878D82A}">
                    <a16:rowId xmlns:a16="http://schemas.microsoft.com/office/drawing/2014/main" val="67373064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1. Объем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I проект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966 528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09181859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2. Ставка дисконтирования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r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555450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3. Чистая приведенная стоимость проекта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NPV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1 742 467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9219085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4. Внутренняя ставка доходности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IRR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99962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5. Простой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</a:rPr>
                        <a:t>PPs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3,93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50546334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6. Дисконтированный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</a:rPr>
                        <a:t>PPd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4,17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06909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7. Индекс доходности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PI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индекс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2,80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668786056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8. Чистая конечная стоимость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NTV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3 015 910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2159"/>
                  </a:ext>
                </a:extLst>
              </a:tr>
            </a:tbl>
          </a:graphicData>
        </a:graphic>
      </p:graphicFrame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14738A0F-BEC7-0970-E9EF-32E9B19F9AE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A8075276-3E03-C09B-232A-4E35CADBF9B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44D77F-365B-6064-0D7B-87FC4AFA1086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11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48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B06E-50B8-EBA4-8EC1-1B72A4E9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C69027-D9AC-6F79-299B-3B61416E67DF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Заключение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1F9291-3ACD-B417-4774-A0A37A66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53D40A9-AD79-4333-8A8E-1BEE92A7B2C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3B00132B-FE74-7B25-A005-20B9308E801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C6DAA5-6F60-5697-3393-B199D7A413DF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8CB7ACB-0237-3143-4D57-EB6AE1297A4C}"/>
              </a:ext>
            </a:extLst>
          </p:cNvPr>
          <p:cNvGrpSpPr/>
          <p:nvPr/>
        </p:nvGrpSpPr>
        <p:grpSpPr>
          <a:xfrm>
            <a:off x="3218345" y="1005892"/>
            <a:ext cx="8703188" cy="5431790"/>
            <a:chOff x="3645706" y="1012217"/>
            <a:chExt cx="8703188" cy="5431790"/>
          </a:xfrm>
        </p:grpSpPr>
        <p:graphicFrame>
          <p:nvGraphicFramePr>
            <p:cNvPr id="13" name="Объект 4">
              <a:extLst>
                <a:ext uri="{FF2B5EF4-FFF2-40B4-BE49-F238E27FC236}">
                  <a16:creationId xmlns:a16="http://schemas.microsoft.com/office/drawing/2014/main" id="{7802C9A4-9192-BB32-C00E-B16DBE9C0E5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56586616"/>
                </p:ext>
              </p:extLst>
            </p:nvPr>
          </p:nvGraphicFramePr>
          <p:xfrm>
            <a:off x="3645706" y="1012217"/>
            <a:ext cx="8703188" cy="54317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14" name="Shape 2530">
              <a:extLst>
                <a:ext uri="{FF2B5EF4-FFF2-40B4-BE49-F238E27FC236}">
                  <a16:creationId xmlns:a16="http://schemas.microsoft.com/office/drawing/2014/main" id="{4E636C97-E99F-7DBA-55B8-C6DA50B38470}"/>
                </a:ext>
              </a:extLst>
            </p:cNvPr>
            <p:cNvSpPr/>
            <p:nvPr/>
          </p:nvSpPr>
          <p:spPr>
            <a:xfrm>
              <a:off x="5129342" y="1184989"/>
              <a:ext cx="408769" cy="53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19636"/>
                  </a:moveTo>
                  <a:cubicBezTo>
                    <a:pt x="20400" y="20178"/>
                    <a:pt x="19862" y="20617"/>
                    <a:pt x="19200" y="20617"/>
                  </a:cubicBezTo>
                  <a:lnTo>
                    <a:pt x="6000" y="20617"/>
                  </a:lnTo>
                  <a:lnTo>
                    <a:pt x="6000" y="982"/>
                  </a:lnTo>
                  <a:lnTo>
                    <a:pt x="13200" y="982"/>
                  </a:lnTo>
                  <a:lnTo>
                    <a:pt x="13200" y="6872"/>
                  </a:lnTo>
                  <a:lnTo>
                    <a:pt x="15600" y="4909"/>
                  </a:lnTo>
                  <a:lnTo>
                    <a:pt x="18000" y="6872"/>
                  </a:lnTo>
                  <a:lnTo>
                    <a:pt x="18000" y="982"/>
                  </a:lnTo>
                  <a:lnTo>
                    <a:pt x="19200" y="982"/>
                  </a:lnTo>
                  <a:cubicBezTo>
                    <a:pt x="19862" y="982"/>
                    <a:pt x="20400" y="1422"/>
                    <a:pt x="20400" y="1964"/>
                  </a:cubicBezTo>
                  <a:cubicBezTo>
                    <a:pt x="20400" y="1964"/>
                    <a:pt x="20400" y="19636"/>
                    <a:pt x="20400" y="19636"/>
                  </a:cubicBezTo>
                  <a:close/>
                  <a:moveTo>
                    <a:pt x="4800" y="20617"/>
                  </a:moveTo>
                  <a:lnTo>
                    <a:pt x="2400" y="20617"/>
                  </a:lnTo>
                  <a:cubicBezTo>
                    <a:pt x="1738" y="20617"/>
                    <a:pt x="1200" y="20178"/>
                    <a:pt x="1200" y="19636"/>
                  </a:cubicBezTo>
                  <a:lnTo>
                    <a:pt x="1200" y="1964"/>
                  </a:lnTo>
                  <a:cubicBezTo>
                    <a:pt x="1200" y="1422"/>
                    <a:pt x="1738" y="982"/>
                    <a:pt x="2400" y="982"/>
                  </a:cubicBezTo>
                  <a:lnTo>
                    <a:pt x="4800" y="982"/>
                  </a:lnTo>
                  <a:cubicBezTo>
                    <a:pt x="4800" y="982"/>
                    <a:pt x="4800" y="20617"/>
                    <a:pt x="4800" y="20617"/>
                  </a:cubicBezTo>
                  <a:close/>
                  <a:moveTo>
                    <a:pt x="14400" y="982"/>
                  </a:moveTo>
                  <a:lnTo>
                    <a:pt x="16800" y="982"/>
                  </a:lnTo>
                  <a:lnTo>
                    <a:pt x="16800" y="4418"/>
                  </a:lnTo>
                  <a:lnTo>
                    <a:pt x="15600" y="3436"/>
                  </a:lnTo>
                  <a:lnTo>
                    <a:pt x="14400" y="4418"/>
                  </a:lnTo>
                  <a:cubicBezTo>
                    <a:pt x="14400" y="4418"/>
                    <a:pt x="14400" y="982"/>
                    <a:pt x="14400" y="982"/>
                  </a:cubicBezTo>
                  <a:close/>
                  <a:moveTo>
                    <a:pt x="19200" y="0"/>
                  </a:moveTo>
                  <a:lnTo>
                    <a:pt x="2400" y="0"/>
                  </a:lnTo>
                  <a:cubicBezTo>
                    <a:pt x="1075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0"/>
                    <a:pt x="1075" y="21600"/>
                    <a:pt x="2400" y="21600"/>
                  </a:cubicBezTo>
                  <a:lnTo>
                    <a:pt x="19200" y="21600"/>
                  </a:lnTo>
                  <a:cubicBezTo>
                    <a:pt x="20525" y="21600"/>
                    <a:pt x="21600" y="20720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525" y="0"/>
                    <a:pt x="192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  <p:sp>
          <p:nvSpPr>
            <p:cNvPr id="15" name="Shape 2538">
              <a:extLst>
                <a:ext uri="{FF2B5EF4-FFF2-40B4-BE49-F238E27FC236}">
                  <a16:creationId xmlns:a16="http://schemas.microsoft.com/office/drawing/2014/main" id="{85B6217C-198D-58F8-0295-D404303A49CB}"/>
                </a:ext>
              </a:extLst>
            </p:cNvPr>
            <p:cNvSpPr/>
            <p:nvPr/>
          </p:nvSpPr>
          <p:spPr>
            <a:xfrm>
              <a:off x="5102427" y="3427217"/>
              <a:ext cx="429515" cy="561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5891"/>
                  </a:moveTo>
                  <a:lnTo>
                    <a:pt x="1200" y="5891"/>
                  </a:lnTo>
                  <a:lnTo>
                    <a:pt x="1200" y="3927"/>
                  </a:lnTo>
                  <a:lnTo>
                    <a:pt x="6000" y="3927"/>
                  </a:lnTo>
                  <a:cubicBezTo>
                    <a:pt x="6000" y="4469"/>
                    <a:pt x="6538" y="4909"/>
                    <a:pt x="7200" y="4909"/>
                  </a:cubicBezTo>
                  <a:lnTo>
                    <a:pt x="14400" y="4909"/>
                  </a:lnTo>
                  <a:cubicBezTo>
                    <a:pt x="15062" y="4909"/>
                    <a:pt x="15600" y="4469"/>
                    <a:pt x="15600" y="3927"/>
                  </a:cubicBezTo>
                  <a:lnTo>
                    <a:pt x="20400" y="3927"/>
                  </a:lnTo>
                  <a:cubicBezTo>
                    <a:pt x="20400" y="3927"/>
                    <a:pt x="20400" y="5891"/>
                    <a:pt x="20400" y="5891"/>
                  </a:cubicBezTo>
                  <a:close/>
                  <a:moveTo>
                    <a:pt x="20400" y="20618"/>
                  </a:moveTo>
                  <a:lnTo>
                    <a:pt x="1200" y="20618"/>
                  </a:lnTo>
                  <a:lnTo>
                    <a:pt x="1200" y="6873"/>
                  </a:lnTo>
                  <a:lnTo>
                    <a:pt x="20400" y="6873"/>
                  </a:lnTo>
                  <a:cubicBezTo>
                    <a:pt x="20400" y="6873"/>
                    <a:pt x="20400" y="20618"/>
                    <a:pt x="20400" y="20618"/>
                  </a:cubicBezTo>
                  <a:close/>
                  <a:moveTo>
                    <a:pt x="7200" y="1964"/>
                  </a:moveTo>
                  <a:lnTo>
                    <a:pt x="14400" y="1964"/>
                  </a:lnTo>
                  <a:lnTo>
                    <a:pt x="14400" y="3927"/>
                  </a:lnTo>
                  <a:lnTo>
                    <a:pt x="7200" y="3927"/>
                  </a:lnTo>
                  <a:cubicBezTo>
                    <a:pt x="7200" y="3927"/>
                    <a:pt x="7200" y="1964"/>
                    <a:pt x="7200" y="1964"/>
                  </a:cubicBezTo>
                  <a:close/>
                  <a:moveTo>
                    <a:pt x="20400" y="2945"/>
                  </a:moveTo>
                  <a:lnTo>
                    <a:pt x="15600" y="2945"/>
                  </a:lnTo>
                  <a:lnTo>
                    <a:pt x="15600" y="1964"/>
                  </a:lnTo>
                  <a:cubicBezTo>
                    <a:pt x="15600" y="1422"/>
                    <a:pt x="15062" y="982"/>
                    <a:pt x="14400" y="982"/>
                  </a:cubicBezTo>
                  <a:lnTo>
                    <a:pt x="12000" y="982"/>
                  </a:lnTo>
                  <a:cubicBezTo>
                    <a:pt x="12000" y="440"/>
                    <a:pt x="11462" y="0"/>
                    <a:pt x="10800" y="0"/>
                  </a:cubicBezTo>
                  <a:cubicBezTo>
                    <a:pt x="10138" y="0"/>
                    <a:pt x="9600" y="440"/>
                    <a:pt x="9600" y="982"/>
                  </a:cubicBezTo>
                  <a:lnTo>
                    <a:pt x="7200" y="982"/>
                  </a:lnTo>
                  <a:cubicBezTo>
                    <a:pt x="6538" y="982"/>
                    <a:pt x="6000" y="1422"/>
                    <a:pt x="6000" y="1964"/>
                  </a:cubicBezTo>
                  <a:lnTo>
                    <a:pt x="6000" y="2945"/>
                  </a:lnTo>
                  <a:lnTo>
                    <a:pt x="1200" y="2945"/>
                  </a:lnTo>
                  <a:cubicBezTo>
                    <a:pt x="538" y="2945"/>
                    <a:pt x="0" y="3386"/>
                    <a:pt x="0" y="3927"/>
                  </a:cubicBezTo>
                  <a:lnTo>
                    <a:pt x="0" y="20618"/>
                  </a:lnTo>
                  <a:cubicBezTo>
                    <a:pt x="0" y="21160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21160"/>
                    <a:pt x="21600" y="20618"/>
                  </a:cubicBezTo>
                  <a:lnTo>
                    <a:pt x="21600" y="3927"/>
                  </a:lnTo>
                  <a:cubicBezTo>
                    <a:pt x="21600" y="3386"/>
                    <a:pt x="21062" y="2945"/>
                    <a:pt x="20400" y="2945"/>
                  </a:cubicBezTo>
                  <a:moveTo>
                    <a:pt x="4200" y="16691"/>
                  </a:moveTo>
                  <a:lnTo>
                    <a:pt x="15000" y="16691"/>
                  </a:lnTo>
                  <a:cubicBezTo>
                    <a:pt x="15331" y="16691"/>
                    <a:pt x="15600" y="16472"/>
                    <a:pt x="15600" y="16200"/>
                  </a:cubicBezTo>
                  <a:cubicBezTo>
                    <a:pt x="15600" y="15929"/>
                    <a:pt x="15331" y="15709"/>
                    <a:pt x="15000" y="15709"/>
                  </a:cubicBezTo>
                  <a:lnTo>
                    <a:pt x="4200" y="15709"/>
                  </a:lnTo>
                  <a:cubicBezTo>
                    <a:pt x="3869" y="15709"/>
                    <a:pt x="3600" y="15929"/>
                    <a:pt x="3600" y="16200"/>
                  </a:cubicBezTo>
                  <a:cubicBezTo>
                    <a:pt x="3600" y="16472"/>
                    <a:pt x="3869" y="16691"/>
                    <a:pt x="4200" y="16691"/>
                  </a:cubicBezTo>
                  <a:moveTo>
                    <a:pt x="4200" y="13745"/>
                  </a:moveTo>
                  <a:lnTo>
                    <a:pt x="17400" y="13745"/>
                  </a:lnTo>
                  <a:cubicBezTo>
                    <a:pt x="17731" y="13745"/>
                    <a:pt x="18000" y="13526"/>
                    <a:pt x="18000" y="13255"/>
                  </a:cubicBezTo>
                  <a:cubicBezTo>
                    <a:pt x="18000" y="12984"/>
                    <a:pt x="17731" y="12764"/>
                    <a:pt x="17400" y="12764"/>
                  </a:cubicBezTo>
                  <a:lnTo>
                    <a:pt x="4200" y="12764"/>
                  </a:lnTo>
                  <a:cubicBezTo>
                    <a:pt x="3869" y="12764"/>
                    <a:pt x="3600" y="12984"/>
                    <a:pt x="3600" y="13255"/>
                  </a:cubicBezTo>
                  <a:cubicBezTo>
                    <a:pt x="3600" y="13526"/>
                    <a:pt x="3869" y="13745"/>
                    <a:pt x="4200" y="13745"/>
                  </a:cubicBezTo>
                  <a:moveTo>
                    <a:pt x="4200" y="10800"/>
                  </a:moveTo>
                  <a:lnTo>
                    <a:pt x="11400" y="10800"/>
                  </a:lnTo>
                  <a:cubicBezTo>
                    <a:pt x="11731" y="10800"/>
                    <a:pt x="12000" y="10581"/>
                    <a:pt x="12000" y="10309"/>
                  </a:cubicBezTo>
                  <a:cubicBezTo>
                    <a:pt x="12000" y="10038"/>
                    <a:pt x="11731" y="9818"/>
                    <a:pt x="11400" y="9818"/>
                  </a:cubicBezTo>
                  <a:lnTo>
                    <a:pt x="4200" y="9818"/>
                  </a:lnTo>
                  <a:cubicBezTo>
                    <a:pt x="3869" y="9818"/>
                    <a:pt x="3600" y="10038"/>
                    <a:pt x="3600" y="10309"/>
                  </a:cubicBezTo>
                  <a:cubicBezTo>
                    <a:pt x="3600" y="10581"/>
                    <a:pt x="3869" y="10800"/>
                    <a:pt x="4200" y="1080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  <p:pic>
          <p:nvPicPr>
            <p:cNvPr id="16" name="Рисунок 15" descr="Одна шестеренка">
              <a:extLst>
                <a:ext uri="{FF2B5EF4-FFF2-40B4-BE49-F238E27FC236}">
                  <a16:creationId xmlns:a16="http://schemas.microsoft.com/office/drawing/2014/main" id="{6A0E385F-4C19-715A-C279-81F0537E09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99656" y="4507431"/>
              <a:ext cx="657837" cy="703146"/>
            </a:xfrm>
            <a:prstGeom prst="rect">
              <a:avLst/>
            </a:prstGeom>
          </p:spPr>
        </p:pic>
        <p:pic>
          <p:nvPicPr>
            <p:cNvPr id="17" name="Рисунок 16" descr="Исследование">
              <a:extLst>
                <a:ext uri="{FF2B5EF4-FFF2-40B4-BE49-F238E27FC236}">
                  <a16:creationId xmlns:a16="http://schemas.microsoft.com/office/drawing/2014/main" id="{4A40B08D-9B08-D44B-7966-3F35974F1B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041624" y="5698345"/>
              <a:ext cx="563597" cy="602415"/>
            </a:xfrm>
            <a:prstGeom prst="rect">
              <a:avLst/>
            </a:prstGeom>
          </p:spPr>
        </p:pic>
        <p:sp>
          <p:nvSpPr>
            <p:cNvPr id="18" name="Shape 2930">
              <a:extLst>
                <a:ext uri="{FF2B5EF4-FFF2-40B4-BE49-F238E27FC236}">
                  <a16:creationId xmlns:a16="http://schemas.microsoft.com/office/drawing/2014/main" id="{1DF026C7-A0EB-10FE-0D53-336B73BED86D}"/>
                </a:ext>
              </a:extLst>
            </p:cNvPr>
            <p:cNvSpPr/>
            <p:nvPr/>
          </p:nvSpPr>
          <p:spPr>
            <a:xfrm>
              <a:off x="5033648" y="2410673"/>
              <a:ext cx="589852" cy="401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5" y="1543"/>
                  </a:moveTo>
                  <a:cubicBezTo>
                    <a:pt x="12837" y="1543"/>
                    <a:pt x="10309" y="5515"/>
                    <a:pt x="10309" y="10414"/>
                  </a:cubicBezTo>
                  <a:lnTo>
                    <a:pt x="10309" y="11186"/>
                  </a:lnTo>
                  <a:cubicBezTo>
                    <a:pt x="10309" y="15233"/>
                    <a:pt x="8221" y="18514"/>
                    <a:pt x="5645" y="18514"/>
                  </a:cubicBezTo>
                  <a:cubicBezTo>
                    <a:pt x="3070" y="18514"/>
                    <a:pt x="982" y="15233"/>
                    <a:pt x="982" y="11186"/>
                  </a:cubicBezTo>
                  <a:lnTo>
                    <a:pt x="982" y="10414"/>
                  </a:lnTo>
                  <a:cubicBezTo>
                    <a:pt x="982" y="6367"/>
                    <a:pt x="3070" y="3086"/>
                    <a:pt x="5645" y="3086"/>
                  </a:cubicBezTo>
                  <a:cubicBezTo>
                    <a:pt x="6670" y="3086"/>
                    <a:pt x="7575" y="3630"/>
                    <a:pt x="8321" y="4629"/>
                  </a:cubicBezTo>
                  <a:lnTo>
                    <a:pt x="6382" y="4629"/>
                  </a:lnTo>
                  <a:cubicBezTo>
                    <a:pt x="6110" y="4629"/>
                    <a:pt x="5891" y="4974"/>
                    <a:pt x="5891" y="5400"/>
                  </a:cubicBezTo>
                  <a:cubicBezTo>
                    <a:pt x="5891" y="5826"/>
                    <a:pt x="6110" y="6171"/>
                    <a:pt x="6382" y="6171"/>
                  </a:cubicBezTo>
                  <a:lnTo>
                    <a:pt x="9327" y="6171"/>
                  </a:lnTo>
                  <a:cubicBezTo>
                    <a:pt x="9599" y="6171"/>
                    <a:pt x="9818" y="5826"/>
                    <a:pt x="9818" y="5400"/>
                  </a:cubicBezTo>
                  <a:lnTo>
                    <a:pt x="9818" y="771"/>
                  </a:lnTo>
                  <a:cubicBezTo>
                    <a:pt x="9818" y="346"/>
                    <a:pt x="9599" y="0"/>
                    <a:pt x="9327" y="0"/>
                  </a:cubicBezTo>
                  <a:cubicBezTo>
                    <a:pt x="9056" y="0"/>
                    <a:pt x="8836" y="346"/>
                    <a:pt x="8836" y="771"/>
                  </a:cubicBezTo>
                  <a:lnTo>
                    <a:pt x="8836" y="3321"/>
                  </a:lnTo>
                  <a:cubicBezTo>
                    <a:pt x="7879" y="2160"/>
                    <a:pt x="6706" y="1543"/>
                    <a:pt x="5645" y="1543"/>
                  </a:cubicBezTo>
                  <a:cubicBezTo>
                    <a:pt x="2527" y="1543"/>
                    <a:pt x="0" y="5515"/>
                    <a:pt x="0" y="10414"/>
                  </a:cubicBezTo>
                  <a:lnTo>
                    <a:pt x="0" y="11186"/>
                  </a:lnTo>
                  <a:cubicBezTo>
                    <a:pt x="0" y="16085"/>
                    <a:pt x="2527" y="20057"/>
                    <a:pt x="5645" y="20057"/>
                  </a:cubicBezTo>
                  <a:cubicBezTo>
                    <a:pt x="8763" y="20057"/>
                    <a:pt x="11291" y="16085"/>
                    <a:pt x="11291" y="11186"/>
                  </a:cubicBezTo>
                  <a:lnTo>
                    <a:pt x="11291" y="10414"/>
                  </a:lnTo>
                  <a:cubicBezTo>
                    <a:pt x="11291" y="6367"/>
                    <a:pt x="13379" y="3086"/>
                    <a:pt x="15955" y="3086"/>
                  </a:cubicBezTo>
                  <a:cubicBezTo>
                    <a:pt x="18530" y="3086"/>
                    <a:pt x="20618" y="6367"/>
                    <a:pt x="20618" y="10414"/>
                  </a:cubicBezTo>
                  <a:lnTo>
                    <a:pt x="20618" y="11186"/>
                  </a:lnTo>
                  <a:cubicBezTo>
                    <a:pt x="20618" y="15233"/>
                    <a:pt x="18530" y="18514"/>
                    <a:pt x="15955" y="18514"/>
                  </a:cubicBezTo>
                  <a:cubicBezTo>
                    <a:pt x="14930" y="18514"/>
                    <a:pt x="14025" y="17970"/>
                    <a:pt x="13279" y="16971"/>
                  </a:cubicBezTo>
                  <a:lnTo>
                    <a:pt x="15218" y="16971"/>
                  </a:lnTo>
                  <a:cubicBezTo>
                    <a:pt x="15490" y="16971"/>
                    <a:pt x="15709" y="16626"/>
                    <a:pt x="15709" y="16200"/>
                  </a:cubicBezTo>
                  <a:cubicBezTo>
                    <a:pt x="15709" y="15774"/>
                    <a:pt x="15490" y="15429"/>
                    <a:pt x="15218" y="15429"/>
                  </a:cubicBezTo>
                  <a:lnTo>
                    <a:pt x="12273" y="15429"/>
                  </a:lnTo>
                  <a:cubicBezTo>
                    <a:pt x="12001" y="15429"/>
                    <a:pt x="11782" y="15774"/>
                    <a:pt x="11782" y="16200"/>
                  </a:cubicBezTo>
                  <a:lnTo>
                    <a:pt x="11782" y="20829"/>
                  </a:lnTo>
                  <a:cubicBezTo>
                    <a:pt x="11782" y="21255"/>
                    <a:pt x="12001" y="21600"/>
                    <a:pt x="12273" y="21600"/>
                  </a:cubicBezTo>
                  <a:cubicBezTo>
                    <a:pt x="12544" y="21600"/>
                    <a:pt x="12764" y="21255"/>
                    <a:pt x="12764" y="20829"/>
                  </a:cubicBezTo>
                  <a:lnTo>
                    <a:pt x="12764" y="18279"/>
                  </a:lnTo>
                  <a:cubicBezTo>
                    <a:pt x="13721" y="19441"/>
                    <a:pt x="14894" y="20057"/>
                    <a:pt x="15955" y="20057"/>
                  </a:cubicBezTo>
                  <a:cubicBezTo>
                    <a:pt x="19073" y="20057"/>
                    <a:pt x="21600" y="16085"/>
                    <a:pt x="21600" y="11186"/>
                  </a:cubicBezTo>
                  <a:lnTo>
                    <a:pt x="21600" y="10414"/>
                  </a:lnTo>
                  <a:cubicBezTo>
                    <a:pt x="21600" y="5515"/>
                    <a:pt x="19073" y="1543"/>
                    <a:pt x="15955" y="1543"/>
                  </a:cubicBezTo>
                </a:path>
              </a:pathLst>
            </a:custGeom>
            <a:solidFill>
              <a:srgbClr val="F3F7FF"/>
            </a:solidFill>
            <a:ln w="12700">
              <a:solidFill>
                <a:srgbClr val="F3F7FF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CD0EEC0-91A9-ABB5-4B9B-3D2447786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220" y="1826767"/>
            <a:ext cx="3377485" cy="33774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BB31B3-7FF8-CC30-B732-6BECCA9598DF}"/>
              </a:ext>
            </a:extLst>
          </p:cNvPr>
          <p:cNvSpPr txBox="1"/>
          <p:nvPr/>
        </p:nvSpPr>
        <p:spPr>
          <a:xfrm>
            <a:off x="512003" y="5289955"/>
            <a:ext cx="3491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pagamov_bot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6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680</Words>
  <Application>Microsoft Office PowerPoint</Application>
  <PresentationFormat>Широкоэкранный</PresentationFormat>
  <Paragraphs>166</Paragraphs>
  <Slides>14</Slides>
  <Notes>13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Gill Sans</vt:lpstr>
      <vt:lpstr>Inter Variable Text</vt:lpstr>
      <vt:lpstr>Inter Variable Text Medium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Жучков</dc:creator>
  <cp:lastModifiedBy>Павел Гамов</cp:lastModifiedBy>
  <cp:revision>35</cp:revision>
  <dcterms:created xsi:type="dcterms:W3CDTF">2024-10-09T13:54:56Z</dcterms:created>
  <dcterms:modified xsi:type="dcterms:W3CDTF">2026-06-03T16:40:48Z</dcterms:modified>
</cp:coreProperties>
</file>