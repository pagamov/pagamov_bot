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360" r:id="rId6"/>
    <p:sldId id="363" r:id="rId7"/>
    <p:sldId id="369" r:id="rId8"/>
    <p:sldId id="341" r:id="rId9"/>
    <p:sldId id="367" r:id="rId10"/>
    <p:sldId id="339" r:id="rId11"/>
    <p:sldId id="351" r:id="rId12"/>
    <p:sldId id="357" r:id="rId13"/>
    <p:sldId id="358" r:id="rId14"/>
    <p:sldId id="352" r:id="rId15"/>
    <p:sldId id="301" r:id="rId16"/>
  </p:sldIdLst>
  <p:sldSz cx="9144000" cy="6858000" type="screen4x3"/>
  <p:notesSz cx="7104063" cy="102346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  <a:srgbClr val="C00000"/>
    <a:srgbClr val="CCFFCC"/>
    <a:srgbClr val="FFCCCC"/>
    <a:srgbClr val="404040"/>
    <a:srgbClr val="A1B742"/>
    <a:srgbClr val="D84D5A"/>
    <a:srgbClr val="EBF1E9"/>
    <a:srgbClr val="D5E3CF"/>
    <a:srgbClr val="B9BD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0A1B5D5-9B99-4C35-A422-299274C87663}" styleName="Средний стиль 1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A111915-BE36-4E01-A7E5-04B1672EAD32}" styleName="Светлый стиль 2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912C8C85-51F0-491E-9774-3900AFEF0FD7}" styleName="Светлый стиль 2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6D9F66E-5EB9-4882-86FB-DCBF35E3C3E4}" styleName="Средний стиль 4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35" autoAdjust="0"/>
    <p:restoredTop sz="94565" autoAdjust="0"/>
  </p:normalViewPr>
  <p:slideViewPr>
    <p:cSldViewPr snapToGrid="0">
      <p:cViewPr varScale="1">
        <p:scale>
          <a:sx n="84" d="100"/>
          <a:sy n="84" d="100"/>
        </p:scale>
        <p:origin x="1411" y="77"/>
      </p:cViewPr>
      <p:guideLst>
        <p:guide orient="horz" pos="2160"/>
        <p:guide pos="384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9201" cy="512223"/>
          </a:xfrm>
          <a:prstGeom prst="rect">
            <a:avLst/>
          </a:prstGeom>
        </p:spPr>
        <p:txBody>
          <a:bodyPr vert="horz" lIns="94458" tIns="47229" rIns="94458" bIns="47229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4023204" y="0"/>
            <a:ext cx="3079201" cy="512223"/>
          </a:xfrm>
          <a:prstGeom prst="rect">
            <a:avLst/>
          </a:prstGeom>
        </p:spPr>
        <p:txBody>
          <a:bodyPr vert="horz" lIns="94458" tIns="47229" rIns="94458" bIns="47229" rtlCol="0"/>
          <a:lstStyle>
            <a:lvl1pPr algn="r">
              <a:defRPr sz="1200"/>
            </a:lvl1pPr>
          </a:lstStyle>
          <a:p>
            <a:fld id="{D1284CFD-D9F1-48BF-9B32-670142E120DA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1" y="9720755"/>
            <a:ext cx="3079201" cy="512223"/>
          </a:xfrm>
          <a:prstGeom prst="rect">
            <a:avLst/>
          </a:prstGeom>
        </p:spPr>
        <p:txBody>
          <a:bodyPr vert="horz" lIns="94458" tIns="47229" rIns="94458" bIns="47229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4023204" y="9720755"/>
            <a:ext cx="3079201" cy="512223"/>
          </a:xfrm>
          <a:prstGeom prst="rect">
            <a:avLst/>
          </a:prstGeom>
        </p:spPr>
        <p:txBody>
          <a:bodyPr vert="horz" lIns="94458" tIns="47229" rIns="94458" bIns="47229" rtlCol="0" anchor="b"/>
          <a:lstStyle>
            <a:lvl1pPr algn="r">
              <a:defRPr sz="1200"/>
            </a:lvl1pPr>
          </a:lstStyle>
          <a:p>
            <a:fld id="{E585D241-78E8-4913-80A5-8ECA402ED0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40628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2" y="3"/>
            <a:ext cx="3078427" cy="513507"/>
          </a:xfrm>
          <a:prstGeom prst="rect">
            <a:avLst/>
          </a:prstGeom>
        </p:spPr>
        <p:txBody>
          <a:bodyPr vert="horz" lIns="94458" tIns="47229" rIns="94458" bIns="47229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023995" y="3"/>
            <a:ext cx="3078427" cy="513507"/>
          </a:xfrm>
          <a:prstGeom prst="rect">
            <a:avLst/>
          </a:prstGeom>
        </p:spPr>
        <p:txBody>
          <a:bodyPr vert="horz" lIns="94458" tIns="47229" rIns="94458" bIns="47229" rtlCol="0"/>
          <a:lstStyle>
            <a:lvl1pPr algn="r">
              <a:defRPr sz="1200"/>
            </a:lvl1pPr>
          </a:lstStyle>
          <a:p>
            <a:fld id="{50709992-06C7-4610-9D75-F60811EEFB58}" type="datetimeFigureOut">
              <a:rPr lang="ru-RU" smtClean="0"/>
              <a:pPr/>
              <a:t>02.02.2026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277938"/>
            <a:ext cx="4611687" cy="3457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458" tIns="47229" rIns="94458" bIns="47229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710408" y="4925409"/>
            <a:ext cx="5683250" cy="4029879"/>
          </a:xfrm>
          <a:prstGeom prst="rect">
            <a:avLst/>
          </a:prstGeom>
        </p:spPr>
        <p:txBody>
          <a:bodyPr vert="horz" lIns="94458" tIns="47229" rIns="94458" bIns="47229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2" y="9721108"/>
            <a:ext cx="3078427" cy="513506"/>
          </a:xfrm>
          <a:prstGeom prst="rect">
            <a:avLst/>
          </a:prstGeom>
        </p:spPr>
        <p:txBody>
          <a:bodyPr vert="horz" lIns="94458" tIns="47229" rIns="94458" bIns="47229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023995" y="9721108"/>
            <a:ext cx="3078427" cy="513506"/>
          </a:xfrm>
          <a:prstGeom prst="rect">
            <a:avLst/>
          </a:prstGeom>
        </p:spPr>
        <p:txBody>
          <a:bodyPr vert="horz" lIns="94458" tIns="47229" rIns="94458" bIns="47229" rtlCol="0" anchor="b"/>
          <a:lstStyle>
            <a:lvl1pPr algn="r">
              <a:defRPr sz="1200"/>
            </a:lvl1pPr>
          </a:lstStyle>
          <a:p>
            <a:fld id="{CF1B10D4-84B7-4550-9E30-3F53ED08A94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3870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1B10D4-84B7-4550-9E30-3F53ED08A944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34873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246188" y="1277938"/>
            <a:ext cx="4611687" cy="34575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/>
          </a:p>
        </p:txBody>
      </p:sp>
      <p:sp>
        <p:nvSpPr>
          <p:cNvPr id="43012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9A61FE8A-2656-4BED-93FF-D2EAB48F7851}" type="slidenum">
              <a:rPr lang="ru-RU" altLang="ru-RU" smtClean="0"/>
              <a:pPr/>
              <a:t>4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3638246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246188" y="1277938"/>
            <a:ext cx="4611687" cy="34575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/>
          </a:p>
        </p:txBody>
      </p:sp>
      <p:sp>
        <p:nvSpPr>
          <p:cNvPr id="43012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9A61FE8A-2656-4BED-93FF-D2EAB48F7851}" type="slidenum">
              <a:rPr lang="ru-RU" altLang="ru-RU" smtClean="0"/>
              <a:pPr/>
              <a:t>5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7422689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246188" y="1277938"/>
            <a:ext cx="4611687" cy="34575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/>
          </a:p>
        </p:txBody>
      </p:sp>
      <p:sp>
        <p:nvSpPr>
          <p:cNvPr id="43012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9A61FE8A-2656-4BED-93FF-D2EAB48F7851}" type="slidenum">
              <a:rPr lang="ru-RU" altLang="ru-RU" smtClean="0"/>
              <a:pPr/>
              <a:t>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1372196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246188" y="1277938"/>
            <a:ext cx="4611687" cy="34575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dirty="0"/>
          </a:p>
        </p:txBody>
      </p:sp>
      <p:sp>
        <p:nvSpPr>
          <p:cNvPr id="43012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9A61FE8A-2656-4BED-93FF-D2EAB48F7851}" type="slidenum">
              <a:rPr lang="ru-RU" altLang="ru-RU" smtClean="0"/>
              <a:pPr/>
              <a:t>7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7422689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246188" y="1277938"/>
            <a:ext cx="4611687" cy="34575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/>
          </a:p>
        </p:txBody>
      </p:sp>
      <p:sp>
        <p:nvSpPr>
          <p:cNvPr id="43012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9A61FE8A-2656-4BED-93FF-D2EAB48F7851}" type="slidenum">
              <a:rPr lang="ru-RU" altLang="ru-RU" smtClean="0"/>
              <a:pPr/>
              <a:t>8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7422689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1B10D4-84B7-4550-9E30-3F53ED08A944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98973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246188" y="1277938"/>
            <a:ext cx="4611687" cy="34575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/>
          </a:p>
        </p:txBody>
      </p:sp>
      <p:sp>
        <p:nvSpPr>
          <p:cNvPr id="43012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9A61FE8A-2656-4BED-93FF-D2EAB48F7851}" type="slidenum">
              <a:rPr lang="ru-RU" altLang="ru-RU" smtClean="0"/>
              <a:pPr/>
              <a:t>11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7422689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1B10D4-84B7-4550-9E30-3F53ED08A944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7462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РУТ (МИИТ) II ИЭФ II ЭТиУЧР II 2021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0D62D-9DCF-4B78-8803-0417A60B09C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1558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РУТ (МИИТ) II ИЭФ II ЭТиУЧР II 2021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0D62D-9DCF-4B78-8803-0417A60B09C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1998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РУТ (МИИТ) II ИЭФ II ЭТиУЧР II 2021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0D62D-9DCF-4B78-8803-0417A60B09C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5076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РУТ (МИИТ) II ИЭФ II ЭТиУЧР II 2021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0D62D-9DCF-4B78-8803-0417A60B09C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2194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РУТ (МИИТ) II ИЭФ II ЭТиУЧР II 2021</a:t>
            </a: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0D62D-9DCF-4B78-8803-0417A60B09C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2353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РУТ (МИИТ) II ИЭФ II ЭТиУЧР II 2021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0D62D-9DCF-4B78-8803-0417A60B09C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3473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РУТ (МИИТ) II ИЭФ II ЭТиУЧР II 2021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0D62D-9DCF-4B78-8803-0417A60B09C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5923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РУТ (МИИТ) II ИЭФ II ЭТиУЧР II 2021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0D62D-9DCF-4B78-8803-0417A60B09C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8874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РУТ (МИИТ) II ИЭФ II ЭТиУЧР II 2021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0D62D-9DCF-4B78-8803-0417A60B09C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1100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РУТ (МИИТ) II ИЭФ II ЭТиУЧР II 2021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0D62D-9DCF-4B78-8803-0417A60B09C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0000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РУТ (МИИТ) II ИЭФ II ЭТиУЧР II 2021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0D62D-9DCF-4B78-8803-0417A60B09C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37148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цв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>
            <a:spLocks noGrp="1"/>
          </p:cNvSpPr>
          <p:nvPr>
            <p:ph type="title"/>
          </p:nvPr>
        </p:nvSpPr>
        <p:spPr>
          <a:xfrm>
            <a:off x="686330" y="4"/>
            <a:ext cx="7778383" cy="1569999"/>
          </a:xfrm>
          <a:prstGeom prst="rect">
            <a:avLst/>
          </a:prstGeom>
        </p:spPr>
        <p:txBody>
          <a:bodyPr anchor="b"/>
          <a:lstStyle>
            <a:lvl1pPr>
              <a:defRPr sz="5900">
                <a:solidFill>
                  <a:srgbClr val="0072BC"/>
                </a:solidFill>
              </a:defRPr>
            </a:lvl1pPr>
          </a:lstStyle>
          <a:p>
            <a:pPr lvl="0"/>
            <a:r>
              <a:rPr dirty="0" err="1"/>
              <a:t>Образец</a:t>
            </a:r>
            <a:r>
              <a:rPr dirty="0"/>
              <a:t> </a:t>
            </a:r>
            <a:r>
              <a:rPr dirty="0" err="1"/>
              <a:t>заголовка</a:t>
            </a:r>
            <a:endParaRPr dirty="0"/>
          </a:p>
        </p:txBody>
      </p:sp>
      <p:sp>
        <p:nvSpPr>
          <p:cNvPr id="7" name="Shape 7"/>
          <p:cNvSpPr>
            <a:spLocks noGrp="1"/>
          </p:cNvSpPr>
          <p:nvPr>
            <p:ph type="body" idx="1"/>
          </p:nvPr>
        </p:nvSpPr>
        <p:spPr>
          <a:xfrm>
            <a:off x="686329" y="1705838"/>
            <a:ext cx="6863280" cy="2229834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/>
            </a:lvl1pPr>
          </a:lstStyle>
          <a:p>
            <a:pPr lvl="0"/>
            <a:r>
              <a:rPr dirty="0" err="1"/>
              <a:t>Образец</a:t>
            </a:r>
            <a:r>
              <a:rPr dirty="0"/>
              <a:t> </a:t>
            </a:r>
            <a:r>
              <a:rPr dirty="0" err="1"/>
              <a:t>подзаголовка</a:t>
            </a:r>
            <a:endParaRPr dirty="0"/>
          </a:p>
        </p:txBody>
      </p:sp>
      <p:sp>
        <p:nvSpPr>
          <p:cNvPr id="4" name="Shape 8"/>
          <p:cNvSpPr>
            <a:spLocks noGrp="1"/>
          </p:cNvSpPr>
          <p:nvPr>
            <p:ph type="sldNum" sz="quarter" idx="10"/>
          </p:nvPr>
        </p:nvSpPr>
        <p:spPr>
          <a:xfrm>
            <a:off x="6462713" y="6300789"/>
            <a:ext cx="2059781" cy="2508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D8F83D-3AE4-450D-84BD-CB643A2CFF14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12610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РУТ (МИИТ) II ИЭФ II ЭТиУЧР II 2021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C0D62D-9DCF-4B78-8803-0417A60B09C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630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.png"/><Relationship Id="rId7" Type="http://schemas.openxmlformats.org/officeDocument/2006/relationships/image" Target="../media/image6.sv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12.svg"/><Relationship Id="rId5" Type="http://schemas.openxmlformats.org/officeDocument/2006/relationships/image" Target="../media/image10.svg"/><Relationship Id="rId10" Type="http://schemas.openxmlformats.org/officeDocument/2006/relationships/image" Target="../media/image6.png"/><Relationship Id="rId9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library.miit.ru/bookscatalog/2024/Oformlenie_IEF.pdf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18"/>
          <p:cNvGrpSpPr/>
          <p:nvPr/>
        </p:nvGrpSpPr>
        <p:grpSpPr>
          <a:xfrm flipV="1">
            <a:off x="0" y="6725481"/>
            <a:ext cx="9144000" cy="152183"/>
            <a:chOff x="76200" y="4476750"/>
            <a:chExt cx="4114800" cy="91440"/>
          </a:xfrm>
          <a:solidFill>
            <a:schemeClr val="bg2">
              <a:lumMod val="75000"/>
            </a:schemeClr>
          </a:solidFill>
        </p:grpSpPr>
        <p:sp>
          <p:nvSpPr>
            <p:cNvPr id="5" name="Rectangle 214"/>
            <p:cNvSpPr/>
            <p:nvPr/>
          </p:nvSpPr>
          <p:spPr>
            <a:xfrm>
              <a:off x="1447800" y="4476750"/>
              <a:ext cx="1371600" cy="914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215"/>
            <p:cNvSpPr/>
            <p:nvPr/>
          </p:nvSpPr>
          <p:spPr>
            <a:xfrm>
              <a:off x="2819400" y="4476750"/>
              <a:ext cx="1371600" cy="914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216"/>
            <p:cNvSpPr/>
            <p:nvPr/>
          </p:nvSpPr>
          <p:spPr>
            <a:xfrm>
              <a:off x="76200" y="4476750"/>
              <a:ext cx="1371600" cy="914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Заголовок 1"/>
          <p:cNvSpPr txBox="1">
            <a:spLocks/>
          </p:cNvSpPr>
          <p:nvPr/>
        </p:nvSpPr>
        <p:spPr>
          <a:xfrm>
            <a:off x="3235712" y="514889"/>
            <a:ext cx="5720576" cy="158962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b="1" dirty="0"/>
              <a:t>МИНИСТЕРСТВО ТРАНСПОРТА РОССИЙСКОЙ ФЕДЕРАЦИИ</a:t>
            </a:r>
            <a:endParaRPr lang="ru-RU" sz="1600" dirty="0"/>
          </a:p>
          <a:p>
            <a:r>
              <a:rPr lang="ru-RU" sz="1400" b="1" dirty="0"/>
              <a:t>ФЕДЕРАЛЬНОЕ ГОСУДАРСТВЕННОЕ АВТОНОМНОЕ ОБРАЗОВАТЕЛЬНОЕ</a:t>
            </a:r>
            <a:endParaRPr lang="ru-RU" sz="1400" dirty="0"/>
          </a:p>
          <a:p>
            <a:r>
              <a:rPr lang="ru-RU" sz="1400" b="1" dirty="0"/>
              <a:t>УЧРЕЖДЕНИЕ ВЫСШЕГО ОБРАЗОВАНИЯ</a:t>
            </a:r>
            <a:endParaRPr lang="ru-RU" sz="1400" dirty="0"/>
          </a:p>
          <a:p>
            <a:r>
              <a:rPr lang="ru-RU" sz="1600" b="1" dirty="0"/>
              <a:t>«РОССИЙСКИЙ УНИВЕРСИТЕТ ТРАНСПОРТА»</a:t>
            </a:r>
            <a:endParaRPr lang="ru-RU" sz="1600" dirty="0"/>
          </a:p>
          <a:p>
            <a:r>
              <a:rPr lang="ru-RU" sz="1600" b="1" dirty="0" smtClean="0"/>
              <a:t>РУТ </a:t>
            </a:r>
            <a:r>
              <a:rPr lang="ru-RU" sz="1600" b="1" dirty="0"/>
              <a:t>(МИИТ)</a:t>
            </a:r>
          </a:p>
          <a:p>
            <a:endParaRPr lang="ru-RU" sz="1600" b="1" dirty="0"/>
          </a:p>
          <a:p>
            <a:r>
              <a:rPr lang="ru-RU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Институт экономики и финансов</a:t>
            </a:r>
            <a:endParaRPr lang="ru-RU" sz="18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2183"/>
            <a:ext cx="3019193" cy="6553634"/>
          </a:xfrm>
          <a:prstGeom prst="rect">
            <a:avLst/>
          </a:prstGeom>
        </p:spPr>
      </p:pic>
      <p:grpSp>
        <p:nvGrpSpPr>
          <p:cNvPr id="11" name="Group 218"/>
          <p:cNvGrpSpPr/>
          <p:nvPr/>
        </p:nvGrpSpPr>
        <p:grpSpPr>
          <a:xfrm flipV="1">
            <a:off x="0" y="1"/>
            <a:ext cx="9144000" cy="152183"/>
            <a:chOff x="76200" y="4476750"/>
            <a:chExt cx="4114800" cy="91440"/>
          </a:xfrm>
          <a:solidFill>
            <a:srgbClr val="C00000"/>
          </a:solidFill>
        </p:grpSpPr>
        <p:sp>
          <p:nvSpPr>
            <p:cNvPr id="12" name="Rectangle 214"/>
            <p:cNvSpPr/>
            <p:nvPr/>
          </p:nvSpPr>
          <p:spPr>
            <a:xfrm>
              <a:off x="1447800" y="4476750"/>
              <a:ext cx="1371600" cy="914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215"/>
            <p:cNvSpPr/>
            <p:nvPr/>
          </p:nvSpPr>
          <p:spPr>
            <a:xfrm>
              <a:off x="2819400" y="4476750"/>
              <a:ext cx="1371600" cy="914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216"/>
            <p:cNvSpPr/>
            <p:nvPr/>
          </p:nvSpPr>
          <p:spPr>
            <a:xfrm>
              <a:off x="76200" y="4476750"/>
              <a:ext cx="1371600" cy="914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Прямоугольник 14"/>
          <p:cNvSpPr/>
          <p:nvPr/>
        </p:nvSpPr>
        <p:spPr>
          <a:xfrm>
            <a:off x="3085170" y="2104515"/>
            <a:ext cx="6021659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Кафедра «Информационные системы цифровой экономики»</a:t>
            </a:r>
          </a:p>
          <a:p>
            <a:pPr algn="ctr"/>
            <a:endParaRPr lang="ru-RU" sz="2400" b="1" dirty="0">
              <a:solidFill>
                <a:srgbClr val="C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/>
            <a:r>
              <a:rPr lang="ru-RU" sz="3200" b="1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ОРГАНИЗАЦИОННОЕ СОБРАНИЕ</a:t>
            </a:r>
          </a:p>
          <a:p>
            <a:pPr algn="ctr"/>
            <a:r>
              <a:rPr lang="ru-RU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Производственная практика </a:t>
            </a:r>
          </a:p>
          <a:p>
            <a:pPr algn="ctr"/>
            <a:r>
              <a:rPr lang="ru-RU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(научно-исследовательская работа)</a:t>
            </a:r>
          </a:p>
          <a:p>
            <a:pPr algn="ctr"/>
            <a:endParaRPr lang="ru-RU" sz="2400" b="1" dirty="0">
              <a:solidFill>
                <a:schemeClr val="accent1">
                  <a:lumMod val="7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Заголовок 1"/>
          <p:cNvSpPr txBox="1">
            <a:spLocks/>
          </p:cNvSpPr>
          <p:nvPr/>
        </p:nvSpPr>
        <p:spPr>
          <a:xfrm>
            <a:off x="3149419" y="4547756"/>
            <a:ext cx="5720576" cy="4265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с </a:t>
            </a:r>
            <a:r>
              <a:rPr lang="en-US" sz="2000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0</a:t>
            </a:r>
            <a:r>
              <a:rPr lang="ru-RU" sz="2000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2.02.2026 </a:t>
            </a:r>
            <a:r>
              <a:rPr lang="ru-RU" sz="20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по </a:t>
            </a:r>
            <a:r>
              <a:rPr lang="en-US" sz="2000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0</a:t>
            </a:r>
            <a:r>
              <a:rPr lang="ru-RU" sz="2000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1.03.2026</a:t>
            </a:r>
            <a:endParaRPr lang="ru-RU" sz="2000" u="sng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9" name="Прямая соединительная линия 18"/>
          <p:cNvCxnSpPr/>
          <p:nvPr/>
        </p:nvCxnSpPr>
        <p:spPr>
          <a:xfrm flipV="1">
            <a:off x="3149419" y="1659467"/>
            <a:ext cx="5933323" cy="30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4664024" y="6295820"/>
            <a:ext cx="3086100" cy="365125"/>
          </a:xfrm>
        </p:spPr>
        <p:txBody>
          <a:bodyPr/>
          <a:lstStyle/>
          <a:p>
            <a:r>
              <a:rPr lang="ru-RU" dirty="0"/>
              <a:t>РУТ (МИИТ) II ИЭФ II ИСЦЭ II </a:t>
            </a:r>
            <a:r>
              <a:rPr lang="ru-RU" dirty="0" smtClean="0"/>
              <a:t>202</a:t>
            </a:r>
            <a:r>
              <a:rPr lang="ru-RU" dirty="0"/>
              <a:t>6</a:t>
            </a: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586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5871" y="123092"/>
            <a:ext cx="8200945" cy="1248507"/>
          </a:xfrm>
        </p:spPr>
        <p:txBody>
          <a:bodyPr>
            <a:normAutofit fontScale="90000"/>
          </a:bodyPr>
          <a:lstStyle/>
          <a:p>
            <a:r>
              <a:rPr lang="ru-RU" sz="4400" b="1" dirty="0">
                <a:solidFill>
                  <a:schemeClr val="tx1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  </a:t>
            </a:r>
            <a:r>
              <a:rPr lang="ru-RU" sz="3600" b="1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</a:rPr>
              <a:t>Цели практики</a:t>
            </a:r>
            <a:r>
              <a:rPr lang="ru-RU" sz="6000" b="1" dirty="0">
                <a:ea typeface="Open Sans" panose="020B0606030504020204" pitchFamily="34" charset="0"/>
                <a:cs typeface="Open Sans" panose="020B0606030504020204" pitchFamily="34" charset="0"/>
              </a:rPr>
              <a:t/>
            </a:r>
            <a:br>
              <a:rPr lang="ru-RU" sz="6000" b="1" dirty="0"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49943" y="1005840"/>
            <a:ext cx="8480504" cy="5182524"/>
          </a:xfrm>
        </p:spPr>
        <p:txBody>
          <a:bodyPr>
            <a:noAutofit/>
          </a:bodyPr>
          <a:lstStyle/>
          <a:p>
            <a:r>
              <a:rPr lang="ru-RU" b="1" dirty="0"/>
              <a:t>Целями </a:t>
            </a:r>
            <a:r>
              <a:rPr lang="ru-RU" dirty="0"/>
              <a:t>производственной технологической (научно-исследовательской работы) практики</a:t>
            </a:r>
          </a:p>
          <a:p>
            <a:r>
              <a:rPr lang="ru-RU" dirty="0"/>
              <a:t>являются</a:t>
            </a:r>
            <a:r>
              <a:rPr lang="ru-RU" dirty="0" smtClean="0"/>
              <a:t>:</a:t>
            </a:r>
            <a:endParaRPr lang="en-US" dirty="0" smtClean="0"/>
          </a:p>
          <a:p>
            <a:r>
              <a:rPr lang="ru-RU" sz="2000" dirty="0" smtClean="0"/>
              <a:t>-</a:t>
            </a:r>
            <a:r>
              <a:rPr lang="en-US" sz="2000" dirty="0" smtClean="0"/>
              <a:t>  </a:t>
            </a:r>
            <a:r>
              <a:rPr lang="ru-RU" sz="1800" dirty="0"/>
              <a:t>приобретение способности управлять информационными ресурсами и информационными системами; </a:t>
            </a:r>
            <a:endParaRPr lang="en-US" sz="1800" dirty="0"/>
          </a:p>
          <a:p>
            <a:pPr marL="342900" indent="-342900">
              <a:buFontTx/>
              <a:buChar char="-"/>
            </a:pPr>
            <a:r>
              <a:rPr lang="ru-RU" sz="1800" dirty="0" smtClean="0"/>
              <a:t>приобретение </a:t>
            </a:r>
            <a:r>
              <a:rPr lang="ru-RU" sz="1800" dirty="0"/>
              <a:t>способности применять современные методы и инструментальные средства прикладной информатики</a:t>
            </a:r>
            <a:r>
              <a:rPr lang="ru-RU" sz="1800" dirty="0" smtClean="0"/>
              <a:t>;</a:t>
            </a:r>
            <a:endParaRPr lang="en-US" sz="1800" dirty="0" smtClean="0"/>
          </a:p>
          <a:p>
            <a:pPr marL="342900" indent="-342900">
              <a:buFontTx/>
              <a:buChar char="-"/>
            </a:pPr>
            <a:r>
              <a:rPr lang="ru-RU" sz="1800" dirty="0" smtClean="0"/>
              <a:t> приобретение </a:t>
            </a:r>
            <a:r>
              <a:rPr lang="ru-RU" sz="1800" dirty="0"/>
              <a:t>способности проектировать архитектуру ИС предприятий и организаций</a:t>
            </a:r>
            <a:r>
              <a:rPr lang="ru-RU" sz="1800" dirty="0" smtClean="0"/>
              <a:t>;</a:t>
            </a:r>
            <a:endParaRPr lang="en-US" sz="1800" dirty="0" smtClean="0"/>
          </a:p>
          <a:p>
            <a:pPr marL="342900" indent="-342900">
              <a:buFontTx/>
              <a:buChar char="-"/>
            </a:pPr>
            <a:r>
              <a:rPr lang="ru-RU" sz="1800" dirty="0" smtClean="0"/>
              <a:t> </a:t>
            </a:r>
            <a:r>
              <a:rPr lang="ru-RU" sz="1800" dirty="0" smtClean="0"/>
              <a:t>приобретение </a:t>
            </a:r>
            <a:r>
              <a:rPr lang="ru-RU" sz="1800" dirty="0"/>
              <a:t>способности проводить расчеты окупаемости и защиту коммерческого предложения. </a:t>
            </a:r>
            <a:endParaRPr lang="en-US" sz="1800" dirty="0" smtClean="0"/>
          </a:p>
          <a:p>
            <a:pPr marL="342900" indent="-342900">
              <a:buFontTx/>
              <a:buChar char="-"/>
            </a:pPr>
            <a:r>
              <a:rPr lang="ru-RU" sz="1800" dirty="0" smtClean="0"/>
              <a:t>приобретение </a:t>
            </a:r>
            <a:r>
              <a:rPr lang="ru-RU" sz="1800" dirty="0"/>
              <a:t>способности осуществлять критический анализ проблемных ситуаций на основе системного подхода, вырабатывать стратегию действий; </a:t>
            </a:r>
            <a:endParaRPr lang="en-US" sz="1800" dirty="0" smtClean="0"/>
          </a:p>
          <a:p>
            <a:pPr marL="342900" indent="-342900">
              <a:buFontTx/>
              <a:buChar char="-"/>
            </a:pPr>
            <a:r>
              <a:rPr lang="ru-RU" sz="1800" dirty="0" smtClean="0"/>
              <a:t>освоение </a:t>
            </a:r>
            <a:r>
              <a:rPr lang="ru-RU" sz="1800" dirty="0"/>
              <a:t>магистрантами основ научно-исследовательской деятельности и овладение навыками проведения научного исследования.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D8F83D-3AE4-450D-84BD-CB643A2CFF14}" type="slidenum">
              <a:rPr lang="ru-RU" smtClean="0"/>
              <a:pPr>
                <a:defRPr/>
              </a:pPr>
              <a:t>2</a:t>
            </a:fld>
            <a:endParaRPr lang="ru-RU"/>
          </a:p>
        </p:txBody>
      </p:sp>
      <p:sp>
        <p:nvSpPr>
          <p:cNvPr id="5" name="Rectangle 213"/>
          <p:cNvSpPr/>
          <p:nvPr/>
        </p:nvSpPr>
        <p:spPr>
          <a:xfrm>
            <a:off x="69978" y="43700"/>
            <a:ext cx="374073" cy="43987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213"/>
          <p:cNvSpPr/>
          <p:nvPr/>
        </p:nvSpPr>
        <p:spPr>
          <a:xfrm rot="5400000">
            <a:off x="301062" y="234697"/>
            <a:ext cx="439877" cy="5788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1372E04B-8E9C-C82F-781E-C5FDF6E211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7856" y="164705"/>
            <a:ext cx="2709493" cy="49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06536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5871" y="123092"/>
            <a:ext cx="8200945" cy="1248507"/>
          </a:xfrm>
        </p:spPr>
        <p:txBody>
          <a:bodyPr>
            <a:normAutofit fontScale="90000"/>
          </a:bodyPr>
          <a:lstStyle/>
          <a:p>
            <a:r>
              <a:rPr lang="ru-RU" sz="4400" b="1" dirty="0">
                <a:solidFill>
                  <a:schemeClr val="tx1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  </a:t>
            </a:r>
            <a:r>
              <a:rPr lang="ru-RU" sz="3600" b="1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</a:rPr>
              <a:t>Задачи практики</a:t>
            </a:r>
            <a:r>
              <a:rPr lang="ru-RU" sz="6000" b="1" dirty="0">
                <a:ea typeface="Open Sans" panose="020B0606030504020204" pitchFamily="34" charset="0"/>
                <a:cs typeface="Open Sans" panose="020B0606030504020204" pitchFamily="34" charset="0"/>
              </a:rPr>
              <a:t/>
            </a:r>
            <a:br>
              <a:rPr lang="ru-RU" sz="6000" b="1" dirty="0"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9977" y="562968"/>
            <a:ext cx="8933345" cy="6295031"/>
          </a:xfrm>
        </p:spPr>
        <p:txBody>
          <a:bodyPr>
            <a:noAutofit/>
          </a:bodyPr>
          <a:lstStyle/>
          <a:p>
            <a:pPr indent="450215" algn="just">
              <a:lnSpc>
                <a:spcPct val="100000"/>
              </a:lnSpc>
              <a:spcAft>
                <a:spcPts val="800"/>
              </a:spcAft>
            </a:pPr>
            <a:endParaRPr lang="ru-RU" dirty="0" smtClean="0"/>
          </a:p>
          <a:p>
            <a:pPr indent="450215" algn="just">
              <a:lnSpc>
                <a:spcPct val="100000"/>
              </a:lnSpc>
              <a:spcAft>
                <a:spcPts val="800"/>
              </a:spcAft>
            </a:pPr>
            <a:r>
              <a:rPr lang="ru-RU" dirty="0" smtClean="0"/>
              <a:t>Задачами </a:t>
            </a:r>
            <a:r>
              <a:rPr lang="ru-RU" dirty="0"/>
              <a:t>производственной практики (Научно-исследовательской работы)являются:</a:t>
            </a: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  <a:buFontTx/>
              <a:buChar char="-"/>
            </a:pPr>
            <a:r>
              <a:rPr lang="ru-RU" sz="2000" dirty="0"/>
              <a:t>приобретение практических профессиональных навыков и компетенций, опыта самостоятельной научной работы; </a:t>
            </a: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  <a:buFontTx/>
              <a:buChar char="-"/>
            </a:pPr>
            <a:r>
              <a:rPr lang="ru-RU" sz="2000" dirty="0"/>
              <a:t> формирование основных навыков ведения научного исследования; </a:t>
            </a: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  <a:buFontTx/>
              <a:buChar char="-"/>
            </a:pPr>
            <a:r>
              <a:rPr lang="ru-RU" sz="2000" dirty="0"/>
              <a:t>формирование умений и навыков организации процесса исследования и анализа его результатов; </a:t>
            </a: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  <a:buFontTx/>
              <a:buChar char="-"/>
            </a:pPr>
            <a:r>
              <a:rPr lang="ru-RU" sz="2000" dirty="0"/>
              <a:t>привитие навыков самообразования и самосовершенствования, содействие активизации научно-исследовательской деятельности; </a:t>
            </a: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  <a:buFontTx/>
              <a:buChar char="-"/>
            </a:pPr>
            <a:r>
              <a:rPr lang="ru-RU" sz="2000" dirty="0"/>
              <a:t>закрепление практических навыков использования результатов исследований для разработки и совершенствования методов управления процессами посредством разработки и внедрения ИТ-решений; </a:t>
            </a: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  <a:buFontTx/>
              <a:buChar char="-"/>
            </a:pPr>
            <a:r>
              <a:rPr lang="ru-RU" sz="2000" dirty="0"/>
              <a:t>формирование выводов по результатам выполненной работы и составление отчета о прохождении практики.</a:t>
            </a:r>
          </a:p>
          <a:p>
            <a:pPr indent="457200" algn="just">
              <a:lnSpc>
                <a:spcPct val="100000"/>
              </a:lnSpc>
              <a:spcBef>
                <a:spcPts val="0"/>
              </a:spcBef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D8F83D-3AE4-450D-84BD-CB643A2CFF14}" type="slidenum">
              <a:rPr lang="ru-RU" smtClean="0"/>
              <a:pPr>
                <a:defRPr/>
              </a:pPr>
              <a:t>3</a:t>
            </a:fld>
            <a:endParaRPr lang="ru-RU"/>
          </a:p>
        </p:txBody>
      </p:sp>
      <p:sp>
        <p:nvSpPr>
          <p:cNvPr id="5" name="Rectangle 213"/>
          <p:cNvSpPr/>
          <p:nvPr/>
        </p:nvSpPr>
        <p:spPr>
          <a:xfrm>
            <a:off x="69978" y="43700"/>
            <a:ext cx="374073" cy="43987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213"/>
          <p:cNvSpPr/>
          <p:nvPr/>
        </p:nvSpPr>
        <p:spPr>
          <a:xfrm rot="5400000">
            <a:off x="301062" y="234697"/>
            <a:ext cx="439877" cy="5788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1372E04B-8E9C-C82F-781E-C5FDF6E211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4236" y="123092"/>
            <a:ext cx="2709493" cy="49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400399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83"/>
          <p:cNvSpPr txBox="1">
            <a:spLocks/>
          </p:cNvSpPr>
          <p:nvPr/>
        </p:nvSpPr>
        <p:spPr>
          <a:xfrm>
            <a:off x="2412207" y="549275"/>
            <a:ext cx="5804297" cy="172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solidFill>
                  <a:srgbClr val="A7A7A7"/>
                </a:solidFill>
              </a:defRPr>
            </a:lvl1pPr>
          </a:lstStyle>
          <a:p>
            <a:pPr>
              <a:defRPr/>
            </a:pPr>
            <a:endParaRPr lang="ru-RU" sz="2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Содержимое 15"/>
          <p:cNvSpPr txBox="1">
            <a:spLocks/>
          </p:cNvSpPr>
          <p:nvPr/>
        </p:nvSpPr>
        <p:spPr>
          <a:xfrm>
            <a:off x="313135" y="887414"/>
            <a:ext cx="8372475" cy="5265737"/>
          </a:xfrm>
          <a:prstGeom prst="rect">
            <a:avLst/>
          </a:prstGeom>
        </p:spPr>
        <p:txBody>
          <a:bodyPr/>
          <a:lstStyle/>
          <a:p>
            <a:pPr marL="457200" indent="-457200">
              <a:lnSpc>
                <a:spcPts val="2500"/>
              </a:lnSpc>
              <a:buFont typeface="Wingdings" panose="05000000000000000000" pitchFamily="2" charset="2"/>
              <a:buChar char="Ø"/>
              <a:defRPr/>
            </a:pPr>
            <a:endParaRPr lang="ru-RU" sz="26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213"/>
          <p:cNvSpPr/>
          <p:nvPr/>
        </p:nvSpPr>
        <p:spPr>
          <a:xfrm>
            <a:off x="0" y="573575"/>
            <a:ext cx="374073" cy="31383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213"/>
          <p:cNvSpPr/>
          <p:nvPr/>
        </p:nvSpPr>
        <p:spPr>
          <a:xfrm rot="5400000">
            <a:off x="302276" y="701377"/>
            <a:ext cx="313839" cy="5823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Прямоугольник 18"/>
          <p:cNvSpPr/>
          <p:nvPr/>
        </p:nvSpPr>
        <p:spPr>
          <a:xfrm>
            <a:off x="488316" y="573577"/>
            <a:ext cx="6957557" cy="68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0000"/>
              </a:lnSpc>
            </a:pPr>
            <a:r>
              <a:rPr lang="ru-RU" sz="2400" b="1" dirty="0"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</a:rPr>
              <a:t>Рабочий график (план) </a:t>
            </a:r>
            <a:endParaRPr lang="ru-RU" sz="2400" b="1" dirty="0" smtClean="0">
              <a:latin typeface="Segoe UI Black" panose="020B0A02040204020203" pitchFamily="34" charset="0"/>
              <a:ea typeface="Segoe UI Black" panose="020B0A02040204020203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80000"/>
              </a:lnSpc>
            </a:pPr>
            <a:r>
              <a:rPr lang="ru-RU" sz="2400" b="1" dirty="0" smtClean="0"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</a:rPr>
              <a:t>прохождения </a:t>
            </a:r>
            <a:r>
              <a:rPr lang="ru-RU" sz="2400" b="1" dirty="0"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</a:rPr>
              <a:t>практики</a:t>
            </a:r>
            <a:endParaRPr lang="ru-RU" sz="2400" dirty="0">
              <a:latin typeface="Segoe UI Black" panose="020B0A02040204020203" pitchFamily="34" charset="0"/>
              <a:ea typeface="Segoe UI Black" panose="020B0A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D8F83D-3AE4-450D-84BD-CB643A2CFF14}" type="slidenum">
              <a:rPr lang="ru-RU" smtClean="0"/>
              <a:pPr>
                <a:defRPr/>
              </a:pPr>
              <a:t>4</a:t>
            </a:fld>
            <a:endParaRPr lang="ru-RU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584054"/>
              </p:ext>
            </p:extLst>
          </p:nvPr>
        </p:nvGraphicFramePr>
        <p:xfrm>
          <a:off x="282755" y="1410845"/>
          <a:ext cx="8385757" cy="460760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5936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8446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0768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425735"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>
                          <a:effectLst/>
                          <a:latin typeface="Segoe UI" panose="020B0502040204020203" pitchFamily="34" charset="0"/>
                          <a:ea typeface="Segoe UI Emoji" panose="020B0502040204020203" pitchFamily="34" charset="0"/>
                          <a:cs typeface="Segoe UI" panose="020B0502040204020203" pitchFamily="34" charset="0"/>
                        </a:rPr>
                        <a:t>Вид рабочей деятельности обучающегося</a:t>
                      </a:r>
                      <a:endParaRPr lang="ru-RU" sz="3200" b="1" dirty="0">
                        <a:effectLst/>
                        <a:latin typeface="Segoe UI" panose="020B0502040204020203" pitchFamily="34" charset="0"/>
                        <a:ea typeface="Segoe UI Emoj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>
                          <a:effectLst/>
                          <a:latin typeface="Segoe UI" panose="020B0502040204020203" pitchFamily="34" charset="0"/>
                          <a:ea typeface="Segoe UI Emoji" panose="020B0502040204020203" pitchFamily="34" charset="0"/>
                          <a:cs typeface="Segoe UI" panose="020B0502040204020203" pitchFamily="34" charset="0"/>
                        </a:rPr>
                        <a:t>Сроки</a:t>
                      </a:r>
                      <a:endParaRPr lang="ru-RU" sz="3200" b="1" dirty="0">
                        <a:effectLst/>
                        <a:latin typeface="Segoe UI" panose="020B0502040204020203" pitchFamily="34" charset="0"/>
                        <a:ea typeface="Segoe UI Emoj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Segoe UI" panose="020B0502040204020203" pitchFamily="34" charset="0"/>
                          <a:ea typeface="Segoe UI Emoji" panose="020B0502040204020203" pitchFamily="34" charset="0"/>
                          <a:cs typeface="Segoe UI" panose="020B0502040204020203" pitchFamily="34" charset="0"/>
                        </a:rPr>
                        <a:t>Освоенные компетенции в соответствии с рабочей программой практики</a:t>
                      </a:r>
                      <a:endParaRPr lang="ru-RU" sz="3200" b="1" dirty="0">
                        <a:effectLst/>
                        <a:latin typeface="Segoe UI" panose="020B0502040204020203" pitchFamily="34" charset="0"/>
                        <a:ea typeface="Segoe UI Emoj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Segoe UI Emoji" panose="020B0502040204020203" pitchFamily="34" charset="0"/>
                          <a:cs typeface="Segoe UI" panose="020B0502040204020203" pitchFamily="34" charset="0"/>
                        </a:rPr>
                        <a:t>Оформление на практику (формулировка задания по практике).</a:t>
                      </a:r>
                      <a:endParaRPr lang="ru-RU" sz="2400" dirty="0">
                        <a:effectLst/>
                        <a:latin typeface="Segoe UI" panose="020B0502040204020203" pitchFamily="34" charset="0"/>
                        <a:ea typeface="Segoe UI Emoj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Segoe UI Emoji" panose="020B0502040204020203" pitchFamily="34" charset="0"/>
                          <a:cs typeface="Segoe UI" panose="020B0502040204020203" pitchFamily="34" charset="0"/>
                        </a:rPr>
                        <a:t>Знакомство со спецификой проблемы, поставленной в индивидуальном задании, целью и задачами исследования, определение необходимых источников информации.</a:t>
                      </a:r>
                      <a:endParaRPr lang="ru-RU" sz="2400" dirty="0">
                        <a:effectLst/>
                        <a:latin typeface="Segoe UI" panose="020B0502040204020203" pitchFamily="34" charset="0"/>
                        <a:ea typeface="Segoe UI Emoj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 smtClean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Segoe UI Emoji" panose="020B0502040204020203" pitchFamily="34" charset="0"/>
                          <a:cs typeface="Segoe UI" panose="020B0502040204020203" pitchFamily="34" charset="0"/>
                        </a:rPr>
                        <a:t>02.02.26-06.02.26</a:t>
                      </a:r>
                      <a:endParaRPr lang="ru-RU" sz="1400" kern="120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Segoe UI Emoj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 rowSpan="4"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  <a:spcAft>
                          <a:spcPts val="0"/>
                        </a:spcAft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Segoe UI Emoji" panose="020B0502040204020203" pitchFamily="34" charset="0"/>
                          <a:cs typeface="Segoe UI" panose="020B0502040204020203" pitchFamily="34" charset="0"/>
                        </a:rPr>
                        <a:t>ПК-1-ПК-5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43748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Segoe UI Emoji" panose="020B0502040204020203" pitchFamily="34" charset="0"/>
                          <a:cs typeface="Segoe UI" panose="020B0502040204020203" pitchFamily="34" charset="0"/>
                        </a:rPr>
                        <a:t>Осуществление действий, связанных с выполнением индивидуального задания по практике в части сбора необходимых данных</a:t>
                      </a:r>
                      <a:endParaRPr lang="ru-RU" sz="2400" dirty="0">
                        <a:effectLst/>
                        <a:latin typeface="Segoe UI" panose="020B0502040204020203" pitchFamily="34" charset="0"/>
                        <a:ea typeface="Segoe UI Emoj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 smtClean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Segoe UI Emoji" panose="020B0502040204020203" pitchFamily="34" charset="0"/>
                          <a:cs typeface="Segoe UI" panose="020B0502040204020203" pitchFamily="34" charset="0"/>
                        </a:rPr>
                        <a:t>07.02.26-16.02.26</a:t>
                      </a:r>
                      <a:endParaRPr lang="ru-RU" sz="1400" kern="120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Segoe UI Emoj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963072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Segoe UI Emoji" panose="020B0502040204020203" pitchFamily="34" charset="0"/>
                          <a:cs typeface="Segoe UI" panose="020B0502040204020203" pitchFamily="34" charset="0"/>
                        </a:rPr>
                        <a:t>Систематизация и обработка полученных данных, анализ полученной информации, выявление проблем и недостатков по вопросам изученного материала, разработка рекомендаций по совершенствованию выявленных проблем.</a:t>
                      </a:r>
                      <a:endParaRPr lang="ru-RU" sz="2400" dirty="0">
                        <a:effectLst/>
                        <a:latin typeface="Segoe UI" panose="020B0502040204020203" pitchFamily="34" charset="0"/>
                        <a:ea typeface="Segoe UI Emoj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 smtClean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Segoe UI Emoji" panose="020B0502040204020203" pitchFamily="34" charset="0"/>
                          <a:cs typeface="Segoe UI" panose="020B0502040204020203" pitchFamily="34" charset="0"/>
                        </a:rPr>
                        <a:t>17.02.26-25.02.26</a:t>
                      </a:r>
                      <a:endParaRPr lang="ru-RU" sz="1400" kern="120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Segoe UI Emoj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63993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Segoe UI Emoji" panose="020B0502040204020203" pitchFamily="34" charset="0"/>
                          <a:cs typeface="Segoe UI" panose="020B0502040204020203" pitchFamily="34" charset="0"/>
                        </a:rPr>
                        <a:t>Подготовка отчета по практике и его защита. </a:t>
                      </a:r>
                      <a:endParaRPr lang="ru-RU" sz="2400" dirty="0">
                        <a:effectLst/>
                        <a:latin typeface="Segoe UI" panose="020B0502040204020203" pitchFamily="34" charset="0"/>
                        <a:ea typeface="Segoe UI Emoj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 smtClean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Segoe UI Emoji" panose="020B0502040204020203" pitchFamily="34" charset="0"/>
                          <a:cs typeface="Segoe UI" panose="020B0502040204020203" pitchFamily="34" charset="0"/>
                        </a:rPr>
                        <a:t>26.02.26-01.03.26</a:t>
                      </a:r>
                      <a:endParaRPr lang="ru-RU" sz="1400" kern="120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Segoe UI Emoj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pic>
        <p:nvPicPr>
          <p:cNvPr id="13" name="Рисунок 12">
            <a:extLst>
              <a:ext uri="{FF2B5EF4-FFF2-40B4-BE49-F238E27FC236}">
                <a16:creationId xmlns:a16="http://schemas.microsoft.com/office/drawing/2014/main" xmlns="" id="{1372E04B-8E9C-C82F-781E-C5FDF6E21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2120" y="411257"/>
            <a:ext cx="2709493" cy="49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38408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83"/>
          <p:cNvSpPr txBox="1">
            <a:spLocks/>
          </p:cNvSpPr>
          <p:nvPr/>
        </p:nvSpPr>
        <p:spPr>
          <a:xfrm>
            <a:off x="2412207" y="549275"/>
            <a:ext cx="5804297" cy="172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solidFill>
                  <a:srgbClr val="A7A7A7"/>
                </a:solidFill>
              </a:defRPr>
            </a:lvl1pPr>
          </a:lstStyle>
          <a:p>
            <a:pPr>
              <a:defRPr/>
            </a:pPr>
            <a:endParaRPr lang="ru-RU" sz="2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Содержимое 15"/>
          <p:cNvSpPr txBox="1">
            <a:spLocks/>
          </p:cNvSpPr>
          <p:nvPr/>
        </p:nvSpPr>
        <p:spPr>
          <a:xfrm>
            <a:off x="313135" y="887414"/>
            <a:ext cx="8372475" cy="5265737"/>
          </a:xfrm>
          <a:prstGeom prst="rect">
            <a:avLst/>
          </a:prstGeom>
        </p:spPr>
        <p:txBody>
          <a:bodyPr/>
          <a:lstStyle/>
          <a:p>
            <a:pPr marL="457200" indent="-457200">
              <a:lnSpc>
                <a:spcPts val="2500"/>
              </a:lnSpc>
              <a:buFont typeface="Wingdings" panose="05000000000000000000" pitchFamily="2" charset="2"/>
              <a:buChar char="Ø"/>
              <a:defRPr/>
            </a:pPr>
            <a:endParaRPr lang="ru-RU" sz="26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213"/>
          <p:cNvSpPr/>
          <p:nvPr/>
        </p:nvSpPr>
        <p:spPr>
          <a:xfrm>
            <a:off x="4835" y="215514"/>
            <a:ext cx="374073" cy="61641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213"/>
          <p:cNvSpPr/>
          <p:nvPr/>
        </p:nvSpPr>
        <p:spPr>
          <a:xfrm rot="5400000">
            <a:off x="150988" y="507998"/>
            <a:ext cx="616413" cy="582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Прямоугольник 18"/>
          <p:cNvSpPr/>
          <p:nvPr/>
        </p:nvSpPr>
        <p:spPr>
          <a:xfrm>
            <a:off x="459195" y="191798"/>
            <a:ext cx="7088141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0000"/>
              </a:lnSpc>
            </a:pPr>
            <a:r>
              <a:rPr lang="ru-RU" sz="2400" b="1" dirty="0"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</a:rPr>
              <a:t>Перечень планируемых </a:t>
            </a:r>
            <a:endParaRPr lang="ru-RU" sz="2400" b="1" dirty="0" smtClean="0">
              <a:latin typeface="Segoe UI Black" panose="020B0A02040204020203" pitchFamily="34" charset="0"/>
              <a:ea typeface="Segoe UI Black" panose="020B0A02040204020203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80000"/>
              </a:lnSpc>
            </a:pPr>
            <a:r>
              <a:rPr lang="ru-RU" sz="2400" b="1" dirty="0" smtClean="0"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</a:rPr>
              <a:t>результатов </a:t>
            </a:r>
            <a:r>
              <a:rPr lang="ru-RU" sz="2400" b="1" dirty="0"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</a:rPr>
              <a:t>обучения </a:t>
            </a:r>
          </a:p>
          <a:p>
            <a:pPr lvl="0">
              <a:lnSpc>
                <a:spcPct val="80000"/>
              </a:lnSpc>
            </a:pPr>
            <a:r>
              <a:rPr lang="ru-RU" sz="2400" b="1" dirty="0"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</a:rPr>
              <a:t>при прохождении практики:</a:t>
            </a:r>
            <a:endParaRPr lang="ru-RU" sz="2400" dirty="0">
              <a:latin typeface="Segoe UI Black" panose="020B0A02040204020203" pitchFamily="34" charset="0"/>
              <a:ea typeface="Segoe UI Black" panose="020B0A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D8F83D-3AE4-450D-84BD-CB643A2CFF14}" type="slidenum">
              <a:rPr lang="ru-RU" smtClean="0"/>
              <a:pPr>
                <a:defRPr/>
              </a:pPr>
              <a:t>5</a:t>
            </a:fld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649224" y="1453317"/>
            <a:ext cx="7567280" cy="41670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ru-RU" sz="16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ПК-1</a:t>
            </a:r>
            <a:r>
              <a:rPr lang="ru-RU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- Способен управлять информационными ресурсами и информационными системами;</a:t>
            </a: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ru-RU" sz="16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ПК-2</a:t>
            </a:r>
            <a:r>
              <a:rPr lang="ru-RU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- Способен применять современные методы и инструментальные средства прикладной информатики для автоматизации и информатизации решения прикладных задач различных классов и создания ИС ;</a:t>
            </a: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ru-RU" sz="16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ПК-3</a:t>
            </a:r>
            <a:r>
              <a:rPr lang="ru-RU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- Способен проектировать архитектуру ИС предприятий и организаций и принимать эффективные проектные решения в условиях неопределенности и риска;</a:t>
            </a: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ru-RU" sz="16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ПК-4</a:t>
            </a:r>
            <a:r>
              <a:rPr lang="ru-RU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- Способен проектировать информационные процессы, включая распределение заданий и ресурсов, и системы с использованием инновационных инструментальных средств, координирует и стимулирует выполнение заданий;</a:t>
            </a: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ru-RU" sz="16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ПК-5</a:t>
            </a:r>
            <a:r>
              <a:rPr lang="ru-RU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- Способен определять потребности потенциальных клиентов и разрабатывать концепции системы, проводить расчеты окупаемости и защиту коммерческого предложения.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xmlns="" id="{1372E04B-8E9C-C82F-781E-C5FDF6E21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2589" y="218807"/>
            <a:ext cx="2709493" cy="49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75572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одержимое 15"/>
          <p:cNvSpPr txBox="1">
            <a:spLocks/>
          </p:cNvSpPr>
          <p:nvPr/>
        </p:nvSpPr>
        <p:spPr>
          <a:xfrm>
            <a:off x="488314" y="1500914"/>
            <a:ext cx="8455059" cy="2237368"/>
          </a:xfrm>
          <a:prstGeom prst="rect">
            <a:avLst/>
          </a:prstGeom>
        </p:spPr>
        <p:txBody>
          <a:bodyPr/>
          <a:lstStyle/>
          <a:p>
            <a:r>
              <a:rPr lang="ru-RU" sz="2800" dirty="0">
                <a:latin typeface="Segoe UI" panose="020B0502040204020203" pitchFamily="34" charset="0"/>
                <a:cs typeface="Segoe UI" panose="020B0502040204020203" pitchFamily="34" charset="0"/>
              </a:rPr>
              <a:t>Отправить отчеты и презентации</a:t>
            </a:r>
          </a:p>
          <a:p>
            <a:endParaRPr lang="ru-RU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u-RU" sz="2800" dirty="0">
                <a:latin typeface="Segoe UI" panose="020B0502040204020203" pitchFamily="34" charset="0"/>
                <a:cs typeface="Segoe UI" panose="020B0502040204020203" pitchFamily="34" charset="0"/>
              </a:rPr>
              <a:t>в личные сообщения в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MS Teams</a:t>
            </a:r>
            <a:r>
              <a:rPr lang="ru-RU" sz="2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US" sz="2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u-RU" sz="2800" dirty="0">
                <a:latin typeface="Segoe UI" panose="020B0502040204020203" pitchFamily="34" charset="0"/>
                <a:cs typeface="Segoe UI" panose="020B0502040204020203" pitchFamily="34" charset="0"/>
              </a:rPr>
              <a:t>на почту </a:t>
            </a:r>
            <a:r>
              <a:rPr lang="en-US" sz="2800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lebedeva</a:t>
            </a:r>
            <a:r>
              <a:rPr lang="ru-RU" sz="2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  <a:r>
              <a:rPr lang="en-US" sz="2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sl@rut-miit.ru</a:t>
            </a:r>
            <a:r>
              <a:rPr lang="ru-RU" sz="2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endParaRPr lang="ru-RU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u-RU" sz="2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Имя </a:t>
            </a:r>
            <a:r>
              <a:rPr lang="ru-RU" sz="2800" dirty="0">
                <a:latin typeface="Segoe UI" panose="020B0502040204020203" pitchFamily="34" charset="0"/>
                <a:cs typeface="Segoe UI" panose="020B0502040204020203" pitchFamily="34" charset="0"/>
              </a:rPr>
              <a:t>файла «</a:t>
            </a:r>
            <a:r>
              <a:rPr lang="ru-RU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Фамилия_Очет</a:t>
            </a:r>
            <a:r>
              <a:rPr lang="ru-RU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ru-RU" sz="2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НИР_2</a:t>
            </a:r>
            <a:r>
              <a:rPr lang="en-US" sz="2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6</a:t>
            </a:r>
            <a:r>
              <a:rPr lang="ru-RU" sz="2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»</a:t>
            </a:r>
            <a:endParaRPr lang="ru-RU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ru-RU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u-RU" sz="2800" dirty="0">
                <a:latin typeface="Segoe UI" panose="020B0502040204020203" pitchFamily="34" charset="0"/>
                <a:cs typeface="Segoe UI" panose="020B0502040204020203" pitchFamily="34" charset="0"/>
              </a:rPr>
              <a:t>Имя файла «</a:t>
            </a:r>
            <a:r>
              <a:rPr lang="ru-RU" sz="2800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Фамилия_Презентация</a:t>
            </a:r>
            <a:r>
              <a:rPr lang="ru-RU" sz="2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 Отчет НИР_2</a:t>
            </a:r>
            <a:r>
              <a:rPr lang="en-US" sz="2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6</a:t>
            </a:r>
            <a:r>
              <a:rPr lang="ru-RU" sz="2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»</a:t>
            </a:r>
            <a:endParaRPr lang="ru-RU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ru-RU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Rectangle 213"/>
          <p:cNvSpPr/>
          <p:nvPr/>
        </p:nvSpPr>
        <p:spPr>
          <a:xfrm>
            <a:off x="0" y="500068"/>
            <a:ext cx="374073" cy="54218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213"/>
          <p:cNvSpPr/>
          <p:nvPr/>
        </p:nvSpPr>
        <p:spPr>
          <a:xfrm rot="5400000">
            <a:off x="188101" y="742044"/>
            <a:ext cx="542188" cy="582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Прямоугольник 18"/>
          <p:cNvSpPr/>
          <p:nvPr/>
        </p:nvSpPr>
        <p:spPr>
          <a:xfrm>
            <a:off x="488316" y="528020"/>
            <a:ext cx="7088141" cy="4961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0000"/>
              </a:lnSpc>
            </a:pPr>
            <a:r>
              <a:rPr lang="ru-RU" sz="3200" b="1" dirty="0"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</a:rPr>
              <a:t>Отчеты и презентации</a:t>
            </a:r>
            <a:endParaRPr lang="ru-RU" sz="3200" dirty="0">
              <a:latin typeface="Segoe UI Black" panose="020B0A02040204020203" pitchFamily="34" charset="0"/>
              <a:ea typeface="Segoe UI Black" panose="020B0A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D8F83D-3AE4-450D-84BD-CB643A2CFF14}" type="slidenum">
              <a:rPr lang="ru-RU" smtClean="0"/>
              <a:pPr>
                <a:defRPr/>
              </a:pPr>
              <a:t>6</a:t>
            </a:fld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1372E04B-8E9C-C82F-781E-C5FDF6E21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710" y="220143"/>
            <a:ext cx="2709493" cy="49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99189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83"/>
          <p:cNvSpPr txBox="1">
            <a:spLocks/>
          </p:cNvSpPr>
          <p:nvPr/>
        </p:nvSpPr>
        <p:spPr>
          <a:xfrm>
            <a:off x="2412207" y="549275"/>
            <a:ext cx="5804297" cy="172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solidFill>
                  <a:srgbClr val="A7A7A7"/>
                </a:solidFill>
              </a:defRPr>
            </a:lvl1pPr>
          </a:lstStyle>
          <a:p>
            <a:pPr>
              <a:defRPr/>
            </a:pPr>
            <a:endParaRPr lang="ru-RU" sz="2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Содержимое 15"/>
          <p:cNvSpPr txBox="1">
            <a:spLocks/>
          </p:cNvSpPr>
          <p:nvPr/>
        </p:nvSpPr>
        <p:spPr>
          <a:xfrm>
            <a:off x="313135" y="887414"/>
            <a:ext cx="8372475" cy="5265737"/>
          </a:xfrm>
          <a:prstGeom prst="rect">
            <a:avLst/>
          </a:prstGeom>
        </p:spPr>
        <p:txBody>
          <a:bodyPr/>
          <a:lstStyle/>
          <a:p>
            <a:pPr marL="457200" indent="-457200">
              <a:lnSpc>
                <a:spcPts val="2500"/>
              </a:lnSpc>
              <a:buFont typeface="Wingdings" panose="05000000000000000000" pitchFamily="2" charset="2"/>
              <a:buChar char="Ø"/>
              <a:defRPr/>
            </a:pPr>
            <a:endParaRPr lang="ru-RU" sz="26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213"/>
          <p:cNvSpPr/>
          <p:nvPr/>
        </p:nvSpPr>
        <p:spPr>
          <a:xfrm>
            <a:off x="0" y="150171"/>
            <a:ext cx="374073" cy="63244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213"/>
          <p:cNvSpPr/>
          <p:nvPr/>
        </p:nvSpPr>
        <p:spPr>
          <a:xfrm rot="5400000">
            <a:off x="136710" y="443536"/>
            <a:ext cx="63244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Прямоугольник 18"/>
          <p:cNvSpPr/>
          <p:nvPr/>
        </p:nvSpPr>
        <p:spPr>
          <a:xfrm>
            <a:off x="452934" y="64756"/>
            <a:ext cx="6957557" cy="8802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0000"/>
              </a:lnSpc>
            </a:pPr>
            <a:r>
              <a:rPr lang="ru-RU" sz="3200" b="1" dirty="0" smtClean="0"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</a:rPr>
              <a:t>Индивидуальное</a:t>
            </a:r>
          </a:p>
          <a:p>
            <a:pPr lvl="0">
              <a:lnSpc>
                <a:spcPct val="80000"/>
              </a:lnSpc>
            </a:pPr>
            <a:r>
              <a:rPr lang="ru-RU" sz="3200" b="1" dirty="0" smtClean="0"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</a:rPr>
              <a:t> </a:t>
            </a:r>
            <a:r>
              <a:rPr lang="ru-RU" sz="3200" b="1" dirty="0"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</a:rPr>
              <a:t>задание по практике</a:t>
            </a:r>
            <a:endParaRPr lang="ru-RU" sz="3200" dirty="0">
              <a:latin typeface="Segoe UI Black" panose="020B0A02040204020203" pitchFamily="34" charset="0"/>
              <a:ea typeface="Segoe UI Black" panose="020B0A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D8F83D-3AE4-450D-84BD-CB643A2CFF14}" type="slidenum">
              <a:rPr lang="ru-RU" smtClean="0"/>
              <a:pPr>
                <a:defRPr/>
              </a:pPr>
              <a:t>7</a:t>
            </a:fld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475794" y="1001170"/>
            <a:ext cx="8550179" cy="5563577"/>
          </a:xfrm>
          <a:prstGeom prst="rect">
            <a:avLst/>
          </a:prstGeom>
        </p:spPr>
        <p:txBody>
          <a:bodyPr/>
          <a:lstStyle/>
          <a:p>
            <a:pPr lvl="0" algn="just">
              <a:spcAft>
                <a:spcPts val="600"/>
              </a:spcAft>
            </a:pPr>
            <a:r>
              <a:rPr lang="ru-RU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Индивидуальное задание.</a:t>
            </a:r>
            <a:endParaRPr lang="ru-RU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 algn="just">
              <a:spcAft>
                <a:spcPts val="600"/>
              </a:spcAft>
            </a:pPr>
            <a:r>
              <a:rPr lang="ru-RU" sz="2000" b="1" u="sng" dirty="0">
                <a:latin typeface="Segoe UI" panose="020B0502040204020203" pitchFamily="34" charset="0"/>
                <a:cs typeface="Segoe UI" panose="020B0502040204020203" pitchFamily="34" charset="0"/>
              </a:rPr>
              <a:t>Описание задания:</a:t>
            </a:r>
          </a:p>
          <a:p>
            <a:pPr lvl="0" algn="just">
              <a:spcAft>
                <a:spcPts val="600"/>
              </a:spcAft>
              <a:buFont typeface="+mj-lt"/>
              <a:buAutoNum type="arabicPeriod"/>
            </a:pPr>
            <a:r>
              <a:rPr lang="ru-RU" sz="2000" dirty="0">
                <a:latin typeface="Segoe UI" panose="020B0502040204020203" pitchFamily="34" charset="0"/>
                <a:cs typeface="Segoe UI" panose="020B0502040204020203" pitchFamily="34" charset="0"/>
              </a:rPr>
              <a:t>Сформировать отчет по практике объемом от 15–20 страниц.</a:t>
            </a:r>
          </a:p>
          <a:p>
            <a:pPr lvl="0" algn="just">
              <a:spcAft>
                <a:spcPts val="600"/>
              </a:spcAft>
              <a:buFont typeface="+mj-lt"/>
              <a:buAutoNum type="arabicPeriod"/>
            </a:pPr>
            <a:r>
              <a:rPr lang="ru-RU" sz="2000" dirty="0">
                <a:latin typeface="Segoe UI" panose="020B0502040204020203" pitchFamily="34" charset="0"/>
                <a:cs typeface="Segoe UI" panose="020B0502040204020203" pitchFamily="34" charset="0"/>
              </a:rPr>
              <a:t>В отчете выполнить индивидуальное задание, сделать соответствующие выводы. </a:t>
            </a:r>
            <a:r>
              <a:rPr lang="ru-RU" sz="20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Во введении обязательно указать, место прохождения практики (должно соответствовать приказу по практике), а в качестве объекта исследования указать организацию, по которой пишется отчет.</a:t>
            </a:r>
          </a:p>
          <a:p>
            <a:pPr lvl="0" algn="just">
              <a:spcAft>
                <a:spcPts val="600"/>
              </a:spcAft>
              <a:buFont typeface="+mj-lt"/>
              <a:buAutoNum type="arabicPeriod"/>
            </a:pPr>
            <a:r>
              <a:rPr lang="ru-RU" sz="2000" dirty="0">
                <a:latin typeface="Segoe UI" panose="020B0502040204020203" pitchFamily="34" charset="0"/>
                <a:cs typeface="Segoe UI" panose="020B0502040204020203" pitchFamily="34" charset="0"/>
              </a:rPr>
              <a:t>Оформить отчет в соответствии с требованиями.</a:t>
            </a:r>
          </a:p>
          <a:p>
            <a:pPr lvl="0" algn="just">
              <a:spcAft>
                <a:spcPts val="600"/>
              </a:spcAft>
              <a:buFont typeface="+mj-lt"/>
              <a:buAutoNum type="arabicPeriod"/>
            </a:pPr>
            <a:r>
              <a:rPr lang="ru-RU" sz="2000" dirty="0">
                <a:latin typeface="Segoe UI" panose="020B0502040204020203" pitchFamily="34" charset="0"/>
                <a:cs typeface="Segoe UI" panose="020B0502040204020203" pitchFamily="34" charset="0"/>
              </a:rPr>
              <a:t>Оформить презентацию </a:t>
            </a:r>
            <a:r>
              <a:rPr lang="ru-RU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PowerPoint</a:t>
            </a:r>
            <a:r>
              <a:rPr lang="ru-RU" sz="2000" dirty="0">
                <a:latin typeface="Segoe UI" panose="020B0502040204020203" pitchFamily="34" charset="0"/>
                <a:cs typeface="Segoe UI" panose="020B0502040204020203" pitchFamily="34" charset="0"/>
              </a:rPr>
              <a:t> для защиты отчета (до 10 слайдов).</a:t>
            </a:r>
          </a:p>
          <a:p>
            <a:pPr lvl="0" algn="just">
              <a:spcAft>
                <a:spcPts val="600"/>
              </a:spcAft>
              <a:buFont typeface="+mj-lt"/>
              <a:buAutoNum type="arabicPeriod"/>
            </a:pPr>
            <a:r>
              <a:rPr lang="ru-RU" sz="2000" dirty="0">
                <a:latin typeface="Segoe UI" panose="020B0502040204020203" pitchFamily="34" charset="0"/>
                <a:cs typeface="Segoe UI" panose="020B0502040204020203" pitchFamily="34" charset="0"/>
              </a:rPr>
              <a:t>Прислать/выложить </a:t>
            </a:r>
            <a:r>
              <a:rPr lang="ru-RU" sz="2000" b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отчет по практике </a:t>
            </a:r>
            <a:r>
              <a:rPr lang="ru-RU" sz="2000" dirty="0">
                <a:latin typeface="Segoe UI" panose="020B0502040204020203" pitchFamily="34" charset="0"/>
                <a:cs typeface="Segoe UI" panose="020B0502040204020203" pitchFamily="34" charset="0"/>
              </a:rPr>
              <a:t>и </a:t>
            </a:r>
            <a:r>
              <a:rPr lang="ru-RU" sz="2000" b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презентацию</a:t>
            </a:r>
            <a:r>
              <a:rPr lang="ru-RU" sz="20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ru-RU" sz="2000" dirty="0">
                <a:latin typeface="Segoe UI" panose="020B0502040204020203" pitchFamily="34" charset="0"/>
                <a:cs typeface="Segoe UI" panose="020B0502040204020203" pitchFamily="34" charset="0"/>
              </a:rPr>
              <a:t>руководителю п</a:t>
            </a:r>
            <a:r>
              <a:rPr lang="ru-RU" sz="2000" dirty="0" smtClean="0">
                <a:latin typeface="Segoe UI" panose="020B0502040204020203" pitchFamily="34" charset="0"/>
                <a:cs typeface="Segoe UI" panose="020B0502040204020203" pitchFamily="34" charset="0"/>
              </a:rPr>
              <a:t>о окончании </a:t>
            </a:r>
            <a:r>
              <a:rPr lang="ru-RU" sz="2000" dirty="0">
                <a:latin typeface="Segoe UI" panose="020B0502040204020203" pitchFamily="34" charset="0"/>
                <a:cs typeface="Segoe UI" panose="020B0502040204020203" pitchFamily="34" charset="0"/>
              </a:rPr>
              <a:t>практики для аттестации</a:t>
            </a:r>
          </a:p>
          <a:p>
            <a:pPr lvl="0" algn="just">
              <a:spcAft>
                <a:spcPts val="600"/>
              </a:spcAft>
            </a:pPr>
            <a:r>
              <a:rPr lang="ru-RU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ru-RU" sz="2000" dirty="0" smtClean="0">
                <a:latin typeface="Segoe UI" panose="020B0502040204020203" pitchFamily="34" charset="0"/>
                <a:cs typeface="Segoe UI" panose="020B0502040204020203" pitchFamily="34" charset="0"/>
              </a:rPr>
              <a:t>(16 </a:t>
            </a:r>
            <a:r>
              <a:rPr lang="ru-RU" sz="2000" dirty="0">
                <a:latin typeface="Segoe UI" panose="020B0502040204020203" pitchFamily="34" charset="0"/>
                <a:cs typeface="Segoe UI" panose="020B0502040204020203" pitchFamily="34" charset="0"/>
              </a:rPr>
              <a:t>марта </a:t>
            </a:r>
            <a:r>
              <a:rPr lang="ru-RU" sz="2000" b="1" dirty="0" smtClean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20</a:t>
            </a:r>
            <a:r>
              <a:rPr lang="en-US" sz="2000" b="1" dirty="0" smtClean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26</a:t>
            </a:r>
            <a:r>
              <a:rPr lang="ru-RU" sz="2000" dirty="0" smtClean="0">
                <a:latin typeface="Segoe UI" panose="020B0502040204020203" pitchFamily="34" charset="0"/>
                <a:cs typeface="Segoe UI" panose="020B0502040204020203" pitchFamily="34" charset="0"/>
              </a:rPr>
              <a:t>).</a:t>
            </a:r>
            <a:endParaRPr lang="ru-RU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 algn="just">
              <a:lnSpc>
                <a:spcPct val="80000"/>
              </a:lnSpc>
              <a:spcAft>
                <a:spcPts val="600"/>
              </a:spcAft>
            </a:pPr>
            <a:endParaRPr lang="ru-RU" sz="2400" dirty="0"/>
          </a:p>
        </p:txBody>
      </p:sp>
      <p:pic>
        <p:nvPicPr>
          <p:cNvPr id="17" name="Рисунок 16" descr="Документ">
            <a:extLst>
              <a:ext uri="{FF2B5EF4-FFF2-40B4-BE49-F238E27FC236}">
                <a16:creationId xmlns:a16="http://schemas.microsoft.com/office/drawing/2014/main" xmlns="" id="{40515762-D776-CC40-9719-430C6C4A7A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57290" y="1747321"/>
            <a:ext cx="494013" cy="494013"/>
          </a:xfrm>
          <a:prstGeom prst="rect">
            <a:avLst/>
          </a:prstGeom>
        </p:spPr>
      </p:pic>
      <p:pic>
        <p:nvPicPr>
          <p:cNvPr id="20" name="Рисунок 19" descr="Закрытая книга">
            <a:extLst>
              <a:ext uri="{FF2B5EF4-FFF2-40B4-BE49-F238E27FC236}">
                <a16:creationId xmlns:a16="http://schemas.microsoft.com/office/drawing/2014/main" xmlns="" id="{0741CA23-54C0-364E-8474-3D481A3800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89117" y="3700053"/>
            <a:ext cx="494013" cy="494013"/>
          </a:xfrm>
          <a:prstGeom prst="rect">
            <a:avLst/>
          </a:prstGeom>
        </p:spPr>
      </p:pic>
      <p:pic>
        <p:nvPicPr>
          <p:cNvPr id="21" name="Рисунок 20" descr="Ноутбук">
            <a:extLst>
              <a:ext uri="{FF2B5EF4-FFF2-40B4-BE49-F238E27FC236}">
                <a16:creationId xmlns:a16="http://schemas.microsoft.com/office/drawing/2014/main" xmlns="" id="{E27F2729-D47A-FE4F-9A71-D94182F53BF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80279" y="4175282"/>
            <a:ext cx="494013" cy="494013"/>
          </a:xfrm>
          <a:prstGeom prst="rect">
            <a:avLst/>
          </a:prstGeom>
        </p:spPr>
      </p:pic>
      <p:pic>
        <p:nvPicPr>
          <p:cNvPr id="22" name="Рисунок 21" descr="Секундомер">
            <a:extLst>
              <a:ext uri="{FF2B5EF4-FFF2-40B4-BE49-F238E27FC236}">
                <a16:creationId xmlns:a16="http://schemas.microsoft.com/office/drawing/2014/main" xmlns="" id="{A80F02EE-B992-394A-BCB5-5146F9167F7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66128" y="4811148"/>
            <a:ext cx="494013" cy="494013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xmlns="" id="{1372E04B-8E9C-C82F-781E-C5FDF6E2111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76117" y="694523"/>
            <a:ext cx="2709493" cy="49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39575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83"/>
          <p:cNvSpPr txBox="1">
            <a:spLocks/>
          </p:cNvSpPr>
          <p:nvPr/>
        </p:nvSpPr>
        <p:spPr>
          <a:xfrm>
            <a:off x="2412207" y="549275"/>
            <a:ext cx="5804297" cy="172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solidFill>
                  <a:srgbClr val="A7A7A7"/>
                </a:solidFill>
              </a:defRPr>
            </a:lvl1pPr>
          </a:lstStyle>
          <a:p>
            <a:pPr>
              <a:defRPr/>
            </a:pPr>
            <a:endParaRPr lang="ru-RU" sz="2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Содержимое 15"/>
          <p:cNvSpPr txBox="1">
            <a:spLocks/>
          </p:cNvSpPr>
          <p:nvPr/>
        </p:nvSpPr>
        <p:spPr>
          <a:xfrm>
            <a:off x="313135" y="887414"/>
            <a:ext cx="8372475" cy="5265737"/>
          </a:xfrm>
          <a:prstGeom prst="rect">
            <a:avLst/>
          </a:prstGeom>
        </p:spPr>
        <p:txBody>
          <a:bodyPr/>
          <a:lstStyle/>
          <a:p>
            <a:pPr marL="457200" indent="-457200">
              <a:lnSpc>
                <a:spcPts val="2500"/>
              </a:lnSpc>
              <a:buFont typeface="Wingdings" panose="05000000000000000000" pitchFamily="2" charset="2"/>
              <a:buChar char="Ø"/>
              <a:defRPr/>
            </a:pPr>
            <a:endParaRPr lang="ru-RU" sz="26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213"/>
          <p:cNvSpPr/>
          <p:nvPr/>
        </p:nvSpPr>
        <p:spPr>
          <a:xfrm>
            <a:off x="30791" y="56295"/>
            <a:ext cx="374073" cy="4929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213"/>
          <p:cNvSpPr/>
          <p:nvPr/>
        </p:nvSpPr>
        <p:spPr>
          <a:xfrm rot="5400000">
            <a:off x="244624" y="264028"/>
            <a:ext cx="492981" cy="582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Прямоугольник 18"/>
          <p:cNvSpPr/>
          <p:nvPr/>
        </p:nvSpPr>
        <p:spPr>
          <a:xfrm>
            <a:off x="577366" y="117944"/>
            <a:ext cx="6957557" cy="7817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0000"/>
              </a:lnSpc>
            </a:pPr>
            <a:r>
              <a:rPr lang="ru-RU" sz="2800" b="1" dirty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</a:rPr>
              <a:t>Оформление отчета по </a:t>
            </a:r>
            <a:endParaRPr lang="ru-RU" sz="2800" b="1" dirty="0" smtClean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80000"/>
              </a:lnSpc>
            </a:pPr>
            <a:r>
              <a:rPr lang="ru-RU" sz="2800" b="1" dirty="0" smtClean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</a:rPr>
              <a:t>практике</a:t>
            </a:r>
            <a:endParaRPr lang="ru-RU" sz="28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D8F83D-3AE4-450D-84BD-CB643A2CFF14}" type="slidenum">
              <a:rPr lang="ru-RU" smtClean="0"/>
              <a:pPr>
                <a:defRPr/>
              </a:pPr>
              <a:t>8</a:t>
            </a:fld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597160" y="794535"/>
            <a:ext cx="8182946" cy="5568943"/>
          </a:xfrm>
          <a:prstGeom prst="rect">
            <a:avLst/>
          </a:prstGeom>
        </p:spPr>
        <p:txBody>
          <a:bodyPr/>
          <a:lstStyle/>
          <a:p>
            <a:pPr lvl="0" algn="just">
              <a:lnSpc>
                <a:spcPct val="80000"/>
              </a:lnSpc>
              <a:spcAft>
                <a:spcPts val="600"/>
              </a:spcAft>
            </a:pPr>
            <a:endParaRPr lang="ru-RU" sz="2200" dirty="0"/>
          </a:p>
          <a:p>
            <a:pPr lvl="0" algn="just">
              <a:lnSpc>
                <a:spcPct val="80000"/>
              </a:lnSpc>
              <a:spcAft>
                <a:spcPts val="600"/>
              </a:spcAft>
            </a:pPr>
            <a:endParaRPr lang="ru-RU" sz="2400" dirty="0"/>
          </a:p>
        </p:txBody>
      </p:sp>
      <p:sp>
        <p:nvSpPr>
          <p:cNvPr id="16" name="Скругленный прямоугольник 15"/>
          <p:cNvSpPr/>
          <p:nvPr/>
        </p:nvSpPr>
        <p:spPr>
          <a:xfrm>
            <a:off x="2755989" y="1662544"/>
            <a:ext cx="562707" cy="11829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Скругленный прямоугольник 22"/>
          <p:cNvSpPr/>
          <p:nvPr/>
        </p:nvSpPr>
        <p:spPr>
          <a:xfrm>
            <a:off x="6375222" y="1598601"/>
            <a:ext cx="562707" cy="1822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Rectangle 6"/>
          <p:cNvSpPr>
            <a:spLocks noChangeArrowheads="1"/>
          </p:cNvSpPr>
          <p:nvPr/>
        </p:nvSpPr>
        <p:spPr bwMode="auto">
          <a:xfrm>
            <a:off x="597160" y="1412875"/>
            <a:ext cx="9144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1155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https://library.miit.ru/bookscatalog/2024/Oformlenie_IEF.pdf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xmlns="" id="{1372E04B-8E9C-C82F-781E-C5FDF6E211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7856" y="213988"/>
            <a:ext cx="2709493" cy="499538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7165" y="1628763"/>
            <a:ext cx="3665498" cy="4882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99904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04088" y="184638"/>
            <a:ext cx="8176143" cy="1311653"/>
          </a:xfrm>
        </p:spPr>
        <p:txBody>
          <a:bodyPr>
            <a:normAutofit fontScale="90000"/>
          </a:bodyPr>
          <a:lstStyle/>
          <a:p>
            <a:r>
              <a:rPr lang="ru-RU" sz="2400" b="1" dirty="0" smtClean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</a:rPr>
              <a:t/>
            </a:r>
            <a:br>
              <a:rPr lang="ru-RU" sz="2400" b="1" dirty="0" smtClean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</a:rPr>
            </a:br>
            <a:r>
              <a:rPr lang="ru-RU" sz="2400" b="1" dirty="0" smtClean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</a:rPr>
              <a:t>Отчет </a:t>
            </a:r>
            <a:r>
              <a:rPr lang="ru-RU" sz="2400" b="1" dirty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</a:rPr>
              <a:t>по производственной </a:t>
            </a:r>
            <a:r>
              <a:rPr lang="ru-RU" sz="2400" b="1" dirty="0" smtClean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</a:rPr>
              <a:t/>
            </a:r>
            <a:br>
              <a:rPr lang="ru-RU" sz="2400" b="1" dirty="0" smtClean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</a:rPr>
            </a:br>
            <a:r>
              <a:rPr lang="ru-RU" sz="2400" b="1" dirty="0" smtClean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</a:rPr>
              <a:t>практике</a:t>
            </a:r>
            <a:r>
              <a:rPr lang="ru-RU" sz="2400" b="1" dirty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</a:rPr>
              <a:t/>
            </a:r>
            <a:br>
              <a:rPr lang="ru-RU" sz="2400" b="1" dirty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</a:rPr>
            </a:br>
            <a:r>
              <a:rPr lang="ru-RU" sz="2400" b="1" dirty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</a:rPr>
              <a:t> имеет следующую структуру:</a:t>
            </a:r>
            <a:br>
              <a:rPr lang="ru-RU" sz="2400" b="1" dirty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</a:rPr>
            </a:br>
            <a:endParaRPr lang="ru-RU" sz="2400" b="1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93431" y="1300285"/>
            <a:ext cx="8686800" cy="5125916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	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Титульный лист установленной </a:t>
            </a:r>
            <a:r>
              <a:rPr lang="ru-RU" dirty="0" smtClean="0">
                <a:latin typeface="Segoe UI" panose="020B0502040204020203" pitchFamily="34" charset="0"/>
                <a:cs typeface="Segoe UI" panose="020B0502040204020203" pitchFamily="34" charset="0"/>
              </a:rPr>
              <a:t>формы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2.	</a:t>
            </a:r>
            <a:r>
              <a:rPr lang="ru-RU" dirty="0" smtClean="0">
                <a:latin typeface="Segoe UI" panose="020B0502040204020203" pitchFamily="34" charset="0"/>
                <a:cs typeface="Segoe UI" panose="020B0502040204020203" pitchFamily="34" charset="0"/>
              </a:rPr>
              <a:t>СОДЕРЖАНИЕ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3.	</a:t>
            </a:r>
            <a:r>
              <a:rPr lang="ru-RU" dirty="0" smtClean="0">
                <a:latin typeface="Segoe UI" panose="020B0502040204020203" pitchFamily="34" charset="0"/>
                <a:cs typeface="Segoe UI" panose="020B0502040204020203" pitchFamily="34" charset="0"/>
              </a:rPr>
              <a:t>ВВЕДЕНИЕ 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(описывается предметная область и ставится цель учебной </a:t>
            </a:r>
            <a:r>
              <a:rPr lang="ru-RU" dirty="0" smtClean="0">
                <a:latin typeface="Segoe UI" panose="020B0502040204020203" pitchFamily="34" charset="0"/>
                <a:cs typeface="Segoe UI" panose="020B0502040204020203" pitchFamily="34" charset="0"/>
              </a:rPr>
              <a:t>практики, задачи 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и </a:t>
            </a:r>
            <a:r>
              <a:rPr lang="ru-RU" dirty="0" smtClean="0">
                <a:latin typeface="Segoe UI" panose="020B0502040204020203" pitchFamily="34" charset="0"/>
                <a:cs typeface="Segoe UI" panose="020B0502040204020203" pitchFamily="34" charset="0"/>
              </a:rPr>
              <a:t>индивидуальное  задание, 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указываются методы и способы его реализации); объём - 1,5-2 стр.</a:t>
            </a:r>
            <a:b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4.	</a:t>
            </a:r>
            <a:r>
              <a:rPr lang="ru-RU" dirty="0" smtClean="0">
                <a:latin typeface="Segoe UI" panose="020B0502040204020203" pitchFamily="34" charset="0"/>
                <a:cs typeface="Segoe UI" panose="020B0502040204020203" pitchFamily="34" charset="0"/>
              </a:rPr>
              <a:t>Основная часть 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часть (описывается ход выполнения программы производственной практики и индивидуального задания, полученные результаты); объём - 15-20 стр.</a:t>
            </a:r>
            <a:b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5.	</a:t>
            </a:r>
            <a:r>
              <a:rPr lang="ru-RU" dirty="0" smtClean="0">
                <a:latin typeface="Segoe UI" panose="020B0502040204020203" pitchFamily="34" charset="0"/>
                <a:cs typeface="Segoe UI" panose="020B0502040204020203" pitchFamily="34" charset="0"/>
              </a:rPr>
              <a:t>ЗАКЛЮЧЕНИЕ 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(перечисляются полученные результаты и приобретённые навыки, подводится итог выполненной работы, делаются необходимые выводы и предложения); объём - 1,5-2 стр. </a:t>
            </a:r>
            <a:b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6.	</a:t>
            </a:r>
            <a:r>
              <a:rPr lang="ru-RU" dirty="0" smtClean="0">
                <a:latin typeface="Segoe UI" panose="020B0502040204020203" pitchFamily="34" charset="0"/>
                <a:cs typeface="Segoe UI" panose="020B0502040204020203" pitchFamily="34" charset="0"/>
              </a:rPr>
              <a:t>СПИСОК ИСПОЛЬЗОВАННЫХ ИСТОЧНИКОВ </a:t>
            </a:r>
            <a:r>
              <a:rPr lang="ru-RU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(не менее 10)</a:t>
            </a:r>
            <a:r>
              <a:rPr lang="ru-RU" b="1" dirty="0"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ru-RU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7.	</a:t>
            </a:r>
            <a:r>
              <a:rPr lang="ru-RU" dirty="0" smtClean="0">
                <a:latin typeface="Segoe UI" panose="020B0502040204020203" pitchFamily="34" charset="0"/>
                <a:cs typeface="Segoe UI" panose="020B0502040204020203" pitchFamily="34" charset="0"/>
              </a:rPr>
              <a:t>ПРИЛОЖЕНИЯ (при наличии)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ru-RU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D8F83D-3AE4-450D-84BD-CB643A2CFF14}" type="slidenum">
              <a:rPr lang="ru-RU" smtClean="0"/>
              <a:pPr>
                <a:defRPr/>
              </a:pPr>
              <a:t>9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94" y="184638"/>
            <a:ext cx="364720" cy="484301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482" y="184638"/>
            <a:ext cx="50700" cy="48430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1372E04B-8E9C-C82F-781E-C5FDF6E211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7644" y="235305"/>
            <a:ext cx="2709493" cy="49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323050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715" y="149469"/>
            <a:ext cx="8801099" cy="5820508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ru-RU" sz="2400" b="1" dirty="0" smtClean="0">
                <a:solidFill>
                  <a:schemeClr val="tx1"/>
                </a:solidFill>
              </a:rPr>
              <a:t>Текст </a:t>
            </a:r>
            <a:r>
              <a:rPr lang="ru-RU" sz="2400" b="1" dirty="0">
                <a:solidFill>
                  <a:schemeClr val="tx1"/>
                </a:solidFill>
              </a:rPr>
              <a:t>должен быть отпечатан на компьютере на одной стороне листа белой писчей бумаги формата А4 через 1,25 – 1,5 межстрочный интервал с использованием шрифта </a:t>
            </a:r>
            <a:r>
              <a:rPr lang="ru-RU" sz="2400" b="1" dirty="0" err="1">
                <a:solidFill>
                  <a:schemeClr val="tx1"/>
                </a:solidFill>
              </a:rPr>
              <a:t>Times</a:t>
            </a:r>
            <a:r>
              <a:rPr lang="ru-RU" sz="2400" b="1" dirty="0">
                <a:solidFill>
                  <a:schemeClr val="tx1"/>
                </a:solidFill>
              </a:rPr>
              <a:t> </a:t>
            </a:r>
            <a:r>
              <a:rPr lang="ru-RU" sz="2400" b="1" dirty="0" err="1">
                <a:solidFill>
                  <a:schemeClr val="tx1"/>
                </a:solidFill>
              </a:rPr>
              <a:t>New</a:t>
            </a:r>
            <a:r>
              <a:rPr lang="ru-RU" sz="2400" b="1" dirty="0">
                <a:solidFill>
                  <a:schemeClr val="tx1"/>
                </a:solidFill>
              </a:rPr>
              <a:t> </a:t>
            </a:r>
            <a:r>
              <a:rPr lang="ru-RU" sz="2400" b="1" dirty="0" err="1">
                <a:solidFill>
                  <a:schemeClr val="tx1"/>
                </a:solidFill>
              </a:rPr>
              <a:t>Roman</a:t>
            </a:r>
            <a:r>
              <a:rPr lang="ru-RU" sz="2400" b="1" dirty="0">
                <a:solidFill>
                  <a:schemeClr val="tx1"/>
                </a:solidFill>
              </a:rPr>
              <a:t> кегль 12 или 14. </a:t>
            </a:r>
            <a:r>
              <a:rPr lang="ru-RU" sz="2400" b="1" dirty="0" smtClean="0">
                <a:solidFill>
                  <a:schemeClr val="tx1"/>
                </a:solidFill>
              </a:rPr>
              <a:t>Выбранный </a:t>
            </a:r>
            <a:r>
              <a:rPr lang="ru-RU" sz="2400" b="1" dirty="0">
                <a:solidFill>
                  <a:schemeClr val="tx1"/>
                </a:solidFill>
              </a:rPr>
              <a:t>12 кегль является единым для всего текста, при выборе 14 кегля допустимо в таблице использовать 12 кегль. </a:t>
            </a:r>
            <a:r>
              <a:rPr lang="ru-RU" sz="2400" b="1" dirty="0" smtClean="0">
                <a:solidFill>
                  <a:schemeClr val="tx1"/>
                </a:solidFill>
              </a:rPr>
              <a:t/>
            </a:r>
            <a:br>
              <a:rPr lang="ru-RU" sz="2400" b="1" dirty="0" smtClean="0">
                <a:solidFill>
                  <a:schemeClr val="tx1"/>
                </a:solidFill>
              </a:rPr>
            </a:br>
            <a:r>
              <a:rPr lang="ru-RU" sz="2400" b="1" dirty="0" smtClean="0">
                <a:solidFill>
                  <a:schemeClr val="tx1"/>
                </a:solidFill>
              </a:rPr>
              <a:t>Поля </a:t>
            </a:r>
            <a:r>
              <a:rPr lang="ru-RU" sz="2400" b="1" dirty="0">
                <a:solidFill>
                  <a:schemeClr val="tx1"/>
                </a:solidFill>
              </a:rPr>
              <a:t>листа А4 слева – 30 мм, справа – 10 мм, верхнее и нижнее – 20 мм. </a:t>
            </a:r>
            <a:r>
              <a:rPr lang="ru-RU" sz="2400" b="1" dirty="0" smtClean="0">
                <a:solidFill>
                  <a:schemeClr val="tx1"/>
                </a:solidFill>
              </a:rPr>
              <a:t/>
            </a:r>
            <a:br>
              <a:rPr lang="ru-RU" sz="2400" b="1" dirty="0" smtClean="0">
                <a:solidFill>
                  <a:schemeClr val="tx1"/>
                </a:solidFill>
              </a:rPr>
            </a:br>
            <a:r>
              <a:rPr lang="ru-RU" sz="2400" b="1" dirty="0" smtClean="0">
                <a:solidFill>
                  <a:schemeClr val="tx1"/>
                </a:solidFill>
              </a:rPr>
              <a:t>Абзацы </a:t>
            </a:r>
            <a:r>
              <a:rPr lang="ru-RU" sz="2400" b="1" dirty="0">
                <a:solidFill>
                  <a:schemeClr val="tx1"/>
                </a:solidFill>
              </a:rPr>
              <a:t>в тексте следует начинать с отступа равного 1,25 см. Выравнивание текста «по ширине». Все страницы текста, включая приложения, нумеруются арабскими цифрами в нижней части листа по центру. СОДЕРЖАНИЕ, ВВЕДЕНИЕ, ЗАКЛЮЧЕНИЕ и СПИСОК ИСПОЛЬЗУЕМЫХ ИСТОЧНИКОВ не нумеруются (перед их названием порядковый номер не ставится), печатаются заглавными буквами шрифт полужирный</a:t>
            </a:r>
            <a:r>
              <a:rPr lang="ru-RU" sz="2400" b="1" dirty="0" smtClean="0">
                <a:solidFill>
                  <a:schemeClr val="tx1"/>
                </a:solidFill>
              </a:rPr>
              <a:t>.</a:t>
            </a:r>
            <a:br>
              <a:rPr lang="ru-RU" sz="2400" b="1" dirty="0" smtClean="0">
                <a:solidFill>
                  <a:schemeClr val="tx1"/>
                </a:solidFill>
              </a:rPr>
            </a:br>
            <a:r>
              <a:rPr lang="ru-RU" sz="2400" b="1" dirty="0">
                <a:solidFill>
                  <a:schemeClr val="tx1"/>
                </a:solidFill>
              </a:rPr>
              <a:t>Точка после номера главы (раздела) и номера параграфа ставится. Точка после названия главы (раздела) и параграфа не ставится. 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716" y="6664569"/>
            <a:ext cx="8932984" cy="114299"/>
          </a:xfrm>
        </p:spPr>
        <p:txBody>
          <a:bodyPr>
            <a:normAutofit fontScale="25000" lnSpcReduction="20000"/>
          </a:bodyPr>
          <a:lstStyle/>
          <a:p>
            <a:r>
              <a:rPr lang="ru-RU" dirty="0"/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D8F83D-3AE4-450D-84BD-CB643A2CFF14}" type="slidenum">
              <a:rPr lang="ru-RU" smtClean="0"/>
              <a:pPr>
                <a:defRPr/>
              </a:pPr>
              <a:t>10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1372E04B-8E9C-C82F-781E-C5FDF6E21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7856" y="149469"/>
            <a:ext cx="2709493" cy="49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877217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83"/>
          <p:cNvSpPr txBox="1">
            <a:spLocks/>
          </p:cNvSpPr>
          <p:nvPr/>
        </p:nvSpPr>
        <p:spPr>
          <a:xfrm>
            <a:off x="2412207" y="549275"/>
            <a:ext cx="5804297" cy="172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solidFill>
                  <a:srgbClr val="A7A7A7"/>
                </a:solidFill>
              </a:defRPr>
            </a:lvl1pPr>
          </a:lstStyle>
          <a:p>
            <a:pPr>
              <a:defRPr/>
            </a:pPr>
            <a:endParaRPr lang="ru-RU" sz="2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Содержимое 15"/>
          <p:cNvSpPr txBox="1">
            <a:spLocks/>
          </p:cNvSpPr>
          <p:nvPr/>
        </p:nvSpPr>
        <p:spPr>
          <a:xfrm>
            <a:off x="313135" y="887414"/>
            <a:ext cx="8372475" cy="5265737"/>
          </a:xfrm>
          <a:prstGeom prst="rect">
            <a:avLst/>
          </a:prstGeom>
        </p:spPr>
        <p:txBody>
          <a:bodyPr/>
          <a:lstStyle/>
          <a:p>
            <a:pPr marL="457200" indent="-457200">
              <a:lnSpc>
                <a:spcPts val="2500"/>
              </a:lnSpc>
              <a:buFont typeface="Wingdings" panose="05000000000000000000" pitchFamily="2" charset="2"/>
              <a:buChar char="Ø"/>
              <a:defRPr/>
            </a:pPr>
            <a:endParaRPr lang="ru-RU" sz="26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213"/>
          <p:cNvSpPr/>
          <p:nvPr/>
        </p:nvSpPr>
        <p:spPr>
          <a:xfrm>
            <a:off x="0" y="289637"/>
            <a:ext cx="374073" cy="4929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213"/>
          <p:cNvSpPr/>
          <p:nvPr/>
        </p:nvSpPr>
        <p:spPr>
          <a:xfrm rot="5400000">
            <a:off x="212703" y="507010"/>
            <a:ext cx="492981" cy="582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Прямоугольник 18"/>
          <p:cNvSpPr/>
          <p:nvPr/>
        </p:nvSpPr>
        <p:spPr>
          <a:xfrm>
            <a:off x="488316" y="298374"/>
            <a:ext cx="7161358" cy="8802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0000"/>
              </a:lnSpc>
            </a:pPr>
            <a:r>
              <a:rPr lang="ru-RU" sz="3200" b="1" dirty="0"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</a:rPr>
              <a:t>Оформление приказа от предприятия </a:t>
            </a:r>
            <a:endParaRPr lang="ru-RU" sz="3200" dirty="0">
              <a:latin typeface="Segoe UI Black" panose="020B0A02040204020203" pitchFamily="34" charset="0"/>
              <a:ea typeface="Segoe UI Black" panose="020B0A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D8F83D-3AE4-450D-84BD-CB643A2CFF14}" type="slidenum">
              <a:rPr lang="ru-RU" smtClean="0"/>
              <a:pPr>
                <a:defRPr/>
              </a:pPr>
              <a:t>11</a:t>
            </a:fld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597160" y="794535"/>
            <a:ext cx="8182946" cy="5568943"/>
          </a:xfrm>
          <a:prstGeom prst="rect">
            <a:avLst/>
          </a:prstGeom>
        </p:spPr>
        <p:txBody>
          <a:bodyPr/>
          <a:lstStyle/>
          <a:p>
            <a:pPr lvl="0" algn="just">
              <a:lnSpc>
                <a:spcPct val="80000"/>
              </a:lnSpc>
              <a:spcAft>
                <a:spcPts val="600"/>
              </a:spcAft>
            </a:pPr>
            <a:endParaRPr lang="ru-RU" sz="2200" dirty="0"/>
          </a:p>
          <a:p>
            <a:pPr lvl="0" algn="just">
              <a:lnSpc>
                <a:spcPct val="80000"/>
              </a:lnSpc>
              <a:spcAft>
                <a:spcPts val="600"/>
              </a:spcAft>
            </a:pPr>
            <a:endParaRPr lang="ru-RU" sz="2400" dirty="0"/>
          </a:p>
        </p:txBody>
      </p:sp>
      <p:sp>
        <p:nvSpPr>
          <p:cNvPr id="16" name="Скругленный прямоугольник 15"/>
          <p:cNvSpPr/>
          <p:nvPr/>
        </p:nvSpPr>
        <p:spPr>
          <a:xfrm>
            <a:off x="2755989" y="1662544"/>
            <a:ext cx="562707" cy="11829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Скругленный прямоугольник 22"/>
          <p:cNvSpPr/>
          <p:nvPr/>
        </p:nvSpPr>
        <p:spPr>
          <a:xfrm>
            <a:off x="6375222" y="1598601"/>
            <a:ext cx="562707" cy="1822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105508" y="1129004"/>
            <a:ext cx="4869954" cy="4816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2200" b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Только тем, кто проходит практику </a:t>
            </a:r>
            <a:br>
              <a:rPr lang="ru-RU" sz="2200" b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sz="2200" b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на предприятии:</a:t>
            </a:r>
          </a:p>
          <a:p>
            <a:pPr>
              <a:spcAft>
                <a:spcPts val="600"/>
              </a:spcAft>
            </a:pPr>
            <a:endParaRPr lang="ru-RU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600"/>
              </a:spcAft>
            </a:pP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В приказе </a:t>
            </a:r>
            <a:r>
              <a:rPr lang="ru-RU" b="1" u="sng" dirty="0">
                <a:latin typeface="Segoe UI" panose="020B0502040204020203" pitchFamily="34" charset="0"/>
                <a:cs typeface="Segoe UI" panose="020B0502040204020203" pitchFamily="34" charset="0"/>
              </a:rPr>
              <a:t>обязательно должно быть указано 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следующее: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что студент принят на практику на сроки практики (сроки указаны в выписке по практике);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что студенту назначен руководитель по практике от предприятия: его ФИО и должность;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что студенту проведен инструктаж по охране труда и противопожарной безопасности (не обязательно). 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3420" y="782617"/>
            <a:ext cx="4161239" cy="5999624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xmlns="" id="{1372E04B-8E9C-C82F-781E-C5FDF6E211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4927" y="242599"/>
            <a:ext cx="2709493" cy="49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463934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2183"/>
            <a:ext cx="3019193" cy="6553634"/>
          </a:xfrm>
          <a:prstGeom prst="rect">
            <a:avLst/>
          </a:prstGeom>
        </p:spPr>
      </p:pic>
      <p:sp>
        <p:nvSpPr>
          <p:cNvPr id="15" name="Прямоугольник 14"/>
          <p:cNvSpPr/>
          <p:nvPr/>
        </p:nvSpPr>
        <p:spPr>
          <a:xfrm>
            <a:off x="3085171" y="3146770"/>
            <a:ext cx="602165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000" b="1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СПАСИБО ЗА ВНИМАНИЕ!</a:t>
            </a:r>
          </a:p>
        </p:txBody>
      </p:sp>
      <p:grpSp>
        <p:nvGrpSpPr>
          <p:cNvPr id="16" name="Group 218"/>
          <p:cNvGrpSpPr/>
          <p:nvPr/>
        </p:nvGrpSpPr>
        <p:grpSpPr>
          <a:xfrm flipV="1">
            <a:off x="0" y="6697059"/>
            <a:ext cx="9144000" cy="247204"/>
            <a:chOff x="76200" y="4476750"/>
            <a:chExt cx="4114800" cy="91440"/>
          </a:xfrm>
          <a:solidFill>
            <a:schemeClr val="bg2">
              <a:lumMod val="75000"/>
            </a:schemeClr>
          </a:solidFill>
        </p:grpSpPr>
        <p:sp>
          <p:nvSpPr>
            <p:cNvPr id="17" name="Rectangle 214"/>
            <p:cNvSpPr/>
            <p:nvPr/>
          </p:nvSpPr>
          <p:spPr>
            <a:xfrm>
              <a:off x="1447800" y="4476750"/>
              <a:ext cx="1371600" cy="914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215"/>
            <p:cNvSpPr/>
            <p:nvPr/>
          </p:nvSpPr>
          <p:spPr>
            <a:xfrm>
              <a:off x="2819400" y="4476750"/>
              <a:ext cx="1371600" cy="914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216"/>
            <p:cNvSpPr/>
            <p:nvPr/>
          </p:nvSpPr>
          <p:spPr>
            <a:xfrm>
              <a:off x="76200" y="4476750"/>
              <a:ext cx="1371600" cy="914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218"/>
          <p:cNvGrpSpPr/>
          <p:nvPr/>
        </p:nvGrpSpPr>
        <p:grpSpPr>
          <a:xfrm flipV="1">
            <a:off x="0" y="1"/>
            <a:ext cx="9144000" cy="152183"/>
            <a:chOff x="76200" y="4476750"/>
            <a:chExt cx="4114800" cy="91440"/>
          </a:xfrm>
          <a:solidFill>
            <a:srgbClr val="C00000"/>
          </a:solidFill>
        </p:grpSpPr>
        <p:sp>
          <p:nvSpPr>
            <p:cNvPr id="21" name="Rectangle 214"/>
            <p:cNvSpPr/>
            <p:nvPr/>
          </p:nvSpPr>
          <p:spPr>
            <a:xfrm>
              <a:off x="1447800" y="4476750"/>
              <a:ext cx="1371600" cy="914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5"/>
            <p:cNvSpPr/>
            <p:nvPr/>
          </p:nvSpPr>
          <p:spPr>
            <a:xfrm>
              <a:off x="2819400" y="4476750"/>
              <a:ext cx="1371600" cy="914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16"/>
            <p:cNvSpPr/>
            <p:nvPr/>
          </p:nvSpPr>
          <p:spPr>
            <a:xfrm>
              <a:off x="76200" y="4476750"/>
              <a:ext cx="1371600" cy="914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Нижний колонтитул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РУТ (МИИТ) II ИЭФ II ИСЦЭ II </a:t>
            </a:r>
            <a:r>
              <a:rPr lang="ru-RU" dirty="0" smtClean="0"/>
              <a:t>202</a:t>
            </a:r>
            <a:r>
              <a:rPr lang="ru-RU" dirty="0"/>
              <a:t>6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1786716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355CCA2D9A29904F8D3D44EF0111EE01" ma:contentTypeVersion="4" ma:contentTypeDescription="Создание документа." ma:contentTypeScope="" ma:versionID="48893dd44927e55274d866e23fab1d38">
  <xsd:schema xmlns:xsd="http://www.w3.org/2001/XMLSchema" xmlns:xs="http://www.w3.org/2001/XMLSchema" xmlns:p="http://schemas.microsoft.com/office/2006/metadata/properties" xmlns:ns2="d33e300a-9761-49b8-ab6e-27456144f2e3" targetNamespace="http://schemas.microsoft.com/office/2006/metadata/properties" ma:root="true" ma:fieldsID="ffaac08227f82693524c05e658c05064" ns2:_="">
    <xsd:import namespace="d33e300a-9761-49b8-ab6e-27456144f2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3e300a-9761-49b8-ab6e-27456144f2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A65833-0672-4600-9CF5-26C2CE5D5676}">
  <ds:schemaRefs>
    <ds:schemaRef ds:uri="http://www.w3.org/XML/1998/namespace"/>
    <ds:schemaRef ds:uri="http://schemas.microsoft.com/office/2006/metadata/properties"/>
    <ds:schemaRef ds:uri="http://purl.org/dc/dcmitype/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d33e300a-9761-49b8-ab6e-27456144f2e3"/>
    <ds:schemaRef ds:uri="http://schemas.microsoft.com/office/infopath/2007/PartnerControl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C5FC168C-C46B-41F7-A5B9-48C66E8ACCA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33e300a-9761-49b8-ab6e-27456144f2e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7A81DC9-AE02-42A4-947D-B5698EE9F6F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10724</TotalTime>
  <Words>669</Words>
  <Application>Microsoft Office PowerPoint</Application>
  <PresentationFormat>Экран (4:3)</PresentationFormat>
  <Paragraphs>109</Paragraphs>
  <Slides>12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2" baseType="lpstr">
      <vt:lpstr>Arial</vt:lpstr>
      <vt:lpstr>Calibri</vt:lpstr>
      <vt:lpstr>Calibri Light</vt:lpstr>
      <vt:lpstr>Open Sans</vt:lpstr>
      <vt:lpstr>Segoe UI</vt:lpstr>
      <vt:lpstr>Segoe UI Black</vt:lpstr>
      <vt:lpstr>Segoe UI Emoji</vt:lpstr>
      <vt:lpstr>Times New Roman</vt:lpstr>
      <vt:lpstr>Wingdings</vt:lpstr>
      <vt:lpstr>Тема Office</vt:lpstr>
      <vt:lpstr>Презентация PowerPoint</vt:lpstr>
      <vt:lpstr>   Цели практики </vt:lpstr>
      <vt:lpstr>   Задачи практики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 Отчет по производственной  практике  имеет следующую структуру: </vt:lpstr>
      <vt:lpstr>Текст должен быть отпечатан на компьютере на одной стороне листа белой писчей бумаги формата А4 через 1,25 – 1,5 межстрочный интервал с использованием шрифта Times New Roman кегль 12 или 14. Выбранный 12 кегль является единым для всего текста, при выборе 14 кегля допустимо в таблице использовать 12 кегль.  Поля листа А4 слева – 30 мм, справа – 10 мм, верхнее и нижнее – 20 мм.  Абзацы в тексте следует начинать с отступа равного 1,25 см. Выравнивание текста «по ширине». Все страницы текста, включая приложения, нумеруются арабскими цифрами в нижней части листа по центру. СОДЕРЖАНИЕ, ВВЕДЕНИЕ, ЗАКЛЮЧЕНИЕ и СПИСОК ИСПОЛЬЗУЕМЫХ ИСТОЧНИКОВ не нумеруются (перед их названием порядковый номер не ставится), печатаются заглавными буквами шрифт полужирный. Точка после номера главы (раздела) и номера параграфа ставится. Точка после названия главы (раздела) и параграфа не ставится. 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ИЭФ ОИ</dc:creator>
  <cp:lastModifiedBy>Sonia</cp:lastModifiedBy>
  <cp:revision>340</cp:revision>
  <cp:lastPrinted>2019-10-11T04:53:10Z</cp:lastPrinted>
  <dcterms:created xsi:type="dcterms:W3CDTF">2018-09-06T12:32:01Z</dcterms:created>
  <dcterms:modified xsi:type="dcterms:W3CDTF">2026-02-02T14:51:11Z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0x010100355CCA2D9A29904F8D3D44EF0111EE01</vt:lpwstr>
  </property>
</Properties>
</file>