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314" r:id="rId3"/>
    <p:sldId id="315" r:id="rId4"/>
    <p:sldId id="320" r:id="rId5"/>
    <p:sldId id="304" r:id="rId6"/>
    <p:sldId id="321" r:id="rId7"/>
    <p:sldId id="309" r:id="rId8"/>
    <p:sldId id="326" r:id="rId9"/>
    <p:sldId id="328" r:id="rId10"/>
    <p:sldId id="323" r:id="rId11"/>
    <p:sldId id="324" r:id="rId12"/>
    <p:sldId id="325" r:id="rId13"/>
    <p:sldId id="310" r:id="rId14"/>
    <p:sldId id="322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емидов Андрей Викторович" initials="ДАВ" lastIdx="9" clrIdx="0">
    <p:extLst>
      <p:ext uri="{19B8F6BF-5375-455C-9EA6-DF929625EA0E}">
        <p15:presenceInfo xmlns:p15="http://schemas.microsoft.com/office/powerpoint/2012/main" userId="S-1-5-21-1972798453-1135247013-1930655864-32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E9C"/>
    <a:srgbClr val="000000"/>
    <a:srgbClr val="F3F7FF"/>
    <a:srgbClr val="232323"/>
    <a:srgbClr val="1A3773"/>
    <a:srgbClr val="005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6" autoAdjust="0"/>
    <p:restoredTop sz="94657"/>
  </p:normalViewPr>
  <p:slideViewPr>
    <p:cSldViewPr snapToGrid="0" showGuides="1">
      <p:cViewPr>
        <p:scale>
          <a:sx n="100" d="100"/>
          <a:sy n="100" d="100"/>
        </p:scale>
        <p:origin x="1276" y="13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4T11:32:19.780" idx="1">
    <p:pos x="4182" y="1716"/>
    <p:text>Авторская методика формирования привычек реализованная в виде чат-бота.</p:text>
    <p:extLst>
      <p:ext uri="{C676402C-5697-4E1C-873F-D02D1690AC5C}">
        <p15:threadingInfo xmlns:p15="http://schemas.microsoft.com/office/powerpoint/2012/main" timeZoneBias="-180"/>
      </p:ext>
    </p:extLst>
  </p:cm>
  <p:cm authorId="1" dt="2026-06-04T11:32:34.399" idx="2">
    <p:pos x="6234" y="1140"/>
    <p:text>Разработана методика формирования привычек, основанная на синергии геймификации и анонимного социального взаимодействия.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4T11:37:41.299" idx="5">
    <p:pos x="450" y="1344"/>
    <p:text>укажите возраст ((диапазон (от и до), для которого данная методика будет востребована</p:text>
    <p:extLst>
      <p:ext uri="{C676402C-5697-4E1C-873F-D02D1690AC5C}">
        <p15:threadingInfo xmlns:p15="http://schemas.microsoft.com/office/powerpoint/2012/main" timeZoneBias="-18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0322A2-04D1-9B4A-AFBE-637420FC70CA}" type="doc">
      <dgm:prSet loTypeId="urn:microsoft.com/office/officeart/2005/8/layout/vList3" loCatId="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ru-RU"/>
        </a:p>
      </dgm:t>
    </dgm:pt>
    <dgm:pt modelId="{264106F1-4E3F-1348-9926-864509FC5B26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комплексный анализ проблемы, выявить </a:t>
          </a:r>
          <a:r>
            <a:rPr lang="ru-RU" sz="2400" strike="noStrike" dirty="0">
              <a:latin typeface="Times New Roman" panose="02020603050405020304" pitchFamily="18" charset="0"/>
              <a:cs typeface="Times New Roman" panose="02020603050405020304" pitchFamily="18" charset="0"/>
            </a:rPr>
            <a:t>барьеры узкие места</a:t>
          </a:r>
          <a:endParaRPr lang="ru-RU" sz="2400" b="0" i="0" strike="noStrike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77AB77B0-FC5F-1B49-B62D-388F78A3575E}" type="parTrans" cxnId="{3D5CC35C-DAE7-1144-A58F-A89BC1590CDE}">
      <dgm:prSet/>
      <dgm:spPr/>
      <dgm:t>
        <a:bodyPr/>
        <a:lstStyle/>
        <a:p>
          <a:endParaRPr lang="ru-RU"/>
        </a:p>
      </dgm:t>
    </dgm:pt>
    <dgm:pt modelId="{938DDC3B-226C-B64C-9C80-E869FD1E849B}" type="sibTrans" cxnId="{3D5CC35C-DAE7-1144-A58F-A89BC1590CDE}">
      <dgm:prSet/>
      <dgm:spPr/>
      <dgm:t>
        <a:bodyPr/>
        <a:lstStyle/>
        <a:p>
          <a:endParaRPr lang="ru-RU"/>
        </a:p>
      </dgm:t>
    </dgm:pt>
    <dgm:pt modelId="{737F8ACF-DA9F-794F-97AF-8494DC8C41DD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критический анализ существующих цифровых решений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B18A813F-35E4-0B41-8C17-11657748886A}" type="parTrans" cxnId="{1FC5AF25-D0EF-1049-B1AA-30CC5925A7A3}">
      <dgm:prSet/>
      <dgm:spPr/>
      <dgm:t>
        <a:bodyPr/>
        <a:lstStyle/>
        <a:p>
          <a:endParaRPr lang="ru-RU"/>
        </a:p>
      </dgm:t>
    </dgm:pt>
    <dgm:pt modelId="{2D8F7AD0-DD5E-4A45-9E6A-ECD67B623543}" type="sibTrans" cxnId="{1FC5AF25-D0EF-1049-B1AA-30CC5925A7A3}">
      <dgm:prSet/>
      <dgm:spPr/>
      <dgm:t>
        <a:bodyPr/>
        <a:lstStyle/>
        <a:p>
          <a:endParaRPr lang="ru-RU"/>
        </a:p>
      </dgm:t>
    </dgm:pt>
    <dgm:pt modelId="{D61E8C4B-83B1-6141-BC93-DB3A2D637E65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Сформулировать требования к разрабатываемой методике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и системе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39633656-1D75-4D47-814D-3AE55C9FAC4F}" type="parTrans" cxnId="{FEADCBE4-63A4-0746-A73C-BA892C961313}">
      <dgm:prSet/>
      <dgm:spPr/>
      <dgm:t>
        <a:bodyPr/>
        <a:lstStyle/>
        <a:p>
          <a:endParaRPr lang="ru-RU"/>
        </a:p>
      </dgm:t>
    </dgm:pt>
    <dgm:pt modelId="{FCD11EBC-0635-BB4F-A06F-57BA7B52C0BD}" type="sibTrans" cxnId="{FEADCBE4-63A4-0746-A73C-BA892C961313}">
      <dgm:prSet/>
      <dgm:spPr/>
      <dgm:t>
        <a:bodyPr/>
        <a:lstStyle/>
        <a:p>
          <a:endParaRPr lang="ru-RU"/>
        </a:p>
      </dgm:t>
    </dgm:pt>
    <dgm:pt modelId="{4C7AB5D6-A31F-1046-8FDF-A1AFF404434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эксперимент для подтверждения эффективности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5B735AE0-D970-284B-8892-1129F83E2E07}" type="parTrans" cxnId="{3CC44D87-481B-3243-A148-EABFD07A62AA}">
      <dgm:prSet/>
      <dgm:spPr/>
      <dgm:t>
        <a:bodyPr/>
        <a:lstStyle/>
        <a:p>
          <a:endParaRPr lang="ru-RU"/>
        </a:p>
      </dgm:t>
    </dgm:pt>
    <dgm:pt modelId="{1CAAA2D9-EE5B-8A49-A0EA-94C1BCF8C286}" type="sibTrans" cxnId="{3CC44D87-481B-3243-A148-EABFD07A62AA}">
      <dgm:prSet/>
      <dgm:spPr/>
      <dgm:t>
        <a:bodyPr/>
        <a:lstStyle/>
        <a:p>
          <a:endParaRPr lang="ru-RU"/>
        </a:p>
      </dgm:t>
    </dgm:pt>
    <dgm:pt modelId="{EBA695E6-3616-584B-ADB9-1BC767543C2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Разработать методику и реализовать сервис на ее основе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27E78313-E23F-FC4D-9E8E-CC23CDC08F20}" type="parTrans" cxnId="{EA42916E-61F2-D149-AE42-B6214319DAAB}">
      <dgm:prSet/>
      <dgm:spPr/>
      <dgm:t>
        <a:bodyPr/>
        <a:lstStyle/>
        <a:p>
          <a:endParaRPr lang="ru-RU"/>
        </a:p>
      </dgm:t>
    </dgm:pt>
    <dgm:pt modelId="{62A08F34-709E-8145-99C7-3B8EFF566206}" type="sibTrans" cxnId="{EA42916E-61F2-D149-AE42-B6214319DAAB}">
      <dgm:prSet/>
      <dgm:spPr/>
      <dgm:t>
        <a:bodyPr/>
        <a:lstStyle/>
        <a:p>
          <a:endParaRPr lang="ru-RU"/>
        </a:p>
      </dgm:t>
    </dgm:pt>
    <dgm:pt modelId="{FA28B158-B89F-6548-BC91-5B3BC6A03976}" type="pres">
      <dgm:prSet presAssocID="{9B0322A2-04D1-9B4A-AFBE-637420FC70CA}" presName="linearFlow" presStyleCnt="0">
        <dgm:presLayoutVars>
          <dgm:dir/>
          <dgm:resizeHandles val="exact"/>
        </dgm:presLayoutVars>
      </dgm:prSet>
      <dgm:spPr/>
    </dgm:pt>
    <dgm:pt modelId="{DDEA1B25-38AD-044E-90C8-58B4B119F0A4}" type="pres">
      <dgm:prSet presAssocID="{264106F1-4E3F-1348-9926-864509FC5B26}" presName="composite" presStyleCnt="0"/>
      <dgm:spPr/>
    </dgm:pt>
    <dgm:pt modelId="{461663A7-095E-5349-A58D-186EEEBCE797}" type="pres">
      <dgm:prSet presAssocID="{264106F1-4E3F-1348-9926-864509FC5B26}" presName="imgShp" presStyleLbl="fgImgPlace1" presStyleIdx="0" presStyleCnt="5"/>
      <dgm:spPr>
        <a:solidFill>
          <a:srgbClr val="274E9C"/>
        </a:solidFill>
        <a:ln>
          <a:noFill/>
        </a:ln>
      </dgm:spPr>
    </dgm:pt>
    <dgm:pt modelId="{BBA26809-E33A-8441-BB70-723BCB5A1C85}" type="pres">
      <dgm:prSet presAssocID="{264106F1-4E3F-1348-9926-864509FC5B26}" presName="txShp" presStyleLbl="node1" presStyleIdx="0" presStyleCnt="5" custScaleY="98902">
        <dgm:presLayoutVars>
          <dgm:bulletEnabled val="1"/>
        </dgm:presLayoutVars>
      </dgm:prSet>
      <dgm:spPr/>
    </dgm:pt>
    <dgm:pt modelId="{3A9646A3-E861-714A-9687-76EDA4C5096C}" type="pres">
      <dgm:prSet presAssocID="{938DDC3B-226C-B64C-9C80-E869FD1E849B}" presName="spacing" presStyleCnt="0"/>
      <dgm:spPr/>
    </dgm:pt>
    <dgm:pt modelId="{8C1438E6-3B83-6F43-AF2A-5BC6696C2518}" type="pres">
      <dgm:prSet presAssocID="{737F8ACF-DA9F-794F-97AF-8494DC8C41DD}" presName="composite" presStyleCnt="0"/>
      <dgm:spPr/>
    </dgm:pt>
    <dgm:pt modelId="{91C536B7-3FF0-7540-A9E6-94ED27AD4BFD}" type="pres">
      <dgm:prSet presAssocID="{737F8ACF-DA9F-794F-97AF-8494DC8C41DD}" presName="imgShp" presStyleLbl="fgImgPlace1" presStyleIdx="1" presStyleCnt="5"/>
      <dgm:spPr>
        <a:solidFill>
          <a:srgbClr val="274E9C"/>
        </a:solidFill>
        <a:ln>
          <a:noFill/>
        </a:ln>
      </dgm:spPr>
    </dgm:pt>
    <dgm:pt modelId="{F4B7EFF2-69B2-EB45-A229-95657A516E17}" type="pres">
      <dgm:prSet presAssocID="{737F8ACF-DA9F-794F-97AF-8494DC8C41DD}" presName="txShp" presStyleLbl="node1" presStyleIdx="1" presStyleCnt="5">
        <dgm:presLayoutVars>
          <dgm:bulletEnabled val="1"/>
        </dgm:presLayoutVars>
      </dgm:prSet>
      <dgm:spPr/>
    </dgm:pt>
    <dgm:pt modelId="{494A97EF-B9FA-CE4A-9B41-1D7814DAF4A6}" type="pres">
      <dgm:prSet presAssocID="{2D8F7AD0-DD5E-4A45-9E6A-ECD67B623543}" presName="spacing" presStyleCnt="0"/>
      <dgm:spPr/>
    </dgm:pt>
    <dgm:pt modelId="{AD26E4BF-2287-6545-BD2A-9E9F112E42F2}" type="pres">
      <dgm:prSet presAssocID="{D61E8C4B-83B1-6141-BC93-DB3A2D637E65}" presName="composite" presStyleCnt="0"/>
      <dgm:spPr/>
    </dgm:pt>
    <dgm:pt modelId="{D40C6A89-69F2-4547-B292-3B110D581711}" type="pres">
      <dgm:prSet presAssocID="{D61E8C4B-83B1-6141-BC93-DB3A2D637E65}" presName="imgShp" presStyleLbl="fgImgPlace1" presStyleIdx="2" presStyleCnt="5"/>
      <dgm:spPr>
        <a:solidFill>
          <a:srgbClr val="274E9C"/>
        </a:solidFill>
        <a:ln>
          <a:noFill/>
        </a:ln>
      </dgm:spPr>
    </dgm:pt>
    <dgm:pt modelId="{67AA8280-0D44-A94E-8043-2EEFE276D1E9}" type="pres">
      <dgm:prSet presAssocID="{D61E8C4B-83B1-6141-BC93-DB3A2D637E65}" presName="txShp" presStyleLbl="node1" presStyleIdx="2" presStyleCnt="5">
        <dgm:presLayoutVars>
          <dgm:bulletEnabled val="1"/>
        </dgm:presLayoutVars>
      </dgm:prSet>
      <dgm:spPr/>
    </dgm:pt>
    <dgm:pt modelId="{7D4638E8-A0DE-2443-8760-D2B6E693FF23}" type="pres">
      <dgm:prSet presAssocID="{FCD11EBC-0635-BB4F-A06F-57BA7B52C0BD}" presName="spacing" presStyleCnt="0"/>
      <dgm:spPr/>
    </dgm:pt>
    <dgm:pt modelId="{F697070B-8B88-F441-892E-1DDD0AF45A64}" type="pres">
      <dgm:prSet presAssocID="{EBA695E6-3616-584B-ADB9-1BC767543C22}" presName="composite" presStyleCnt="0"/>
      <dgm:spPr/>
    </dgm:pt>
    <dgm:pt modelId="{BD4E3E7B-E244-FD4B-95F0-3CD7EAD42C42}" type="pres">
      <dgm:prSet presAssocID="{EBA695E6-3616-584B-ADB9-1BC767543C22}" presName="imgShp" presStyleLbl="fgImgPlace1" presStyleIdx="3" presStyleCnt="5"/>
      <dgm:spPr>
        <a:solidFill>
          <a:srgbClr val="274E9C"/>
        </a:solidFill>
        <a:ln>
          <a:noFill/>
        </a:ln>
      </dgm:spPr>
    </dgm:pt>
    <dgm:pt modelId="{CEECF6D7-B242-034B-9EBA-1DE376851B65}" type="pres">
      <dgm:prSet presAssocID="{EBA695E6-3616-584B-ADB9-1BC767543C22}" presName="txShp" presStyleLbl="node1" presStyleIdx="3" presStyleCnt="5">
        <dgm:presLayoutVars>
          <dgm:bulletEnabled val="1"/>
        </dgm:presLayoutVars>
      </dgm:prSet>
      <dgm:spPr/>
    </dgm:pt>
    <dgm:pt modelId="{ABCA5B62-D309-2D4A-8D9A-0BD4C76FD0EF}" type="pres">
      <dgm:prSet presAssocID="{62A08F34-709E-8145-99C7-3B8EFF566206}" presName="spacing" presStyleCnt="0"/>
      <dgm:spPr/>
    </dgm:pt>
    <dgm:pt modelId="{B51B8F56-82B1-3147-9CB7-AE8DD2A5B29E}" type="pres">
      <dgm:prSet presAssocID="{4C7AB5D6-A31F-1046-8FDF-A1AFF4044342}" presName="composite" presStyleCnt="0"/>
      <dgm:spPr/>
    </dgm:pt>
    <dgm:pt modelId="{7CD4DBAE-3334-D541-8C7D-FC4CB0F79389}" type="pres">
      <dgm:prSet presAssocID="{4C7AB5D6-A31F-1046-8FDF-A1AFF4044342}" presName="imgShp" presStyleLbl="fgImgPlace1" presStyleIdx="4" presStyleCnt="5"/>
      <dgm:spPr>
        <a:solidFill>
          <a:srgbClr val="274E9C"/>
        </a:solidFill>
        <a:ln>
          <a:noFill/>
        </a:ln>
      </dgm:spPr>
    </dgm:pt>
    <dgm:pt modelId="{43FB68EF-01F5-C24B-89F6-A34C6D98A7E9}" type="pres">
      <dgm:prSet presAssocID="{4C7AB5D6-A31F-1046-8FDF-A1AFF4044342}" presName="txShp" presStyleLbl="node1" presStyleIdx="4" presStyleCnt="5">
        <dgm:presLayoutVars>
          <dgm:bulletEnabled val="1"/>
        </dgm:presLayoutVars>
      </dgm:prSet>
      <dgm:spPr/>
    </dgm:pt>
  </dgm:ptLst>
  <dgm:cxnLst>
    <dgm:cxn modelId="{DF989020-3809-3F42-932C-D74D2D49C988}" type="presOf" srcId="{EBA695E6-3616-584B-ADB9-1BC767543C22}" destId="{CEECF6D7-B242-034B-9EBA-1DE376851B65}" srcOrd="0" destOrd="0" presId="urn:microsoft.com/office/officeart/2005/8/layout/vList3"/>
    <dgm:cxn modelId="{1FC5AF25-D0EF-1049-B1AA-30CC5925A7A3}" srcId="{9B0322A2-04D1-9B4A-AFBE-637420FC70CA}" destId="{737F8ACF-DA9F-794F-97AF-8494DC8C41DD}" srcOrd="1" destOrd="0" parTransId="{B18A813F-35E4-0B41-8C17-11657748886A}" sibTransId="{2D8F7AD0-DD5E-4A45-9E6A-ECD67B623543}"/>
    <dgm:cxn modelId="{8DD43C3B-B551-C843-B92E-3C6AA3DE85D5}" type="presOf" srcId="{D61E8C4B-83B1-6141-BC93-DB3A2D637E65}" destId="{67AA8280-0D44-A94E-8043-2EEFE276D1E9}" srcOrd="0" destOrd="0" presId="urn:microsoft.com/office/officeart/2005/8/layout/vList3"/>
    <dgm:cxn modelId="{D0CC0F3F-05BC-6946-9F48-9961E04B1665}" type="presOf" srcId="{9B0322A2-04D1-9B4A-AFBE-637420FC70CA}" destId="{FA28B158-B89F-6548-BC91-5B3BC6A03976}" srcOrd="0" destOrd="0" presId="urn:microsoft.com/office/officeart/2005/8/layout/vList3"/>
    <dgm:cxn modelId="{3D5CC35C-DAE7-1144-A58F-A89BC1590CDE}" srcId="{9B0322A2-04D1-9B4A-AFBE-637420FC70CA}" destId="{264106F1-4E3F-1348-9926-864509FC5B26}" srcOrd="0" destOrd="0" parTransId="{77AB77B0-FC5F-1B49-B62D-388F78A3575E}" sibTransId="{938DDC3B-226C-B64C-9C80-E869FD1E849B}"/>
    <dgm:cxn modelId="{5E5A6346-DC91-D747-B577-DF8BF46525A4}" type="presOf" srcId="{264106F1-4E3F-1348-9926-864509FC5B26}" destId="{BBA26809-E33A-8441-BB70-723BCB5A1C85}" srcOrd="0" destOrd="0" presId="urn:microsoft.com/office/officeart/2005/8/layout/vList3"/>
    <dgm:cxn modelId="{EA42916E-61F2-D149-AE42-B6214319DAAB}" srcId="{9B0322A2-04D1-9B4A-AFBE-637420FC70CA}" destId="{EBA695E6-3616-584B-ADB9-1BC767543C22}" srcOrd="3" destOrd="0" parTransId="{27E78313-E23F-FC4D-9E8E-CC23CDC08F20}" sibTransId="{62A08F34-709E-8145-99C7-3B8EFF566206}"/>
    <dgm:cxn modelId="{C26CF673-0E1E-CC46-A6D4-45E22FC81D1F}" type="presOf" srcId="{4C7AB5D6-A31F-1046-8FDF-A1AFF4044342}" destId="{43FB68EF-01F5-C24B-89F6-A34C6D98A7E9}" srcOrd="0" destOrd="0" presId="urn:microsoft.com/office/officeart/2005/8/layout/vList3"/>
    <dgm:cxn modelId="{99C95F80-7C09-C24E-ADD2-7B712B111C38}" type="presOf" srcId="{737F8ACF-DA9F-794F-97AF-8494DC8C41DD}" destId="{F4B7EFF2-69B2-EB45-A229-95657A516E17}" srcOrd="0" destOrd="0" presId="urn:microsoft.com/office/officeart/2005/8/layout/vList3"/>
    <dgm:cxn modelId="{3CC44D87-481B-3243-A148-EABFD07A62AA}" srcId="{9B0322A2-04D1-9B4A-AFBE-637420FC70CA}" destId="{4C7AB5D6-A31F-1046-8FDF-A1AFF4044342}" srcOrd="4" destOrd="0" parTransId="{5B735AE0-D970-284B-8892-1129F83E2E07}" sibTransId="{1CAAA2D9-EE5B-8A49-A0EA-94C1BCF8C286}"/>
    <dgm:cxn modelId="{FEADCBE4-63A4-0746-A73C-BA892C961313}" srcId="{9B0322A2-04D1-9B4A-AFBE-637420FC70CA}" destId="{D61E8C4B-83B1-6141-BC93-DB3A2D637E65}" srcOrd="2" destOrd="0" parTransId="{39633656-1D75-4D47-814D-3AE55C9FAC4F}" sibTransId="{FCD11EBC-0635-BB4F-A06F-57BA7B52C0BD}"/>
    <dgm:cxn modelId="{7E6BAE93-23FE-FD48-894B-6B7A1431B8E7}" type="presParOf" srcId="{FA28B158-B89F-6548-BC91-5B3BC6A03976}" destId="{DDEA1B25-38AD-044E-90C8-58B4B119F0A4}" srcOrd="0" destOrd="0" presId="urn:microsoft.com/office/officeart/2005/8/layout/vList3"/>
    <dgm:cxn modelId="{340AF7D0-2F31-3140-A5AA-B201517AC378}" type="presParOf" srcId="{DDEA1B25-38AD-044E-90C8-58B4B119F0A4}" destId="{461663A7-095E-5349-A58D-186EEEBCE797}" srcOrd="0" destOrd="0" presId="urn:microsoft.com/office/officeart/2005/8/layout/vList3"/>
    <dgm:cxn modelId="{07FE8005-91A4-BC46-B93E-E6B52E94C790}" type="presParOf" srcId="{DDEA1B25-38AD-044E-90C8-58B4B119F0A4}" destId="{BBA26809-E33A-8441-BB70-723BCB5A1C85}" srcOrd="1" destOrd="0" presId="urn:microsoft.com/office/officeart/2005/8/layout/vList3"/>
    <dgm:cxn modelId="{C1C3CB28-9749-2F40-AABB-381D23C509C2}" type="presParOf" srcId="{FA28B158-B89F-6548-BC91-5B3BC6A03976}" destId="{3A9646A3-E861-714A-9687-76EDA4C5096C}" srcOrd="1" destOrd="0" presId="urn:microsoft.com/office/officeart/2005/8/layout/vList3"/>
    <dgm:cxn modelId="{3F82A1AE-671A-6C42-B263-8CA75C0C7FA2}" type="presParOf" srcId="{FA28B158-B89F-6548-BC91-5B3BC6A03976}" destId="{8C1438E6-3B83-6F43-AF2A-5BC6696C2518}" srcOrd="2" destOrd="0" presId="urn:microsoft.com/office/officeart/2005/8/layout/vList3"/>
    <dgm:cxn modelId="{ABE36C66-43A7-AB44-9C48-AB6D814D21B9}" type="presParOf" srcId="{8C1438E6-3B83-6F43-AF2A-5BC6696C2518}" destId="{91C536B7-3FF0-7540-A9E6-94ED27AD4BFD}" srcOrd="0" destOrd="0" presId="urn:microsoft.com/office/officeart/2005/8/layout/vList3"/>
    <dgm:cxn modelId="{599ACF84-00F8-B346-8FAA-AD9179FDA902}" type="presParOf" srcId="{8C1438E6-3B83-6F43-AF2A-5BC6696C2518}" destId="{F4B7EFF2-69B2-EB45-A229-95657A516E17}" srcOrd="1" destOrd="0" presId="urn:microsoft.com/office/officeart/2005/8/layout/vList3"/>
    <dgm:cxn modelId="{79DBFA8F-BE7F-9140-AFF2-EA622381BFAE}" type="presParOf" srcId="{FA28B158-B89F-6548-BC91-5B3BC6A03976}" destId="{494A97EF-B9FA-CE4A-9B41-1D7814DAF4A6}" srcOrd="3" destOrd="0" presId="urn:microsoft.com/office/officeart/2005/8/layout/vList3"/>
    <dgm:cxn modelId="{847AC919-1D95-AC47-A733-AE3956E747EE}" type="presParOf" srcId="{FA28B158-B89F-6548-BC91-5B3BC6A03976}" destId="{AD26E4BF-2287-6545-BD2A-9E9F112E42F2}" srcOrd="4" destOrd="0" presId="urn:microsoft.com/office/officeart/2005/8/layout/vList3"/>
    <dgm:cxn modelId="{266D3389-34F0-3647-9F77-FD766FA6FA32}" type="presParOf" srcId="{AD26E4BF-2287-6545-BD2A-9E9F112E42F2}" destId="{D40C6A89-69F2-4547-B292-3B110D581711}" srcOrd="0" destOrd="0" presId="urn:microsoft.com/office/officeart/2005/8/layout/vList3"/>
    <dgm:cxn modelId="{4844238A-4B09-454C-9EB4-063E41818B6F}" type="presParOf" srcId="{AD26E4BF-2287-6545-BD2A-9E9F112E42F2}" destId="{67AA8280-0D44-A94E-8043-2EEFE276D1E9}" srcOrd="1" destOrd="0" presId="urn:microsoft.com/office/officeart/2005/8/layout/vList3"/>
    <dgm:cxn modelId="{DE31FB3E-8F1C-B644-9F74-7F6603CBE609}" type="presParOf" srcId="{FA28B158-B89F-6548-BC91-5B3BC6A03976}" destId="{7D4638E8-A0DE-2443-8760-D2B6E693FF23}" srcOrd="5" destOrd="0" presId="urn:microsoft.com/office/officeart/2005/8/layout/vList3"/>
    <dgm:cxn modelId="{DB3748E0-C3BA-0847-A553-908637DAC22E}" type="presParOf" srcId="{FA28B158-B89F-6548-BC91-5B3BC6A03976}" destId="{F697070B-8B88-F441-892E-1DDD0AF45A64}" srcOrd="6" destOrd="0" presId="urn:microsoft.com/office/officeart/2005/8/layout/vList3"/>
    <dgm:cxn modelId="{C55E6331-A96E-0A4F-A77B-AF1036F4521D}" type="presParOf" srcId="{F697070B-8B88-F441-892E-1DDD0AF45A64}" destId="{BD4E3E7B-E244-FD4B-95F0-3CD7EAD42C42}" srcOrd="0" destOrd="0" presId="urn:microsoft.com/office/officeart/2005/8/layout/vList3"/>
    <dgm:cxn modelId="{50F07FAF-9F82-1E4E-8F47-AC51096A2699}" type="presParOf" srcId="{F697070B-8B88-F441-892E-1DDD0AF45A64}" destId="{CEECF6D7-B242-034B-9EBA-1DE376851B65}" srcOrd="1" destOrd="0" presId="urn:microsoft.com/office/officeart/2005/8/layout/vList3"/>
    <dgm:cxn modelId="{314B743E-A452-3E4D-AE27-F8A78F413A21}" type="presParOf" srcId="{FA28B158-B89F-6548-BC91-5B3BC6A03976}" destId="{ABCA5B62-D309-2D4A-8D9A-0BD4C76FD0EF}" srcOrd="7" destOrd="0" presId="urn:microsoft.com/office/officeart/2005/8/layout/vList3"/>
    <dgm:cxn modelId="{DD43933D-2BFA-BD42-8188-2141A7F5BB5F}" type="presParOf" srcId="{FA28B158-B89F-6548-BC91-5B3BC6A03976}" destId="{B51B8F56-82B1-3147-9CB7-AE8DD2A5B29E}" srcOrd="8" destOrd="0" presId="urn:microsoft.com/office/officeart/2005/8/layout/vList3"/>
    <dgm:cxn modelId="{4005E062-C531-344C-A5FD-AF7EA505F9D8}" type="presParOf" srcId="{B51B8F56-82B1-3147-9CB7-AE8DD2A5B29E}" destId="{7CD4DBAE-3334-D541-8C7D-FC4CB0F79389}" srcOrd="0" destOrd="0" presId="urn:microsoft.com/office/officeart/2005/8/layout/vList3"/>
    <dgm:cxn modelId="{C9524FC5-4AE6-B04F-A5DD-AF19B89EC67F}" type="presParOf" srcId="{B51B8F56-82B1-3147-9CB7-AE8DD2A5B29E}" destId="{43FB68EF-01F5-C24B-89F6-A34C6D98A7E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0322A2-04D1-9B4A-AFBE-637420FC70CA}" type="doc">
      <dgm:prSet loTypeId="urn:microsoft.com/office/officeart/2005/8/layout/vList3" loCatId="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ru-RU"/>
        </a:p>
      </dgm:t>
    </dgm:pt>
    <dgm:pt modelId="{264106F1-4E3F-1348-9926-864509FC5B26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комплексный анализ проблемы, выявлены барьеры</a:t>
          </a:r>
          <a:endParaRPr lang="ru-RU" sz="2400" b="0" i="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77AB77B0-FC5F-1B49-B62D-388F78A3575E}" type="parTrans" cxnId="{3D5CC35C-DAE7-1144-A58F-A89BC1590CDE}">
      <dgm:prSet/>
      <dgm:spPr/>
      <dgm:t>
        <a:bodyPr/>
        <a:lstStyle/>
        <a:p>
          <a:endParaRPr lang="ru-RU"/>
        </a:p>
      </dgm:t>
    </dgm:pt>
    <dgm:pt modelId="{938DDC3B-226C-B64C-9C80-E869FD1E849B}" type="sibTrans" cxnId="{3D5CC35C-DAE7-1144-A58F-A89BC1590CDE}">
      <dgm:prSet/>
      <dgm:spPr/>
      <dgm:t>
        <a:bodyPr/>
        <a:lstStyle/>
        <a:p>
          <a:endParaRPr lang="ru-RU"/>
        </a:p>
      </dgm:t>
    </dgm:pt>
    <dgm:pt modelId="{737F8ACF-DA9F-794F-97AF-8494DC8C41DD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критический анализ существующих цифровых решений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B18A813F-35E4-0B41-8C17-11657748886A}" type="parTrans" cxnId="{1FC5AF25-D0EF-1049-B1AA-30CC5925A7A3}">
      <dgm:prSet/>
      <dgm:spPr/>
      <dgm:t>
        <a:bodyPr/>
        <a:lstStyle/>
        <a:p>
          <a:endParaRPr lang="ru-RU"/>
        </a:p>
      </dgm:t>
    </dgm:pt>
    <dgm:pt modelId="{2D8F7AD0-DD5E-4A45-9E6A-ECD67B623543}" type="sibTrans" cxnId="{1FC5AF25-D0EF-1049-B1AA-30CC5925A7A3}">
      <dgm:prSet/>
      <dgm:spPr/>
      <dgm:t>
        <a:bodyPr/>
        <a:lstStyle/>
        <a:p>
          <a:endParaRPr lang="ru-RU"/>
        </a:p>
      </dgm:t>
    </dgm:pt>
    <dgm:pt modelId="{D61E8C4B-83B1-6141-BC93-DB3A2D637E65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Сформулированы требования к разрабатываемой методике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и системе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39633656-1D75-4D47-814D-3AE55C9FAC4F}" type="parTrans" cxnId="{FEADCBE4-63A4-0746-A73C-BA892C961313}">
      <dgm:prSet/>
      <dgm:spPr/>
      <dgm:t>
        <a:bodyPr/>
        <a:lstStyle/>
        <a:p>
          <a:endParaRPr lang="ru-RU"/>
        </a:p>
      </dgm:t>
    </dgm:pt>
    <dgm:pt modelId="{FCD11EBC-0635-BB4F-A06F-57BA7B52C0BD}" type="sibTrans" cxnId="{FEADCBE4-63A4-0746-A73C-BA892C961313}">
      <dgm:prSet/>
      <dgm:spPr/>
      <dgm:t>
        <a:bodyPr/>
        <a:lstStyle/>
        <a:p>
          <a:endParaRPr lang="ru-RU"/>
        </a:p>
      </dgm:t>
    </dgm:pt>
    <dgm:pt modelId="{4C7AB5D6-A31F-1046-8FDF-A1AFF404434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эксперимент подтвердивший эффективность </a:t>
          </a:r>
          <a:r>
            <a: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методики</a:t>
          </a:r>
          <a:endParaRPr lang="ru-RU" sz="2400" dirty="0">
            <a:solidFill>
              <a:schemeClr val="tx1"/>
            </a:solidFill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5B735AE0-D970-284B-8892-1129F83E2E07}" type="parTrans" cxnId="{3CC44D87-481B-3243-A148-EABFD07A62AA}">
      <dgm:prSet/>
      <dgm:spPr/>
      <dgm:t>
        <a:bodyPr/>
        <a:lstStyle/>
        <a:p>
          <a:endParaRPr lang="ru-RU"/>
        </a:p>
      </dgm:t>
    </dgm:pt>
    <dgm:pt modelId="{1CAAA2D9-EE5B-8A49-A0EA-94C1BCF8C286}" type="sibTrans" cxnId="{3CC44D87-481B-3243-A148-EABFD07A62AA}">
      <dgm:prSet/>
      <dgm:spPr/>
      <dgm:t>
        <a:bodyPr/>
        <a:lstStyle/>
        <a:p>
          <a:endParaRPr lang="ru-RU"/>
        </a:p>
      </dgm:t>
    </dgm:pt>
    <dgm:pt modelId="{EBA695E6-3616-584B-ADB9-1BC767543C2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Разработана методика и реализован сервис на ее основе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27E78313-E23F-FC4D-9E8E-CC23CDC08F20}" type="parTrans" cxnId="{EA42916E-61F2-D149-AE42-B6214319DAAB}">
      <dgm:prSet/>
      <dgm:spPr/>
      <dgm:t>
        <a:bodyPr/>
        <a:lstStyle/>
        <a:p>
          <a:endParaRPr lang="ru-RU"/>
        </a:p>
      </dgm:t>
    </dgm:pt>
    <dgm:pt modelId="{62A08F34-709E-8145-99C7-3B8EFF566206}" type="sibTrans" cxnId="{EA42916E-61F2-D149-AE42-B6214319DAAB}">
      <dgm:prSet/>
      <dgm:spPr/>
      <dgm:t>
        <a:bodyPr/>
        <a:lstStyle/>
        <a:p>
          <a:endParaRPr lang="ru-RU"/>
        </a:p>
      </dgm:t>
    </dgm:pt>
    <dgm:pt modelId="{FA28B158-B89F-6548-BC91-5B3BC6A03976}" type="pres">
      <dgm:prSet presAssocID="{9B0322A2-04D1-9B4A-AFBE-637420FC70CA}" presName="linearFlow" presStyleCnt="0">
        <dgm:presLayoutVars>
          <dgm:dir/>
          <dgm:resizeHandles val="exact"/>
        </dgm:presLayoutVars>
      </dgm:prSet>
      <dgm:spPr/>
    </dgm:pt>
    <dgm:pt modelId="{DDEA1B25-38AD-044E-90C8-58B4B119F0A4}" type="pres">
      <dgm:prSet presAssocID="{264106F1-4E3F-1348-9926-864509FC5B26}" presName="composite" presStyleCnt="0"/>
      <dgm:spPr/>
    </dgm:pt>
    <dgm:pt modelId="{461663A7-095E-5349-A58D-186EEEBCE797}" type="pres">
      <dgm:prSet presAssocID="{264106F1-4E3F-1348-9926-864509FC5B26}" presName="imgShp" presStyleLbl="fgImgPlace1" presStyleIdx="0" presStyleCnt="5"/>
      <dgm:spPr>
        <a:solidFill>
          <a:srgbClr val="274E9C"/>
        </a:solidFill>
        <a:ln>
          <a:noFill/>
        </a:ln>
      </dgm:spPr>
    </dgm:pt>
    <dgm:pt modelId="{BBA26809-E33A-8441-BB70-723BCB5A1C85}" type="pres">
      <dgm:prSet presAssocID="{264106F1-4E3F-1348-9926-864509FC5B26}" presName="txShp" presStyleLbl="node1" presStyleIdx="0" presStyleCnt="5">
        <dgm:presLayoutVars>
          <dgm:bulletEnabled val="1"/>
        </dgm:presLayoutVars>
      </dgm:prSet>
      <dgm:spPr/>
    </dgm:pt>
    <dgm:pt modelId="{3A9646A3-E861-714A-9687-76EDA4C5096C}" type="pres">
      <dgm:prSet presAssocID="{938DDC3B-226C-B64C-9C80-E869FD1E849B}" presName="spacing" presStyleCnt="0"/>
      <dgm:spPr/>
    </dgm:pt>
    <dgm:pt modelId="{8C1438E6-3B83-6F43-AF2A-5BC6696C2518}" type="pres">
      <dgm:prSet presAssocID="{737F8ACF-DA9F-794F-97AF-8494DC8C41DD}" presName="composite" presStyleCnt="0"/>
      <dgm:spPr/>
    </dgm:pt>
    <dgm:pt modelId="{91C536B7-3FF0-7540-A9E6-94ED27AD4BFD}" type="pres">
      <dgm:prSet presAssocID="{737F8ACF-DA9F-794F-97AF-8494DC8C41DD}" presName="imgShp" presStyleLbl="fgImgPlace1" presStyleIdx="1" presStyleCnt="5"/>
      <dgm:spPr>
        <a:solidFill>
          <a:srgbClr val="274E9C"/>
        </a:solidFill>
        <a:ln>
          <a:noFill/>
        </a:ln>
      </dgm:spPr>
    </dgm:pt>
    <dgm:pt modelId="{F4B7EFF2-69B2-EB45-A229-95657A516E17}" type="pres">
      <dgm:prSet presAssocID="{737F8ACF-DA9F-794F-97AF-8494DC8C41DD}" presName="txShp" presStyleLbl="node1" presStyleIdx="1" presStyleCnt="5">
        <dgm:presLayoutVars>
          <dgm:bulletEnabled val="1"/>
        </dgm:presLayoutVars>
      </dgm:prSet>
      <dgm:spPr/>
    </dgm:pt>
    <dgm:pt modelId="{494A97EF-B9FA-CE4A-9B41-1D7814DAF4A6}" type="pres">
      <dgm:prSet presAssocID="{2D8F7AD0-DD5E-4A45-9E6A-ECD67B623543}" presName="spacing" presStyleCnt="0"/>
      <dgm:spPr/>
    </dgm:pt>
    <dgm:pt modelId="{AD26E4BF-2287-6545-BD2A-9E9F112E42F2}" type="pres">
      <dgm:prSet presAssocID="{D61E8C4B-83B1-6141-BC93-DB3A2D637E65}" presName="composite" presStyleCnt="0"/>
      <dgm:spPr/>
    </dgm:pt>
    <dgm:pt modelId="{D40C6A89-69F2-4547-B292-3B110D581711}" type="pres">
      <dgm:prSet presAssocID="{D61E8C4B-83B1-6141-BC93-DB3A2D637E65}" presName="imgShp" presStyleLbl="fgImgPlace1" presStyleIdx="2" presStyleCnt="5"/>
      <dgm:spPr>
        <a:solidFill>
          <a:srgbClr val="274E9C"/>
        </a:solidFill>
        <a:ln>
          <a:noFill/>
        </a:ln>
      </dgm:spPr>
    </dgm:pt>
    <dgm:pt modelId="{67AA8280-0D44-A94E-8043-2EEFE276D1E9}" type="pres">
      <dgm:prSet presAssocID="{D61E8C4B-83B1-6141-BC93-DB3A2D637E65}" presName="txShp" presStyleLbl="node1" presStyleIdx="2" presStyleCnt="5">
        <dgm:presLayoutVars>
          <dgm:bulletEnabled val="1"/>
        </dgm:presLayoutVars>
      </dgm:prSet>
      <dgm:spPr/>
    </dgm:pt>
    <dgm:pt modelId="{7D4638E8-A0DE-2443-8760-D2B6E693FF23}" type="pres">
      <dgm:prSet presAssocID="{FCD11EBC-0635-BB4F-A06F-57BA7B52C0BD}" presName="spacing" presStyleCnt="0"/>
      <dgm:spPr/>
    </dgm:pt>
    <dgm:pt modelId="{F697070B-8B88-F441-892E-1DDD0AF45A64}" type="pres">
      <dgm:prSet presAssocID="{EBA695E6-3616-584B-ADB9-1BC767543C22}" presName="composite" presStyleCnt="0"/>
      <dgm:spPr/>
    </dgm:pt>
    <dgm:pt modelId="{BD4E3E7B-E244-FD4B-95F0-3CD7EAD42C42}" type="pres">
      <dgm:prSet presAssocID="{EBA695E6-3616-584B-ADB9-1BC767543C22}" presName="imgShp" presStyleLbl="fgImgPlace1" presStyleIdx="3" presStyleCnt="5"/>
      <dgm:spPr>
        <a:solidFill>
          <a:srgbClr val="274E9C"/>
        </a:solidFill>
        <a:ln>
          <a:noFill/>
        </a:ln>
      </dgm:spPr>
    </dgm:pt>
    <dgm:pt modelId="{CEECF6D7-B242-034B-9EBA-1DE376851B65}" type="pres">
      <dgm:prSet presAssocID="{EBA695E6-3616-584B-ADB9-1BC767543C22}" presName="txShp" presStyleLbl="node1" presStyleIdx="3" presStyleCnt="5">
        <dgm:presLayoutVars>
          <dgm:bulletEnabled val="1"/>
        </dgm:presLayoutVars>
      </dgm:prSet>
      <dgm:spPr/>
    </dgm:pt>
    <dgm:pt modelId="{ABCA5B62-D309-2D4A-8D9A-0BD4C76FD0EF}" type="pres">
      <dgm:prSet presAssocID="{62A08F34-709E-8145-99C7-3B8EFF566206}" presName="spacing" presStyleCnt="0"/>
      <dgm:spPr/>
    </dgm:pt>
    <dgm:pt modelId="{B51B8F56-82B1-3147-9CB7-AE8DD2A5B29E}" type="pres">
      <dgm:prSet presAssocID="{4C7AB5D6-A31F-1046-8FDF-A1AFF4044342}" presName="composite" presStyleCnt="0"/>
      <dgm:spPr/>
    </dgm:pt>
    <dgm:pt modelId="{7CD4DBAE-3334-D541-8C7D-FC4CB0F79389}" type="pres">
      <dgm:prSet presAssocID="{4C7AB5D6-A31F-1046-8FDF-A1AFF4044342}" presName="imgShp" presStyleLbl="fgImgPlace1" presStyleIdx="4" presStyleCnt="5"/>
      <dgm:spPr>
        <a:solidFill>
          <a:srgbClr val="274E9C"/>
        </a:solidFill>
        <a:ln>
          <a:noFill/>
        </a:ln>
      </dgm:spPr>
    </dgm:pt>
    <dgm:pt modelId="{43FB68EF-01F5-C24B-89F6-A34C6D98A7E9}" type="pres">
      <dgm:prSet presAssocID="{4C7AB5D6-A31F-1046-8FDF-A1AFF4044342}" presName="txShp" presStyleLbl="node1" presStyleIdx="4" presStyleCnt="5">
        <dgm:presLayoutVars>
          <dgm:bulletEnabled val="1"/>
        </dgm:presLayoutVars>
      </dgm:prSet>
      <dgm:spPr/>
    </dgm:pt>
  </dgm:ptLst>
  <dgm:cxnLst>
    <dgm:cxn modelId="{DF989020-3809-3F42-932C-D74D2D49C988}" type="presOf" srcId="{EBA695E6-3616-584B-ADB9-1BC767543C22}" destId="{CEECF6D7-B242-034B-9EBA-1DE376851B65}" srcOrd="0" destOrd="0" presId="urn:microsoft.com/office/officeart/2005/8/layout/vList3"/>
    <dgm:cxn modelId="{1FC5AF25-D0EF-1049-B1AA-30CC5925A7A3}" srcId="{9B0322A2-04D1-9B4A-AFBE-637420FC70CA}" destId="{737F8ACF-DA9F-794F-97AF-8494DC8C41DD}" srcOrd="1" destOrd="0" parTransId="{B18A813F-35E4-0B41-8C17-11657748886A}" sibTransId="{2D8F7AD0-DD5E-4A45-9E6A-ECD67B623543}"/>
    <dgm:cxn modelId="{8DD43C3B-B551-C843-B92E-3C6AA3DE85D5}" type="presOf" srcId="{D61E8C4B-83B1-6141-BC93-DB3A2D637E65}" destId="{67AA8280-0D44-A94E-8043-2EEFE276D1E9}" srcOrd="0" destOrd="0" presId="urn:microsoft.com/office/officeart/2005/8/layout/vList3"/>
    <dgm:cxn modelId="{D0CC0F3F-05BC-6946-9F48-9961E04B1665}" type="presOf" srcId="{9B0322A2-04D1-9B4A-AFBE-637420FC70CA}" destId="{FA28B158-B89F-6548-BC91-5B3BC6A03976}" srcOrd="0" destOrd="0" presId="urn:microsoft.com/office/officeart/2005/8/layout/vList3"/>
    <dgm:cxn modelId="{3D5CC35C-DAE7-1144-A58F-A89BC1590CDE}" srcId="{9B0322A2-04D1-9B4A-AFBE-637420FC70CA}" destId="{264106F1-4E3F-1348-9926-864509FC5B26}" srcOrd="0" destOrd="0" parTransId="{77AB77B0-FC5F-1B49-B62D-388F78A3575E}" sibTransId="{938DDC3B-226C-B64C-9C80-E869FD1E849B}"/>
    <dgm:cxn modelId="{5E5A6346-DC91-D747-B577-DF8BF46525A4}" type="presOf" srcId="{264106F1-4E3F-1348-9926-864509FC5B26}" destId="{BBA26809-E33A-8441-BB70-723BCB5A1C85}" srcOrd="0" destOrd="0" presId="urn:microsoft.com/office/officeart/2005/8/layout/vList3"/>
    <dgm:cxn modelId="{EA42916E-61F2-D149-AE42-B6214319DAAB}" srcId="{9B0322A2-04D1-9B4A-AFBE-637420FC70CA}" destId="{EBA695E6-3616-584B-ADB9-1BC767543C22}" srcOrd="3" destOrd="0" parTransId="{27E78313-E23F-FC4D-9E8E-CC23CDC08F20}" sibTransId="{62A08F34-709E-8145-99C7-3B8EFF566206}"/>
    <dgm:cxn modelId="{C26CF673-0E1E-CC46-A6D4-45E22FC81D1F}" type="presOf" srcId="{4C7AB5D6-A31F-1046-8FDF-A1AFF4044342}" destId="{43FB68EF-01F5-C24B-89F6-A34C6D98A7E9}" srcOrd="0" destOrd="0" presId="urn:microsoft.com/office/officeart/2005/8/layout/vList3"/>
    <dgm:cxn modelId="{99C95F80-7C09-C24E-ADD2-7B712B111C38}" type="presOf" srcId="{737F8ACF-DA9F-794F-97AF-8494DC8C41DD}" destId="{F4B7EFF2-69B2-EB45-A229-95657A516E17}" srcOrd="0" destOrd="0" presId="urn:microsoft.com/office/officeart/2005/8/layout/vList3"/>
    <dgm:cxn modelId="{3CC44D87-481B-3243-A148-EABFD07A62AA}" srcId="{9B0322A2-04D1-9B4A-AFBE-637420FC70CA}" destId="{4C7AB5D6-A31F-1046-8FDF-A1AFF4044342}" srcOrd="4" destOrd="0" parTransId="{5B735AE0-D970-284B-8892-1129F83E2E07}" sibTransId="{1CAAA2D9-EE5B-8A49-A0EA-94C1BCF8C286}"/>
    <dgm:cxn modelId="{FEADCBE4-63A4-0746-A73C-BA892C961313}" srcId="{9B0322A2-04D1-9B4A-AFBE-637420FC70CA}" destId="{D61E8C4B-83B1-6141-BC93-DB3A2D637E65}" srcOrd="2" destOrd="0" parTransId="{39633656-1D75-4D47-814D-3AE55C9FAC4F}" sibTransId="{FCD11EBC-0635-BB4F-A06F-57BA7B52C0BD}"/>
    <dgm:cxn modelId="{7E6BAE93-23FE-FD48-894B-6B7A1431B8E7}" type="presParOf" srcId="{FA28B158-B89F-6548-BC91-5B3BC6A03976}" destId="{DDEA1B25-38AD-044E-90C8-58B4B119F0A4}" srcOrd="0" destOrd="0" presId="urn:microsoft.com/office/officeart/2005/8/layout/vList3"/>
    <dgm:cxn modelId="{340AF7D0-2F31-3140-A5AA-B201517AC378}" type="presParOf" srcId="{DDEA1B25-38AD-044E-90C8-58B4B119F0A4}" destId="{461663A7-095E-5349-A58D-186EEEBCE797}" srcOrd="0" destOrd="0" presId="urn:microsoft.com/office/officeart/2005/8/layout/vList3"/>
    <dgm:cxn modelId="{07FE8005-91A4-BC46-B93E-E6B52E94C790}" type="presParOf" srcId="{DDEA1B25-38AD-044E-90C8-58B4B119F0A4}" destId="{BBA26809-E33A-8441-BB70-723BCB5A1C85}" srcOrd="1" destOrd="0" presId="urn:microsoft.com/office/officeart/2005/8/layout/vList3"/>
    <dgm:cxn modelId="{C1C3CB28-9749-2F40-AABB-381D23C509C2}" type="presParOf" srcId="{FA28B158-B89F-6548-BC91-5B3BC6A03976}" destId="{3A9646A3-E861-714A-9687-76EDA4C5096C}" srcOrd="1" destOrd="0" presId="urn:microsoft.com/office/officeart/2005/8/layout/vList3"/>
    <dgm:cxn modelId="{3F82A1AE-671A-6C42-B263-8CA75C0C7FA2}" type="presParOf" srcId="{FA28B158-B89F-6548-BC91-5B3BC6A03976}" destId="{8C1438E6-3B83-6F43-AF2A-5BC6696C2518}" srcOrd="2" destOrd="0" presId="urn:microsoft.com/office/officeart/2005/8/layout/vList3"/>
    <dgm:cxn modelId="{ABE36C66-43A7-AB44-9C48-AB6D814D21B9}" type="presParOf" srcId="{8C1438E6-3B83-6F43-AF2A-5BC6696C2518}" destId="{91C536B7-3FF0-7540-A9E6-94ED27AD4BFD}" srcOrd="0" destOrd="0" presId="urn:microsoft.com/office/officeart/2005/8/layout/vList3"/>
    <dgm:cxn modelId="{599ACF84-00F8-B346-8FAA-AD9179FDA902}" type="presParOf" srcId="{8C1438E6-3B83-6F43-AF2A-5BC6696C2518}" destId="{F4B7EFF2-69B2-EB45-A229-95657A516E17}" srcOrd="1" destOrd="0" presId="urn:microsoft.com/office/officeart/2005/8/layout/vList3"/>
    <dgm:cxn modelId="{79DBFA8F-BE7F-9140-AFF2-EA622381BFAE}" type="presParOf" srcId="{FA28B158-B89F-6548-BC91-5B3BC6A03976}" destId="{494A97EF-B9FA-CE4A-9B41-1D7814DAF4A6}" srcOrd="3" destOrd="0" presId="urn:microsoft.com/office/officeart/2005/8/layout/vList3"/>
    <dgm:cxn modelId="{847AC919-1D95-AC47-A733-AE3956E747EE}" type="presParOf" srcId="{FA28B158-B89F-6548-BC91-5B3BC6A03976}" destId="{AD26E4BF-2287-6545-BD2A-9E9F112E42F2}" srcOrd="4" destOrd="0" presId="urn:microsoft.com/office/officeart/2005/8/layout/vList3"/>
    <dgm:cxn modelId="{266D3389-34F0-3647-9F77-FD766FA6FA32}" type="presParOf" srcId="{AD26E4BF-2287-6545-BD2A-9E9F112E42F2}" destId="{D40C6A89-69F2-4547-B292-3B110D581711}" srcOrd="0" destOrd="0" presId="urn:microsoft.com/office/officeart/2005/8/layout/vList3"/>
    <dgm:cxn modelId="{4844238A-4B09-454C-9EB4-063E41818B6F}" type="presParOf" srcId="{AD26E4BF-2287-6545-BD2A-9E9F112E42F2}" destId="{67AA8280-0D44-A94E-8043-2EEFE276D1E9}" srcOrd="1" destOrd="0" presId="urn:microsoft.com/office/officeart/2005/8/layout/vList3"/>
    <dgm:cxn modelId="{DE31FB3E-8F1C-B644-9F74-7F6603CBE609}" type="presParOf" srcId="{FA28B158-B89F-6548-BC91-5B3BC6A03976}" destId="{7D4638E8-A0DE-2443-8760-D2B6E693FF23}" srcOrd="5" destOrd="0" presId="urn:microsoft.com/office/officeart/2005/8/layout/vList3"/>
    <dgm:cxn modelId="{DB3748E0-C3BA-0847-A553-908637DAC22E}" type="presParOf" srcId="{FA28B158-B89F-6548-BC91-5B3BC6A03976}" destId="{F697070B-8B88-F441-892E-1DDD0AF45A64}" srcOrd="6" destOrd="0" presId="urn:microsoft.com/office/officeart/2005/8/layout/vList3"/>
    <dgm:cxn modelId="{C55E6331-A96E-0A4F-A77B-AF1036F4521D}" type="presParOf" srcId="{F697070B-8B88-F441-892E-1DDD0AF45A64}" destId="{BD4E3E7B-E244-FD4B-95F0-3CD7EAD42C42}" srcOrd="0" destOrd="0" presId="urn:microsoft.com/office/officeart/2005/8/layout/vList3"/>
    <dgm:cxn modelId="{50F07FAF-9F82-1E4E-8F47-AC51096A2699}" type="presParOf" srcId="{F697070B-8B88-F441-892E-1DDD0AF45A64}" destId="{CEECF6D7-B242-034B-9EBA-1DE376851B65}" srcOrd="1" destOrd="0" presId="urn:microsoft.com/office/officeart/2005/8/layout/vList3"/>
    <dgm:cxn modelId="{314B743E-A452-3E4D-AE27-F8A78F413A21}" type="presParOf" srcId="{FA28B158-B89F-6548-BC91-5B3BC6A03976}" destId="{ABCA5B62-D309-2D4A-8D9A-0BD4C76FD0EF}" srcOrd="7" destOrd="0" presId="urn:microsoft.com/office/officeart/2005/8/layout/vList3"/>
    <dgm:cxn modelId="{DD43933D-2BFA-BD42-8188-2141A7F5BB5F}" type="presParOf" srcId="{FA28B158-B89F-6548-BC91-5B3BC6A03976}" destId="{B51B8F56-82B1-3147-9CB7-AE8DD2A5B29E}" srcOrd="8" destOrd="0" presId="urn:microsoft.com/office/officeart/2005/8/layout/vList3"/>
    <dgm:cxn modelId="{4005E062-C531-344C-A5FD-AF7EA505F9D8}" type="presParOf" srcId="{B51B8F56-82B1-3147-9CB7-AE8DD2A5B29E}" destId="{7CD4DBAE-3334-D541-8C7D-FC4CB0F79389}" srcOrd="0" destOrd="0" presId="urn:microsoft.com/office/officeart/2005/8/layout/vList3"/>
    <dgm:cxn modelId="{C9524FC5-4AE6-B04F-A5DD-AF19B89EC67F}" type="presParOf" srcId="{B51B8F56-82B1-3147-9CB7-AE8DD2A5B29E}" destId="{43FB68EF-01F5-C24B-89F6-A34C6D98A7E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26809-E33A-8441-BB70-723BCB5A1C85}">
      <dsp:nvSpPr>
        <dsp:cNvPr id="0" name=""/>
        <dsp:cNvSpPr/>
      </dsp:nvSpPr>
      <dsp:spPr>
        <a:xfrm rot="10800000">
          <a:off x="1759187" y="5326"/>
          <a:ext cx="6114006" cy="867146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6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комплексный анализ проблемы, выявить </a:t>
          </a:r>
          <a:r>
            <a:rPr lang="ru-RU" sz="2400" strike="noStrik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барьеры узкие места</a:t>
          </a:r>
          <a:endParaRPr lang="ru-RU" sz="2400" b="0" i="0" strike="noStrike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75973" y="5326"/>
        <a:ext cx="5897220" cy="867146"/>
      </dsp:txXfrm>
    </dsp:sp>
    <dsp:sp modelId="{461663A7-095E-5349-A58D-186EEEBCE797}">
      <dsp:nvSpPr>
        <dsp:cNvPr id="0" name=""/>
        <dsp:cNvSpPr/>
      </dsp:nvSpPr>
      <dsp:spPr>
        <a:xfrm>
          <a:off x="1320800" y="513"/>
          <a:ext cx="876773" cy="876773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7EFF2-69B2-EB45-A229-95657A516E17}">
      <dsp:nvSpPr>
        <dsp:cNvPr id="0" name=""/>
        <dsp:cNvSpPr/>
      </dsp:nvSpPr>
      <dsp:spPr>
        <a:xfrm rot="10800000">
          <a:off x="1759187" y="1139010"/>
          <a:ext cx="6114006" cy="876773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6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критический анализ существующих цифровых решений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78380" y="1139010"/>
        <a:ext cx="5894813" cy="876773"/>
      </dsp:txXfrm>
    </dsp:sp>
    <dsp:sp modelId="{91C536B7-3FF0-7540-A9E6-94ED27AD4BFD}">
      <dsp:nvSpPr>
        <dsp:cNvPr id="0" name=""/>
        <dsp:cNvSpPr/>
      </dsp:nvSpPr>
      <dsp:spPr>
        <a:xfrm>
          <a:off x="1320800" y="1139010"/>
          <a:ext cx="876773" cy="876773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A8280-0D44-A94E-8043-2EEFE276D1E9}">
      <dsp:nvSpPr>
        <dsp:cNvPr id="0" name=""/>
        <dsp:cNvSpPr/>
      </dsp:nvSpPr>
      <dsp:spPr>
        <a:xfrm rot="10800000">
          <a:off x="1759187" y="2277508"/>
          <a:ext cx="6114006" cy="876773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6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Сформулировать требования к разрабатываемой методике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и системе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78380" y="2277508"/>
        <a:ext cx="5894813" cy="876773"/>
      </dsp:txXfrm>
    </dsp:sp>
    <dsp:sp modelId="{D40C6A89-69F2-4547-B292-3B110D581711}">
      <dsp:nvSpPr>
        <dsp:cNvPr id="0" name=""/>
        <dsp:cNvSpPr/>
      </dsp:nvSpPr>
      <dsp:spPr>
        <a:xfrm>
          <a:off x="1320800" y="2277508"/>
          <a:ext cx="876773" cy="876773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CF6D7-B242-034B-9EBA-1DE376851B65}">
      <dsp:nvSpPr>
        <dsp:cNvPr id="0" name=""/>
        <dsp:cNvSpPr/>
      </dsp:nvSpPr>
      <dsp:spPr>
        <a:xfrm rot="10800000">
          <a:off x="1759187" y="3416005"/>
          <a:ext cx="6114006" cy="876773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6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Разработать методику и реализовать сервис на ее основе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78380" y="3416005"/>
        <a:ext cx="5894813" cy="876773"/>
      </dsp:txXfrm>
    </dsp:sp>
    <dsp:sp modelId="{BD4E3E7B-E244-FD4B-95F0-3CD7EAD42C42}">
      <dsp:nvSpPr>
        <dsp:cNvPr id="0" name=""/>
        <dsp:cNvSpPr/>
      </dsp:nvSpPr>
      <dsp:spPr>
        <a:xfrm>
          <a:off x="1320800" y="3416005"/>
          <a:ext cx="876773" cy="876773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B68EF-01F5-C24B-89F6-A34C6D98A7E9}">
      <dsp:nvSpPr>
        <dsp:cNvPr id="0" name=""/>
        <dsp:cNvSpPr/>
      </dsp:nvSpPr>
      <dsp:spPr>
        <a:xfrm rot="10800000">
          <a:off x="1759187" y="4554503"/>
          <a:ext cx="6114006" cy="876773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6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эксперимент для подтверждения эффективности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78380" y="4554503"/>
        <a:ext cx="5894813" cy="876773"/>
      </dsp:txXfrm>
    </dsp:sp>
    <dsp:sp modelId="{7CD4DBAE-3334-D541-8C7D-FC4CB0F79389}">
      <dsp:nvSpPr>
        <dsp:cNvPr id="0" name=""/>
        <dsp:cNvSpPr/>
      </dsp:nvSpPr>
      <dsp:spPr>
        <a:xfrm>
          <a:off x="1320800" y="4554503"/>
          <a:ext cx="876773" cy="876773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26809-E33A-8441-BB70-723BCB5A1C85}">
      <dsp:nvSpPr>
        <dsp:cNvPr id="0" name=""/>
        <dsp:cNvSpPr/>
      </dsp:nvSpPr>
      <dsp:spPr>
        <a:xfrm rot="10800000">
          <a:off x="1722165" y="1944"/>
          <a:ext cx="5967480" cy="87631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429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комплексный анализ проблемы, выявлены барьеры</a:t>
          </a:r>
          <a:endParaRPr lang="ru-RU" sz="2400" b="0" i="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41243" y="1944"/>
        <a:ext cx="5748402" cy="876311"/>
      </dsp:txXfrm>
    </dsp:sp>
    <dsp:sp modelId="{461663A7-095E-5349-A58D-186EEEBCE797}">
      <dsp:nvSpPr>
        <dsp:cNvPr id="0" name=""/>
        <dsp:cNvSpPr/>
      </dsp:nvSpPr>
      <dsp:spPr>
        <a:xfrm>
          <a:off x="1284009" y="1944"/>
          <a:ext cx="876311" cy="87631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7EFF2-69B2-EB45-A229-95657A516E17}">
      <dsp:nvSpPr>
        <dsp:cNvPr id="0" name=""/>
        <dsp:cNvSpPr/>
      </dsp:nvSpPr>
      <dsp:spPr>
        <a:xfrm rot="10800000">
          <a:off x="1722165" y="1139842"/>
          <a:ext cx="5967480" cy="87631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429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критический анализ существующих цифровых решений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41243" y="1139842"/>
        <a:ext cx="5748402" cy="876311"/>
      </dsp:txXfrm>
    </dsp:sp>
    <dsp:sp modelId="{91C536B7-3FF0-7540-A9E6-94ED27AD4BFD}">
      <dsp:nvSpPr>
        <dsp:cNvPr id="0" name=""/>
        <dsp:cNvSpPr/>
      </dsp:nvSpPr>
      <dsp:spPr>
        <a:xfrm>
          <a:off x="1284009" y="1139842"/>
          <a:ext cx="876311" cy="87631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A8280-0D44-A94E-8043-2EEFE276D1E9}">
      <dsp:nvSpPr>
        <dsp:cNvPr id="0" name=""/>
        <dsp:cNvSpPr/>
      </dsp:nvSpPr>
      <dsp:spPr>
        <a:xfrm rot="10800000">
          <a:off x="1722165" y="2277739"/>
          <a:ext cx="5967480" cy="87631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429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Сформулированы требования к разрабатываемой методике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и системе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41243" y="2277739"/>
        <a:ext cx="5748402" cy="876311"/>
      </dsp:txXfrm>
    </dsp:sp>
    <dsp:sp modelId="{D40C6A89-69F2-4547-B292-3B110D581711}">
      <dsp:nvSpPr>
        <dsp:cNvPr id="0" name=""/>
        <dsp:cNvSpPr/>
      </dsp:nvSpPr>
      <dsp:spPr>
        <a:xfrm>
          <a:off x="1284009" y="2277739"/>
          <a:ext cx="876311" cy="87631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CF6D7-B242-034B-9EBA-1DE376851B65}">
      <dsp:nvSpPr>
        <dsp:cNvPr id="0" name=""/>
        <dsp:cNvSpPr/>
      </dsp:nvSpPr>
      <dsp:spPr>
        <a:xfrm rot="10800000">
          <a:off x="1722165" y="3415636"/>
          <a:ext cx="5967480" cy="87631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429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Разработана методика и реализован сервис на ее основе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41243" y="3415636"/>
        <a:ext cx="5748402" cy="876311"/>
      </dsp:txXfrm>
    </dsp:sp>
    <dsp:sp modelId="{BD4E3E7B-E244-FD4B-95F0-3CD7EAD42C42}">
      <dsp:nvSpPr>
        <dsp:cNvPr id="0" name=""/>
        <dsp:cNvSpPr/>
      </dsp:nvSpPr>
      <dsp:spPr>
        <a:xfrm>
          <a:off x="1284009" y="3415636"/>
          <a:ext cx="876311" cy="87631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B68EF-01F5-C24B-89F6-A34C6D98A7E9}">
      <dsp:nvSpPr>
        <dsp:cNvPr id="0" name=""/>
        <dsp:cNvSpPr/>
      </dsp:nvSpPr>
      <dsp:spPr>
        <a:xfrm rot="10800000">
          <a:off x="1722165" y="4553533"/>
          <a:ext cx="5967480" cy="87631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429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эксперимент подтвердивший эффективность </a:t>
          </a:r>
          <a:r>
            <a:rPr lang="ru-RU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методики</a:t>
          </a:r>
          <a:endParaRPr lang="ru-RU" sz="2400" kern="1200" dirty="0">
            <a:solidFill>
              <a:schemeClr val="tx1"/>
            </a:solidFill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941243" y="4553533"/>
        <a:ext cx="5748402" cy="876311"/>
      </dsp:txXfrm>
    </dsp:sp>
    <dsp:sp modelId="{7CD4DBAE-3334-D541-8C7D-FC4CB0F79389}">
      <dsp:nvSpPr>
        <dsp:cNvPr id="0" name=""/>
        <dsp:cNvSpPr/>
      </dsp:nvSpPr>
      <dsp:spPr>
        <a:xfrm>
          <a:off x="1284009" y="4553533"/>
          <a:ext cx="876311" cy="876311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5A6D9-C591-48FC-BCC5-4F44DCD5D36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F1928-7763-4D19-8FE7-5ACFF015A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79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028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44C51-AD00-F301-A103-DCB52D825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A69F49B-57E6-A3E4-DD46-B9984D994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E74509-91F2-7456-62CE-EB9BCFD3A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2840D2-F40F-3A03-BD5F-9BAC553BB4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75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F738C-59DE-A698-E7A9-7A314AC3A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FF60B42-0EAF-F65C-3B0E-0E55C67E8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8E604E6-0A7C-14D2-9BC8-D2F24E360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A552FA-ED9E-97B9-9DCE-A22486D911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47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8E8C9-93C8-C856-140D-8F1523C3E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89846FF-873C-760F-2DD4-BC1F7AE2E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84C0CB-77C0-0923-26C8-31AFC4B87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7160B2-F037-2D9C-8B34-F403AF3C1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12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41EC2-2E36-1FF1-635A-977656D03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91B318E-FCB3-608B-7C2B-C3EAE71A9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7B0E46E-4360-0A37-43ED-BB1D99C12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27467E-BE9F-35F5-EC5E-6AB3D5593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30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B3CB8-9C92-5026-0195-7E2A0650E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DDD8355-8B96-9D7D-499C-749C8AC8F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2D5CF2F-7373-BBA5-DEF5-90C457F05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3D2D70-5FB5-F10D-3515-F705B72E6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89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D7261-5052-FBD2-44F5-6CF5AD88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A2149A2-C5CF-7098-75B9-08405D13E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B37772B-5162-1393-DA3F-D12BE77FE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D1915D-B1A0-758D-771F-DA845AD8B7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480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0B087-7714-0C07-968F-5E39AC914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EEA52C7-89B5-EFB3-EC4A-042E6817F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E40F2E9-D194-08E1-B5A4-A597C76AA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2C8316-EE41-4EDD-A47B-0BE2570B6E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62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86348-08B0-9C75-E1CB-D0B25F483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DB6E15E-98C8-CB7B-5827-947F360AD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7F3B25D-39C3-9AA9-18D6-E0195D3DD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68E0C5-654B-31DB-5085-53799E4E4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42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1D79C-7E88-480C-9F73-6E40E8BF4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D9A9BF6-4A86-EFCF-7A28-14E9E76C6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67A6197-6149-AFA9-B4A2-20D75A29F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A19650-BED7-23FC-EF03-305899791C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57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84BDB-C613-071B-2CB4-6528D1C47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7EB3C9E-3971-4188-7EA1-E9A90E081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1C6F392-0820-703A-12A5-9D9C2B3C9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F94817-53A2-2391-D276-EA7883093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884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DF570-91E3-2540-5C77-F9A1D8BC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AADCB1F-2BA3-3F07-3FAA-CEFF3EA87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106C3B1-4EBF-F378-0CBE-90A9A91AF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E40326-B102-0E4E-399E-63FD07ACFD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65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AA34-C84D-DDE8-E5BD-128022B9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34C835E-B0CD-8595-08FA-783FEAC02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ED9D1B4-0C60-A6AE-883D-384E4944D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8BE6FC-BC64-FBDD-591E-A7789F954D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25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ACD9A7-26A0-558D-E48B-3DA81ED64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770BBA-46C2-5337-2139-4826A39F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E6DEB3-69B5-D689-F691-2D3BEBE1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CED81F-42E1-091D-62D5-EF2A612CA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F89A0E-1B72-FF7D-0909-F23FB050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011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2ED5F6-5374-76DC-57D9-992D3DA7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E6514D-2189-56FC-FFDB-4A6C2FF6A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C6B7D3-345D-F093-26D0-A6C6AF49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C452BB-8FD4-4EDD-FB38-CFE6A5B2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851FC6-D106-C6E2-DD7B-B8117C413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509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16E4B-5DB0-E445-A76B-AA414F66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7ECCB7-C83C-9710-E9F9-E7AD054F6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156FFD-D93A-38FF-2999-48F5052C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8AF727-CB03-3EDD-2BE3-493F881EC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BF96E8-E81D-7040-46CF-B8C6FBA6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47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D2E553-02F3-CD99-B015-447CDD78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268026-3021-EDA0-610D-46A9D34F8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A9D97F-FD09-7F88-2031-99B2F839C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EF5E71-6907-A9DD-9171-7FFC3B7B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822552-C430-BEE1-37E3-3D2EED45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E06298-D658-3F14-7B92-DE737CC5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27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B572C-C978-AA19-412C-CB769FF56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843F3D-3592-3842-6774-EED8A0DC2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174E90-DB44-E10F-5644-E428AD465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82248D-D4E9-F70E-0DDB-C007DDB4A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DD58770-6E32-4DB3-38B1-D0E1D7E8B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D306C3D-4091-9C9C-AF29-792839819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1CBD93B-3E6D-EE28-4D2A-0D40A2E0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8FDE51-1323-7C66-4D6C-CA2DEEE8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91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9E4CB-4AF3-9121-EB40-22017A6A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6D4A7E-9EBC-6C89-3C34-A21985A5D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DEB98B5-A93A-11DF-7B89-5B239DD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8B72C7-52B8-4201-8EEB-543F4C3D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029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43B8230-4050-B141-D7BA-36E27709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223A9D9-865B-9B6E-0E3A-7B232B88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C5B269-5C40-F5CC-7DA2-16D43CB58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265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0B313-D6F4-5E53-826C-EEA2F57B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694EE3-CADE-175B-370D-F3141958E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7041BC-0A54-612F-1F7C-704D10CE9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C34793-6496-87EF-7D34-13C425405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0FD95C-9829-7ADE-4182-311A56EA7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BD197E-75FA-F0D4-B27A-C34FF0ED8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901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E4DC17-FCF0-5BAE-8020-2BF11C51A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4F8251E-7329-1F92-BEB1-DAAFB9C21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D2D194-A432-9AE7-9108-9F9509867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DFFCB2-3EEE-B76E-B243-BFE4F5FA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5C4689-CC8B-7D0D-8ACB-705DE9CF3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9A0B99-147E-9E25-A4AF-6F1D96B5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05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9FE45D-38FF-218B-E5A9-8F35063DD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BFEB12-4A2D-97EC-D003-F318EE362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49860D-6536-A1D5-2033-74584BA8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9CBF98-F785-4E91-0EB7-AF44BB2F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5C9C5C-2403-3E49-54A2-3BC9678F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88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7BE845B-6DB4-B7E8-3404-377AC267D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C728E5-86D4-829D-B823-91F27094C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5AADE6-D954-D4DB-31A9-0300CBF17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73535A-311F-CD29-540D-95C1AF614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4BBC46-2D11-8C22-DE87-A244DAD19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84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8200DF-7309-D8CD-1863-0E6E09605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BA1A5A-444D-A36E-C737-8DCE92D11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2E98A1-5FF7-0F7B-EE9A-4DE330D87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9189CA-4343-18CF-BC48-101FEAE25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4B7DC1-24A3-8AF0-2561-8ACDD6917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7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comments" Target="../comments/comment1.xml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0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12.svg"/><Relationship Id="rId4" Type="http://schemas.openxmlformats.org/officeDocument/2006/relationships/diagramData" Target="../diagrams/data1.xml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29.svg"/><Relationship Id="rId5" Type="http://schemas.openxmlformats.org/officeDocument/2006/relationships/diagramLayout" Target="../diagrams/layout2.xml"/><Relationship Id="rId10" Type="http://schemas.openxmlformats.org/officeDocument/2006/relationships/image" Target="../media/image12.svg"/><Relationship Id="rId4" Type="http://schemas.openxmlformats.org/officeDocument/2006/relationships/diagramData" Target="../diagrams/data2.xml"/><Relationship Id="rId9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0178A3-F511-D226-2956-40A2464B9526}"/>
              </a:ext>
            </a:extLst>
          </p:cNvPr>
          <p:cNvSpPr txBox="1"/>
          <p:nvPr/>
        </p:nvSpPr>
        <p:spPr>
          <a:xfrm>
            <a:off x="300037" y="1663799"/>
            <a:ext cx="7685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ru-RU" sz="3600" b="1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методики формирования здоровых привычек средствами игровой психологии и наставнической поддержки в Телеграм-боте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772571-CE1A-9124-F61D-FE02B6459C68}"/>
              </a:ext>
            </a:extLst>
          </p:cNvPr>
          <p:cNvSpPr txBox="1"/>
          <p:nvPr/>
        </p:nvSpPr>
        <p:spPr>
          <a:xfrm>
            <a:off x="300037" y="5500187"/>
            <a:ext cx="57504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Inter Variable Text" panose="02000503000000020004" pitchFamily="2" charset="0"/>
                <a:cs typeface="Times New Roman" panose="02020603050405020304" pitchFamily="18" charset="0"/>
              </a:rPr>
              <a:t>Студент гр.: ЭМС-271, Гамов П.А.</a:t>
            </a:r>
          </a:p>
          <a:p>
            <a:r>
              <a:rPr 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Inter Variable Text" panose="02000503000000020004" pitchFamily="2" charset="0"/>
                <a:cs typeface="Times New Roman" panose="02020603050405020304" pitchFamily="18" charset="0"/>
              </a:rPr>
              <a:t>Научный рук-ль: к.э.н. доц., Демидов А.В.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032ACB8-8A05-C3B8-A59C-A29D700F2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08177AD0-C179-B96C-20F0-758F8DF24C99}"/>
              </a:ext>
            </a:extLst>
          </p:cNvPr>
          <p:cNvGrpSpPr/>
          <p:nvPr/>
        </p:nvGrpSpPr>
        <p:grpSpPr>
          <a:xfrm>
            <a:off x="9066068" y="4936490"/>
            <a:ext cx="3125932" cy="4025879"/>
            <a:chOff x="9066069" y="1480379"/>
            <a:chExt cx="3125932" cy="4025879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2AB808DE-DEDE-B9C1-02DE-E5BBA45C8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603" t="31176" r="60969" b="10607"/>
            <a:stretch>
              <a:fillRect/>
            </a:stretch>
          </p:blipFill>
          <p:spPr>
            <a:xfrm>
              <a:off x="9066069" y="1480379"/>
              <a:ext cx="3125932" cy="4025879"/>
            </a:xfrm>
            <a:prstGeom prst="rect">
              <a:avLst/>
            </a:prstGeom>
          </p:spPr>
        </p:pic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20FC1641-E058-44C3-4EB2-6FF05A31CA27}"/>
                </a:ext>
              </a:extLst>
            </p:cNvPr>
            <p:cNvSpPr/>
            <p:nvPr/>
          </p:nvSpPr>
          <p:spPr>
            <a:xfrm rot="5400000">
              <a:off x="8861494" y="168495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ED13E26-E889-60DE-EE81-1EEF495B5271}"/>
                </a:ext>
              </a:extLst>
            </p:cNvPr>
            <p:cNvSpPr/>
            <p:nvPr/>
          </p:nvSpPr>
          <p:spPr>
            <a:xfrm rot="5400000">
              <a:off x="8861494" y="3119545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58CDAC3-1569-5BE0-2658-39A5C674D334}"/>
                </a:ext>
              </a:extLst>
            </p:cNvPr>
            <p:cNvSpPr/>
            <p:nvPr/>
          </p:nvSpPr>
          <p:spPr>
            <a:xfrm rot="5400000">
              <a:off x="8861494" y="454277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E47F50C-CE4A-156E-DE62-F39CAA0D7A3C}"/>
              </a:ext>
            </a:extLst>
          </p:cNvPr>
          <p:cNvGrpSpPr/>
          <p:nvPr/>
        </p:nvGrpSpPr>
        <p:grpSpPr>
          <a:xfrm>
            <a:off x="9066068" y="156097"/>
            <a:ext cx="3125932" cy="4721745"/>
            <a:chOff x="9066069" y="784513"/>
            <a:chExt cx="3125932" cy="4721745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52FB1375-D23A-DABD-BF39-231B123E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603" t="21113" r="60969" b="10607"/>
            <a:stretch>
              <a:fillRect/>
            </a:stretch>
          </p:blipFill>
          <p:spPr>
            <a:xfrm>
              <a:off x="9066069" y="784513"/>
              <a:ext cx="3125932" cy="4721745"/>
            </a:xfrm>
            <a:prstGeom prst="rect">
              <a:avLst/>
            </a:prstGeom>
          </p:spPr>
        </p:pic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B94207A2-862F-D6BD-A183-DA4593922874}"/>
                </a:ext>
              </a:extLst>
            </p:cNvPr>
            <p:cNvSpPr/>
            <p:nvPr/>
          </p:nvSpPr>
          <p:spPr>
            <a:xfrm rot="5400000">
              <a:off x="8861494" y="168495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1738318F-B22B-B4A1-A385-185C2F9FCB09}"/>
                </a:ext>
              </a:extLst>
            </p:cNvPr>
            <p:cNvSpPr/>
            <p:nvPr/>
          </p:nvSpPr>
          <p:spPr>
            <a:xfrm rot="5400000">
              <a:off x="8861494" y="3119545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F2215235-0382-F748-8940-D6BB19BD58B2}"/>
                </a:ext>
              </a:extLst>
            </p:cNvPr>
            <p:cNvSpPr/>
            <p:nvPr/>
          </p:nvSpPr>
          <p:spPr>
            <a:xfrm rot="5400000">
              <a:off x="8861494" y="454277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2035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71E4-7AE6-CAB0-76A5-E69BBC623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4727B0-0353-CC7D-EB7A-0A296BA6D707}"/>
              </a:ext>
            </a:extLst>
          </p:cNvPr>
          <p:cNvSpPr txBox="1"/>
          <p:nvPr/>
        </p:nvSpPr>
        <p:spPr>
          <a:xfrm>
            <a:off x="3728540" y="230966"/>
            <a:ext cx="8067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Объект и предмет исследования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C1E6521-2A73-B03C-ED25-8E7D8FDCA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B4D5965-A6C3-060A-449F-EBFA5482B3CC}"/>
              </a:ext>
            </a:extLst>
          </p:cNvPr>
          <p:cNvGrpSpPr/>
          <p:nvPr/>
        </p:nvGrpSpPr>
        <p:grpSpPr>
          <a:xfrm>
            <a:off x="300037" y="1602589"/>
            <a:ext cx="11342719" cy="5109156"/>
            <a:chOff x="374555" y="2318761"/>
            <a:chExt cx="11961679" cy="4818137"/>
          </a:xfrm>
        </p:grpSpPr>
        <p:sp>
          <p:nvSpPr>
            <p:cNvPr id="19" name="Фигура, имеющая форму буквы L 18">
              <a:extLst>
                <a:ext uri="{FF2B5EF4-FFF2-40B4-BE49-F238E27FC236}">
                  <a16:creationId xmlns:a16="http://schemas.microsoft.com/office/drawing/2014/main" id="{C6EB7A23-4CDF-E412-D661-51C0A780F5AF}"/>
                </a:ext>
              </a:extLst>
            </p:cNvPr>
            <p:cNvSpPr/>
            <p:nvPr/>
          </p:nvSpPr>
          <p:spPr>
            <a:xfrm rot="5400000">
              <a:off x="1244827" y="3189743"/>
              <a:ext cx="918180" cy="2658723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Полилиния 21">
              <a:extLst>
                <a:ext uri="{FF2B5EF4-FFF2-40B4-BE49-F238E27FC236}">
                  <a16:creationId xmlns:a16="http://schemas.microsoft.com/office/drawing/2014/main" id="{E6DFA2BF-9513-618B-F024-5733EBB48792}"/>
                </a:ext>
              </a:extLst>
            </p:cNvPr>
            <p:cNvSpPr/>
            <p:nvPr/>
          </p:nvSpPr>
          <p:spPr>
            <a:xfrm>
              <a:off x="473758" y="4105599"/>
              <a:ext cx="3023920" cy="2537777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pPr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Актуальность: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Повышенная нагрузка на психику, рост заболеваний, вызванных нездоровыми привычками</a:t>
              </a:r>
              <a:endParaRPr lang="ru-RU" sz="2400" dirty="0">
                <a:latin typeface="Times New Roman" panose="02020603050405020304" pitchFamily="18" charset="0"/>
                <a:ea typeface="Inter Variable Text Medium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Треугольник 22">
              <a:extLst>
                <a:ext uri="{FF2B5EF4-FFF2-40B4-BE49-F238E27FC236}">
                  <a16:creationId xmlns:a16="http://schemas.microsoft.com/office/drawing/2014/main" id="{2C953B47-50FF-01F2-B2E5-98F0AC59025B}"/>
                </a:ext>
              </a:extLst>
            </p:cNvPr>
            <p:cNvSpPr/>
            <p:nvPr/>
          </p:nvSpPr>
          <p:spPr>
            <a:xfrm>
              <a:off x="2570712" y="3525144"/>
              <a:ext cx="452888" cy="452888"/>
            </a:xfrm>
            <a:prstGeom prst="triangle">
              <a:avLst>
                <a:gd name="adj" fmla="val 100000"/>
              </a:avLst>
            </a:prstGeom>
            <a:solidFill>
              <a:srgbClr val="274E9C"/>
            </a:solidFill>
            <a:ln>
              <a:solidFill>
                <a:srgbClr val="274E9C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Фигура, имеющая форму буквы L 21">
              <a:extLst>
                <a:ext uri="{FF2B5EF4-FFF2-40B4-BE49-F238E27FC236}">
                  <a16:creationId xmlns:a16="http://schemas.microsoft.com/office/drawing/2014/main" id="{D3C551DA-F08D-A9A5-81F4-4A4E2B6D1278}"/>
                </a:ext>
              </a:extLst>
            </p:cNvPr>
            <p:cNvSpPr/>
            <p:nvPr/>
          </p:nvSpPr>
          <p:spPr>
            <a:xfrm rot="5400000">
              <a:off x="4008404" y="2960988"/>
              <a:ext cx="845931" cy="2658723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Полилиния 24">
              <a:extLst>
                <a:ext uri="{FF2B5EF4-FFF2-40B4-BE49-F238E27FC236}">
                  <a16:creationId xmlns:a16="http://schemas.microsoft.com/office/drawing/2014/main" id="{9846FE19-4349-5B2D-775D-A4B0DBA6A9EB}"/>
                </a:ext>
              </a:extLst>
            </p:cNvPr>
            <p:cNvSpPr/>
            <p:nvPr/>
          </p:nvSpPr>
          <p:spPr>
            <a:xfrm>
              <a:off x="3203419" y="3935633"/>
              <a:ext cx="3023920" cy="3201265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Объектом исследования является: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Процесс формирования устойчивых здоровых привычек у пользователей</a:t>
              </a:r>
            </a:p>
          </p:txBody>
        </p:sp>
        <p:sp>
          <p:nvSpPr>
            <p:cNvPr id="24" name="Треугольник 25">
              <a:extLst>
                <a:ext uri="{FF2B5EF4-FFF2-40B4-BE49-F238E27FC236}">
                  <a16:creationId xmlns:a16="http://schemas.microsoft.com/office/drawing/2014/main" id="{465F4799-71A8-D4BD-E5C8-A225C1ADD905}"/>
                </a:ext>
              </a:extLst>
            </p:cNvPr>
            <p:cNvSpPr/>
            <p:nvPr/>
          </p:nvSpPr>
          <p:spPr>
            <a:xfrm>
              <a:off x="5307108" y="3356598"/>
              <a:ext cx="452888" cy="452888"/>
            </a:xfrm>
            <a:prstGeom prst="triangle">
              <a:avLst>
                <a:gd name="adj" fmla="val 100000"/>
              </a:avLst>
            </a:prstGeom>
            <a:solidFill>
              <a:srgbClr val="274E9C"/>
            </a:solidFill>
            <a:ln>
              <a:solidFill>
                <a:srgbClr val="274E9C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Фигура, имеющая форму буквы L 24">
              <a:extLst>
                <a:ext uri="{FF2B5EF4-FFF2-40B4-BE49-F238E27FC236}">
                  <a16:creationId xmlns:a16="http://schemas.microsoft.com/office/drawing/2014/main" id="{B8A9A123-F65B-363A-5F9F-394E47BA0536}"/>
                </a:ext>
              </a:extLst>
            </p:cNvPr>
            <p:cNvSpPr/>
            <p:nvPr/>
          </p:nvSpPr>
          <p:spPr>
            <a:xfrm rot="5400000">
              <a:off x="6984526" y="2198802"/>
              <a:ext cx="845932" cy="2967664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6" name="Полилиния 27">
              <a:extLst>
                <a:ext uri="{FF2B5EF4-FFF2-40B4-BE49-F238E27FC236}">
                  <a16:creationId xmlns:a16="http://schemas.microsoft.com/office/drawing/2014/main" id="{0E16A83D-D1CC-6AB9-80CF-2D3176183D04}"/>
                </a:ext>
              </a:extLst>
            </p:cNvPr>
            <p:cNvSpPr/>
            <p:nvPr/>
          </p:nvSpPr>
          <p:spPr>
            <a:xfrm>
              <a:off x="6025505" y="3259667"/>
              <a:ext cx="3225743" cy="3877231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Предметом исследования является: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Авторская методика формирования привычек в виде чат-бота с применением геймификации и анонимного взаимодействия</a:t>
              </a:r>
            </a:p>
          </p:txBody>
        </p:sp>
        <p:sp>
          <p:nvSpPr>
            <p:cNvPr id="27" name="Треугольник 28">
              <a:extLst>
                <a:ext uri="{FF2B5EF4-FFF2-40B4-BE49-F238E27FC236}">
                  <a16:creationId xmlns:a16="http://schemas.microsoft.com/office/drawing/2014/main" id="{2ED82B84-BEDA-FA10-252D-0EA51CC2DF26}"/>
                </a:ext>
              </a:extLst>
            </p:cNvPr>
            <p:cNvSpPr/>
            <p:nvPr/>
          </p:nvSpPr>
          <p:spPr>
            <a:xfrm>
              <a:off x="8136049" y="2722111"/>
              <a:ext cx="452888" cy="452888"/>
            </a:xfrm>
            <a:prstGeom prst="triangle">
              <a:avLst>
                <a:gd name="adj" fmla="val 100000"/>
              </a:avLst>
            </a:prstGeom>
            <a:solidFill>
              <a:srgbClr val="274E9C"/>
            </a:solidFill>
            <a:ln>
              <a:solidFill>
                <a:srgbClr val="274E9C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Фигура, имеющая форму буквы L 27">
              <a:extLst>
                <a:ext uri="{FF2B5EF4-FFF2-40B4-BE49-F238E27FC236}">
                  <a16:creationId xmlns:a16="http://schemas.microsoft.com/office/drawing/2014/main" id="{8EEB327F-F75B-89F0-77C9-9E9C77F9C4F5}"/>
                </a:ext>
              </a:extLst>
            </p:cNvPr>
            <p:cNvSpPr/>
            <p:nvPr/>
          </p:nvSpPr>
          <p:spPr>
            <a:xfrm rot="5400000">
              <a:off x="10059751" y="1247360"/>
              <a:ext cx="1100588" cy="3243390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Полилиния 30">
              <a:extLst>
                <a:ext uri="{FF2B5EF4-FFF2-40B4-BE49-F238E27FC236}">
                  <a16:creationId xmlns:a16="http://schemas.microsoft.com/office/drawing/2014/main" id="{9685821A-ED94-74F4-C3DB-1D318C1A821E}"/>
                </a:ext>
              </a:extLst>
            </p:cNvPr>
            <p:cNvSpPr/>
            <p:nvPr/>
          </p:nvSpPr>
          <p:spPr>
            <a:xfrm>
              <a:off x="9135709" y="2387027"/>
              <a:ext cx="3200525" cy="4749871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Научная новизна исследования: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Предложена оригинальная концепция формирования привычек, основанная на синергии геймификации и анонимного социального взаимодействия</a:t>
              </a:r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62EC47-09FC-0A08-E549-9BCBC0FD0B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024" y="2604096"/>
            <a:ext cx="475173" cy="737700"/>
          </a:xfrm>
          <a:prstGeom prst="rect">
            <a:avLst/>
          </a:prstGeom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4A7A7561-CC77-2434-70D0-4190BA2C4E72}"/>
              </a:ext>
            </a:extLst>
          </p:cNvPr>
          <p:cNvGrpSpPr/>
          <p:nvPr/>
        </p:nvGrpSpPr>
        <p:grpSpPr>
          <a:xfrm>
            <a:off x="3784995" y="2160341"/>
            <a:ext cx="575090" cy="961618"/>
            <a:chOff x="4183975" y="1757105"/>
            <a:chExt cx="1125843" cy="1882541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E3A728C9-EB45-DF61-44E9-AE643C940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3975" y="3095283"/>
              <a:ext cx="1105223" cy="544363"/>
            </a:xfrm>
            <a:prstGeom prst="rect">
              <a:avLst/>
            </a:prstGeom>
          </p:spPr>
        </p:pic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ED69C349-5D30-5EC6-C315-07E28C077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3975" y="2442690"/>
              <a:ext cx="1125843" cy="507248"/>
            </a:xfrm>
            <a:prstGeom prst="rect">
              <a:avLst/>
            </a:prstGeom>
          </p:spPr>
        </p:pic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8A493787-8F7B-189E-79BB-EA54E493A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3975" y="1757105"/>
              <a:ext cx="1092851" cy="540240"/>
            </a:xfrm>
            <a:prstGeom prst="rect">
              <a:avLst/>
            </a:prstGeom>
          </p:spPr>
        </p:pic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B94A46B-28B0-9977-797D-BCF61A6D6BA2}"/>
              </a:ext>
            </a:extLst>
          </p:cNvPr>
          <p:cNvGrpSpPr/>
          <p:nvPr/>
        </p:nvGrpSpPr>
        <p:grpSpPr>
          <a:xfrm>
            <a:off x="6574437" y="1569790"/>
            <a:ext cx="531023" cy="940754"/>
            <a:chOff x="7046611" y="1067397"/>
            <a:chExt cx="1141610" cy="1885778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B1CD701B-2303-DC55-84C2-54E31F45B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6611" y="2398656"/>
              <a:ext cx="1125843" cy="554519"/>
            </a:xfrm>
            <a:prstGeom prst="rect">
              <a:avLst/>
            </a:prstGeom>
          </p:spPr>
        </p:pic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D0E8070F-012E-A13E-6FFD-374080E221F8}"/>
                </a:ext>
              </a:extLst>
            </p:cNvPr>
            <p:cNvGrpSpPr/>
            <p:nvPr/>
          </p:nvGrpSpPr>
          <p:grpSpPr>
            <a:xfrm>
              <a:off x="7062378" y="1067397"/>
              <a:ext cx="1125843" cy="1192833"/>
              <a:chOff x="4183975" y="1757105"/>
              <a:chExt cx="1125843" cy="1192833"/>
            </a:xfrm>
          </p:grpSpPr>
          <p:pic>
            <p:nvPicPr>
              <p:cNvPr id="14" name="Рисунок 13">
                <a:extLst>
                  <a:ext uri="{FF2B5EF4-FFF2-40B4-BE49-F238E27FC236}">
                    <a16:creationId xmlns:a16="http://schemas.microsoft.com/office/drawing/2014/main" id="{018769AC-F2CC-CA7E-C9C0-A1B964F474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2442690"/>
                <a:ext cx="1125843" cy="507248"/>
              </a:xfrm>
              <a:prstGeom prst="rect">
                <a:avLst/>
              </a:prstGeom>
            </p:spPr>
          </p:pic>
          <p:pic>
            <p:nvPicPr>
              <p:cNvPr id="15" name="Рисунок 14">
                <a:extLst>
                  <a:ext uri="{FF2B5EF4-FFF2-40B4-BE49-F238E27FC236}">
                    <a16:creationId xmlns:a16="http://schemas.microsoft.com/office/drawing/2014/main" id="{E5E8B24C-5119-E435-C52E-08F027A968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1757105"/>
                <a:ext cx="1092851" cy="540240"/>
              </a:xfrm>
              <a:prstGeom prst="rect">
                <a:avLst/>
              </a:prstGeom>
            </p:spPr>
          </p:pic>
        </p:grpSp>
      </p:grpSp>
      <p:sp>
        <p:nvSpPr>
          <p:cNvPr id="10" name="Полилиния 10">
            <a:extLst>
              <a:ext uri="{FF2B5EF4-FFF2-40B4-BE49-F238E27FC236}">
                <a16:creationId xmlns:a16="http://schemas.microsoft.com/office/drawing/2014/main" id="{CA77D553-F7CF-5785-4D9A-373D3A9CAB6C}"/>
              </a:ext>
            </a:extLst>
          </p:cNvPr>
          <p:cNvSpPr/>
          <p:nvPr/>
        </p:nvSpPr>
        <p:spPr>
          <a:xfrm>
            <a:off x="8949140" y="3049766"/>
            <a:ext cx="2239456" cy="693288"/>
          </a:xfrm>
          <a:custGeom>
            <a:avLst/>
            <a:gdLst>
              <a:gd name="connsiteX0" fmla="*/ 0 w 2400310"/>
              <a:gd name="connsiteY0" fmla="*/ 0 h 2104012"/>
              <a:gd name="connsiteX1" fmla="*/ 2400310 w 2400310"/>
              <a:gd name="connsiteY1" fmla="*/ 0 h 2104012"/>
              <a:gd name="connsiteX2" fmla="*/ 2400310 w 2400310"/>
              <a:gd name="connsiteY2" fmla="*/ 2104012 h 2104012"/>
              <a:gd name="connsiteX3" fmla="*/ 0 w 2400310"/>
              <a:gd name="connsiteY3" fmla="*/ 2104012 h 2104012"/>
              <a:gd name="connsiteX4" fmla="*/ 0 w 2400310"/>
              <a:gd name="connsiteY4" fmla="*/ 0 h 210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0310" h="2104012">
                <a:moveTo>
                  <a:pt x="0" y="0"/>
                </a:moveTo>
                <a:lnTo>
                  <a:pt x="2400310" y="0"/>
                </a:lnTo>
                <a:lnTo>
                  <a:pt x="2400310" y="2104012"/>
                </a:lnTo>
                <a:lnTo>
                  <a:pt x="0" y="21040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3350" tIns="133350" rIns="133350" bIns="133350" numCol="1" spcCol="1270" anchor="b" anchorCtr="0">
            <a:noAutofit/>
          </a:bodyPr>
          <a:lstStyle/>
          <a:p>
            <a:pPr marL="0" lvl="1" algn="l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ru-RU" sz="1600" b="0" i="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1943AA9-0560-89EF-1A5D-7C9D6823BD81}"/>
              </a:ext>
            </a:extLst>
          </p:cNvPr>
          <p:cNvPicPr>
            <a:picLocks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4673" y="843411"/>
            <a:ext cx="769721" cy="712193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2EFD4DF1-5D53-277E-11CF-C8A6BE6E8300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2A2BD67B-53B3-4218-AFFE-1704F7DB1BF0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804F7A5-8BA6-E755-70AC-39E41EF7EB8D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2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5302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5AD95-6AA3-0406-E4E1-59EC7CBD9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45E20B-9422-3076-A3EC-2F01881D26CA}"/>
              </a:ext>
            </a:extLst>
          </p:cNvPr>
          <p:cNvSpPr txBox="1"/>
          <p:nvPr/>
        </p:nvSpPr>
        <p:spPr>
          <a:xfrm>
            <a:off x="3638792" y="238690"/>
            <a:ext cx="2970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Цель и задачи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60911FE-E445-2327-821A-EB1444D91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71E376DE-B482-E7D3-2C0A-997716648108}"/>
              </a:ext>
            </a:extLst>
          </p:cNvPr>
          <p:cNvSpPr txBox="1">
            <a:spLocks/>
          </p:cNvSpPr>
          <p:nvPr/>
        </p:nvSpPr>
        <p:spPr>
          <a:xfrm>
            <a:off x="485194" y="1184989"/>
            <a:ext cx="3921436" cy="5340298"/>
          </a:xfrm>
          <a:prstGeom prst="roundRect">
            <a:avLst>
              <a:gd name="adj" fmla="val 4817"/>
            </a:avLst>
          </a:prstGeom>
          <a:ln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авторской методики формирования здоровых привычек и  создание сервиса на ее основе в виде чат-бота</a:t>
            </a:r>
          </a:p>
        </p:txBody>
      </p:sp>
      <p:pic>
        <p:nvPicPr>
          <p:cNvPr id="5" name="Рисунок 4" descr="В яблочко">
            <a:extLst>
              <a:ext uri="{FF2B5EF4-FFF2-40B4-BE49-F238E27FC236}">
                <a16:creationId xmlns:a16="http://schemas.microsoft.com/office/drawing/2014/main" id="{BD0E453C-00AC-0993-B076-D54F761C61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192" y="1184989"/>
            <a:ext cx="542081" cy="542081"/>
          </a:xfrm>
          <a:prstGeom prst="rect">
            <a:avLst/>
          </a:prstGeom>
        </p:spPr>
      </p:pic>
      <p:graphicFrame>
        <p:nvGraphicFramePr>
          <p:cNvPr id="3" name="Объект 4">
            <a:extLst>
              <a:ext uri="{FF2B5EF4-FFF2-40B4-BE49-F238E27FC236}">
                <a16:creationId xmlns:a16="http://schemas.microsoft.com/office/drawing/2014/main" id="{2BC9AECF-D1E8-08BB-0FDF-F184B37EE9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1137304"/>
              </p:ext>
            </p:extLst>
          </p:nvPr>
        </p:nvGraphicFramePr>
        <p:xfrm>
          <a:off x="3645706" y="1012217"/>
          <a:ext cx="9193994" cy="5431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B5F74B7-F9BC-65E4-445C-B11470F40D85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CFC532B2-E8D5-09A8-95CC-0C9736DAB079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5F0BF7-326D-51AB-0A25-72EF6A2FAE6B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3</a:t>
              </a:r>
            </a:p>
          </p:txBody>
        </p:sp>
      </p:grpSp>
      <p:sp>
        <p:nvSpPr>
          <p:cNvPr id="19" name="Shape 2530">
            <a:extLst>
              <a:ext uri="{FF2B5EF4-FFF2-40B4-BE49-F238E27FC236}">
                <a16:creationId xmlns:a16="http://schemas.microsoft.com/office/drawing/2014/main" id="{E5F3C459-3F9C-4359-7595-021C77C6466C}"/>
              </a:ext>
            </a:extLst>
          </p:cNvPr>
          <p:cNvSpPr/>
          <p:nvPr/>
        </p:nvSpPr>
        <p:spPr>
          <a:xfrm>
            <a:off x="5129342" y="1184989"/>
            <a:ext cx="408769" cy="534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4" name="Shape 2538">
            <a:extLst>
              <a:ext uri="{FF2B5EF4-FFF2-40B4-BE49-F238E27FC236}">
                <a16:creationId xmlns:a16="http://schemas.microsoft.com/office/drawing/2014/main" id="{94A2EF59-76AC-EB0E-07B0-95CACC5E1131}"/>
              </a:ext>
            </a:extLst>
          </p:cNvPr>
          <p:cNvSpPr/>
          <p:nvPr/>
        </p:nvSpPr>
        <p:spPr>
          <a:xfrm>
            <a:off x="5102427" y="3427217"/>
            <a:ext cx="429515" cy="5611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pic>
        <p:nvPicPr>
          <p:cNvPr id="25" name="Рисунок 24" descr="Одна шестеренка">
            <a:extLst>
              <a:ext uri="{FF2B5EF4-FFF2-40B4-BE49-F238E27FC236}">
                <a16:creationId xmlns:a16="http://schemas.microsoft.com/office/drawing/2014/main" id="{B77BC6B3-FF8F-4A02-897B-F71FF0605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99656" y="4507431"/>
            <a:ext cx="657837" cy="703146"/>
          </a:xfrm>
          <a:prstGeom prst="rect">
            <a:avLst/>
          </a:prstGeom>
        </p:spPr>
      </p:pic>
      <p:pic>
        <p:nvPicPr>
          <p:cNvPr id="26" name="Рисунок 25" descr="Исследование">
            <a:extLst>
              <a:ext uri="{FF2B5EF4-FFF2-40B4-BE49-F238E27FC236}">
                <a16:creationId xmlns:a16="http://schemas.microsoft.com/office/drawing/2014/main" id="{E27A09DB-2A8D-243E-E472-EDFB5822A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41624" y="5698345"/>
            <a:ext cx="563597" cy="602415"/>
          </a:xfrm>
          <a:prstGeom prst="rect">
            <a:avLst/>
          </a:prstGeom>
        </p:spPr>
      </p:pic>
      <p:sp>
        <p:nvSpPr>
          <p:cNvPr id="7" name="Shape 2930">
            <a:extLst>
              <a:ext uri="{FF2B5EF4-FFF2-40B4-BE49-F238E27FC236}">
                <a16:creationId xmlns:a16="http://schemas.microsoft.com/office/drawing/2014/main" id="{C7EFA93D-E658-BBB9-6CEC-A61477F43521}"/>
              </a:ext>
            </a:extLst>
          </p:cNvPr>
          <p:cNvSpPr/>
          <p:nvPr/>
        </p:nvSpPr>
        <p:spPr>
          <a:xfrm>
            <a:off x="5033648" y="2410673"/>
            <a:ext cx="589852" cy="4012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55" y="1543"/>
                </a:moveTo>
                <a:cubicBezTo>
                  <a:pt x="12837" y="1543"/>
                  <a:pt x="10309" y="5515"/>
                  <a:pt x="10309" y="10414"/>
                </a:cubicBezTo>
                <a:lnTo>
                  <a:pt x="10309" y="11186"/>
                </a:lnTo>
                <a:cubicBezTo>
                  <a:pt x="10309" y="15233"/>
                  <a:pt x="8221" y="18514"/>
                  <a:pt x="5645" y="18514"/>
                </a:cubicBezTo>
                <a:cubicBezTo>
                  <a:pt x="3070" y="18514"/>
                  <a:pt x="982" y="15233"/>
                  <a:pt x="982" y="11186"/>
                </a:cubicBezTo>
                <a:lnTo>
                  <a:pt x="982" y="10414"/>
                </a:lnTo>
                <a:cubicBezTo>
                  <a:pt x="982" y="6367"/>
                  <a:pt x="3070" y="3086"/>
                  <a:pt x="5645" y="3086"/>
                </a:cubicBezTo>
                <a:cubicBezTo>
                  <a:pt x="6670" y="3086"/>
                  <a:pt x="7575" y="3630"/>
                  <a:pt x="8321" y="4629"/>
                </a:cubicBezTo>
                <a:lnTo>
                  <a:pt x="6382" y="4629"/>
                </a:lnTo>
                <a:cubicBezTo>
                  <a:pt x="6110" y="4629"/>
                  <a:pt x="5891" y="4974"/>
                  <a:pt x="5891" y="5400"/>
                </a:cubicBezTo>
                <a:cubicBezTo>
                  <a:pt x="5891" y="5826"/>
                  <a:pt x="6110" y="6171"/>
                  <a:pt x="6382" y="6171"/>
                </a:cubicBezTo>
                <a:lnTo>
                  <a:pt x="9327" y="6171"/>
                </a:lnTo>
                <a:cubicBezTo>
                  <a:pt x="9599" y="6171"/>
                  <a:pt x="9818" y="5826"/>
                  <a:pt x="9818" y="5400"/>
                </a:cubicBezTo>
                <a:lnTo>
                  <a:pt x="9818" y="771"/>
                </a:lnTo>
                <a:cubicBezTo>
                  <a:pt x="9818" y="346"/>
                  <a:pt x="9599" y="0"/>
                  <a:pt x="9327" y="0"/>
                </a:cubicBezTo>
                <a:cubicBezTo>
                  <a:pt x="9056" y="0"/>
                  <a:pt x="8836" y="346"/>
                  <a:pt x="8836" y="771"/>
                </a:cubicBezTo>
                <a:lnTo>
                  <a:pt x="8836" y="3321"/>
                </a:lnTo>
                <a:cubicBezTo>
                  <a:pt x="7879" y="2160"/>
                  <a:pt x="6706" y="1543"/>
                  <a:pt x="5645" y="1543"/>
                </a:cubicBezTo>
                <a:cubicBezTo>
                  <a:pt x="2527" y="1543"/>
                  <a:pt x="0" y="5515"/>
                  <a:pt x="0" y="10414"/>
                </a:cubicBezTo>
                <a:lnTo>
                  <a:pt x="0" y="11186"/>
                </a:lnTo>
                <a:cubicBezTo>
                  <a:pt x="0" y="16085"/>
                  <a:pt x="2527" y="20057"/>
                  <a:pt x="5645" y="20057"/>
                </a:cubicBezTo>
                <a:cubicBezTo>
                  <a:pt x="8763" y="20057"/>
                  <a:pt x="11291" y="16085"/>
                  <a:pt x="11291" y="11186"/>
                </a:cubicBezTo>
                <a:lnTo>
                  <a:pt x="11291" y="10414"/>
                </a:lnTo>
                <a:cubicBezTo>
                  <a:pt x="11291" y="6367"/>
                  <a:pt x="13379" y="3086"/>
                  <a:pt x="15955" y="3086"/>
                </a:cubicBezTo>
                <a:cubicBezTo>
                  <a:pt x="18530" y="3086"/>
                  <a:pt x="20618" y="6367"/>
                  <a:pt x="20618" y="10414"/>
                </a:cubicBezTo>
                <a:lnTo>
                  <a:pt x="20618" y="11186"/>
                </a:lnTo>
                <a:cubicBezTo>
                  <a:pt x="20618" y="15233"/>
                  <a:pt x="18530" y="18514"/>
                  <a:pt x="15955" y="18514"/>
                </a:cubicBezTo>
                <a:cubicBezTo>
                  <a:pt x="14930" y="18514"/>
                  <a:pt x="14025" y="17970"/>
                  <a:pt x="13279" y="16971"/>
                </a:cubicBezTo>
                <a:lnTo>
                  <a:pt x="15218" y="16971"/>
                </a:lnTo>
                <a:cubicBezTo>
                  <a:pt x="15490" y="16971"/>
                  <a:pt x="15709" y="16626"/>
                  <a:pt x="15709" y="16200"/>
                </a:cubicBezTo>
                <a:cubicBezTo>
                  <a:pt x="15709" y="15774"/>
                  <a:pt x="15490" y="15429"/>
                  <a:pt x="15218" y="15429"/>
                </a:cubicBezTo>
                <a:lnTo>
                  <a:pt x="12273" y="15429"/>
                </a:lnTo>
                <a:cubicBezTo>
                  <a:pt x="12001" y="15429"/>
                  <a:pt x="11782" y="15774"/>
                  <a:pt x="11782" y="16200"/>
                </a:cubicBezTo>
                <a:lnTo>
                  <a:pt x="11782" y="20829"/>
                </a:lnTo>
                <a:cubicBezTo>
                  <a:pt x="11782" y="21255"/>
                  <a:pt x="12001" y="21600"/>
                  <a:pt x="12273" y="21600"/>
                </a:cubicBezTo>
                <a:cubicBezTo>
                  <a:pt x="12544" y="21600"/>
                  <a:pt x="12764" y="21255"/>
                  <a:pt x="12764" y="20829"/>
                </a:cubicBezTo>
                <a:lnTo>
                  <a:pt x="12764" y="18279"/>
                </a:lnTo>
                <a:cubicBezTo>
                  <a:pt x="13721" y="19441"/>
                  <a:pt x="14894" y="20057"/>
                  <a:pt x="15955" y="20057"/>
                </a:cubicBezTo>
                <a:cubicBezTo>
                  <a:pt x="19073" y="20057"/>
                  <a:pt x="21600" y="16085"/>
                  <a:pt x="21600" y="11186"/>
                </a:cubicBezTo>
                <a:lnTo>
                  <a:pt x="21600" y="10414"/>
                </a:lnTo>
                <a:cubicBezTo>
                  <a:pt x="21600" y="5515"/>
                  <a:pt x="19073" y="1543"/>
                  <a:pt x="15955" y="1543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27988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EA5B0-8FAD-45CE-9A3E-8B004454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BFAE6CD-D5F9-85C2-5BEF-49C82F7D42B0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</a:rPr>
              <a:t>Ограничения традиционных подходов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BE74F3B-1BC8-C3D9-2E82-E68BB611F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2C099524-DE11-7082-5258-FD57CD851FCD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2EE32CE5-C8C2-281C-5299-9C428793949E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A0BE736-C424-ED3C-AAC4-EF9B0CD86DE2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4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95BDBAB-A106-F1B4-1B50-DCCD9CFADA8E}"/>
              </a:ext>
            </a:extLst>
          </p:cNvPr>
          <p:cNvSpPr txBox="1"/>
          <p:nvPr/>
        </p:nvSpPr>
        <p:spPr>
          <a:xfrm>
            <a:off x="3908081" y="3914940"/>
            <a:ext cx="38003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Простые функции</a:t>
            </a:r>
          </a:p>
          <a:p>
            <a:pPr marL="268288" indent="-268288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Отметки о выполнении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Базовые напоминания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58086132-B181-B1C0-D5A9-BD831FD54F8D}"/>
              </a:ext>
            </a:extLst>
          </p:cNvPr>
          <p:cNvSpPr txBox="1">
            <a:spLocks/>
          </p:cNvSpPr>
          <p:nvPr/>
        </p:nvSpPr>
        <p:spPr>
          <a:xfrm>
            <a:off x="418852" y="1259899"/>
            <a:ext cx="3247333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B8858543-2C17-18C5-6BBB-74205E9208E1}"/>
              </a:ext>
            </a:extLst>
          </p:cNvPr>
          <p:cNvCxnSpPr>
            <a:cxnSpLocks/>
          </p:cNvCxnSpPr>
          <p:nvPr/>
        </p:nvCxnSpPr>
        <p:spPr>
          <a:xfrm>
            <a:off x="3824759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97E2936-9EBC-C39C-E15F-DB1B7036CD04}"/>
              </a:ext>
            </a:extLst>
          </p:cNvPr>
          <p:cNvSpPr txBox="1"/>
          <p:nvPr/>
        </p:nvSpPr>
        <p:spPr>
          <a:xfrm>
            <a:off x="462747" y="1720840"/>
            <a:ext cx="32867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Современный человек имеет доступ к информации о здоровом образе жизни. Проблема заключается в </a:t>
            </a:r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невозможности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перевести знания в устойчивое поведение.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9083DB-B9F5-7440-5C16-F4E9CAD99C19}"/>
              </a:ext>
            </a:extLst>
          </p:cNvPr>
          <p:cNvSpPr txBox="1"/>
          <p:nvPr/>
        </p:nvSpPr>
        <p:spPr>
          <a:xfrm>
            <a:off x="7984119" y="1259183"/>
            <a:ext cx="37451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Высокий порог входа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Отдельные приложения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Платная подписка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создания аккаунтов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A0E321-C939-C296-E8BC-B0B04166D7F0}"/>
              </a:ext>
            </a:extLst>
          </p:cNvPr>
          <p:cNvSpPr txBox="1"/>
          <p:nvPr/>
        </p:nvSpPr>
        <p:spPr>
          <a:xfrm>
            <a:off x="3908081" y="1259183"/>
            <a:ext cx="391746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мгновенной обратной связи</a:t>
            </a:r>
          </a:p>
          <a:p>
            <a:pPr marL="268288" indent="-268288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Недостаток наставнической поддержки</a:t>
            </a:r>
          </a:p>
          <a:p>
            <a:pPr marL="268288" indent="-268288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разнообразия в сообщениях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5A2C3-6639-196C-F2B1-E6390E6D2EDF}"/>
              </a:ext>
            </a:extLst>
          </p:cNvPr>
          <p:cNvSpPr txBox="1"/>
          <p:nvPr/>
        </p:nvSpPr>
        <p:spPr>
          <a:xfrm>
            <a:off x="7984118" y="3914940"/>
            <a:ext cx="353818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персонализации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Универсальные рекомендации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Цифровая усталость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00BAC58-6097-6C85-CBF8-AB369BE82B8E}"/>
              </a:ext>
            </a:extLst>
          </p:cNvPr>
          <p:cNvCxnSpPr>
            <a:cxnSpLocks/>
          </p:cNvCxnSpPr>
          <p:nvPr/>
        </p:nvCxnSpPr>
        <p:spPr>
          <a:xfrm>
            <a:off x="7897061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2F05F64-9669-56C5-478B-BC0E5437AB6E}"/>
              </a:ext>
            </a:extLst>
          </p:cNvPr>
          <p:cNvCxnSpPr>
            <a:cxnSpLocks/>
          </p:cNvCxnSpPr>
          <p:nvPr/>
        </p:nvCxnSpPr>
        <p:spPr>
          <a:xfrm>
            <a:off x="3829521" y="3914940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2D0848E9-C705-8F0C-DAD8-999FDD6D1DD1}"/>
              </a:ext>
            </a:extLst>
          </p:cNvPr>
          <p:cNvCxnSpPr>
            <a:cxnSpLocks/>
          </p:cNvCxnSpPr>
          <p:nvPr/>
        </p:nvCxnSpPr>
        <p:spPr>
          <a:xfrm>
            <a:off x="7899100" y="3914940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28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DF3A9-89F0-C507-2228-C39F8AC8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0C2DEE-F6FF-173F-809E-C44A9FFA9E06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Архитектура авторской методики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86AB62A-348F-9827-EB9C-ECBE0E2A0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C89114B-91A8-5CB8-1621-84455384AC07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A625FBA2-57D2-1DD0-663A-46838EF01CD1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19F281B-300F-E545-8A5E-991DD30C5D6B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4648A3-B21E-1539-D918-7C9A88BFBA83}"/>
              </a:ext>
            </a:extLst>
          </p:cNvPr>
          <p:cNvSpPr txBox="1"/>
          <p:nvPr/>
        </p:nvSpPr>
        <p:spPr>
          <a:xfrm>
            <a:off x="4066366" y="1248366"/>
            <a:ext cx="34520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Игровая механика мотивации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 опыта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достижений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ACCBC09-E132-50B1-9E33-B5C720C9B983}"/>
              </a:ext>
            </a:extLst>
          </p:cNvPr>
          <p:cNvSpPr txBox="1">
            <a:spLocks/>
          </p:cNvSpPr>
          <p:nvPr/>
        </p:nvSpPr>
        <p:spPr>
          <a:xfrm>
            <a:off x="418852" y="1259899"/>
            <a:ext cx="3427638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95A8C5A7-EF5E-7D21-A826-9FD7CD988654}"/>
              </a:ext>
            </a:extLst>
          </p:cNvPr>
          <p:cNvCxnSpPr>
            <a:cxnSpLocks/>
          </p:cNvCxnSpPr>
          <p:nvPr/>
        </p:nvCxnSpPr>
        <p:spPr>
          <a:xfrm>
            <a:off x="3979307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BE9ADE-8FCB-07E9-7693-A90600D595DB}"/>
              </a:ext>
            </a:extLst>
          </p:cNvPr>
          <p:cNvSpPr txBox="1"/>
          <p:nvPr/>
        </p:nvSpPr>
        <p:spPr>
          <a:xfrm>
            <a:off x="467951" y="1720840"/>
            <a:ext cx="32867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методики включает четыре ключевых компонента, каждый из которых имеет свой функционал, механизм реализации и актуальна для пользователей до 30 лет.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26B2C5-15FF-835C-1F25-1CE2B9BBE976}"/>
              </a:ext>
            </a:extLst>
          </p:cNvPr>
          <p:cNvSpPr txBox="1"/>
          <p:nvPr/>
        </p:nvSpPr>
        <p:spPr>
          <a:xfrm>
            <a:off x="7967610" y="1259183"/>
            <a:ext cx="35589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автоматизированного наставничества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собеседника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жалоб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715700-4928-9F2E-5721-B24F5061766A}"/>
              </a:ext>
            </a:extLst>
          </p:cNvPr>
          <p:cNvSpPr txBox="1"/>
          <p:nvPr/>
        </p:nvSpPr>
        <p:spPr>
          <a:xfrm>
            <a:off x="4066364" y="3429000"/>
            <a:ext cx="37338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Адаптивная программа формирования привычек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Минималистичный дизайн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Персонализированная коммуникация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41E459-65BF-BE20-BC9B-8340289BD608}"/>
              </a:ext>
            </a:extLst>
          </p:cNvPr>
          <p:cNvSpPr txBox="1"/>
          <p:nvPr/>
        </p:nvSpPr>
        <p:spPr>
          <a:xfrm>
            <a:off x="7967608" y="3429000"/>
            <a:ext cx="36487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сбора данных и аналитики прогресса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 в личном кабинете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Отчеты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A7F7889-E289-4E2D-2474-566CD3191DB7}"/>
              </a:ext>
            </a:extLst>
          </p:cNvPr>
          <p:cNvCxnSpPr>
            <a:cxnSpLocks/>
          </p:cNvCxnSpPr>
          <p:nvPr/>
        </p:nvCxnSpPr>
        <p:spPr>
          <a:xfrm>
            <a:off x="7880552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5D83F036-57E0-3DCC-5B5F-37F6A6E5DD2C}"/>
              </a:ext>
            </a:extLst>
          </p:cNvPr>
          <p:cNvCxnSpPr>
            <a:cxnSpLocks/>
          </p:cNvCxnSpPr>
          <p:nvPr/>
        </p:nvCxnSpPr>
        <p:spPr>
          <a:xfrm>
            <a:off x="3984069" y="3429000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93544180-32ED-A74E-1DA1-FE8AF2984B6D}"/>
              </a:ext>
            </a:extLst>
          </p:cNvPr>
          <p:cNvCxnSpPr>
            <a:cxnSpLocks/>
          </p:cNvCxnSpPr>
          <p:nvPr/>
        </p:nvCxnSpPr>
        <p:spPr>
          <a:xfrm>
            <a:off x="7882591" y="3429000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330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98410-CDBC-CBC0-EBCF-E50C56970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F51B1F-82F3-0A02-E1CA-64422849A50E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Программные средства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34ED21-2B30-DEC3-DFED-6E1964624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A0683E5-BEC3-C676-6C30-2480617A2C33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2DA6443F-0E4B-AC19-89C9-BF20C8E5832C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CC92915-18D4-DA2D-6491-DACDE02FE726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6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27BF17A3-3DC1-EC04-1981-44459C035167}"/>
              </a:ext>
            </a:extLst>
          </p:cNvPr>
          <p:cNvCxnSpPr>
            <a:cxnSpLocks/>
          </p:cNvCxnSpPr>
          <p:nvPr/>
        </p:nvCxnSpPr>
        <p:spPr>
          <a:xfrm>
            <a:off x="345952" y="1259898"/>
            <a:ext cx="0" cy="1436078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B7C97DBD-8267-E50A-8781-006D55040F18}"/>
              </a:ext>
            </a:extLst>
          </p:cNvPr>
          <p:cNvCxnSpPr>
            <a:cxnSpLocks/>
          </p:cNvCxnSpPr>
          <p:nvPr/>
        </p:nvCxnSpPr>
        <p:spPr>
          <a:xfrm>
            <a:off x="5616363" y="1259898"/>
            <a:ext cx="0" cy="1431089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E3B0D3-1408-8A86-BAD7-3A60C8E812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utou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33835" y="4925096"/>
            <a:ext cx="900000" cy="90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DBABC6-8283-A29C-1F92-1B485D245C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909" y="1269283"/>
            <a:ext cx="900000" cy="9000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909EED7-70F8-80CA-00FF-6275A6C710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723" y="4528644"/>
            <a:ext cx="900000" cy="9000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14F597F-6337-A35C-396D-195244535D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319" y="1269283"/>
            <a:ext cx="900000" cy="900000"/>
          </a:xfrm>
          <a:prstGeom prst="rect">
            <a:avLst/>
          </a:prstGeom>
        </p:spPr>
      </p:pic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968B747D-B6C4-EFFD-5098-50AEC586BB36}"/>
              </a:ext>
            </a:extLst>
          </p:cNvPr>
          <p:cNvCxnSpPr>
            <a:cxnSpLocks/>
          </p:cNvCxnSpPr>
          <p:nvPr/>
        </p:nvCxnSpPr>
        <p:spPr>
          <a:xfrm>
            <a:off x="340537" y="4498650"/>
            <a:ext cx="0" cy="1436078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5FCDE733-27BA-0F6E-6154-5BF8062F9096}"/>
              </a:ext>
            </a:extLst>
          </p:cNvPr>
          <p:cNvCxnSpPr>
            <a:cxnSpLocks/>
          </p:cNvCxnSpPr>
          <p:nvPr/>
        </p:nvCxnSpPr>
        <p:spPr>
          <a:xfrm>
            <a:off x="5630333" y="4909924"/>
            <a:ext cx="0" cy="1431089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D3EE28C-9BA4-C1BA-C7D6-BE5C9F7F8AC1}"/>
              </a:ext>
            </a:extLst>
          </p:cNvPr>
          <p:cNvSpPr txBox="1"/>
          <p:nvPr/>
        </p:nvSpPr>
        <p:spPr>
          <a:xfrm>
            <a:off x="1351864" y="4409015"/>
            <a:ext cx="41327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effectLst/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Telegram API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effectLst/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Низкий порог входа</a:t>
            </a:r>
            <a:endParaRPr lang="en-US" sz="2400" dirty="0">
              <a:latin typeface="Times New Roman" panose="02020603050405020304" pitchFamily="18" charset="0"/>
              <a:ea typeface="NSimSun" panose="0201060903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Кроссплатформенность и бесшовная синхронизация</a:t>
            </a:r>
            <a:endParaRPr lang="en-US" sz="2400" dirty="0">
              <a:latin typeface="Times New Roman" panose="02020603050405020304" pitchFamily="18" charset="0"/>
              <a:ea typeface="NSimSun" panose="0201060903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Мощный и гибкий API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830497-2BB0-E02B-354E-C2670EEE64DF}"/>
              </a:ext>
            </a:extLst>
          </p:cNvPr>
          <p:cNvSpPr txBox="1"/>
          <p:nvPr/>
        </p:nvSpPr>
        <p:spPr>
          <a:xfrm>
            <a:off x="1351865" y="1269283"/>
            <a:ext cx="41327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sz="2400" dirty="0">
              <a:solidFill>
                <a:srgbClr val="274E9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Высокоуровневый язык с простым синтаксисом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 библиотек для анализа данных и разработки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ботов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Шифрование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8A0E92-5F63-DFA4-7E40-682CB8D98ABD}"/>
              </a:ext>
            </a:extLst>
          </p:cNvPr>
          <p:cNvSpPr txBox="1"/>
          <p:nvPr/>
        </p:nvSpPr>
        <p:spPr>
          <a:xfrm>
            <a:off x="6669264" y="4908073"/>
            <a:ext cx="493643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Легковесность и эффективность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Быстрое развертывание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Портативность и согласованность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6C4651-7811-DC37-120F-541D240B33B3}"/>
              </a:ext>
            </a:extLst>
          </p:cNvPr>
          <p:cNvSpPr txBox="1"/>
          <p:nvPr/>
        </p:nvSpPr>
        <p:spPr>
          <a:xfrm>
            <a:off x="6669264" y="1265552"/>
            <a:ext cx="49718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</a:p>
          <a:p>
            <a:pPr marL="285750" indent="-285750">
              <a:buFontTx/>
              <a:buChar char="-"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Бессерверная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производительность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легкость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837EF7B3-EE94-923D-7C3C-54DFE462A5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9799" y="3027084"/>
            <a:ext cx="900000" cy="900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5D497FC-D1FF-D095-AE12-889DF3F8DD3A}"/>
              </a:ext>
            </a:extLst>
          </p:cNvPr>
          <p:cNvSpPr txBox="1"/>
          <p:nvPr/>
        </p:nvSpPr>
        <p:spPr>
          <a:xfrm>
            <a:off x="6669264" y="3027084"/>
            <a:ext cx="497186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Source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Низкая стоимость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Гибкость и кастомизация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 и надежность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Независимость</a:t>
            </a:r>
          </a:p>
        </p:txBody>
      </p: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A6018588-AC56-EBF1-532C-9C621C809FD4}"/>
              </a:ext>
            </a:extLst>
          </p:cNvPr>
          <p:cNvCxnSpPr>
            <a:cxnSpLocks/>
          </p:cNvCxnSpPr>
          <p:nvPr/>
        </p:nvCxnSpPr>
        <p:spPr>
          <a:xfrm>
            <a:off x="5630333" y="3032353"/>
            <a:ext cx="0" cy="1431089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659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F64B1-CFDE-5903-3AEF-FC6A52774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2784AD-F57A-4DF0-F7BB-D6DF69DD27F4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Пользовательский путь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B633CF3-FBC5-5827-043C-62BF04D31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98EC4E1-F01B-D0C8-B87B-4303F7DEB6F0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A9EE35CB-815B-D5EA-3EAA-A4A2E69BF9F3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0F926F-0E23-0407-765F-0D0E35931168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7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36B802B-ED97-0C20-0594-F231A3315B2E}"/>
              </a:ext>
            </a:extLst>
          </p:cNvPr>
          <p:cNvSpPr/>
          <p:nvPr/>
        </p:nvSpPr>
        <p:spPr>
          <a:xfrm>
            <a:off x="6786880" y="1255366"/>
            <a:ext cx="2880000" cy="900000"/>
          </a:xfrm>
          <a:prstGeom prst="roundRect">
            <a:avLst/>
          </a:prstGeom>
          <a:ln w="9525" cap="flat" cmpd="sng" algn="ctr">
            <a:solidFill>
              <a:srgbClr val="274E9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Выполнение привычки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C76BD47-F376-BA4B-0980-95875A09CDC2}"/>
              </a:ext>
            </a:extLst>
          </p:cNvPr>
          <p:cNvSpPr/>
          <p:nvPr/>
        </p:nvSpPr>
        <p:spPr>
          <a:xfrm>
            <a:off x="8519203" y="3799276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Положительное подкрепление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4441B19-E09A-47A4-91C4-0606796B0352}"/>
              </a:ext>
            </a:extLst>
          </p:cNvPr>
          <p:cNvSpPr/>
          <p:nvPr/>
        </p:nvSpPr>
        <p:spPr>
          <a:xfrm>
            <a:off x="8519203" y="2528737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ХР / достижения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0ABFC66-1F9A-4AA4-DDF3-9781CC1FFEBB}"/>
              </a:ext>
            </a:extLst>
          </p:cNvPr>
          <p:cNvSpPr/>
          <p:nvPr/>
        </p:nvSpPr>
        <p:spPr>
          <a:xfrm>
            <a:off x="5130023" y="2527321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Анонимная поддержка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63221FE8-2C81-0CE8-E9F2-EFA452DF440C}"/>
              </a:ext>
            </a:extLst>
          </p:cNvPr>
          <p:cNvSpPr/>
          <p:nvPr/>
        </p:nvSpPr>
        <p:spPr>
          <a:xfrm>
            <a:off x="5130023" y="3797859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мотивации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B5A3DF5A-FC1D-6745-3482-E2D73237E937}"/>
              </a:ext>
            </a:extLst>
          </p:cNvPr>
          <p:cNvSpPr/>
          <p:nvPr/>
        </p:nvSpPr>
        <p:spPr>
          <a:xfrm>
            <a:off x="6824613" y="5077299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Повторение действия</a:t>
            </a:r>
          </a:p>
        </p:txBody>
      </p:sp>
      <p:sp>
        <p:nvSpPr>
          <p:cNvPr id="94" name="Объект 2">
            <a:extLst>
              <a:ext uri="{FF2B5EF4-FFF2-40B4-BE49-F238E27FC236}">
                <a16:creationId xmlns:a16="http://schemas.microsoft.com/office/drawing/2014/main" id="{7061037D-0D91-6C8D-7C85-4190FE37C51C}"/>
              </a:ext>
            </a:extLst>
          </p:cNvPr>
          <p:cNvSpPr txBox="1">
            <a:spLocks/>
          </p:cNvSpPr>
          <p:nvPr/>
        </p:nvSpPr>
        <p:spPr>
          <a:xfrm>
            <a:off x="418851" y="1259899"/>
            <a:ext cx="4140707" cy="4717400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98" name="Соединитель: изогнутый 97">
            <a:extLst>
              <a:ext uri="{FF2B5EF4-FFF2-40B4-BE49-F238E27FC236}">
                <a16:creationId xmlns:a16="http://schemas.microsoft.com/office/drawing/2014/main" id="{A0A9A019-3175-946F-3FCA-876212650087}"/>
              </a:ext>
            </a:extLst>
          </p:cNvPr>
          <p:cNvCxnSpPr>
            <a:stCxn id="7" idx="1"/>
            <a:endCxn id="18" idx="0"/>
          </p:cNvCxnSpPr>
          <p:nvPr/>
        </p:nvCxnSpPr>
        <p:spPr>
          <a:xfrm rot="10800000" flipV="1">
            <a:off x="6570024" y="1705365"/>
            <a:ext cx="216857" cy="82195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Соединитель: изогнутый 99">
            <a:extLst>
              <a:ext uri="{FF2B5EF4-FFF2-40B4-BE49-F238E27FC236}">
                <a16:creationId xmlns:a16="http://schemas.microsoft.com/office/drawing/2014/main" id="{C20D1A49-D496-A64F-1C70-19199191D7F3}"/>
              </a:ext>
            </a:extLst>
          </p:cNvPr>
          <p:cNvCxnSpPr>
            <a:stCxn id="7" idx="3"/>
            <a:endCxn id="13" idx="0"/>
          </p:cNvCxnSpPr>
          <p:nvPr/>
        </p:nvCxnSpPr>
        <p:spPr>
          <a:xfrm>
            <a:off x="9666880" y="1705366"/>
            <a:ext cx="292323" cy="82337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Соединитель: изогнутый 107">
            <a:extLst>
              <a:ext uri="{FF2B5EF4-FFF2-40B4-BE49-F238E27FC236}">
                <a16:creationId xmlns:a16="http://schemas.microsoft.com/office/drawing/2014/main" id="{02DB8682-9356-192F-536B-F8B0318EFB32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 rot="5400000">
            <a:off x="6384754" y="3612590"/>
            <a:ext cx="370538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Соединитель: изогнутый 109">
            <a:extLst>
              <a:ext uri="{FF2B5EF4-FFF2-40B4-BE49-F238E27FC236}">
                <a16:creationId xmlns:a16="http://schemas.microsoft.com/office/drawing/2014/main" id="{CDE4E85D-827B-B135-83BF-FEC441F344D1}"/>
              </a:ext>
            </a:extLst>
          </p:cNvPr>
          <p:cNvCxnSpPr>
            <a:stCxn id="13" idx="2"/>
            <a:endCxn id="12" idx="0"/>
          </p:cNvCxnSpPr>
          <p:nvPr/>
        </p:nvCxnSpPr>
        <p:spPr>
          <a:xfrm rot="5400000">
            <a:off x="9773934" y="3614006"/>
            <a:ext cx="370539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Соединитель: изогнутый 113">
            <a:extLst>
              <a:ext uri="{FF2B5EF4-FFF2-40B4-BE49-F238E27FC236}">
                <a16:creationId xmlns:a16="http://schemas.microsoft.com/office/drawing/2014/main" id="{E1959F05-1846-66CF-B6CC-56204C4BF59E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 rot="16200000" flipH="1">
            <a:off x="7227598" y="4040284"/>
            <a:ext cx="379440" cy="169459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Соединитель: изогнутый 115">
            <a:extLst>
              <a:ext uri="{FF2B5EF4-FFF2-40B4-BE49-F238E27FC236}">
                <a16:creationId xmlns:a16="http://schemas.microsoft.com/office/drawing/2014/main" id="{BE68F898-8CCA-D0A2-54B6-2C92B19D8A86}"/>
              </a:ext>
            </a:extLst>
          </p:cNvPr>
          <p:cNvCxnSpPr>
            <a:stCxn id="12" idx="2"/>
            <a:endCxn id="20" idx="0"/>
          </p:cNvCxnSpPr>
          <p:nvPr/>
        </p:nvCxnSpPr>
        <p:spPr>
          <a:xfrm rot="5400000">
            <a:off x="8922897" y="4040992"/>
            <a:ext cx="378023" cy="169459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64250E4D-10B7-7A94-1C9D-AAEE33EF5893}"/>
              </a:ext>
            </a:extLst>
          </p:cNvPr>
          <p:cNvSpPr txBox="1"/>
          <p:nvPr/>
        </p:nvSpPr>
        <p:spPr>
          <a:xfrm>
            <a:off x="583126" y="2030311"/>
            <a:ext cx="380111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отличие от традиционных трекеров, фокус методики смещен с пассивной фиксации действий на </a:t>
            </a:r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активное конструирование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устойчивой мотивационной среды.</a:t>
            </a: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DACFB206-2129-1E31-916B-B498707E676B}"/>
              </a:ext>
            </a:extLst>
          </p:cNvPr>
          <p:cNvCxnSpPr>
            <a:stCxn id="13" idx="1"/>
            <a:endCxn id="18" idx="3"/>
          </p:cNvCxnSpPr>
          <p:nvPr/>
        </p:nvCxnSpPr>
        <p:spPr>
          <a:xfrm flipH="1" flipV="1">
            <a:off x="8010023" y="2977321"/>
            <a:ext cx="509180" cy="1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8276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B03CA-3523-1A18-2D55-0B30DE147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0F1ACB-0218-438B-5D99-C5FD47847227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Пример работы модуля привычек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5E0BCAC-BE42-E97D-C25C-248A840DD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1459F97F-93EE-9443-C11D-A887C92C78A9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9CF11389-EF33-5EC9-97E9-EE1816D928F5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4285FE-B8C9-586B-2D20-42FA80501AC5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8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3EB076-0723-D7FB-9FB3-905E5AC5E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542543" y="1105794"/>
            <a:ext cx="4222607" cy="3536681"/>
          </a:xfrm>
          <a:prstGeom prst="rect">
            <a:avLst/>
          </a:prstGeom>
          <a:noFill/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C21D49F-B2C1-0846-FD3C-A94F60560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542542" y="4914421"/>
            <a:ext cx="4222607" cy="1287837"/>
          </a:xfrm>
          <a:prstGeom prst="rect">
            <a:avLst/>
          </a:prstGeom>
          <a:noFill/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387F770-1860-74EA-780C-228C0150D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5859888" y="1140137"/>
            <a:ext cx="4215684" cy="2243268"/>
          </a:xfrm>
          <a:prstGeom prst="rect">
            <a:avLst/>
          </a:prstGeom>
          <a:noFill/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6CD8D3B-47B9-5847-46B2-C4E648547E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5551542" y="4007642"/>
            <a:ext cx="5042452" cy="1970467"/>
          </a:xfrm>
          <a:prstGeom prst="rect">
            <a:avLst/>
          </a:prstGeom>
          <a:noFill/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1BEFB24A-7741-9A8A-0F47-AD3B4924EF7D}"/>
              </a:ext>
            </a:extLst>
          </p:cNvPr>
          <p:cNvSpPr txBox="1">
            <a:spLocks/>
          </p:cNvSpPr>
          <p:nvPr/>
        </p:nvSpPr>
        <p:spPr>
          <a:xfrm>
            <a:off x="300037" y="1017431"/>
            <a:ext cx="4707093" cy="3666605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12B4D52-8AF2-94BD-2889-8C01ADE03492}"/>
              </a:ext>
            </a:extLst>
          </p:cNvPr>
          <p:cNvSpPr txBox="1">
            <a:spLocks/>
          </p:cNvSpPr>
          <p:nvPr/>
        </p:nvSpPr>
        <p:spPr>
          <a:xfrm>
            <a:off x="300038" y="4794256"/>
            <a:ext cx="4722724" cy="1518222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49682E0-59A3-B62E-1DF7-358D9478BC0C}"/>
              </a:ext>
            </a:extLst>
          </p:cNvPr>
          <p:cNvSpPr txBox="1">
            <a:spLocks/>
          </p:cNvSpPr>
          <p:nvPr/>
        </p:nvSpPr>
        <p:spPr>
          <a:xfrm>
            <a:off x="5447485" y="1017431"/>
            <a:ext cx="5250567" cy="2558603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368DE392-02FE-3E59-7DB4-E9D2B20B8569}"/>
              </a:ext>
            </a:extLst>
          </p:cNvPr>
          <p:cNvSpPr txBox="1">
            <a:spLocks/>
          </p:cNvSpPr>
          <p:nvPr/>
        </p:nvSpPr>
        <p:spPr>
          <a:xfrm>
            <a:off x="5447484" y="3673276"/>
            <a:ext cx="5250568" cy="2639201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2238606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2C82B-38BA-2992-D4DF-3491A6B24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467FC4-B2FC-F2B4-A09E-0813137324AC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Модуль поддержки и премиум функции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EC260E8-4A4D-5FE2-6F01-B69EAD9C9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D436DBA-7CC6-5EA0-85EB-4EB5D17C5212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E3B94B1D-C917-E218-4E16-54E8239DBFE5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674F850-AC07-6A46-66F1-559C1E1435D4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9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0B5D89-BB96-BD11-3F2A-700B99F15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51474" y="3651538"/>
            <a:ext cx="4142668" cy="2812532"/>
          </a:xfrm>
          <a:prstGeom prst="rect">
            <a:avLst/>
          </a:prstGeom>
          <a:noFill/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3F514C-711F-766C-2086-E6571F058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804113" y="1225929"/>
            <a:ext cx="4008292" cy="2078813"/>
          </a:xfrm>
          <a:prstGeom prst="rect">
            <a:avLst/>
          </a:prstGeom>
          <a:noFill/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B31445-3F3B-D895-D3FC-B8E967D40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6515092" y="1145109"/>
            <a:ext cx="3474488" cy="2968114"/>
          </a:xfrm>
          <a:prstGeom prst="rect">
            <a:avLst/>
          </a:prstGeom>
          <a:noFill/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C09B80-64A6-096C-8005-C625083418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6259201" y="4393327"/>
            <a:ext cx="4116878" cy="2070743"/>
          </a:xfrm>
          <a:prstGeom prst="rect">
            <a:avLst/>
          </a:prstGeom>
          <a:noFill/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AF283E3C-D131-8CA9-19B7-3B94665C1F16}"/>
              </a:ext>
            </a:extLst>
          </p:cNvPr>
          <p:cNvSpPr txBox="1">
            <a:spLocks/>
          </p:cNvSpPr>
          <p:nvPr/>
        </p:nvSpPr>
        <p:spPr>
          <a:xfrm>
            <a:off x="300037" y="1045113"/>
            <a:ext cx="5036109" cy="2383887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F8773269-FD44-8D4C-3BD3-5D003D46E930}"/>
              </a:ext>
            </a:extLst>
          </p:cNvPr>
          <p:cNvSpPr txBox="1">
            <a:spLocks/>
          </p:cNvSpPr>
          <p:nvPr/>
        </p:nvSpPr>
        <p:spPr>
          <a:xfrm>
            <a:off x="310917" y="3553924"/>
            <a:ext cx="5025230" cy="296811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14C36D96-A3CC-646E-7F18-B55605A90EAC}"/>
              </a:ext>
            </a:extLst>
          </p:cNvPr>
          <p:cNvSpPr txBox="1">
            <a:spLocks/>
          </p:cNvSpPr>
          <p:nvPr/>
        </p:nvSpPr>
        <p:spPr>
          <a:xfrm>
            <a:off x="5573936" y="1045113"/>
            <a:ext cx="5536239" cy="3168105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E96BD3A3-87C3-D0E4-81C7-DCA2ACAFFF9E}"/>
              </a:ext>
            </a:extLst>
          </p:cNvPr>
          <p:cNvSpPr txBox="1">
            <a:spLocks/>
          </p:cNvSpPr>
          <p:nvPr/>
        </p:nvSpPr>
        <p:spPr>
          <a:xfrm>
            <a:off x="5573936" y="4313214"/>
            <a:ext cx="5536238" cy="220882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2959394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51E98-7F3B-C356-C5F9-945E2027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7A54DF-6129-D3D9-3F4D-45065BF248E6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Результаты эксперимента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223ABB9-B77B-9FEC-0975-6BB2D63C3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145BCBA-734A-17D4-9717-7EF38B1D1976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8744FD80-B5AF-13C8-461F-3C4C02BC9179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0A95AC-2758-2CC2-1DD7-745482DD3A85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10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pic>
        <p:nvPicPr>
          <p:cNvPr id="3" name="Изображение1">
            <a:extLst>
              <a:ext uri="{FF2B5EF4-FFF2-40B4-BE49-F238E27FC236}">
                <a16:creationId xmlns:a16="http://schemas.microsoft.com/office/drawing/2014/main" id="{473B3E38-5FE7-5767-C7AC-D61E23D57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467434" y="1157856"/>
            <a:ext cx="9257131" cy="540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88939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427CB-FFD0-DE34-33AD-D75C0CF6B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4FEB62-66D1-4AC7-7DF2-02CFB471C064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Результаты эксперимента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91608FB-4054-DFA6-BE0C-7715BE4E1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pic>
        <p:nvPicPr>
          <p:cNvPr id="5" name="Изображение4">
            <a:extLst>
              <a:ext uri="{FF2B5EF4-FFF2-40B4-BE49-F238E27FC236}">
                <a16:creationId xmlns:a16="http://schemas.microsoft.com/office/drawing/2014/main" id="{F24E7128-4616-634B-7371-DE82D11BF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613745" y="1157856"/>
            <a:ext cx="9257592" cy="5400000"/>
          </a:xfrm>
          <a:prstGeom prst="rect">
            <a:avLst/>
          </a:prstGeom>
          <a:noFill/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AFE8E3F-4C8A-9BD7-C34D-514C19860B58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E126392F-54F9-FA56-7D01-AF07E3AF00AD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BEC0E48-59F7-4891-DDA5-52E07F973C1D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11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909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E194F-A28F-0392-8D27-BAE961370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04FC84-7450-64EA-7AAA-CCE8751DAC9C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Результаты эксперимента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2DF6234-68CE-A0B2-217B-4001B5FDC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pic>
        <p:nvPicPr>
          <p:cNvPr id="4" name="Изображение5">
            <a:extLst>
              <a:ext uri="{FF2B5EF4-FFF2-40B4-BE49-F238E27FC236}">
                <a16:creationId xmlns:a16="http://schemas.microsoft.com/office/drawing/2014/main" id="{F23E676C-33C6-B5A7-4A08-F05E6F440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508546" y="1157856"/>
            <a:ext cx="9256969" cy="5400000"/>
          </a:xfrm>
          <a:prstGeom prst="rect">
            <a:avLst/>
          </a:prstGeom>
          <a:noFill/>
        </p:spPr>
      </p:pic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C67186E-4D32-50AE-AC22-0649B10CB980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0DBE2309-6265-1B50-E35F-F3BF15152F1B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B7B761-CD75-5F57-F27B-D1A297A2A1DD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12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2937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2A5A-FC23-BFB4-9A75-51AC3115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B93CD8-9F62-A5A8-D0DB-AEC4AD446D4A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Оценка экономической эффективности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A1D8B1C-EDC3-C57C-02AC-BA8E2EB3F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168EE77-BAB9-B370-9C58-1BAE512BD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519797"/>
              </p:ext>
            </p:extLst>
          </p:nvPr>
        </p:nvGraphicFramePr>
        <p:xfrm>
          <a:off x="300037" y="1136649"/>
          <a:ext cx="11591926" cy="495934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5802699">
                  <a:extLst>
                    <a:ext uri="{9D8B030D-6E8A-4147-A177-3AD203B41FA5}">
                      <a16:colId xmlns:a16="http://schemas.microsoft.com/office/drawing/2014/main" val="1738581461"/>
                    </a:ext>
                  </a:extLst>
                </a:gridCol>
                <a:gridCol w="1849008">
                  <a:extLst>
                    <a:ext uri="{9D8B030D-6E8A-4147-A177-3AD203B41FA5}">
                      <a16:colId xmlns:a16="http://schemas.microsoft.com/office/drawing/2014/main" val="3626096163"/>
                    </a:ext>
                  </a:extLst>
                </a:gridCol>
                <a:gridCol w="1136685">
                  <a:extLst>
                    <a:ext uri="{9D8B030D-6E8A-4147-A177-3AD203B41FA5}">
                      <a16:colId xmlns:a16="http://schemas.microsoft.com/office/drawing/2014/main" val="2091020232"/>
                    </a:ext>
                  </a:extLst>
                </a:gridCol>
                <a:gridCol w="2803534">
                  <a:extLst>
                    <a:ext uri="{9D8B030D-6E8A-4147-A177-3AD203B41FA5}">
                      <a16:colId xmlns:a16="http://schemas.microsoft.com/office/drawing/2014/main" val="532211291"/>
                    </a:ext>
                  </a:extLst>
                </a:gridCol>
              </a:tblGrid>
              <a:tr h="8915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effectLst/>
                        </a:rPr>
                        <a:t>Наименование показателя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chemeClr val="bg1"/>
                          </a:solidFill>
                          <a:effectLst/>
                        </a:rPr>
                        <a:t>Обозначение</a:t>
                      </a:r>
                      <a:endParaRPr lang="ru-RU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chemeClr val="bg1"/>
                          </a:solidFill>
                          <a:effectLst/>
                        </a:rPr>
                        <a:t>Ед. изм.</a:t>
                      </a:r>
                      <a:endParaRPr lang="ru-RU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chemeClr val="bg1"/>
                          </a:solidFill>
                          <a:effectLst/>
                        </a:rPr>
                        <a:t>Величина показателя</a:t>
                      </a:r>
                      <a:endParaRPr lang="ru-RU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/>
                </a:tc>
                <a:extLst>
                  <a:ext uri="{0D108BD9-81ED-4DB2-BD59-A6C34878D82A}">
                    <a16:rowId xmlns:a16="http://schemas.microsoft.com/office/drawing/2014/main" val="673730648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1. Объем инвестиций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I проект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руб.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966 528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2091818599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2. Ставка дисконтирования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r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555450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3. Чистая приведенная стоимость проекта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NPV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руб.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1 742 467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9219085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4. Внутренняя ставка доходности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IRR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41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899962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5. Простой срок окупаемости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 err="1">
                          <a:solidFill>
                            <a:srgbClr val="000000"/>
                          </a:solidFill>
                          <a:effectLst/>
                        </a:rPr>
                        <a:t>PPs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лет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3,93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505463349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6. Дисконтированный срок окупаемости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 err="1">
                          <a:solidFill>
                            <a:srgbClr val="000000"/>
                          </a:solidFill>
                          <a:effectLst/>
                        </a:rPr>
                        <a:t>PPd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лет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4,17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069098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7. Индекс доходности инвестиций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PI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индекс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2,80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668786056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8. Чистая конечная стоимость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NTV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руб.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3 015 910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12159"/>
                  </a:ext>
                </a:extLst>
              </a:tr>
            </a:tbl>
          </a:graphicData>
        </a:graphic>
      </p:graphicFrame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14738A0F-BEC7-0970-E9EF-32E9B19F9AE7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A8075276-3E03-C09B-232A-4E35CADBF9B5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44D77F-365B-6064-0D7B-87FC4AFA1086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13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4486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DB06E-50B8-EBA4-8EC1-1B72A4E9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C69027-D9AC-6F79-299B-3B61416E67DF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Заключение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41F9291-3ACD-B417-4774-A0A37A66C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E53D40A9-AD79-4333-8A8E-1BEE92A7B2C9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3B00132B-FE74-7B25-A005-20B9308E801E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C6DAA5-6F60-5697-3393-B199D7A413DF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14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8CB7ACB-0237-3143-4D57-EB6AE1297A4C}"/>
              </a:ext>
            </a:extLst>
          </p:cNvPr>
          <p:cNvGrpSpPr/>
          <p:nvPr/>
        </p:nvGrpSpPr>
        <p:grpSpPr>
          <a:xfrm>
            <a:off x="3218345" y="1005892"/>
            <a:ext cx="8973655" cy="5431790"/>
            <a:chOff x="3645706" y="1012217"/>
            <a:chExt cx="8703188" cy="5431790"/>
          </a:xfrm>
        </p:grpSpPr>
        <p:graphicFrame>
          <p:nvGraphicFramePr>
            <p:cNvPr id="13" name="Объект 4">
              <a:extLst>
                <a:ext uri="{FF2B5EF4-FFF2-40B4-BE49-F238E27FC236}">
                  <a16:creationId xmlns:a16="http://schemas.microsoft.com/office/drawing/2014/main" id="{7802C9A4-9192-BB32-C00E-B16DBE9C0E5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54173341"/>
                </p:ext>
              </p:extLst>
            </p:nvPr>
          </p:nvGraphicFramePr>
          <p:xfrm>
            <a:off x="3645706" y="1012217"/>
            <a:ext cx="8703188" cy="543179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14" name="Shape 2530">
              <a:extLst>
                <a:ext uri="{FF2B5EF4-FFF2-40B4-BE49-F238E27FC236}">
                  <a16:creationId xmlns:a16="http://schemas.microsoft.com/office/drawing/2014/main" id="{4E636C97-E99F-7DBA-55B8-C6DA50B38470}"/>
                </a:ext>
              </a:extLst>
            </p:cNvPr>
            <p:cNvSpPr/>
            <p:nvPr/>
          </p:nvSpPr>
          <p:spPr>
            <a:xfrm>
              <a:off x="5129342" y="1184989"/>
              <a:ext cx="408769" cy="53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0" y="19636"/>
                  </a:moveTo>
                  <a:cubicBezTo>
                    <a:pt x="20400" y="20178"/>
                    <a:pt x="19862" y="20617"/>
                    <a:pt x="19200" y="20617"/>
                  </a:cubicBezTo>
                  <a:lnTo>
                    <a:pt x="6000" y="20617"/>
                  </a:lnTo>
                  <a:lnTo>
                    <a:pt x="6000" y="982"/>
                  </a:lnTo>
                  <a:lnTo>
                    <a:pt x="13200" y="982"/>
                  </a:lnTo>
                  <a:lnTo>
                    <a:pt x="13200" y="6872"/>
                  </a:lnTo>
                  <a:lnTo>
                    <a:pt x="15600" y="4909"/>
                  </a:lnTo>
                  <a:lnTo>
                    <a:pt x="18000" y="6872"/>
                  </a:lnTo>
                  <a:lnTo>
                    <a:pt x="18000" y="982"/>
                  </a:lnTo>
                  <a:lnTo>
                    <a:pt x="19200" y="982"/>
                  </a:lnTo>
                  <a:cubicBezTo>
                    <a:pt x="19862" y="982"/>
                    <a:pt x="20400" y="1422"/>
                    <a:pt x="20400" y="1964"/>
                  </a:cubicBezTo>
                  <a:cubicBezTo>
                    <a:pt x="20400" y="1964"/>
                    <a:pt x="20400" y="19636"/>
                    <a:pt x="20400" y="19636"/>
                  </a:cubicBezTo>
                  <a:close/>
                  <a:moveTo>
                    <a:pt x="4800" y="20617"/>
                  </a:moveTo>
                  <a:lnTo>
                    <a:pt x="2400" y="20617"/>
                  </a:lnTo>
                  <a:cubicBezTo>
                    <a:pt x="1738" y="20617"/>
                    <a:pt x="1200" y="20178"/>
                    <a:pt x="1200" y="19636"/>
                  </a:cubicBezTo>
                  <a:lnTo>
                    <a:pt x="1200" y="1964"/>
                  </a:lnTo>
                  <a:cubicBezTo>
                    <a:pt x="1200" y="1422"/>
                    <a:pt x="1738" y="982"/>
                    <a:pt x="2400" y="982"/>
                  </a:cubicBezTo>
                  <a:lnTo>
                    <a:pt x="4800" y="982"/>
                  </a:lnTo>
                  <a:cubicBezTo>
                    <a:pt x="4800" y="982"/>
                    <a:pt x="4800" y="20617"/>
                    <a:pt x="4800" y="20617"/>
                  </a:cubicBezTo>
                  <a:close/>
                  <a:moveTo>
                    <a:pt x="14400" y="982"/>
                  </a:moveTo>
                  <a:lnTo>
                    <a:pt x="16800" y="982"/>
                  </a:lnTo>
                  <a:lnTo>
                    <a:pt x="16800" y="4418"/>
                  </a:lnTo>
                  <a:lnTo>
                    <a:pt x="15600" y="3436"/>
                  </a:lnTo>
                  <a:lnTo>
                    <a:pt x="14400" y="4418"/>
                  </a:lnTo>
                  <a:cubicBezTo>
                    <a:pt x="14400" y="4418"/>
                    <a:pt x="14400" y="982"/>
                    <a:pt x="14400" y="982"/>
                  </a:cubicBezTo>
                  <a:close/>
                  <a:moveTo>
                    <a:pt x="19200" y="0"/>
                  </a:moveTo>
                  <a:lnTo>
                    <a:pt x="2400" y="0"/>
                  </a:lnTo>
                  <a:cubicBezTo>
                    <a:pt x="1075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0"/>
                    <a:pt x="1075" y="21600"/>
                    <a:pt x="2400" y="21600"/>
                  </a:cubicBezTo>
                  <a:lnTo>
                    <a:pt x="19200" y="21600"/>
                  </a:lnTo>
                  <a:cubicBezTo>
                    <a:pt x="20525" y="21600"/>
                    <a:pt x="21600" y="20720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525" y="0"/>
                    <a:pt x="19200" y="0"/>
                  </a:cubicBezTo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  <a:miter lim="400000"/>
            </a:ln>
          </p:spPr>
          <p:txBody>
            <a:bodyPr lIns="19045" tIns="19045" rIns="19045" bIns="19045" anchor="ctr"/>
            <a:lstStyle/>
            <a:p>
              <a:pPr defTabSz="228526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Calibri" charset="0"/>
                <a:cs typeface="Calibri" charset="0"/>
                <a:sym typeface="Gill Sans"/>
              </a:endParaRPr>
            </a:p>
          </p:txBody>
        </p:sp>
        <p:sp>
          <p:nvSpPr>
            <p:cNvPr id="15" name="Shape 2538">
              <a:extLst>
                <a:ext uri="{FF2B5EF4-FFF2-40B4-BE49-F238E27FC236}">
                  <a16:creationId xmlns:a16="http://schemas.microsoft.com/office/drawing/2014/main" id="{85B6217C-198D-58F8-0295-D404303A49CB}"/>
                </a:ext>
              </a:extLst>
            </p:cNvPr>
            <p:cNvSpPr/>
            <p:nvPr/>
          </p:nvSpPr>
          <p:spPr>
            <a:xfrm>
              <a:off x="5102427" y="3427217"/>
              <a:ext cx="429515" cy="5611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0" y="5891"/>
                  </a:moveTo>
                  <a:lnTo>
                    <a:pt x="1200" y="5891"/>
                  </a:lnTo>
                  <a:lnTo>
                    <a:pt x="1200" y="3927"/>
                  </a:lnTo>
                  <a:lnTo>
                    <a:pt x="6000" y="3927"/>
                  </a:lnTo>
                  <a:cubicBezTo>
                    <a:pt x="6000" y="4469"/>
                    <a:pt x="6538" y="4909"/>
                    <a:pt x="7200" y="4909"/>
                  </a:cubicBezTo>
                  <a:lnTo>
                    <a:pt x="14400" y="4909"/>
                  </a:lnTo>
                  <a:cubicBezTo>
                    <a:pt x="15062" y="4909"/>
                    <a:pt x="15600" y="4469"/>
                    <a:pt x="15600" y="3927"/>
                  </a:cubicBezTo>
                  <a:lnTo>
                    <a:pt x="20400" y="3927"/>
                  </a:lnTo>
                  <a:cubicBezTo>
                    <a:pt x="20400" y="3927"/>
                    <a:pt x="20400" y="5891"/>
                    <a:pt x="20400" y="5891"/>
                  </a:cubicBezTo>
                  <a:close/>
                  <a:moveTo>
                    <a:pt x="20400" y="20618"/>
                  </a:moveTo>
                  <a:lnTo>
                    <a:pt x="1200" y="20618"/>
                  </a:lnTo>
                  <a:lnTo>
                    <a:pt x="1200" y="6873"/>
                  </a:lnTo>
                  <a:lnTo>
                    <a:pt x="20400" y="6873"/>
                  </a:lnTo>
                  <a:cubicBezTo>
                    <a:pt x="20400" y="6873"/>
                    <a:pt x="20400" y="20618"/>
                    <a:pt x="20400" y="20618"/>
                  </a:cubicBezTo>
                  <a:close/>
                  <a:moveTo>
                    <a:pt x="7200" y="1964"/>
                  </a:moveTo>
                  <a:lnTo>
                    <a:pt x="14400" y="1964"/>
                  </a:lnTo>
                  <a:lnTo>
                    <a:pt x="14400" y="3927"/>
                  </a:lnTo>
                  <a:lnTo>
                    <a:pt x="7200" y="3927"/>
                  </a:lnTo>
                  <a:cubicBezTo>
                    <a:pt x="7200" y="3927"/>
                    <a:pt x="7200" y="1964"/>
                    <a:pt x="7200" y="1964"/>
                  </a:cubicBezTo>
                  <a:close/>
                  <a:moveTo>
                    <a:pt x="20400" y="2945"/>
                  </a:moveTo>
                  <a:lnTo>
                    <a:pt x="15600" y="2945"/>
                  </a:lnTo>
                  <a:lnTo>
                    <a:pt x="15600" y="1964"/>
                  </a:lnTo>
                  <a:cubicBezTo>
                    <a:pt x="15600" y="1422"/>
                    <a:pt x="15062" y="982"/>
                    <a:pt x="14400" y="982"/>
                  </a:cubicBezTo>
                  <a:lnTo>
                    <a:pt x="12000" y="982"/>
                  </a:lnTo>
                  <a:cubicBezTo>
                    <a:pt x="12000" y="440"/>
                    <a:pt x="11462" y="0"/>
                    <a:pt x="10800" y="0"/>
                  </a:cubicBezTo>
                  <a:cubicBezTo>
                    <a:pt x="10138" y="0"/>
                    <a:pt x="9600" y="440"/>
                    <a:pt x="9600" y="982"/>
                  </a:cubicBezTo>
                  <a:lnTo>
                    <a:pt x="7200" y="982"/>
                  </a:lnTo>
                  <a:cubicBezTo>
                    <a:pt x="6538" y="982"/>
                    <a:pt x="6000" y="1422"/>
                    <a:pt x="6000" y="1964"/>
                  </a:cubicBezTo>
                  <a:lnTo>
                    <a:pt x="6000" y="2945"/>
                  </a:lnTo>
                  <a:lnTo>
                    <a:pt x="1200" y="2945"/>
                  </a:lnTo>
                  <a:cubicBezTo>
                    <a:pt x="538" y="2945"/>
                    <a:pt x="0" y="3386"/>
                    <a:pt x="0" y="3927"/>
                  </a:cubicBezTo>
                  <a:lnTo>
                    <a:pt x="0" y="20618"/>
                  </a:lnTo>
                  <a:cubicBezTo>
                    <a:pt x="0" y="21160"/>
                    <a:pt x="538" y="21600"/>
                    <a:pt x="1200" y="21600"/>
                  </a:cubicBezTo>
                  <a:lnTo>
                    <a:pt x="20400" y="21600"/>
                  </a:lnTo>
                  <a:cubicBezTo>
                    <a:pt x="21062" y="21600"/>
                    <a:pt x="21600" y="21160"/>
                    <a:pt x="21600" y="20618"/>
                  </a:cubicBezTo>
                  <a:lnTo>
                    <a:pt x="21600" y="3927"/>
                  </a:lnTo>
                  <a:cubicBezTo>
                    <a:pt x="21600" y="3386"/>
                    <a:pt x="21062" y="2945"/>
                    <a:pt x="20400" y="2945"/>
                  </a:cubicBezTo>
                  <a:moveTo>
                    <a:pt x="4200" y="16691"/>
                  </a:moveTo>
                  <a:lnTo>
                    <a:pt x="15000" y="16691"/>
                  </a:lnTo>
                  <a:cubicBezTo>
                    <a:pt x="15331" y="16691"/>
                    <a:pt x="15600" y="16472"/>
                    <a:pt x="15600" y="16200"/>
                  </a:cubicBezTo>
                  <a:cubicBezTo>
                    <a:pt x="15600" y="15929"/>
                    <a:pt x="15331" y="15709"/>
                    <a:pt x="15000" y="15709"/>
                  </a:cubicBezTo>
                  <a:lnTo>
                    <a:pt x="4200" y="15709"/>
                  </a:lnTo>
                  <a:cubicBezTo>
                    <a:pt x="3869" y="15709"/>
                    <a:pt x="3600" y="15929"/>
                    <a:pt x="3600" y="16200"/>
                  </a:cubicBezTo>
                  <a:cubicBezTo>
                    <a:pt x="3600" y="16472"/>
                    <a:pt x="3869" y="16691"/>
                    <a:pt x="4200" y="16691"/>
                  </a:cubicBezTo>
                  <a:moveTo>
                    <a:pt x="4200" y="13745"/>
                  </a:moveTo>
                  <a:lnTo>
                    <a:pt x="17400" y="13745"/>
                  </a:lnTo>
                  <a:cubicBezTo>
                    <a:pt x="17731" y="13745"/>
                    <a:pt x="18000" y="13526"/>
                    <a:pt x="18000" y="13255"/>
                  </a:cubicBezTo>
                  <a:cubicBezTo>
                    <a:pt x="18000" y="12984"/>
                    <a:pt x="17731" y="12764"/>
                    <a:pt x="17400" y="12764"/>
                  </a:cubicBezTo>
                  <a:lnTo>
                    <a:pt x="4200" y="12764"/>
                  </a:lnTo>
                  <a:cubicBezTo>
                    <a:pt x="3869" y="12764"/>
                    <a:pt x="3600" y="12984"/>
                    <a:pt x="3600" y="13255"/>
                  </a:cubicBezTo>
                  <a:cubicBezTo>
                    <a:pt x="3600" y="13526"/>
                    <a:pt x="3869" y="13745"/>
                    <a:pt x="4200" y="13745"/>
                  </a:cubicBezTo>
                  <a:moveTo>
                    <a:pt x="4200" y="10800"/>
                  </a:moveTo>
                  <a:lnTo>
                    <a:pt x="11400" y="10800"/>
                  </a:lnTo>
                  <a:cubicBezTo>
                    <a:pt x="11731" y="10800"/>
                    <a:pt x="12000" y="10581"/>
                    <a:pt x="12000" y="10309"/>
                  </a:cubicBezTo>
                  <a:cubicBezTo>
                    <a:pt x="12000" y="10038"/>
                    <a:pt x="11731" y="9818"/>
                    <a:pt x="11400" y="9818"/>
                  </a:cubicBezTo>
                  <a:lnTo>
                    <a:pt x="4200" y="9818"/>
                  </a:lnTo>
                  <a:cubicBezTo>
                    <a:pt x="3869" y="9818"/>
                    <a:pt x="3600" y="10038"/>
                    <a:pt x="3600" y="10309"/>
                  </a:cubicBezTo>
                  <a:cubicBezTo>
                    <a:pt x="3600" y="10581"/>
                    <a:pt x="3869" y="10800"/>
                    <a:pt x="4200" y="10800"/>
                  </a:cubicBezTo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  <a:miter lim="400000"/>
            </a:ln>
          </p:spPr>
          <p:txBody>
            <a:bodyPr lIns="19045" tIns="19045" rIns="19045" bIns="19045" anchor="ctr"/>
            <a:lstStyle/>
            <a:p>
              <a:pPr defTabSz="228526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Calibri" charset="0"/>
                <a:cs typeface="Calibri" charset="0"/>
                <a:sym typeface="Gill Sans"/>
              </a:endParaRPr>
            </a:p>
          </p:txBody>
        </p:sp>
        <p:pic>
          <p:nvPicPr>
            <p:cNvPr id="16" name="Рисунок 15" descr="Одна шестеренка">
              <a:extLst>
                <a:ext uri="{FF2B5EF4-FFF2-40B4-BE49-F238E27FC236}">
                  <a16:creationId xmlns:a16="http://schemas.microsoft.com/office/drawing/2014/main" id="{6A0E385F-4C19-715A-C279-81F0537E09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99656" y="4507431"/>
              <a:ext cx="657837" cy="703146"/>
            </a:xfrm>
            <a:prstGeom prst="rect">
              <a:avLst/>
            </a:prstGeom>
          </p:spPr>
        </p:pic>
        <p:pic>
          <p:nvPicPr>
            <p:cNvPr id="17" name="Рисунок 16" descr="Исследование">
              <a:extLst>
                <a:ext uri="{FF2B5EF4-FFF2-40B4-BE49-F238E27FC236}">
                  <a16:creationId xmlns:a16="http://schemas.microsoft.com/office/drawing/2014/main" id="{4A40B08D-9B08-D44B-7966-3F35974F1B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041624" y="5698345"/>
              <a:ext cx="563597" cy="602415"/>
            </a:xfrm>
            <a:prstGeom prst="rect">
              <a:avLst/>
            </a:prstGeom>
          </p:spPr>
        </p:pic>
        <p:sp>
          <p:nvSpPr>
            <p:cNvPr id="18" name="Shape 2930">
              <a:extLst>
                <a:ext uri="{FF2B5EF4-FFF2-40B4-BE49-F238E27FC236}">
                  <a16:creationId xmlns:a16="http://schemas.microsoft.com/office/drawing/2014/main" id="{1DF026C7-A0EB-10FE-0D53-336B73BED86D}"/>
                </a:ext>
              </a:extLst>
            </p:cNvPr>
            <p:cNvSpPr/>
            <p:nvPr/>
          </p:nvSpPr>
          <p:spPr>
            <a:xfrm>
              <a:off x="5033648" y="2410673"/>
              <a:ext cx="589852" cy="4012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55" y="1543"/>
                  </a:moveTo>
                  <a:cubicBezTo>
                    <a:pt x="12837" y="1543"/>
                    <a:pt x="10309" y="5515"/>
                    <a:pt x="10309" y="10414"/>
                  </a:cubicBezTo>
                  <a:lnTo>
                    <a:pt x="10309" y="11186"/>
                  </a:lnTo>
                  <a:cubicBezTo>
                    <a:pt x="10309" y="15233"/>
                    <a:pt x="8221" y="18514"/>
                    <a:pt x="5645" y="18514"/>
                  </a:cubicBezTo>
                  <a:cubicBezTo>
                    <a:pt x="3070" y="18514"/>
                    <a:pt x="982" y="15233"/>
                    <a:pt x="982" y="11186"/>
                  </a:cubicBezTo>
                  <a:lnTo>
                    <a:pt x="982" y="10414"/>
                  </a:lnTo>
                  <a:cubicBezTo>
                    <a:pt x="982" y="6367"/>
                    <a:pt x="3070" y="3086"/>
                    <a:pt x="5645" y="3086"/>
                  </a:cubicBezTo>
                  <a:cubicBezTo>
                    <a:pt x="6670" y="3086"/>
                    <a:pt x="7575" y="3630"/>
                    <a:pt x="8321" y="4629"/>
                  </a:cubicBezTo>
                  <a:lnTo>
                    <a:pt x="6382" y="4629"/>
                  </a:lnTo>
                  <a:cubicBezTo>
                    <a:pt x="6110" y="4629"/>
                    <a:pt x="5891" y="4974"/>
                    <a:pt x="5891" y="5400"/>
                  </a:cubicBezTo>
                  <a:cubicBezTo>
                    <a:pt x="5891" y="5826"/>
                    <a:pt x="6110" y="6171"/>
                    <a:pt x="6382" y="6171"/>
                  </a:cubicBezTo>
                  <a:lnTo>
                    <a:pt x="9327" y="6171"/>
                  </a:lnTo>
                  <a:cubicBezTo>
                    <a:pt x="9599" y="6171"/>
                    <a:pt x="9818" y="5826"/>
                    <a:pt x="9818" y="5400"/>
                  </a:cubicBezTo>
                  <a:lnTo>
                    <a:pt x="9818" y="771"/>
                  </a:lnTo>
                  <a:cubicBezTo>
                    <a:pt x="9818" y="346"/>
                    <a:pt x="9599" y="0"/>
                    <a:pt x="9327" y="0"/>
                  </a:cubicBezTo>
                  <a:cubicBezTo>
                    <a:pt x="9056" y="0"/>
                    <a:pt x="8836" y="346"/>
                    <a:pt x="8836" y="771"/>
                  </a:cubicBezTo>
                  <a:lnTo>
                    <a:pt x="8836" y="3321"/>
                  </a:lnTo>
                  <a:cubicBezTo>
                    <a:pt x="7879" y="2160"/>
                    <a:pt x="6706" y="1543"/>
                    <a:pt x="5645" y="1543"/>
                  </a:cubicBezTo>
                  <a:cubicBezTo>
                    <a:pt x="2527" y="1543"/>
                    <a:pt x="0" y="5515"/>
                    <a:pt x="0" y="10414"/>
                  </a:cubicBezTo>
                  <a:lnTo>
                    <a:pt x="0" y="11186"/>
                  </a:lnTo>
                  <a:cubicBezTo>
                    <a:pt x="0" y="16085"/>
                    <a:pt x="2527" y="20057"/>
                    <a:pt x="5645" y="20057"/>
                  </a:cubicBezTo>
                  <a:cubicBezTo>
                    <a:pt x="8763" y="20057"/>
                    <a:pt x="11291" y="16085"/>
                    <a:pt x="11291" y="11186"/>
                  </a:cubicBezTo>
                  <a:lnTo>
                    <a:pt x="11291" y="10414"/>
                  </a:lnTo>
                  <a:cubicBezTo>
                    <a:pt x="11291" y="6367"/>
                    <a:pt x="13379" y="3086"/>
                    <a:pt x="15955" y="3086"/>
                  </a:cubicBezTo>
                  <a:cubicBezTo>
                    <a:pt x="18530" y="3086"/>
                    <a:pt x="20618" y="6367"/>
                    <a:pt x="20618" y="10414"/>
                  </a:cubicBezTo>
                  <a:lnTo>
                    <a:pt x="20618" y="11186"/>
                  </a:lnTo>
                  <a:cubicBezTo>
                    <a:pt x="20618" y="15233"/>
                    <a:pt x="18530" y="18514"/>
                    <a:pt x="15955" y="18514"/>
                  </a:cubicBezTo>
                  <a:cubicBezTo>
                    <a:pt x="14930" y="18514"/>
                    <a:pt x="14025" y="17970"/>
                    <a:pt x="13279" y="16971"/>
                  </a:cubicBezTo>
                  <a:lnTo>
                    <a:pt x="15218" y="16971"/>
                  </a:lnTo>
                  <a:cubicBezTo>
                    <a:pt x="15490" y="16971"/>
                    <a:pt x="15709" y="16626"/>
                    <a:pt x="15709" y="16200"/>
                  </a:cubicBezTo>
                  <a:cubicBezTo>
                    <a:pt x="15709" y="15774"/>
                    <a:pt x="15490" y="15429"/>
                    <a:pt x="15218" y="15429"/>
                  </a:cubicBezTo>
                  <a:lnTo>
                    <a:pt x="12273" y="15429"/>
                  </a:lnTo>
                  <a:cubicBezTo>
                    <a:pt x="12001" y="15429"/>
                    <a:pt x="11782" y="15774"/>
                    <a:pt x="11782" y="16200"/>
                  </a:cubicBezTo>
                  <a:lnTo>
                    <a:pt x="11782" y="20829"/>
                  </a:lnTo>
                  <a:cubicBezTo>
                    <a:pt x="11782" y="21255"/>
                    <a:pt x="12001" y="21600"/>
                    <a:pt x="12273" y="21600"/>
                  </a:cubicBezTo>
                  <a:cubicBezTo>
                    <a:pt x="12544" y="21600"/>
                    <a:pt x="12764" y="21255"/>
                    <a:pt x="12764" y="20829"/>
                  </a:cubicBezTo>
                  <a:lnTo>
                    <a:pt x="12764" y="18279"/>
                  </a:lnTo>
                  <a:cubicBezTo>
                    <a:pt x="13721" y="19441"/>
                    <a:pt x="14894" y="20057"/>
                    <a:pt x="15955" y="20057"/>
                  </a:cubicBezTo>
                  <a:cubicBezTo>
                    <a:pt x="19073" y="20057"/>
                    <a:pt x="21600" y="16085"/>
                    <a:pt x="21600" y="11186"/>
                  </a:cubicBezTo>
                  <a:lnTo>
                    <a:pt x="21600" y="10414"/>
                  </a:lnTo>
                  <a:cubicBezTo>
                    <a:pt x="21600" y="5515"/>
                    <a:pt x="19073" y="1543"/>
                    <a:pt x="15955" y="1543"/>
                  </a:cubicBezTo>
                </a:path>
              </a:pathLst>
            </a:custGeom>
            <a:solidFill>
              <a:srgbClr val="F3F7FF"/>
            </a:solidFill>
            <a:ln w="12700">
              <a:solidFill>
                <a:srgbClr val="F3F7FF"/>
              </a:solidFill>
              <a:miter lim="400000"/>
            </a:ln>
          </p:spPr>
          <p:txBody>
            <a:bodyPr lIns="19045" tIns="19045" rIns="19045" bIns="19045" anchor="ctr"/>
            <a:lstStyle/>
            <a:p>
              <a:pPr defTabSz="228526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Calibri" charset="0"/>
                <a:cs typeface="Calibri" charset="0"/>
                <a:sym typeface="Gill Sans"/>
              </a:endParaRPr>
            </a:p>
          </p:txBody>
        </p:sp>
      </p:grp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CD0EEC0-91A9-ABB5-4B9B-3D2447786A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9220" y="1826767"/>
            <a:ext cx="3377485" cy="337748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7BB31B3-7FF8-CC30-B732-6BECCA9598DF}"/>
              </a:ext>
            </a:extLst>
          </p:cNvPr>
          <p:cNvSpPr txBox="1"/>
          <p:nvPr/>
        </p:nvSpPr>
        <p:spPr>
          <a:xfrm>
            <a:off x="512003" y="5289955"/>
            <a:ext cx="3491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github.com/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pagamov_bot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68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2325</TotalTime>
  <Words>535</Words>
  <Application>Microsoft Office PowerPoint</Application>
  <PresentationFormat>Широкоэкранный</PresentationFormat>
  <Paragraphs>149</Paragraphs>
  <Slides>14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Gill Sans</vt:lpstr>
      <vt:lpstr>Inter Variable Text</vt:lpstr>
      <vt:lpstr>Inter Variable Text Medium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Егор Жучков</dc:creator>
  <cp:lastModifiedBy>Павел Гамов</cp:lastModifiedBy>
  <cp:revision>47</cp:revision>
  <dcterms:created xsi:type="dcterms:W3CDTF">2024-10-09T13:54:56Z</dcterms:created>
  <dcterms:modified xsi:type="dcterms:W3CDTF">2026-06-07T18:26:09Z</dcterms:modified>
</cp:coreProperties>
</file>