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7" r:id="rId2"/>
    <p:sldId id="261" r:id="rId3"/>
    <p:sldId id="263" r:id="rId4"/>
    <p:sldId id="262" r:id="rId5"/>
    <p:sldId id="295" r:id="rId6"/>
    <p:sldId id="296" r:id="rId7"/>
    <p:sldId id="297" r:id="rId8"/>
    <p:sldId id="264" r:id="rId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74E9C"/>
    <a:srgbClr val="F3F7FF"/>
    <a:srgbClr val="232323"/>
    <a:srgbClr val="1A3773"/>
    <a:srgbClr val="005C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216" autoAdjust="0"/>
    <p:restoredTop sz="94657"/>
  </p:normalViewPr>
  <p:slideViewPr>
    <p:cSldViewPr snapToGrid="0" showGuides="1">
      <p:cViewPr varScale="1">
        <p:scale>
          <a:sx n="105" d="100"/>
          <a:sy n="105" d="100"/>
        </p:scale>
        <p:origin x="174" y="1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1">
  <dgm:title val=""/>
  <dgm:desc val=""/>
  <dgm:catLst>
    <dgm:cat type="accent2" pri="11100"/>
  </dgm:catLst>
  <dgm:styleLbl name="node0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2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2">
        <a:alpha val="4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B0322A2-04D1-9B4A-AFBE-637420FC70CA}" type="doc">
      <dgm:prSet loTypeId="urn:microsoft.com/office/officeart/2005/8/layout/vList3" loCatId="" qsTypeId="urn:microsoft.com/office/officeart/2005/8/quickstyle/simple1" qsCatId="simple" csTypeId="urn:microsoft.com/office/officeart/2005/8/colors/accent2_1" csCatId="accent2" phldr="1"/>
      <dgm:spPr/>
    </dgm:pt>
    <dgm:pt modelId="{264106F1-4E3F-1348-9926-864509FC5B26}">
      <dgm:prSet phldrT="[Текст]" custT="1"/>
      <dgm:spPr>
        <a:ln>
          <a:solidFill>
            <a:srgbClr val="1A3773"/>
          </a:solidFill>
        </a:ln>
      </dgm:spPr>
      <dgm:t>
        <a:bodyPr/>
        <a:lstStyle/>
        <a:p>
          <a:r>
            <a:rPr lang="ru-RU" sz="2400" dirty="0" smtClean="0">
              <a:latin typeface="Inter Variable Text" panose="02000503000000020004" pitchFamily="2" charset="0"/>
              <a:ea typeface="Inter Variable Text" panose="02000503000000020004" pitchFamily="2" charset="0"/>
              <a:cs typeface="Inter Variable Text" panose="02000503000000020004" pitchFamily="2" charset="0"/>
            </a:rPr>
            <a:t>Обзор понятия «профессиональное выгорание»</a:t>
          </a:r>
          <a:endParaRPr lang="ru-RU" sz="2400" b="0" i="0" dirty="0">
            <a:latin typeface="Inter Variable Text" panose="02000503000000020004" pitchFamily="2" charset="0"/>
            <a:ea typeface="Inter Variable Text" panose="02000503000000020004" pitchFamily="2" charset="0"/>
            <a:cs typeface="Inter Variable Text" panose="02000503000000020004" pitchFamily="2" charset="0"/>
          </a:endParaRPr>
        </a:p>
      </dgm:t>
    </dgm:pt>
    <dgm:pt modelId="{77AB77B0-FC5F-1B49-B62D-388F78A3575E}" type="parTrans" cxnId="{3D5CC35C-DAE7-1144-A58F-A89BC1590CDE}">
      <dgm:prSet/>
      <dgm:spPr/>
      <dgm:t>
        <a:bodyPr/>
        <a:lstStyle/>
        <a:p>
          <a:endParaRPr lang="ru-RU"/>
        </a:p>
      </dgm:t>
    </dgm:pt>
    <dgm:pt modelId="{938DDC3B-226C-B64C-9C80-E869FD1E849B}" type="sibTrans" cxnId="{3D5CC35C-DAE7-1144-A58F-A89BC1590CDE}">
      <dgm:prSet/>
      <dgm:spPr/>
      <dgm:t>
        <a:bodyPr/>
        <a:lstStyle/>
        <a:p>
          <a:endParaRPr lang="ru-RU"/>
        </a:p>
      </dgm:t>
    </dgm:pt>
    <dgm:pt modelId="{737F8ACF-DA9F-794F-97AF-8494DC8C41DD}">
      <dgm:prSet phldrT="[Текст]" custT="1"/>
      <dgm:spPr>
        <a:ln>
          <a:solidFill>
            <a:srgbClr val="1A3773"/>
          </a:solidFill>
        </a:ln>
      </dgm:spPr>
      <dgm:t>
        <a:bodyPr/>
        <a:lstStyle/>
        <a:p>
          <a:r>
            <a:rPr lang="ru-RU" sz="2400" dirty="0" smtClean="0">
              <a:latin typeface="Inter Variable Text" panose="02000503000000020004" pitchFamily="2" charset="0"/>
              <a:ea typeface="Inter Variable Text" panose="02000503000000020004" pitchFamily="2" charset="0"/>
              <a:cs typeface="Inter Variable Text" panose="02000503000000020004" pitchFamily="2" charset="0"/>
            </a:rPr>
            <a:t>Описание характеристики ПАО СК «Росгосстрах»</a:t>
          </a:r>
          <a:endParaRPr lang="ru-RU" sz="2400" dirty="0">
            <a:latin typeface="Inter Variable Text" panose="02000503000000020004" pitchFamily="2" charset="0"/>
            <a:ea typeface="Inter Variable Text" panose="02000503000000020004" pitchFamily="2" charset="0"/>
            <a:cs typeface="Inter Variable Text" panose="02000503000000020004" pitchFamily="2" charset="0"/>
          </a:endParaRPr>
        </a:p>
      </dgm:t>
    </dgm:pt>
    <dgm:pt modelId="{B18A813F-35E4-0B41-8C17-11657748886A}" type="parTrans" cxnId="{1FC5AF25-D0EF-1049-B1AA-30CC5925A7A3}">
      <dgm:prSet/>
      <dgm:spPr/>
      <dgm:t>
        <a:bodyPr/>
        <a:lstStyle/>
        <a:p>
          <a:endParaRPr lang="ru-RU"/>
        </a:p>
      </dgm:t>
    </dgm:pt>
    <dgm:pt modelId="{2D8F7AD0-DD5E-4A45-9E6A-ECD67B623543}" type="sibTrans" cxnId="{1FC5AF25-D0EF-1049-B1AA-30CC5925A7A3}">
      <dgm:prSet/>
      <dgm:spPr/>
      <dgm:t>
        <a:bodyPr/>
        <a:lstStyle/>
        <a:p>
          <a:endParaRPr lang="ru-RU"/>
        </a:p>
      </dgm:t>
    </dgm:pt>
    <dgm:pt modelId="{D61E8C4B-83B1-6141-BC93-DB3A2D637E65}">
      <dgm:prSet phldrT="[Текст]" custT="1"/>
      <dgm:spPr>
        <a:ln>
          <a:solidFill>
            <a:srgbClr val="1A3773"/>
          </a:solidFill>
        </a:ln>
      </dgm:spPr>
      <dgm:t>
        <a:bodyPr/>
        <a:lstStyle/>
        <a:p>
          <a:r>
            <a:rPr lang="ru-RU" sz="2400" dirty="0" smtClean="0">
              <a:latin typeface="Inter Variable Text" panose="02000503000000020004" pitchFamily="2" charset="0"/>
              <a:ea typeface="Inter Variable Text" panose="02000503000000020004" pitchFamily="2" charset="0"/>
              <a:cs typeface="Inter Variable Text" panose="02000503000000020004" pitchFamily="2" charset="0"/>
            </a:rPr>
            <a:t>Формулирование требований</a:t>
          </a:r>
          <a:endParaRPr lang="ru-RU" sz="2400" dirty="0">
            <a:latin typeface="Inter Variable Text" panose="02000503000000020004" pitchFamily="2" charset="0"/>
            <a:ea typeface="Inter Variable Text" panose="02000503000000020004" pitchFamily="2" charset="0"/>
            <a:cs typeface="Inter Variable Text" panose="02000503000000020004" pitchFamily="2" charset="0"/>
          </a:endParaRPr>
        </a:p>
      </dgm:t>
    </dgm:pt>
    <dgm:pt modelId="{39633656-1D75-4D47-814D-3AE55C9FAC4F}" type="parTrans" cxnId="{FEADCBE4-63A4-0746-A73C-BA892C961313}">
      <dgm:prSet/>
      <dgm:spPr/>
      <dgm:t>
        <a:bodyPr/>
        <a:lstStyle/>
        <a:p>
          <a:endParaRPr lang="ru-RU"/>
        </a:p>
      </dgm:t>
    </dgm:pt>
    <dgm:pt modelId="{FCD11EBC-0635-BB4F-A06F-57BA7B52C0BD}" type="sibTrans" cxnId="{FEADCBE4-63A4-0746-A73C-BA892C961313}">
      <dgm:prSet/>
      <dgm:spPr/>
      <dgm:t>
        <a:bodyPr/>
        <a:lstStyle/>
        <a:p>
          <a:endParaRPr lang="ru-RU"/>
        </a:p>
      </dgm:t>
    </dgm:pt>
    <dgm:pt modelId="{4C7AB5D6-A31F-1046-8FDF-A1AFF4044342}">
      <dgm:prSet phldrT="[Текст]" custT="1"/>
      <dgm:spPr>
        <a:ln>
          <a:solidFill>
            <a:srgbClr val="1A3773"/>
          </a:solidFill>
        </a:ln>
      </dgm:spPr>
      <dgm:t>
        <a:bodyPr/>
        <a:lstStyle/>
        <a:p>
          <a:r>
            <a:rPr lang="ru-RU" sz="2400" dirty="0" smtClean="0">
              <a:latin typeface="Inter Variable Text" panose="02000503000000020004" pitchFamily="2" charset="0"/>
              <a:ea typeface="Inter Variable Text" panose="02000503000000020004" pitchFamily="2" charset="0"/>
              <a:cs typeface="Inter Variable Text" panose="02000503000000020004" pitchFamily="2" charset="0"/>
            </a:rPr>
            <a:t>Расчет экономической эффективности</a:t>
          </a:r>
          <a:endParaRPr lang="ru-RU" sz="2400" dirty="0">
            <a:latin typeface="Inter Variable Text" panose="02000503000000020004" pitchFamily="2" charset="0"/>
            <a:ea typeface="Inter Variable Text" panose="02000503000000020004" pitchFamily="2" charset="0"/>
            <a:cs typeface="Inter Variable Text" panose="02000503000000020004" pitchFamily="2" charset="0"/>
          </a:endParaRPr>
        </a:p>
      </dgm:t>
    </dgm:pt>
    <dgm:pt modelId="{5B735AE0-D970-284B-8892-1129F83E2E07}" type="parTrans" cxnId="{3CC44D87-481B-3243-A148-EABFD07A62AA}">
      <dgm:prSet/>
      <dgm:spPr/>
      <dgm:t>
        <a:bodyPr/>
        <a:lstStyle/>
        <a:p>
          <a:endParaRPr lang="ru-RU"/>
        </a:p>
      </dgm:t>
    </dgm:pt>
    <dgm:pt modelId="{1CAAA2D9-EE5B-8A49-A0EA-94C1BCF8C286}" type="sibTrans" cxnId="{3CC44D87-481B-3243-A148-EABFD07A62AA}">
      <dgm:prSet/>
      <dgm:spPr/>
      <dgm:t>
        <a:bodyPr/>
        <a:lstStyle/>
        <a:p>
          <a:endParaRPr lang="ru-RU"/>
        </a:p>
      </dgm:t>
    </dgm:pt>
    <dgm:pt modelId="{EBA695E6-3616-584B-ADB9-1BC767543C22}">
      <dgm:prSet phldrT="[Текст]" custT="1"/>
      <dgm:spPr>
        <a:ln>
          <a:solidFill>
            <a:srgbClr val="1A3773"/>
          </a:solidFill>
        </a:ln>
      </dgm:spPr>
      <dgm:t>
        <a:bodyPr/>
        <a:lstStyle/>
        <a:p>
          <a:r>
            <a:rPr lang="ru-RU" sz="2400" dirty="0" smtClean="0">
              <a:latin typeface="Inter Variable Text" panose="02000503000000020004" pitchFamily="2" charset="0"/>
              <a:ea typeface="Inter Variable Text" panose="02000503000000020004" pitchFamily="2" charset="0"/>
              <a:cs typeface="Inter Variable Text" panose="02000503000000020004" pitchFamily="2" charset="0"/>
            </a:rPr>
            <a:t>Реализация</a:t>
          </a:r>
          <a:r>
            <a:rPr lang="ru-RU" sz="2400" baseline="0" dirty="0" smtClean="0">
              <a:latin typeface="Inter Variable Text" panose="02000503000000020004" pitchFamily="2" charset="0"/>
              <a:ea typeface="Inter Variable Text" panose="02000503000000020004" pitchFamily="2" charset="0"/>
              <a:cs typeface="Inter Variable Text" panose="02000503000000020004" pitchFamily="2" charset="0"/>
            </a:rPr>
            <a:t> прототипа</a:t>
          </a:r>
          <a:endParaRPr lang="ru-RU" sz="2400" dirty="0">
            <a:latin typeface="Inter Variable Text" panose="02000503000000020004" pitchFamily="2" charset="0"/>
            <a:ea typeface="Inter Variable Text" panose="02000503000000020004" pitchFamily="2" charset="0"/>
            <a:cs typeface="Inter Variable Text" panose="02000503000000020004" pitchFamily="2" charset="0"/>
          </a:endParaRPr>
        </a:p>
      </dgm:t>
    </dgm:pt>
    <dgm:pt modelId="{27E78313-E23F-FC4D-9E8E-CC23CDC08F20}" type="parTrans" cxnId="{EA42916E-61F2-D149-AE42-B6214319DAAB}">
      <dgm:prSet/>
      <dgm:spPr/>
      <dgm:t>
        <a:bodyPr/>
        <a:lstStyle/>
        <a:p>
          <a:endParaRPr lang="ru-RU"/>
        </a:p>
      </dgm:t>
    </dgm:pt>
    <dgm:pt modelId="{62A08F34-709E-8145-99C7-3B8EFF566206}" type="sibTrans" cxnId="{EA42916E-61F2-D149-AE42-B6214319DAAB}">
      <dgm:prSet/>
      <dgm:spPr/>
      <dgm:t>
        <a:bodyPr/>
        <a:lstStyle/>
        <a:p>
          <a:endParaRPr lang="ru-RU"/>
        </a:p>
      </dgm:t>
    </dgm:pt>
    <dgm:pt modelId="{FA28B158-B89F-6548-BC91-5B3BC6A03976}" type="pres">
      <dgm:prSet presAssocID="{9B0322A2-04D1-9B4A-AFBE-637420FC70CA}" presName="linearFlow" presStyleCnt="0">
        <dgm:presLayoutVars>
          <dgm:dir/>
          <dgm:resizeHandles val="exact"/>
        </dgm:presLayoutVars>
      </dgm:prSet>
      <dgm:spPr/>
    </dgm:pt>
    <dgm:pt modelId="{DDEA1B25-38AD-044E-90C8-58B4B119F0A4}" type="pres">
      <dgm:prSet presAssocID="{264106F1-4E3F-1348-9926-864509FC5B26}" presName="composite" presStyleCnt="0"/>
      <dgm:spPr/>
    </dgm:pt>
    <dgm:pt modelId="{461663A7-095E-5349-A58D-186EEEBCE797}" type="pres">
      <dgm:prSet presAssocID="{264106F1-4E3F-1348-9926-864509FC5B26}" presName="imgShp" presStyleLbl="fgImgPlace1" presStyleIdx="0" presStyleCnt="5"/>
      <dgm:spPr>
        <a:solidFill>
          <a:srgbClr val="274E9C"/>
        </a:solidFill>
        <a:ln>
          <a:noFill/>
        </a:ln>
      </dgm:spPr>
    </dgm:pt>
    <dgm:pt modelId="{BBA26809-E33A-8441-BB70-723BCB5A1C85}" type="pres">
      <dgm:prSet presAssocID="{264106F1-4E3F-1348-9926-864509FC5B26}" presName="txShp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3A9646A3-E861-714A-9687-76EDA4C5096C}" type="pres">
      <dgm:prSet presAssocID="{938DDC3B-226C-B64C-9C80-E869FD1E849B}" presName="spacing" presStyleCnt="0"/>
      <dgm:spPr/>
    </dgm:pt>
    <dgm:pt modelId="{8C1438E6-3B83-6F43-AF2A-5BC6696C2518}" type="pres">
      <dgm:prSet presAssocID="{737F8ACF-DA9F-794F-97AF-8494DC8C41DD}" presName="composite" presStyleCnt="0"/>
      <dgm:spPr/>
    </dgm:pt>
    <dgm:pt modelId="{91C536B7-3FF0-7540-A9E6-94ED27AD4BFD}" type="pres">
      <dgm:prSet presAssocID="{737F8ACF-DA9F-794F-97AF-8494DC8C41DD}" presName="imgShp" presStyleLbl="fgImgPlace1" presStyleIdx="1" presStyleCnt="5"/>
      <dgm:spPr>
        <a:solidFill>
          <a:srgbClr val="274E9C"/>
        </a:solidFill>
        <a:ln>
          <a:noFill/>
        </a:ln>
      </dgm:spPr>
    </dgm:pt>
    <dgm:pt modelId="{F4B7EFF2-69B2-EB45-A229-95657A516E17}" type="pres">
      <dgm:prSet presAssocID="{737F8ACF-DA9F-794F-97AF-8494DC8C41DD}" presName="txShp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494A97EF-B9FA-CE4A-9B41-1D7814DAF4A6}" type="pres">
      <dgm:prSet presAssocID="{2D8F7AD0-DD5E-4A45-9E6A-ECD67B623543}" presName="spacing" presStyleCnt="0"/>
      <dgm:spPr/>
    </dgm:pt>
    <dgm:pt modelId="{AD26E4BF-2287-6545-BD2A-9E9F112E42F2}" type="pres">
      <dgm:prSet presAssocID="{D61E8C4B-83B1-6141-BC93-DB3A2D637E65}" presName="composite" presStyleCnt="0"/>
      <dgm:spPr/>
    </dgm:pt>
    <dgm:pt modelId="{D40C6A89-69F2-4547-B292-3B110D581711}" type="pres">
      <dgm:prSet presAssocID="{D61E8C4B-83B1-6141-BC93-DB3A2D637E65}" presName="imgShp" presStyleLbl="fgImgPlace1" presStyleIdx="2" presStyleCnt="5"/>
      <dgm:spPr>
        <a:solidFill>
          <a:srgbClr val="274E9C"/>
        </a:solidFill>
        <a:ln>
          <a:noFill/>
        </a:ln>
      </dgm:spPr>
    </dgm:pt>
    <dgm:pt modelId="{67AA8280-0D44-A94E-8043-2EEFE276D1E9}" type="pres">
      <dgm:prSet presAssocID="{D61E8C4B-83B1-6141-BC93-DB3A2D637E65}" presName="txShp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7D4638E8-A0DE-2443-8760-D2B6E693FF23}" type="pres">
      <dgm:prSet presAssocID="{FCD11EBC-0635-BB4F-A06F-57BA7B52C0BD}" presName="spacing" presStyleCnt="0"/>
      <dgm:spPr/>
    </dgm:pt>
    <dgm:pt modelId="{F697070B-8B88-F441-892E-1DDD0AF45A64}" type="pres">
      <dgm:prSet presAssocID="{EBA695E6-3616-584B-ADB9-1BC767543C22}" presName="composite" presStyleCnt="0"/>
      <dgm:spPr/>
    </dgm:pt>
    <dgm:pt modelId="{BD4E3E7B-E244-FD4B-95F0-3CD7EAD42C42}" type="pres">
      <dgm:prSet presAssocID="{EBA695E6-3616-584B-ADB9-1BC767543C22}" presName="imgShp" presStyleLbl="fgImgPlace1" presStyleIdx="3" presStyleCnt="5"/>
      <dgm:spPr>
        <a:solidFill>
          <a:srgbClr val="274E9C"/>
        </a:solidFill>
        <a:ln>
          <a:noFill/>
        </a:ln>
      </dgm:spPr>
    </dgm:pt>
    <dgm:pt modelId="{CEECF6D7-B242-034B-9EBA-1DE376851B65}" type="pres">
      <dgm:prSet presAssocID="{EBA695E6-3616-584B-ADB9-1BC767543C22}" presName="txShp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ABCA5B62-D309-2D4A-8D9A-0BD4C76FD0EF}" type="pres">
      <dgm:prSet presAssocID="{62A08F34-709E-8145-99C7-3B8EFF566206}" presName="spacing" presStyleCnt="0"/>
      <dgm:spPr/>
    </dgm:pt>
    <dgm:pt modelId="{B51B8F56-82B1-3147-9CB7-AE8DD2A5B29E}" type="pres">
      <dgm:prSet presAssocID="{4C7AB5D6-A31F-1046-8FDF-A1AFF4044342}" presName="composite" presStyleCnt="0"/>
      <dgm:spPr/>
    </dgm:pt>
    <dgm:pt modelId="{7CD4DBAE-3334-D541-8C7D-FC4CB0F79389}" type="pres">
      <dgm:prSet presAssocID="{4C7AB5D6-A31F-1046-8FDF-A1AFF4044342}" presName="imgShp" presStyleLbl="fgImgPlace1" presStyleIdx="4" presStyleCnt="5"/>
      <dgm:spPr>
        <a:solidFill>
          <a:srgbClr val="274E9C"/>
        </a:solidFill>
        <a:ln>
          <a:noFill/>
        </a:ln>
      </dgm:spPr>
    </dgm:pt>
    <dgm:pt modelId="{43FB68EF-01F5-C24B-89F6-A34C6D98A7E9}" type="pres">
      <dgm:prSet presAssocID="{4C7AB5D6-A31F-1046-8FDF-A1AFF4044342}" presName="txShp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D0CC0F3F-05BC-6946-9F48-9961E04B1665}" type="presOf" srcId="{9B0322A2-04D1-9B4A-AFBE-637420FC70CA}" destId="{FA28B158-B89F-6548-BC91-5B3BC6A03976}" srcOrd="0" destOrd="0" presId="urn:microsoft.com/office/officeart/2005/8/layout/vList3"/>
    <dgm:cxn modelId="{8DD43C3B-B551-C843-B92E-3C6AA3DE85D5}" type="presOf" srcId="{D61E8C4B-83B1-6141-BC93-DB3A2D637E65}" destId="{67AA8280-0D44-A94E-8043-2EEFE276D1E9}" srcOrd="0" destOrd="0" presId="urn:microsoft.com/office/officeart/2005/8/layout/vList3"/>
    <dgm:cxn modelId="{C26CF673-0E1E-CC46-A6D4-45E22FC81D1F}" type="presOf" srcId="{4C7AB5D6-A31F-1046-8FDF-A1AFF4044342}" destId="{43FB68EF-01F5-C24B-89F6-A34C6D98A7E9}" srcOrd="0" destOrd="0" presId="urn:microsoft.com/office/officeart/2005/8/layout/vList3"/>
    <dgm:cxn modelId="{1FC5AF25-D0EF-1049-B1AA-30CC5925A7A3}" srcId="{9B0322A2-04D1-9B4A-AFBE-637420FC70CA}" destId="{737F8ACF-DA9F-794F-97AF-8494DC8C41DD}" srcOrd="1" destOrd="0" parTransId="{B18A813F-35E4-0B41-8C17-11657748886A}" sibTransId="{2D8F7AD0-DD5E-4A45-9E6A-ECD67B623543}"/>
    <dgm:cxn modelId="{3D5CC35C-DAE7-1144-A58F-A89BC1590CDE}" srcId="{9B0322A2-04D1-9B4A-AFBE-637420FC70CA}" destId="{264106F1-4E3F-1348-9926-864509FC5B26}" srcOrd="0" destOrd="0" parTransId="{77AB77B0-FC5F-1B49-B62D-388F78A3575E}" sibTransId="{938DDC3B-226C-B64C-9C80-E869FD1E849B}"/>
    <dgm:cxn modelId="{EA42916E-61F2-D149-AE42-B6214319DAAB}" srcId="{9B0322A2-04D1-9B4A-AFBE-637420FC70CA}" destId="{EBA695E6-3616-584B-ADB9-1BC767543C22}" srcOrd="3" destOrd="0" parTransId="{27E78313-E23F-FC4D-9E8E-CC23CDC08F20}" sibTransId="{62A08F34-709E-8145-99C7-3B8EFF566206}"/>
    <dgm:cxn modelId="{3CC44D87-481B-3243-A148-EABFD07A62AA}" srcId="{9B0322A2-04D1-9B4A-AFBE-637420FC70CA}" destId="{4C7AB5D6-A31F-1046-8FDF-A1AFF4044342}" srcOrd="4" destOrd="0" parTransId="{5B735AE0-D970-284B-8892-1129F83E2E07}" sibTransId="{1CAAA2D9-EE5B-8A49-A0EA-94C1BCF8C286}"/>
    <dgm:cxn modelId="{DF989020-3809-3F42-932C-D74D2D49C988}" type="presOf" srcId="{EBA695E6-3616-584B-ADB9-1BC767543C22}" destId="{CEECF6D7-B242-034B-9EBA-1DE376851B65}" srcOrd="0" destOrd="0" presId="urn:microsoft.com/office/officeart/2005/8/layout/vList3"/>
    <dgm:cxn modelId="{FEADCBE4-63A4-0746-A73C-BA892C961313}" srcId="{9B0322A2-04D1-9B4A-AFBE-637420FC70CA}" destId="{D61E8C4B-83B1-6141-BC93-DB3A2D637E65}" srcOrd="2" destOrd="0" parTransId="{39633656-1D75-4D47-814D-3AE55C9FAC4F}" sibTransId="{FCD11EBC-0635-BB4F-A06F-57BA7B52C0BD}"/>
    <dgm:cxn modelId="{99C95F80-7C09-C24E-ADD2-7B712B111C38}" type="presOf" srcId="{737F8ACF-DA9F-794F-97AF-8494DC8C41DD}" destId="{F4B7EFF2-69B2-EB45-A229-95657A516E17}" srcOrd="0" destOrd="0" presId="urn:microsoft.com/office/officeart/2005/8/layout/vList3"/>
    <dgm:cxn modelId="{5E5A6346-DC91-D747-B577-DF8BF46525A4}" type="presOf" srcId="{264106F1-4E3F-1348-9926-864509FC5B26}" destId="{BBA26809-E33A-8441-BB70-723BCB5A1C85}" srcOrd="0" destOrd="0" presId="urn:microsoft.com/office/officeart/2005/8/layout/vList3"/>
    <dgm:cxn modelId="{7E6BAE93-23FE-FD48-894B-6B7A1431B8E7}" type="presParOf" srcId="{FA28B158-B89F-6548-BC91-5B3BC6A03976}" destId="{DDEA1B25-38AD-044E-90C8-58B4B119F0A4}" srcOrd="0" destOrd="0" presId="urn:microsoft.com/office/officeart/2005/8/layout/vList3"/>
    <dgm:cxn modelId="{340AF7D0-2F31-3140-A5AA-B201517AC378}" type="presParOf" srcId="{DDEA1B25-38AD-044E-90C8-58B4B119F0A4}" destId="{461663A7-095E-5349-A58D-186EEEBCE797}" srcOrd="0" destOrd="0" presId="urn:microsoft.com/office/officeart/2005/8/layout/vList3"/>
    <dgm:cxn modelId="{07FE8005-91A4-BC46-B93E-E6B52E94C790}" type="presParOf" srcId="{DDEA1B25-38AD-044E-90C8-58B4B119F0A4}" destId="{BBA26809-E33A-8441-BB70-723BCB5A1C85}" srcOrd="1" destOrd="0" presId="urn:microsoft.com/office/officeart/2005/8/layout/vList3"/>
    <dgm:cxn modelId="{C1C3CB28-9749-2F40-AABB-381D23C509C2}" type="presParOf" srcId="{FA28B158-B89F-6548-BC91-5B3BC6A03976}" destId="{3A9646A3-E861-714A-9687-76EDA4C5096C}" srcOrd="1" destOrd="0" presId="urn:microsoft.com/office/officeart/2005/8/layout/vList3"/>
    <dgm:cxn modelId="{3F82A1AE-671A-6C42-B263-8CA75C0C7FA2}" type="presParOf" srcId="{FA28B158-B89F-6548-BC91-5B3BC6A03976}" destId="{8C1438E6-3B83-6F43-AF2A-5BC6696C2518}" srcOrd="2" destOrd="0" presId="urn:microsoft.com/office/officeart/2005/8/layout/vList3"/>
    <dgm:cxn modelId="{ABE36C66-43A7-AB44-9C48-AB6D814D21B9}" type="presParOf" srcId="{8C1438E6-3B83-6F43-AF2A-5BC6696C2518}" destId="{91C536B7-3FF0-7540-A9E6-94ED27AD4BFD}" srcOrd="0" destOrd="0" presId="urn:microsoft.com/office/officeart/2005/8/layout/vList3"/>
    <dgm:cxn modelId="{599ACF84-00F8-B346-8FAA-AD9179FDA902}" type="presParOf" srcId="{8C1438E6-3B83-6F43-AF2A-5BC6696C2518}" destId="{F4B7EFF2-69B2-EB45-A229-95657A516E17}" srcOrd="1" destOrd="0" presId="urn:microsoft.com/office/officeart/2005/8/layout/vList3"/>
    <dgm:cxn modelId="{79DBFA8F-BE7F-9140-AFF2-EA622381BFAE}" type="presParOf" srcId="{FA28B158-B89F-6548-BC91-5B3BC6A03976}" destId="{494A97EF-B9FA-CE4A-9B41-1D7814DAF4A6}" srcOrd="3" destOrd="0" presId="urn:microsoft.com/office/officeart/2005/8/layout/vList3"/>
    <dgm:cxn modelId="{847AC919-1D95-AC47-A733-AE3956E747EE}" type="presParOf" srcId="{FA28B158-B89F-6548-BC91-5B3BC6A03976}" destId="{AD26E4BF-2287-6545-BD2A-9E9F112E42F2}" srcOrd="4" destOrd="0" presId="urn:microsoft.com/office/officeart/2005/8/layout/vList3"/>
    <dgm:cxn modelId="{266D3389-34F0-3647-9F77-FD766FA6FA32}" type="presParOf" srcId="{AD26E4BF-2287-6545-BD2A-9E9F112E42F2}" destId="{D40C6A89-69F2-4547-B292-3B110D581711}" srcOrd="0" destOrd="0" presId="urn:microsoft.com/office/officeart/2005/8/layout/vList3"/>
    <dgm:cxn modelId="{4844238A-4B09-454C-9EB4-063E41818B6F}" type="presParOf" srcId="{AD26E4BF-2287-6545-BD2A-9E9F112E42F2}" destId="{67AA8280-0D44-A94E-8043-2EEFE276D1E9}" srcOrd="1" destOrd="0" presId="urn:microsoft.com/office/officeart/2005/8/layout/vList3"/>
    <dgm:cxn modelId="{DE31FB3E-8F1C-B644-9F74-7F6603CBE609}" type="presParOf" srcId="{FA28B158-B89F-6548-BC91-5B3BC6A03976}" destId="{7D4638E8-A0DE-2443-8760-D2B6E693FF23}" srcOrd="5" destOrd="0" presId="urn:microsoft.com/office/officeart/2005/8/layout/vList3"/>
    <dgm:cxn modelId="{DB3748E0-C3BA-0847-A553-908637DAC22E}" type="presParOf" srcId="{FA28B158-B89F-6548-BC91-5B3BC6A03976}" destId="{F697070B-8B88-F441-892E-1DDD0AF45A64}" srcOrd="6" destOrd="0" presId="urn:microsoft.com/office/officeart/2005/8/layout/vList3"/>
    <dgm:cxn modelId="{C55E6331-A96E-0A4F-A77B-AF1036F4521D}" type="presParOf" srcId="{F697070B-8B88-F441-892E-1DDD0AF45A64}" destId="{BD4E3E7B-E244-FD4B-95F0-3CD7EAD42C42}" srcOrd="0" destOrd="0" presId="urn:microsoft.com/office/officeart/2005/8/layout/vList3"/>
    <dgm:cxn modelId="{50F07FAF-9F82-1E4E-8F47-AC51096A2699}" type="presParOf" srcId="{F697070B-8B88-F441-892E-1DDD0AF45A64}" destId="{CEECF6D7-B242-034B-9EBA-1DE376851B65}" srcOrd="1" destOrd="0" presId="urn:microsoft.com/office/officeart/2005/8/layout/vList3"/>
    <dgm:cxn modelId="{314B743E-A452-3E4D-AE27-F8A78F413A21}" type="presParOf" srcId="{FA28B158-B89F-6548-BC91-5B3BC6A03976}" destId="{ABCA5B62-D309-2D4A-8D9A-0BD4C76FD0EF}" srcOrd="7" destOrd="0" presId="urn:microsoft.com/office/officeart/2005/8/layout/vList3"/>
    <dgm:cxn modelId="{DD43933D-2BFA-BD42-8188-2141A7F5BB5F}" type="presParOf" srcId="{FA28B158-B89F-6548-BC91-5B3BC6A03976}" destId="{B51B8F56-82B1-3147-9CB7-AE8DD2A5B29E}" srcOrd="8" destOrd="0" presId="urn:microsoft.com/office/officeart/2005/8/layout/vList3"/>
    <dgm:cxn modelId="{4005E062-C531-344C-A5FD-AF7EA505F9D8}" type="presParOf" srcId="{B51B8F56-82B1-3147-9CB7-AE8DD2A5B29E}" destId="{7CD4DBAE-3334-D541-8C7D-FC4CB0F79389}" srcOrd="0" destOrd="0" presId="urn:microsoft.com/office/officeart/2005/8/layout/vList3"/>
    <dgm:cxn modelId="{C9524FC5-4AE6-B04F-A5DD-AF19B89EC67F}" type="presParOf" srcId="{B51B8F56-82B1-3147-9CB7-AE8DD2A5B29E}" destId="{43FB68EF-01F5-C24B-89F6-A34C6D98A7E9}" srcOrd="1" destOrd="0" presId="urn:microsoft.com/office/officeart/2005/8/layout/vList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BA26809-E33A-8441-BB70-723BCB5A1C85}">
      <dsp:nvSpPr>
        <dsp:cNvPr id="0" name=""/>
        <dsp:cNvSpPr/>
      </dsp:nvSpPr>
      <dsp:spPr>
        <a:xfrm rot="10800000">
          <a:off x="1777309" y="1419"/>
          <a:ext cx="6186242" cy="876481"/>
        </a:xfrm>
        <a:prstGeom prst="homePlat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rgbClr val="1A3773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6504" tIns="91440" rIns="170688" bIns="91440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>
              <a:latin typeface="Inter Variable Text" panose="02000503000000020004" pitchFamily="2" charset="0"/>
              <a:ea typeface="Inter Variable Text" panose="02000503000000020004" pitchFamily="2" charset="0"/>
              <a:cs typeface="Inter Variable Text" panose="02000503000000020004" pitchFamily="2" charset="0"/>
            </a:rPr>
            <a:t>Обзор понятия «профессиональное выгорание»</a:t>
          </a:r>
          <a:endParaRPr lang="ru-RU" sz="2400" b="0" i="0" kern="1200" dirty="0">
            <a:latin typeface="Inter Variable Text" panose="02000503000000020004" pitchFamily="2" charset="0"/>
            <a:ea typeface="Inter Variable Text" panose="02000503000000020004" pitchFamily="2" charset="0"/>
            <a:cs typeface="Inter Variable Text" panose="02000503000000020004" pitchFamily="2" charset="0"/>
          </a:endParaRPr>
        </a:p>
      </dsp:txBody>
      <dsp:txXfrm rot="10800000">
        <a:off x="1996429" y="1419"/>
        <a:ext cx="5967122" cy="876481"/>
      </dsp:txXfrm>
    </dsp:sp>
    <dsp:sp modelId="{461663A7-095E-5349-A58D-186EEEBCE797}">
      <dsp:nvSpPr>
        <dsp:cNvPr id="0" name=""/>
        <dsp:cNvSpPr/>
      </dsp:nvSpPr>
      <dsp:spPr>
        <a:xfrm>
          <a:off x="1339068" y="1419"/>
          <a:ext cx="876481" cy="876481"/>
        </a:xfrm>
        <a:prstGeom prst="ellipse">
          <a:avLst/>
        </a:prstGeom>
        <a:solidFill>
          <a:srgbClr val="274E9C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4B7EFF2-69B2-EB45-A229-95657A516E17}">
      <dsp:nvSpPr>
        <dsp:cNvPr id="0" name=""/>
        <dsp:cNvSpPr/>
      </dsp:nvSpPr>
      <dsp:spPr>
        <a:xfrm rot="10800000">
          <a:off x="1777309" y="1139536"/>
          <a:ext cx="6186242" cy="876481"/>
        </a:xfrm>
        <a:prstGeom prst="homePlat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rgbClr val="1A3773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6504" tIns="91440" rIns="170688" bIns="91440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>
              <a:latin typeface="Inter Variable Text" panose="02000503000000020004" pitchFamily="2" charset="0"/>
              <a:ea typeface="Inter Variable Text" panose="02000503000000020004" pitchFamily="2" charset="0"/>
              <a:cs typeface="Inter Variable Text" panose="02000503000000020004" pitchFamily="2" charset="0"/>
            </a:rPr>
            <a:t>Описание характеристики ПАО СК «Росгосстрах»</a:t>
          </a:r>
          <a:endParaRPr lang="ru-RU" sz="2400" kern="1200" dirty="0">
            <a:latin typeface="Inter Variable Text" panose="02000503000000020004" pitchFamily="2" charset="0"/>
            <a:ea typeface="Inter Variable Text" panose="02000503000000020004" pitchFamily="2" charset="0"/>
            <a:cs typeface="Inter Variable Text" panose="02000503000000020004" pitchFamily="2" charset="0"/>
          </a:endParaRPr>
        </a:p>
      </dsp:txBody>
      <dsp:txXfrm rot="10800000">
        <a:off x="1996429" y="1139536"/>
        <a:ext cx="5967122" cy="876481"/>
      </dsp:txXfrm>
    </dsp:sp>
    <dsp:sp modelId="{91C536B7-3FF0-7540-A9E6-94ED27AD4BFD}">
      <dsp:nvSpPr>
        <dsp:cNvPr id="0" name=""/>
        <dsp:cNvSpPr/>
      </dsp:nvSpPr>
      <dsp:spPr>
        <a:xfrm>
          <a:off x="1339068" y="1139536"/>
          <a:ext cx="876481" cy="876481"/>
        </a:xfrm>
        <a:prstGeom prst="ellipse">
          <a:avLst/>
        </a:prstGeom>
        <a:solidFill>
          <a:srgbClr val="274E9C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7AA8280-0D44-A94E-8043-2EEFE276D1E9}">
      <dsp:nvSpPr>
        <dsp:cNvPr id="0" name=""/>
        <dsp:cNvSpPr/>
      </dsp:nvSpPr>
      <dsp:spPr>
        <a:xfrm rot="10800000">
          <a:off x="1777309" y="2277654"/>
          <a:ext cx="6186242" cy="876481"/>
        </a:xfrm>
        <a:prstGeom prst="homePlat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rgbClr val="1A3773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6504" tIns="91440" rIns="170688" bIns="91440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>
              <a:latin typeface="Inter Variable Text" panose="02000503000000020004" pitchFamily="2" charset="0"/>
              <a:ea typeface="Inter Variable Text" panose="02000503000000020004" pitchFamily="2" charset="0"/>
              <a:cs typeface="Inter Variable Text" panose="02000503000000020004" pitchFamily="2" charset="0"/>
            </a:rPr>
            <a:t>Формулирование требований</a:t>
          </a:r>
          <a:endParaRPr lang="ru-RU" sz="2400" kern="1200" dirty="0">
            <a:latin typeface="Inter Variable Text" panose="02000503000000020004" pitchFamily="2" charset="0"/>
            <a:ea typeface="Inter Variable Text" panose="02000503000000020004" pitchFamily="2" charset="0"/>
            <a:cs typeface="Inter Variable Text" panose="02000503000000020004" pitchFamily="2" charset="0"/>
          </a:endParaRPr>
        </a:p>
      </dsp:txBody>
      <dsp:txXfrm rot="10800000">
        <a:off x="1996429" y="2277654"/>
        <a:ext cx="5967122" cy="876481"/>
      </dsp:txXfrm>
    </dsp:sp>
    <dsp:sp modelId="{D40C6A89-69F2-4547-B292-3B110D581711}">
      <dsp:nvSpPr>
        <dsp:cNvPr id="0" name=""/>
        <dsp:cNvSpPr/>
      </dsp:nvSpPr>
      <dsp:spPr>
        <a:xfrm>
          <a:off x="1339068" y="2277654"/>
          <a:ext cx="876481" cy="876481"/>
        </a:xfrm>
        <a:prstGeom prst="ellipse">
          <a:avLst/>
        </a:prstGeom>
        <a:solidFill>
          <a:srgbClr val="274E9C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EECF6D7-B242-034B-9EBA-1DE376851B65}">
      <dsp:nvSpPr>
        <dsp:cNvPr id="0" name=""/>
        <dsp:cNvSpPr/>
      </dsp:nvSpPr>
      <dsp:spPr>
        <a:xfrm rot="10800000">
          <a:off x="1777309" y="3415771"/>
          <a:ext cx="6186242" cy="876481"/>
        </a:xfrm>
        <a:prstGeom prst="homePlat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rgbClr val="1A3773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6504" tIns="91440" rIns="170688" bIns="91440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>
              <a:latin typeface="Inter Variable Text" panose="02000503000000020004" pitchFamily="2" charset="0"/>
              <a:ea typeface="Inter Variable Text" panose="02000503000000020004" pitchFamily="2" charset="0"/>
              <a:cs typeface="Inter Variable Text" panose="02000503000000020004" pitchFamily="2" charset="0"/>
            </a:rPr>
            <a:t>Реализация</a:t>
          </a:r>
          <a:r>
            <a:rPr lang="ru-RU" sz="2400" kern="1200" baseline="0" dirty="0" smtClean="0">
              <a:latin typeface="Inter Variable Text" panose="02000503000000020004" pitchFamily="2" charset="0"/>
              <a:ea typeface="Inter Variable Text" panose="02000503000000020004" pitchFamily="2" charset="0"/>
              <a:cs typeface="Inter Variable Text" panose="02000503000000020004" pitchFamily="2" charset="0"/>
            </a:rPr>
            <a:t> прототипа</a:t>
          </a:r>
          <a:endParaRPr lang="ru-RU" sz="2400" kern="1200" dirty="0">
            <a:latin typeface="Inter Variable Text" panose="02000503000000020004" pitchFamily="2" charset="0"/>
            <a:ea typeface="Inter Variable Text" panose="02000503000000020004" pitchFamily="2" charset="0"/>
            <a:cs typeface="Inter Variable Text" panose="02000503000000020004" pitchFamily="2" charset="0"/>
          </a:endParaRPr>
        </a:p>
      </dsp:txBody>
      <dsp:txXfrm rot="10800000">
        <a:off x="1996429" y="3415771"/>
        <a:ext cx="5967122" cy="876481"/>
      </dsp:txXfrm>
    </dsp:sp>
    <dsp:sp modelId="{BD4E3E7B-E244-FD4B-95F0-3CD7EAD42C42}">
      <dsp:nvSpPr>
        <dsp:cNvPr id="0" name=""/>
        <dsp:cNvSpPr/>
      </dsp:nvSpPr>
      <dsp:spPr>
        <a:xfrm>
          <a:off x="1339068" y="3415771"/>
          <a:ext cx="876481" cy="876481"/>
        </a:xfrm>
        <a:prstGeom prst="ellipse">
          <a:avLst/>
        </a:prstGeom>
        <a:solidFill>
          <a:srgbClr val="274E9C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3FB68EF-01F5-C24B-89F6-A34C6D98A7E9}">
      <dsp:nvSpPr>
        <dsp:cNvPr id="0" name=""/>
        <dsp:cNvSpPr/>
      </dsp:nvSpPr>
      <dsp:spPr>
        <a:xfrm rot="10800000">
          <a:off x="1777309" y="4553889"/>
          <a:ext cx="6186242" cy="876481"/>
        </a:xfrm>
        <a:prstGeom prst="homePlat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rgbClr val="1A3773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6504" tIns="91440" rIns="170688" bIns="91440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>
              <a:latin typeface="Inter Variable Text" panose="02000503000000020004" pitchFamily="2" charset="0"/>
              <a:ea typeface="Inter Variable Text" panose="02000503000000020004" pitchFamily="2" charset="0"/>
              <a:cs typeface="Inter Variable Text" panose="02000503000000020004" pitchFamily="2" charset="0"/>
            </a:rPr>
            <a:t>Расчет экономической эффективности</a:t>
          </a:r>
          <a:endParaRPr lang="ru-RU" sz="2400" kern="1200" dirty="0">
            <a:latin typeface="Inter Variable Text" panose="02000503000000020004" pitchFamily="2" charset="0"/>
            <a:ea typeface="Inter Variable Text" panose="02000503000000020004" pitchFamily="2" charset="0"/>
            <a:cs typeface="Inter Variable Text" panose="02000503000000020004" pitchFamily="2" charset="0"/>
          </a:endParaRPr>
        </a:p>
      </dsp:txBody>
      <dsp:txXfrm rot="10800000">
        <a:off x="1996429" y="4553889"/>
        <a:ext cx="5967122" cy="876481"/>
      </dsp:txXfrm>
    </dsp:sp>
    <dsp:sp modelId="{7CD4DBAE-3334-D541-8C7D-FC4CB0F79389}">
      <dsp:nvSpPr>
        <dsp:cNvPr id="0" name=""/>
        <dsp:cNvSpPr/>
      </dsp:nvSpPr>
      <dsp:spPr>
        <a:xfrm>
          <a:off x="1339068" y="4553889"/>
          <a:ext cx="876481" cy="876481"/>
        </a:xfrm>
        <a:prstGeom prst="ellipse">
          <a:avLst/>
        </a:prstGeom>
        <a:solidFill>
          <a:srgbClr val="274E9C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3">
  <dgm:title val=""/>
  <dgm:desc val=""/>
  <dgm:catLst>
    <dgm:cat type="list" pri="14000"/>
    <dgm:cat type="convert" pri="3000"/>
    <dgm:cat type="picture" pri="27000"/>
    <dgm:cat type="pictureconvert" pri="27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dir/>
      <dgm:resizeHandles val="exact"/>
    </dgm:varLst>
    <dgm:alg type="lin">
      <dgm:param type="linDir" val="fromT"/>
      <dgm:param type="vertAlign" val="mid"/>
      <dgm:param type="horzAlign" val="ctr"/>
    </dgm:alg>
    <dgm:shape xmlns:r="http://schemas.openxmlformats.org/officeDocument/2006/relationships" r:blip="">
      <dgm:adjLst/>
    </dgm:shape>
    <dgm:presOf/>
    <dgm:constrLst>
      <dgm:constr type="w" for="ch" forName="composite" refType="w"/>
      <dgm:constr type="h" for="ch" forName="composite" refType="h"/>
      <dgm:constr type="h" for="ch" forName="spacing" refType="h" refFor="ch" refForName="composite" fact="0.25"/>
      <dgm:constr type="h" for="ch" forName="spacing" refType="w" op="lte" fact="0.1"/>
      <dgm:constr type="primFontSz" for="des" ptType="node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w" for="ch" forName="imgShp" refType="w" fact="0.335"/>
              <dgm:constr type="h" for="ch" forName="imgShp" refType="w" refFor="ch" refForName="imgShp" op="equ"/>
              <dgm:constr type="h" for="ch" forName="imgShp" refType="h" op="lte"/>
              <dgm:constr type="ctrY" for="ch" forName="imgShp" refType="h" fact="0.5"/>
              <dgm:constr type="l" for="ch" forName="imgShp"/>
              <dgm:constr type="w" for="ch" forName="txShp" refType="w" op="equ" fact="0.665"/>
              <dgm:constr type="h" for="ch" forName="txShp" refType="h" refFor="ch" refForName="imgShp" op="equ"/>
              <dgm:constr type="ctrY" for="ch" forName="txShp" refType="h" fact="0.5"/>
              <dgm:constr type="l" for="ch" forName="txShp" refType="w" refFor="ch" refForName="imgShp" fact="0.5"/>
              <dgm:constr type="lMarg" for="ch" forName="txShp" refType="w" refFor="ch" refForName="imgShp" fact="1.25"/>
            </dgm:constrLst>
          </dgm:if>
          <dgm:else name="Name3">
            <dgm:constrLst>
              <dgm:constr type="w" for="ch" forName="imgShp" refType="w" fact="0.335"/>
              <dgm:constr type="h" for="ch" forName="imgShp" refType="w" refFor="ch" refForName="imgShp" op="equ"/>
              <dgm:constr type="h" for="ch" forName="imgShp" refType="h" op="lte"/>
              <dgm:constr type="ctrY" for="ch" forName="imgShp" refType="h" fact="0.5"/>
              <dgm:constr type="r" for="ch" forName="imgShp" refType="w"/>
              <dgm:constr type="w" for="ch" forName="txShp" refType="w" op="equ" fact="0.665"/>
              <dgm:constr type="h" for="ch" forName="txShp" refType="h" refFor="ch" refForName="imgShp" op="equ"/>
              <dgm:constr type="ctrY" for="ch" forName="txShp" refType="h" fact="0.5"/>
              <dgm:constr type="r" for="ch" forName="txShp" refType="ctrX" refFor="ch" refForName="imgShp"/>
              <dgm:constr type="rMarg" for="ch" forName="txShp" refType="w" refFor="ch" refForName="imgShp" fact="1.25"/>
            </dgm:constrLst>
          </dgm:else>
        </dgm:choose>
        <dgm:ruleLst/>
        <dgm:layoutNode name="imgShp" styleLbl="fgImgPlace1">
          <dgm:alg type="sp"/>
          <dgm:shape xmlns:r="http://schemas.openxmlformats.org/officeDocument/2006/relationships" type="ellipse" r:blip="" blipPhldr="1">
            <dgm:adjLst/>
          </dgm:shape>
          <dgm:presOf/>
          <dgm:constrLst/>
          <dgm:ruleLst/>
        </dgm:layoutNode>
        <dgm:layoutNode name="txShp">
          <dgm:varLst>
            <dgm:bulletEnabled val="1"/>
          </dgm:varLst>
          <dgm:alg type="tx"/>
          <dgm:choose name="Name4">
            <dgm:if name="Name5" func="var" arg="dir" op="equ" val="norm">
              <dgm:shape xmlns:r="http://schemas.openxmlformats.org/officeDocument/2006/relationships" rot="180" type="homePlate" r:blip="" zOrderOff="-1">
                <dgm:adjLst/>
              </dgm:shape>
            </dgm:if>
            <dgm:else name="Name6">
              <dgm:shape xmlns:r="http://schemas.openxmlformats.org/officeDocument/2006/relationships" type="homePlate" r:blip="" zOrderOff="-1">
                <dgm:adjLst/>
              </dgm:shape>
            </dgm:else>
          </dgm:choose>
          <dgm:presOf axis="desOrSelf" ptType="node"/>
          <dgm:constrLst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layoutNode>
      <dgm:forEach name="Name7" axis="followSib" ptType="sibTrans" cnt="1">
        <dgm:layoutNode name="spacing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65A6D9-C591-48FC-BCC5-4F44DCD5D36B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6F1928-7763-4D19-8FE7-5ACFF015A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47792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6F1928-7763-4D19-8FE7-5ACFF015AC2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0284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6F1928-7763-4D19-8FE7-5ACFF015AC2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3306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6F1928-7763-4D19-8FE7-5ACFF015AC2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50310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EACD9A7-26A0-558D-E48B-3DA81ED641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1770BBA-46C2-5337-2139-4826A39FB2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6E6DEB3-69B5-D689-F691-2D3BEBE1A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41A35-9E0E-854D-AA68-667636D6212A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4CED81F-42E1-091D-62D5-EF2A612CA7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FF89A0E-1B72-FF7D-0909-F23FB050EA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5B6AA-9B9E-3C4A-B42B-509201C371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50119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E2ED5F6-5374-76DC-57D9-992D3DA7E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8E6514D-2189-56FC-FFDB-4A6C2FF6A4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BC6B7D3-345D-F093-26D0-A6C6AF49E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41A35-9E0E-854D-AA68-667636D6212A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2C452BB-8FD4-4EDD-FB38-CFE6A5B2C1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0851FC6-D106-C6E2-DD7B-B8117C413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5B6AA-9B9E-3C4A-B42B-509201C371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50955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2616E4B-5DB0-E445-A76B-AA414F66B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A7ECCB7-C83C-9710-E9F9-E7AD054F6E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D156FFD-D93A-38FF-2999-48F5052CD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41A35-9E0E-854D-AA68-667636D6212A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48AF727-CB03-3EDD-2BE3-493F881EC4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CBF96E8-E81D-7040-46CF-B8C6FBA6F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5B6AA-9B9E-3C4A-B42B-509201C371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74709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2D2E553-02F3-CD99-B015-447CDD788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3268026-3021-EDA0-610D-46A9D34F8C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6A9D97F-FD09-7F88-2031-99B2F839C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0EF5E71-6907-A9DD-9171-7FFC3B7BB0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41A35-9E0E-854D-AA68-667636D6212A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B822552-C430-BEE1-37E3-3D2EED45F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FE06298-D658-3F14-7B92-DE737CC59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5B6AA-9B9E-3C4A-B42B-509201C371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82765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04B572C-C978-AA19-412C-CB769FF56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8843F3D-3592-3842-6774-EED8A0DC27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8174E90-DB44-E10F-5644-E428AD4659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C82248D-D4E9-F70E-0DDB-C007DDB4AA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DD58770-6E32-4DB3-38B1-D0E1D7E8BA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AD306C3D-4091-9C9C-AF29-7928398195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41A35-9E0E-854D-AA68-667636D6212A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1CBD93B-3E6D-EE28-4D2A-0D40A2E05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B8FDE51-1323-7C66-4D6C-CA2DEEE87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5B6AA-9B9E-3C4A-B42B-509201C371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89109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BE9E4CB-4AF3-9121-EB40-22017A6AD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CB6D4A7E-9EBC-6C89-3C34-A21985A5D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41A35-9E0E-854D-AA68-667636D6212A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EDEB98B5-A93A-11DF-7B89-5B239DDB9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DB8B72C7-52B8-4201-8EEB-543F4C3D5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5B6AA-9B9E-3C4A-B42B-509201C371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3029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743B8230-4050-B141-D7BA-36E27709A4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41A35-9E0E-854D-AA68-667636D6212A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D223A9D9-865B-9B6E-0E3A-7B232B88F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C5B269-5C40-F5CC-7DA2-16D43CB58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5B6AA-9B9E-3C4A-B42B-509201C371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802653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6C0B313-D6F4-5E53-826C-EEA2F57B9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3694EE3-CADE-175B-370D-F3141958E9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F7041BC-0A54-612F-1F7C-704D10CE9B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4C34793-6496-87EF-7D34-13C4254050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41A35-9E0E-854D-AA68-667636D6212A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60FD95C-9829-7ADE-4182-311A56EA7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5BD197E-75FA-F0D4-B27A-C34FF0ED8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5B6AA-9B9E-3C4A-B42B-509201C371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39012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7E4DC17-FCF0-5BAE-8020-2BF11C51A7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D4F8251E-7329-1F92-BEB1-DAAFB9C21B6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8D2D194-A432-9AE7-9108-9F9509867A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5DFFCB2-3EEE-B76E-B243-BFE4F5FA51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41A35-9E0E-854D-AA68-667636D6212A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15C4689-CC8B-7D0D-8ACB-705DE9CF3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99A0B99-147E-9E25-A4AF-6F1D96B5A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5B6AA-9B9E-3C4A-B42B-509201C371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70509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B9FE45D-38FF-218B-E5A9-8F35063DD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CBFEB12-4A2D-97EC-D003-F318EE362A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749860D-6536-A1D5-2033-74584BA82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41A35-9E0E-854D-AA68-667636D6212A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39CBF98-F785-4E91-0EB7-AF44BB2F7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F5C9C5C-2403-3E49-54A2-3BC9678F6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5B6AA-9B9E-3C4A-B42B-509201C371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68864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D7BE845B-6DB4-B7E8-3404-377AC267DBB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3C728E5-86D4-829D-B823-91F27094CB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B5AADE6-D954-D4DB-31A9-0300CBF17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41A35-9E0E-854D-AA68-667636D6212A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273535A-311F-CD29-540D-95C1AF6147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24BBC46-2D11-8C22-DE87-A244DAD19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5B6AA-9B9E-3C4A-B42B-509201C371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48495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8200DF-7309-D8CD-1863-0E6E09605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2BA1A5A-444D-A36E-C737-8DCE92D117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32E98A1-5FF7-0F7B-EE9A-4DE330D8779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041A35-9E0E-854D-AA68-667636D6212A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F9189CA-4343-18CF-BC48-101FEAE25F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E4B7DC1-24A3-8AF0-2561-8ACDD69174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05B6AA-9B9E-3C4A-B42B-509201C371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4796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13" Type="http://schemas.openxmlformats.org/officeDocument/2006/relationships/image" Target="../media/image15.svg"/><Relationship Id="rId3" Type="http://schemas.openxmlformats.org/officeDocument/2006/relationships/image" Target="../media/image10.png"/><Relationship Id="rId7" Type="http://schemas.openxmlformats.org/officeDocument/2006/relationships/diagramQuickStyle" Target="../diagrams/quickStyle1.xml"/><Relationship Id="rId12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diagramLayout" Target="../diagrams/layout1.xml"/><Relationship Id="rId11" Type="http://schemas.openxmlformats.org/officeDocument/2006/relationships/image" Target="../media/image13.svg"/><Relationship Id="rId5" Type="http://schemas.openxmlformats.org/officeDocument/2006/relationships/diagramData" Target="../diagrams/data1.xml"/><Relationship Id="rId10" Type="http://schemas.openxmlformats.org/officeDocument/2006/relationships/image" Target="../media/image11.png"/><Relationship Id="rId4" Type="http://schemas.openxmlformats.org/officeDocument/2006/relationships/image" Target="../media/image11.svg"/><Relationship Id="rId9" Type="http://schemas.microsoft.com/office/2007/relationships/diagramDrawing" Target="../diagrams/drawing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30178A3-F511-D226-2956-40A2464B9526}"/>
              </a:ext>
            </a:extLst>
          </p:cNvPr>
          <p:cNvSpPr txBox="1"/>
          <p:nvPr/>
        </p:nvSpPr>
        <p:spPr>
          <a:xfrm>
            <a:off x="300037" y="1458615"/>
            <a:ext cx="8606220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b="1" dirty="0">
                <a:solidFill>
                  <a:srgbClr val="274E9C"/>
                </a:solidFill>
                <a:latin typeface="Inter Variable Text Medium" panose="02000503000000020004" pitchFamily="2" charset="0"/>
                <a:ea typeface="Inter Variable Text Medium" panose="02000503000000020004" pitchFamily="2" charset="0"/>
                <a:cs typeface="Inter Variable Text Medium" panose="02000503000000020004" pitchFamily="2" charset="0"/>
              </a:rPr>
              <a:t>Разработка автоматизированного модуля для анализа степени выгорания сотрудников на предприятии</a:t>
            </a:r>
            <a:endParaRPr lang="ru-RU" sz="4400" b="1" dirty="0">
              <a:solidFill>
                <a:srgbClr val="274E9C"/>
              </a:solidFill>
              <a:latin typeface="Inter Variable Text Medium" panose="02000503000000020004" pitchFamily="2" charset="0"/>
              <a:ea typeface="Inter Variable Text Medium" panose="02000503000000020004" pitchFamily="2" charset="0"/>
              <a:cs typeface="Inter Variable Text Medium" panose="02000503000000020004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772571-CE1A-9124-F61D-FE02B6459C68}"/>
              </a:ext>
            </a:extLst>
          </p:cNvPr>
          <p:cNvSpPr txBox="1"/>
          <p:nvPr/>
        </p:nvSpPr>
        <p:spPr>
          <a:xfrm>
            <a:off x="372773" y="5626485"/>
            <a:ext cx="45430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rPr>
              <a:t>Горбачева София Зауровна</a:t>
            </a:r>
            <a:endParaRPr lang="ru-RU" sz="2400" dirty="0">
              <a:solidFill>
                <a:schemeClr val="tx1">
                  <a:lumMod val="65000"/>
                  <a:lumOff val="35000"/>
                </a:schemeClr>
              </a:solidFill>
              <a:latin typeface="Inter Variable Text" panose="02000503000000020004" pitchFamily="2" charset="0"/>
              <a:ea typeface="Inter Variable Text" panose="02000503000000020004" pitchFamily="2" charset="0"/>
              <a:cs typeface="Inter Variable Text" panose="02000503000000020004" pitchFamily="2" charset="0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0032ACB8-8A05-C3B8-A59C-A29D700F21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grpSp>
        <p:nvGrpSpPr>
          <p:cNvPr id="18" name="Группа 17">
            <a:extLst>
              <a:ext uri="{FF2B5EF4-FFF2-40B4-BE49-F238E27FC236}">
                <a16:creationId xmlns:a16="http://schemas.microsoft.com/office/drawing/2014/main" id="{08177AD0-C179-B96C-20F0-758F8DF24C99}"/>
              </a:ext>
            </a:extLst>
          </p:cNvPr>
          <p:cNvGrpSpPr/>
          <p:nvPr/>
        </p:nvGrpSpPr>
        <p:grpSpPr>
          <a:xfrm>
            <a:off x="9066068" y="4936490"/>
            <a:ext cx="3125932" cy="4025879"/>
            <a:chOff x="9066069" y="1480379"/>
            <a:chExt cx="3125932" cy="4025879"/>
          </a:xfrm>
        </p:grpSpPr>
        <p:pic>
          <p:nvPicPr>
            <p:cNvPr id="11" name="Рисунок 10">
              <a:extLst>
                <a:ext uri="{FF2B5EF4-FFF2-40B4-BE49-F238E27FC236}">
                  <a16:creationId xmlns:a16="http://schemas.microsoft.com/office/drawing/2014/main" id="{2AB808DE-DEDE-B9C1-02DE-E5BBA45C884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13603" t="31176" r="60969" b="10607"/>
            <a:stretch>
              <a:fillRect/>
            </a:stretch>
          </p:blipFill>
          <p:spPr>
            <a:xfrm>
              <a:off x="9066069" y="1480379"/>
              <a:ext cx="3125932" cy="4025879"/>
            </a:xfrm>
            <a:prstGeom prst="rect">
              <a:avLst/>
            </a:prstGeom>
          </p:spPr>
        </p:pic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20FC1641-E058-44C3-4EB2-6FF05A31CA27}"/>
                </a:ext>
              </a:extLst>
            </p:cNvPr>
            <p:cNvSpPr/>
            <p:nvPr/>
          </p:nvSpPr>
          <p:spPr>
            <a:xfrm rot="5400000">
              <a:off x="8861494" y="1684954"/>
              <a:ext cx="507864" cy="987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Прямоугольник 15">
              <a:extLst>
                <a:ext uri="{FF2B5EF4-FFF2-40B4-BE49-F238E27FC236}">
                  <a16:creationId xmlns:a16="http://schemas.microsoft.com/office/drawing/2014/main" id="{7ED13E26-E889-60DE-EE81-1EEF495B5271}"/>
                </a:ext>
              </a:extLst>
            </p:cNvPr>
            <p:cNvSpPr/>
            <p:nvPr/>
          </p:nvSpPr>
          <p:spPr>
            <a:xfrm rot="5400000">
              <a:off x="8861494" y="3119545"/>
              <a:ext cx="507864" cy="987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Прямоугольник 16">
              <a:extLst>
                <a:ext uri="{FF2B5EF4-FFF2-40B4-BE49-F238E27FC236}">
                  <a16:creationId xmlns:a16="http://schemas.microsoft.com/office/drawing/2014/main" id="{058CDAC3-1569-5BE0-2658-39A5C674D334}"/>
                </a:ext>
              </a:extLst>
            </p:cNvPr>
            <p:cNvSpPr/>
            <p:nvPr/>
          </p:nvSpPr>
          <p:spPr>
            <a:xfrm rot="5400000">
              <a:off x="8861494" y="4542774"/>
              <a:ext cx="507864" cy="987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Группа 19">
            <a:extLst>
              <a:ext uri="{FF2B5EF4-FFF2-40B4-BE49-F238E27FC236}">
                <a16:creationId xmlns:a16="http://schemas.microsoft.com/office/drawing/2014/main" id="{CE47F50C-CE4A-156E-DE62-F39CAA0D7A3C}"/>
              </a:ext>
            </a:extLst>
          </p:cNvPr>
          <p:cNvGrpSpPr/>
          <p:nvPr/>
        </p:nvGrpSpPr>
        <p:grpSpPr>
          <a:xfrm>
            <a:off x="9066068" y="156097"/>
            <a:ext cx="3125932" cy="4721745"/>
            <a:chOff x="9066069" y="784513"/>
            <a:chExt cx="3125932" cy="4721745"/>
          </a:xfrm>
        </p:grpSpPr>
        <p:pic>
          <p:nvPicPr>
            <p:cNvPr id="21" name="Рисунок 20">
              <a:extLst>
                <a:ext uri="{FF2B5EF4-FFF2-40B4-BE49-F238E27FC236}">
                  <a16:creationId xmlns:a16="http://schemas.microsoft.com/office/drawing/2014/main" id="{52FB1375-D23A-DABD-BF39-231B123EAB0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13603" t="21113" r="60969" b="10607"/>
            <a:stretch>
              <a:fillRect/>
            </a:stretch>
          </p:blipFill>
          <p:spPr>
            <a:xfrm>
              <a:off x="9066069" y="784513"/>
              <a:ext cx="3125932" cy="4721745"/>
            </a:xfrm>
            <a:prstGeom prst="rect">
              <a:avLst/>
            </a:prstGeom>
          </p:spPr>
        </p:pic>
        <p:sp>
          <p:nvSpPr>
            <p:cNvPr id="22" name="Прямоугольник 21">
              <a:extLst>
                <a:ext uri="{FF2B5EF4-FFF2-40B4-BE49-F238E27FC236}">
                  <a16:creationId xmlns:a16="http://schemas.microsoft.com/office/drawing/2014/main" id="{B94207A2-862F-D6BD-A183-DA4593922874}"/>
                </a:ext>
              </a:extLst>
            </p:cNvPr>
            <p:cNvSpPr/>
            <p:nvPr/>
          </p:nvSpPr>
          <p:spPr>
            <a:xfrm rot="5400000">
              <a:off x="8861494" y="1684954"/>
              <a:ext cx="507864" cy="987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Прямоугольник 22">
              <a:extLst>
                <a:ext uri="{FF2B5EF4-FFF2-40B4-BE49-F238E27FC236}">
                  <a16:creationId xmlns:a16="http://schemas.microsoft.com/office/drawing/2014/main" id="{1738318F-B22B-B4A1-A385-185C2F9FCB09}"/>
                </a:ext>
              </a:extLst>
            </p:cNvPr>
            <p:cNvSpPr/>
            <p:nvPr/>
          </p:nvSpPr>
          <p:spPr>
            <a:xfrm rot="5400000">
              <a:off x="8861494" y="3119545"/>
              <a:ext cx="507864" cy="987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Прямоугольник 23">
              <a:extLst>
                <a:ext uri="{FF2B5EF4-FFF2-40B4-BE49-F238E27FC236}">
                  <a16:creationId xmlns:a16="http://schemas.microsoft.com/office/drawing/2014/main" id="{F2215235-0382-F748-8940-D6BB19BD58B2}"/>
                </a:ext>
              </a:extLst>
            </p:cNvPr>
            <p:cNvSpPr/>
            <p:nvPr/>
          </p:nvSpPr>
          <p:spPr>
            <a:xfrm rot="5400000">
              <a:off x="8861494" y="4542774"/>
              <a:ext cx="507864" cy="987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120350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D5B0377-8134-0B01-D0EA-ED83F1C94CC1}"/>
              </a:ext>
            </a:extLst>
          </p:cNvPr>
          <p:cNvSpPr txBox="1"/>
          <p:nvPr/>
        </p:nvSpPr>
        <p:spPr>
          <a:xfrm>
            <a:off x="3728540" y="230966"/>
            <a:ext cx="80672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 smtClean="0">
                <a:solidFill>
                  <a:srgbClr val="274E9C"/>
                </a:solidFill>
                <a:latin typeface="Inter Variable Text Medium" panose="02000503000000020004" pitchFamily="2" charset="0"/>
                <a:ea typeface="Inter Variable Text Medium" panose="02000503000000020004" pitchFamily="2" charset="0"/>
                <a:cs typeface="Inter Variable Text Medium" panose="02000503000000020004" pitchFamily="2" charset="0"/>
              </a:rPr>
              <a:t>Объект и предмет исследования</a:t>
            </a:r>
            <a:endParaRPr lang="ru-RU" sz="3600" dirty="0">
              <a:solidFill>
                <a:srgbClr val="274E9C"/>
              </a:solidFill>
              <a:latin typeface="Inter Variable Text Medium" panose="02000503000000020004" pitchFamily="2" charset="0"/>
              <a:ea typeface="Inter Variable Text Medium" panose="02000503000000020004" pitchFamily="2" charset="0"/>
              <a:cs typeface="Inter Variable Text Medium" panose="02000503000000020004" pitchFamily="2" charset="0"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EF155BF4-6281-13E9-3D46-2E1499F82A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grpSp>
        <p:nvGrpSpPr>
          <p:cNvPr id="3" name="Группа 2">
            <a:extLst>
              <a:ext uri="{FF2B5EF4-FFF2-40B4-BE49-F238E27FC236}">
                <a16:creationId xmlns:a16="http://schemas.microsoft.com/office/drawing/2014/main" id="{8A566630-8C45-161E-7ABE-2D9140BA00BA}"/>
              </a:ext>
            </a:extLst>
          </p:cNvPr>
          <p:cNvGrpSpPr/>
          <p:nvPr/>
        </p:nvGrpSpPr>
        <p:grpSpPr>
          <a:xfrm>
            <a:off x="740941" y="1120785"/>
            <a:ext cx="11207221" cy="5307496"/>
            <a:chOff x="356300" y="752694"/>
            <a:chExt cx="12012208" cy="5688720"/>
          </a:xfrm>
        </p:grpSpPr>
        <p:grpSp>
          <p:nvGrpSpPr>
            <p:cNvPr id="4" name="Группа 3">
              <a:extLst>
                <a:ext uri="{FF2B5EF4-FFF2-40B4-BE49-F238E27FC236}">
                  <a16:creationId xmlns:a16="http://schemas.microsoft.com/office/drawing/2014/main" id="{2E6CF149-D3D6-F24D-FD79-266A4B8BBBE9}"/>
                </a:ext>
              </a:extLst>
            </p:cNvPr>
            <p:cNvGrpSpPr/>
            <p:nvPr/>
          </p:nvGrpSpPr>
          <p:grpSpPr>
            <a:xfrm>
              <a:off x="356300" y="1892107"/>
              <a:ext cx="12012208" cy="4549307"/>
              <a:chOff x="374556" y="2297346"/>
              <a:chExt cx="12012208" cy="4549307"/>
            </a:xfrm>
          </p:grpSpPr>
          <p:sp>
            <p:nvSpPr>
              <p:cNvPr id="19" name="Фигура, имеющая форму буквы L 18">
                <a:extLst>
                  <a:ext uri="{FF2B5EF4-FFF2-40B4-BE49-F238E27FC236}">
                    <a16:creationId xmlns:a16="http://schemas.microsoft.com/office/drawing/2014/main" id="{21E103C3-437E-D9EE-014F-CB46829EBB82}"/>
                  </a:ext>
                </a:extLst>
              </p:cNvPr>
              <p:cNvSpPr/>
              <p:nvPr/>
            </p:nvSpPr>
            <p:spPr>
              <a:xfrm rot="5400000">
                <a:off x="905012" y="3948256"/>
                <a:ext cx="1597812" cy="2658723"/>
              </a:xfrm>
              <a:prstGeom prst="corner">
                <a:avLst>
                  <a:gd name="adj1" fmla="val 16120"/>
                  <a:gd name="adj2" fmla="val 16110"/>
                </a:avLst>
              </a:prstGeom>
              <a:noFill/>
              <a:ln>
                <a:solidFill>
                  <a:srgbClr val="1A3773"/>
                </a:solidFill>
                <a:prstDash val="dash"/>
              </a:ln>
            </p:spPr>
            <p:style>
              <a:lnRef idx="1">
                <a:schemeClr val="accent1">
                  <a:hueOff val="0"/>
                  <a:satOff val="0"/>
                  <a:lumOff val="0"/>
                  <a:alphaOff val="0"/>
                </a:schemeClr>
              </a:lnRef>
              <a:fillRef idx="3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2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0" name="Полилиния 21">
                <a:extLst>
                  <a:ext uri="{FF2B5EF4-FFF2-40B4-BE49-F238E27FC236}">
                    <a16:creationId xmlns:a16="http://schemas.microsoft.com/office/drawing/2014/main" id="{A8F01F63-7F7E-9A0F-BB42-5B5DBA073AF1}"/>
                  </a:ext>
                </a:extLst>
              </p:cNvPr>
              <p:cNvSpPr/>
              <p:nvPr/>
            </p:nvSpPr>
            <p:spPr>
              <a:xfrm>
                <a:off x="638297" y="4742641"/>
                <a:ext cx="3107433" cy="2104012"/>
              </a:xfrm>
              <a:custGeom>
                <a:avLst/>
                <a:gdLst>
                  <a:gd name="connsiteX0" fmla="*/ 0 w 2400310"/>
                  <a:gd name="connsiteY0" fmla="*/ 0 h 2104012"/>
                  <a:gd name="connsiteX1" fmla="*/ 2400310 w 2400310"/>
                  <a:gd name="connsiteY1" fmla="*/ 0 h 2104012"/>
                  <a:gd name="connsiteX2" fmla="*/ 2400310 w 2400310"/>
                  <a:gd name="connsiteY2" fmla="*/ 2104012 h 2104012"/>
                  <a:gd name="connsiteX3" fmla="*/ 0 w 2400310"/>
                  <a:gd name="connsiteY3" fmla="*/ 2104012 h 2104012"/>
                  <a:gd name="connsiteX4" fmla="*/ 0 w 2400310"/>
                  <a:gd name="connsiteY4" fmla="*/ 0 h 21040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00310" h="2104012">
                    <a:moveTo>
                      <a:pt x="0" y="0"/>
                    </a:moveTo>
                    <a:lnTo>
                      <a:pt x="2400310" y="0"/>
                    </a:lnTo>
                    <a:lnTo>
                      <a:pt x="2400310" y="2104012"/>
                    </a:lnTo>
                    <a:lnTo>
                      <a:pt x="0" y="2104012"/>
                    </a:lnTo>
                    <a:lnTo>
                      <a:pt x="0" y="0"/>
                    </a:lnTo>
                    <a:close/>
                  </a:path>
                </a:pathLst>
              </a:custGeom>
            </p:spPr>
            <p:style>
              <a:lnRef idx="0">
                <a:schemeClr val="dk1">
                  <a:alpha val="0"/>
                  <a:hueOff val="0"/>
                  <a:satOff val="0"/>
                  <a:lumOff val="0"/>
                  <a:alphaOff val="0"/>
                </a:schemeClr>
              </a:lnRef>
              <a:fillRef idx="0">
                <a:schemeClr val="lt1">
                  <a:alpha val="0"/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lt1">
                  <a:alpha val="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tx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spcFirstLastPara="0" vert="horz" wrap="square" lIns="133350" tIns="133350" rIns="133350" bIns="133350" numCol="1" spcCol="1270" anchor="t" anchorCtr="0">
                <a:noAutofit/>
              </a:bodyPr>
              <a:lstStyle/>
              <a:p>
                <a:pPr defTabSz="15557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ru-RU" sz="2000" dirty="0" smtClean="0">
                    <a:latin typeface="Inter Variable Text Medium" panose="02000503000000020004" pitchFamily="2" charset="0"/>
                    <a:ea typeface="Inter Variable Text Medium" panose="02000503000000020004" pitchFamily="2" charset="0"/>
                    <a:cs typeface="Inter Variable Text Medium" panose="02000503000000020004" pitchFamily="2" charset="0"/>
                  </a:rPr>
                  <a:t>Актуальность:</a:t>
                </a:r>
              </a:p>
              <a:p>
                <a:pPr defTabSz="15557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ru-RU" dirty="0">
                    <a:latin typeface="Inter Variable Text Medium" panose="02000503000000020004" pitchFamily="2" charset="0"/>
                    <a:ea typeface="Inter Variable Text Medium" panose="02000503000000020004" pitchFamily="2" charset="0"/>
                    <a:cs typeface="Inter Variable Text Medium" panose="02000503000000020004" pitchFamily="2" charset="0"/>
                  </a:rPr>
                  <a:t>ш</a:t>
                </a:r>
                <a:r>
                  <a:rPr lang="ru-RU" dirty="0" smtClean="0">
                    <a:latin typeface="Inter Variable Text Medium" panose="02000503000000020004" pitchFamily="2" charset="0"/>
                    <a:ea typeface="Inter Variable Text Medium" panose="02000503000000020004" pitchFamily="2" charset="0"/>
                    <a:cs typeface="Inter Variable Text Medium" panose="02000503000000020004" pitchFamily="2" charset="0"/>
                  </a:rPr>
                  <a:t>ирокое распространение проблемы профессионального выгорания</a:t>
                </a:r>
                <a:endParaRPr lang="ru-RU" dirty="0">
                  <a:latin typeface="Inter Variable Text Medium" panose="02000503000000020004" pitchFamily="2" charset="0"/>
                  <a:ea typeface="Inter Variable Text Medium" panose="02000503000000020004" pitchFamily="2" charset="0"/>
                  <a:cs typeface="Inter Variable Text Medium" panose="02000503000000020004" pitchFamily="2" charset="0"/>
                </a:endParaRPr>
              </a:p>
              <a:p>
                <a:pPr lvl="0" algn="l" defTabSz="15557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dirty="0">
                  <a:latin typeface="Inter Variable Text Medium" panose="02000503000000020004" pitchFamily="2" charset="0"/>
                  <a:ea typeface="Inter Variable Text Medium" panose="02000503000000020004" pitchFamily="2" charset="0"/>
                  <a:cs typeface="Inter Variable Text Medium" panose="02000503000000020004" pitchFamily="2" charset="0"/>
                </a:endParaRPr>
              </a:p>
            </p:txBody>
          </p:sp>
          <p:sp>
            <p:nvSpPr>
              <p:cNvPr id="21" name="Треугольник 22">
                <a:extLst>
                  <a:ext uri="{FF2B5EF4-FFF2-40B4-BE49-F238E27FC236}">
                    <a16:creationId xmlns:a16="http://schemas.microsoft.com/office/drawing/2014/main" id="{D90B0ECD-B8F5-8CA9-E1FE-B49CCA67D774}"/>
                  </a:ext>
                </a:extLst>
              </p:cNvPr>
              <p:cNvSpPr/>
              <p:nvPr/>
            </p:nvSpPr>
            <p:spPr>
              <a:xfrm>
                <a:off x="2580392" y="3938564"/>
                <a:ext cx="452888" cy="452888"/>
              </a:xfrm>
              <a:prstGeom prst="triangle">
                <a:avLst>
                  <a:gd name="adj" fmla="val 100000"/>
                </a:avLst>
              </a:prstGeom>
              <a:solidFill>
                <a:srgbClr val="274E9C"/>
              </a:solidFill>
              <a:ln>
                <a:solidFill>
                  <a:srgbClr val="274E9C"/>
                </a:solidFill>
              </a:ln>
            </p:spPr>
            <p:style>
              <a:lnRef idx="1">
                <a:schemeClr val="accent1">
                  <a:hueOff val="0"/>
                  <a:satOff val="0"/>
                  <a:lumOff val="0"/>
                  <a:alphaOff val="0"/>
                </a:schemeClr>
              </a:lnRef>
              <a:fillRef idx="3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2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2" name="Фигура, имеющая форму буквы L 21">
                <a:extLst>
                  <a:ext uri="{FF2B5EF4-FFF2-40B4-BE49-F238E27FC236}">
                    <a16:creationId xmlns:a16="http://schemas.microsoft.com/office/drawing/2014/main" id="{B8508353-FBCF-0932-B199-34001357130E}"/>
                  </a:ext>
                </a:extLst>
              </p:cNvPr>
              <p:cNvSpPr/>
              <p:nvPr/>
            </p:nvSpPr>
            <p:spPr>
              <a:xfrm rot="5400000">
                <a:off x="3843461" y="3221133"/>
                <a:ext cx="1597812" cy="2658723"/>
              </a:xfrm>
              <a:prstGeom prst="corner">
                <a:avLst>
                  <a:gd name="adj1" fmla="val 16120"/>
                  <a:gd name="adj2" fmla="val 16110"/>
                </a:avLst>
              </a:prstGeom>
              <a:noFill/>
              <a:ln>
                <a:solidFill>
                  <a:srgbClr val="1A3773"/>
                </a:solidFill>
                <a:prstDash val="dash"/>
              </a:ln>
            </p:spPr>
            <p:style>
              <a:lnRef idx="1">
                <a:schemeClr val="accent1">
                  <a:hueOff val="0"/>
                  <a:satOff val="0"/>
                  <a:lumOff val="0"/>
                  <a:alphaOff val="0"/>
                </a:schemeClr>
              </a:lnRef>
              <a:fillRef idx="3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2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3" name="Полилиния 24">
                <a:extLst>
                  <a:ext uri="{FF2B5EF4-FFF2-40B4-BE49-F238E27FC236}">
                    <a16:creationId xmlns:a16="http://schemas.microsoft.com/office/drawing/2014/main" id="{C26BABC5-5D6A-C29D-4E37-743384D1B6FA}"/>
                  </a:ext>
                </a:extLst>
              </p:cNvPr>
              <p:cNvSpPr/>
              <p:nvPr/>
            </p:nvSpPr>
            <p:spPr>
              <a:xfrm>
                <a:off x="3576747" y="4015519"/>
                <a:ext cx="2669380" cy="2104012"/>
              </a:xfrm>
              <a:custGeom>
                <a:avLst/>
                <a:gdLst>
                  <a:gd name="connsiteX0" fmla="*/ 0 w 2400310"/>
                  <a:gd name="connsiteY0" fmla="*/ 0 h 2104012"/>
                  <a:gd name="connsiteX1" fmla="*/ 2400310 w 2400310"/>
                  <a:gd name="connsiteY1" fmla="*/ 0 h 2104012"/>
                  <a:gd name="connsiteX2" fmla="*/ 2400310 w 2400310"/>
                  <a:gd name="connsiteY2" fmla="*/ 2104012 h 2104012"/>
                  <a:gd name="connsiteX3" fmla="*/ 0 w 2400310"/>
                  <a:gd name="connsiteY3" fmla="*/ 2104012 h 2104012"/>
                  <a:gd name="connsiteX4" fmla="*/ 0 w 2400310"/>
                  <a:gd name="connsiteY4" fmla="*/ 0 h 21040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00310" h="2104012">
                    <a:moveTo>
                      <a:pt x="0" y="0"/>
                    </a:moveTo>
                    <a:lnTo>
                      <a:pt x="2400310" y="0"/>
                    </a:lnTo>
                    <a:lnTo>
                      <a:pt x="2400310" y="2104012"/>
                    </a:lnTo>
                    <a:lnTo>
                      <a:pt x="0" y="2104012"/>
                    </a:lnTo>
                    <a:lnTo>
                      <a:pt x="0" y="0"/>
                    </a:lnTo>
                    <a:close/>
                  </a:path>
                </a:pathLst>
              </a:custGeom>
            </p:spPr>
            <p:style>
              <a:lnRef idx="0">
                <a:schemeClr val="dk1">
                  <a:alpha val="0"/>
                  <a:hueOff val="0"/>
                  <a:satOff val="0"/>
                  <a:lumOff val="0"/>
                  <a:alphaOff val="0"/>
                </a:schemeClr>
              </a:lnRef>
              <a:fillRef idx="0">
                <a:schemeClr val="lt1">
                  <a:alpha val="0"/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lt1">
                  <a:alpha val="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tx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spcFirstLastPara="0" vert="horz" wrap="square" lIns="133350" tIns="133350" rIns="133350" bIns="133350" numCol="1" spcCol="1270" anchor="t" anchorCtr="0">
                <a:noAutofit/>
              </a:bodyPr>
              <a:lstStyle/>
              <a:p>
                <a:pPr defTabSz="15557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ru-RU" sz="2000" i="0" kern="1200" dirty="0">
                    <a:latin typeface="Inter Variable Text Medium" panose="02000503000000020004" pitchFamily="2" charset="0"/>
                    <a:ea typeface="Inter Variable Text Medium" panose="02000503000000020004" pitchFamily="2" charset="0"/>
                    <a:cs typeface="Inter Variable Text Medium" panose="02000503000000020004" pitchFamily="2" charset="0"/>
                  </a:rPr>
                  <a:t>Объект </a:t>
                </a:r>
                <a:r>
                  <a:rPr lang="ru-RU" sz="2000" i="0" kern="1200" dirty="0" smtClean="0">
                    <a:latin typeface="Inter Variable Text Medium" panose="02000503000000020004" pitchFamily="2" charset="0"/>
                    <a:ea typeface="Inter Variable Text Medium" panose="02000503000000020004" pitchFamily="2" charset="0"/>
                    <a:cs typeface="Inter Variable Text Medium" panose="02000503000000020004" pitchFamily="2" charset="0"/>
                  </a:rPr>
                  <a:t>исследования: </a:t>
                </a:r>
              </a:p>
              <a:p>
                <a:pPr defTabSz="15557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ru-RU" dirty="0" smtClean="0">
                    <a:latin typeface="Inter Variable Text Medium" panose="02000503000000020004" pitchFamily="2" charset="0"/>
                    <a:ea typeface="Inter Variable Text Medium" panose="02000503000000020004" pitchFamily="2" charset="0"/>
                    <a:cs typeface="Inter Variable Text Medium" panose="02000503000000020004" pitchFamily="2" charset="0"/>
                  </a:rPr>
                  <a:t>система </a:t>
                </a:r>
                <a:r>
                  <a:rPr lang="ru-RU" dirty="0">
                    <a:latin typeface="Inter Variable Text Medium" panose="02000503000000020004" pitchFamily="2" charset="0"/>
                    <a:ea typeface="Inter Variable Text Medium" panose="02000503000000020004" pitchFamily="2" charset="0"/>
                    <a:cs typeface="Inter Variable Text Medium" panose="02000503000000020004" pitchFamily="2" charset="0"/>
                  </a:rPr>
                  <a:t>управления профессиональным выгоранием сотрудников ПАО СК «Росгосстрах».</a:t>
                </a:r>
              </a:p>
              <a:p>
                <a:pPr lvl="0" algn="l" defTabSz="15557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dirty="0">
                  <a:latin typeface="Inter Variable Text Medium" panose="02000503000000020004" pitchFamily="2" charset="0"/>
                  <a:ea typeface="Inter Variable Text Medium" panose="02000503000000020004" pitchFamily="2" charset="0"/>
                  <a:cs typeface="Inter Variable Text Medium" panose="02000503000000020004" pitchFamily="2" charset="0"/>
                </a:endParaRPr>
              </a:p>
            </p:txBody>
          </p:sp>
          <p:sp>
            <p:nvSpPr>
              <p:cNvPr id="24" name="Треугольник 25">
                <a:extLst>
                  <a:ext uri="{FF2B5EF4-FFF2-40B4-BE49-F238E27FC236}">
                    <a16:creationId xmlns:a16="http://schemas.microsoft.com/office/drawing/2014/main" id="{9479958B-A341-2FDA-BFB6-0654191CD743}"/>
                  </a:ext>
                </a:extLst>
              </p:cNvPr>
              <p:cNvSpPr/>
              <p:nvPr/>
            </p:nvSpPr>
            <p:spPr>
              <a:xfrm>
                <a:off x="5518841" y="3211442"/>
                <a:ext cx="452888" cy="452888"/>
              </a:xfrm>
              <a:prstGeom prst="triangle">
                <a:avLst>
                  <a:gd name="adj" fmla="val 100000"/>
                </a:avLst>
              </a:prstGeom>
              <a:solidFill>
                <a:srgbClr val="274E9C"/>
              </a:solidFill>
              <a:ln>
                <a:solidFill>
                  <a:srgbClr val="274E9C"/>
                </a:solidFill>
              </a:ln>
            </p:spPr>
            <p:style>
              <a:lnRef idx="1">
                <a:schemeClr val="accent1">
                  <a:hueOff val="0"/>
                  <a:satOff val="0"/>
                  <a:lumOff val="0"/>
                  <a:alphaOff val="0"/>
                </a:schemeClr>
              </a:lnRef>
              <a:fillRef idx="3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2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5" name="Фигура, имеющая форму буквы L 24">
                <a:extLst>
                  <a:ext uri="{FF2B5EF4-FFF2-40B4-BE49-F238E27FC236}">
                    <a16:creationId xmlns:a16="http://schemas.microsoft.com/office/drawing/2014/main" id="{76410140-043E-F3AB-FC61-5C5BC13A56A0}"/>
                  </a:ext>
                </a:extLst>
              </p:cNvPr>
              <p:cNvSpPr/>
              <p:nvPr/>
            </p:nvSpPr>
            <p:spPr>
              <a:xfrm rot="5400000">
                <a:off x="6781910" y="2494011"/>
                <a:ext cx="1597812" cy="2658723"/>
              </a:xfrm>
              <a:prstGeom prst="corner">
                <a:avLst>
                  <a:gd name="adj1" fmla="val 16120"/>
                  <a:gd name="adj2" fmla="val 16110"/>
                </a:avLst>
              </a:prstGeom>
              <a:noFill/>
              <a:ln>
                <a:solidFill>
                  <a:srgbClr val="1A3773"/>
                </a:solidFill>
                <a:prstDash val="dash"/>
              </a:ln>
            </p:spPr>
            <p:style>
              <a:lnRef idx="1">
                <a:schemeClr val="accent1">
                  <a:hueOff val="0"/>
                  <a:satOff val="0"/>
                  <a:lumOff val="0"/>
                  <a:alphaOff val="0"/>
                </a:schemeClr>
              </a:lnRef>
              <a:fillRef idx="3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2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6" name="Полилиния 27">
                <a:extLst>
                  <a:ext uri="{FF2B5EF4-FFF2-40B4-BE49-F238E27FC236}">
                    <a16:creationId xmlns:a16="http://schemas.microsoft.com/office/drawing/2014/main" id="{A7C8EA83-A7E7-642D-3DF9-54452D6D16FC}"/>
                  </a:ext>
                </a:extLst>
              </p:cNvPr>
              <p:cNvSpPr/>
              <p:nvPr/>
            </p:nvSpPr>
            <p:spPr>
              <a:xfrm>
                <a:off x="6517860" y="3309738"/>
                <a:ext cx="3395674" cy="2104012"/>
              </a:xfrm>
              <a:custGeom>
                <a:avLst/>
                <a:gdLst>
                  <a:gd name="connsiteX0" fmla="*/ 0 w 2400310"/>
                  <a:gd name="connsiteY0" fmla="*/ 0 h 2104012"/>
                  <a:gd name="connsiteX1" fmla="*/ 2400310 w 2400310"/>
                  <a:gd name="connsiteY1" fmla="*/ 0 h 2104012"/>
                  <a:gd name="connsiteX2" fmla="*/ 2400310 w 2400310"/>
                  <a:gd name="connsiteY2" fmla="*/ 2104012 h 2104012"/>
                  <a:gd name="connsiteX3" fmla="*/ 0 w 2400310"/>
                  <a:gd name="connsiteY3" fmla="*/ 2104012 h 2104012"/>
                  <a:gd name="connsiteX4" fmla="*/ 0 w 2400310"/>
                  <a:gd name="connsiteY4" fmla="*/ 0 h 21040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00310" h="2104012">
                    <a:moveTo>
                      <a:pt x="0" y="0"/>
                    </a:moveTo>
                    <a:lnTo>
                      <a:pt x="2400310" y="0"/>
                    </a:lnTo>
                    <a:lnTo>
                      <a:pt x="2400310" y="2104012"/>
                    </a:lnTo>
                    <a:lnTo>
                      <a:pt x="0" y="2104012"/>
                    </a:lnTo>
                    <a:lnTo>
                      <a:pt x="0" y="0"/>
                    </a:lnTo>
                    <a:close/>
                  </a:path>
                </a:pathLst>
              </a:custGeom>
            </p:spPr>
            <p:style>
              <a:lnRef idx="0">
                <a:schemeClr val="dk1">
                  <a:alpha val="0"/>
                  <a:hueOff val="0"/>
                  <a:satOff val="0"/>
                  <a:lumOff val="0"/>
                  <a:alphaOff val="0"/>
                </a:schemeClr>
              </a:lnRef>
              <a:fillRef idx="0">
                <a:schemeClr val="lt1">
                  <a:alpha val="0"/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lt1">
                  <a:alpha val="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tx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spcFirstLastPara="0" vert="horz" wrap="square" lIns="133350" tIns="133350" rIns="133350" bIns="133350" numCol="1" spcCol="1270" anchor="t" anchorCtr="0">
                <a:noAutofit/>
              </a:bodyPr>
              <a:lstStyle/>
              <a:p>
                <a:pPr lvl="0" algn="l" defTabSz="15557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ru-RU" sz="2000" i="0" kern="1200" dirty="0">
                    <a:latin typeface="Inter Variable Text Medium" panose="02000503000000020004" pitchFamily="2" charset="0"/>
                    <a:ea typeface="Inter Variable Text Medium" panose="02000503000000020004" pitchFamily="2" charset="0"/>
                    <a:cs typeface="Inter Variable Text Medium" panose="02000503000000020004" pitchFamily="2" charset="0"/>
                  </a:rPr>
                  <a:t>Предмет </a:t>
                </a:r>
                <a:r>
                  <a:rPr lang="ru-RU" sz="2000" i="0" kern="1200" dirty="0" smtClean="0">
                    <a:latin typeface="Inter Variable Text Medium" panose="02000503000000020004" pitchFamily="2" charset="0"/>
                    <a:ea typeface="Inter Variable Text Medium" panose="02000503000000020004" pitchFamily="2" charset="0"/>
                    <a:cs typeface="Inter Variable Text Medium" panose="02000503000000020004" pitchFamily="2" charset="0"/>
                  </a:rPr>
                  <a:t>исследования:</a:t>
                </a:r>
              </a:p>
              <a:p>
                <a:pPr lvl="0" algn="l" defTabSz="15557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ru-RU" dirty="0">
                    <a:latin typeface="Inter Variable Text Medium" panose="02000503000000020004" pitchFamily="2" charset="0"/>
                    <a:ea typeface="Inter Variable Text Medium" panose="02000503000000020004" pitchFamily="2" charset="0"/>
                    <a:cs typeface="Inter Variable Text Medium" panose="02000503000000020004" pitchFamily="2" charset="0"/>
                  </a:rPr>
                  <a:t>а</a:t>
                </a:r>
                <a:r>
                  <a:rPr lang="ru-RU" dirty="0" smtClean="0">
                    <a:latin typeface="Inter Variable Text Medium" panose="02000503000000020004" pitchFamily="2" charset="0"/>
                    <a:ea typeface="Inter Variable Text Medium" panose="02000503000000020004" pitchFamily="2" charset="0"/>
                    <a:cs typeface="Inter Variable Text Medium" panose="02000503000000020004" pitchFamily="2" charset="0"/>
                  </a:rPr>
                  <a:t>втоматизированный </a:t>
                </a:r>
                <a:r>
                  <a:rPr lang="ru-RU" dirty="0">
                    <a:latin typeface="Inter Variable Text Medium" panose="02000503000000020004" pitchFamily="2" charset="0"/>
                    <a:ea typeface="Inter Variable Text Medium" panose="02000503000000020004" pitchFamily="2" charset="0"/>
                    <a:cs typeface="Inter Variable Text Medium" panose="02000503000000020004" pitchFamily="2" charset="0"/>
                  </a:rPr>
                  <a:t>модуль для анализа степени выгорания </a:t>
                </a:r>
                <a:r>
                  <a:rPr lang="ru-RU" dirty="0" smtClean="0">
                    <a:latin typeface="Inter Variable Text Medium" panose="02000503000000020004" pitchFamily="2" charset="0"/>
                    <a:ea typeface="Inter Variable Text Medium" panose="02000503000000020004" pitchFamily="2" charset="0"/>
                    <a:cs typeface="Inter Variable Text Medium" panose="02000503000000020004" pitchFamily="2" charset="0"/>
                  </a:rPr>
                  <a:t>сотрудников по </a:t>
                </a:r>
                <a:r>
                  <a:rPr lang="ru-RU" dirty="0">
                    <a:latin typeface="Inter Variable Text Medium" panose="02000503000000020004" pitchFamily="2" charset="0"/>
                    <a:ea typeface="Inter Variable Text Medium" panose="02000503000000020004" pitchFamily="2" charset="0"/>
                    <a:cs typeface="Inter Variable Text Medium" panose="02000503000000020004" pitchFamily="2" charset="0"/>
                  </a:rPr>
                  <a:t>текстовым коммуникациям</a:t>
                </a:r>
                <a:endParaRPr lang="ru-RU" dirty="0">
                  <a:latin typeface="Inter Variable Text Medium" panose="02000503000000020004" pitchFamily="2" charset="0"/>
                  <a:ea typeface="Inter Variable Text Medium" panose="02000503000000020004" pitchFamily="2" charset="0"/>
                  <a:cs typeface="Inter Variable Text Medium" panose="02000503000000020004" pitchFamily="2" charset="0"/>
                </a:endParaRPr>
              </a:p>
            </p:txBody>
          </p:sp>
          <p:sp>
            <p:nvSpPr>
              <p:cNvPr id="27" name="Треугольник 28">
                <a:extLst>
                  <a:ext uri="{FF2B5EF4-FFF2-40B4-BE49-F238E27FC236}">
                    <a16:creationId xmlns:a16="http://schemas.microsoft.com/office/drawing/2014/main" id="{BA81189A-FE14-74FA-995C-03DC2D7C685E}"/>
                  </a:ext>
                </a:extLst>
              </p:cNvPr>
              <p:cNvSpPr/>
              <p:nvPr/>
            </p:nvSpPr>
            <p:spPr>
              <a:xfrm>
                <a:off x="8457290" y="2484320"/>
                <a:ext cx="452888" cy="452888"/>
              </a:xfrm>
              <a:prstGeom prst="triangle">
                <a:avLst>
                  <a:gd name="adj" fmla="val 100000"/>
                </a:avLst>
              </a:prstGeom>
              <a:solidFill>
                <a:srgbClr val="274E9C"/>
              </a:solidFill>
              <a:ln>
                <a:solidFill>
                  <a:srgbClr val="274E9C"/>
                </a:solidFill>
              </a:ln>
            </p:spPr>
            <p:style>
              <a:lnRef idx="1">
                <a:schemeClr val="accent1">
                  <a:hueOff val="0"/>
                  <a:satOff val="0"/>
                  <a:lumOff val="0"/>
                  <a:alphaOff val="0"/>
                </a:schemeClr>
              </a:lnRef>
              <a:fillRef idx="3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2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8" name="Фигура, имеющая форму буквы L 27">
                <a:extLst>
                  <a:ext uri="{FF2B5EF4-FFF2-40B4-BE49-F238E27FC236}">
                    <a16:creationId xmlns:a16="http://schemas.microsoft.com/office/drawing/2014/main" id="{CFDE1D58-EE6C-FDF5-2EC3-F8C0500AAC33}"/>
                  </a:ext>
                </a:extLst>
              </p:cNvPr>
              <p:cNvSpPr/>
              <p:nvPr/>
            </p:nvSpPr>
            <p:spPr>
              <a:xfrm rot="5400000">
                <a:off x="9720359" y="1766890"/>
                <a:ext cx="1597812" cy="2658723"/>
              </a:xfrm>
              <a:prstGeom prst="corner">
                <a:avLst>
                  <a:gd name="adj1" fmla="val 16120"/>
                  <a:gd name="adj2" fmla="val 16110"/>
                </a:avLst>
              </a:prstGeom>
              <a:noFill/>
              <a:ln>
                <a:solidFill>
                  <a:srgbClr val="1A3773"/>
                </a:solidFill>
                <a:prstDash val="dash"/>
              </a:ln>
            </p:spPr>
            <p:style>
              <a:lnRef idx="1">
                <a:schemeClr val="accent1">
                  <a:hueOff val="0"/>
                  <a:satOff val="0"/>
                  <a:lumOff val="0"/>
                  <a:alphaOff val="0"/>
                </a:schemeClr>
              </a:lnRef>
              <a:fillRef idx="3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2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9" name="Полилиния 30">
                <a:extLst>
                  <a:ext uri="{FF2B5EF4-FFF2-40B4-BE49-F238E27FC236}">
                    <a16:creationId xmlns:a16="http://schemas.microsoft.com/office/drawing/2014/main" id="{6B3DD64D-7113-D562-0438-D53FA96B3DD9}"/>
                  </a:ext>
                </a:extLst>
              </p:cNvPr>
              <p:cNvSpPr/>
              <p:nvPr/>
            </p:nvSpPr>
            <p:spPr>
              <a:xfrm>
                <a:off x="9453643" y="2561275"/>
                <a:ext cx="2933121" cy="2104012"/>
              </a:xfrm>
              <a:custGeom>
                <a:avLst/>
                <a:gdLst>
                  <a:gd name="connsiteX0" fmla="*/ 0 w 2400310"/>
                  <a:gd name="connsiteY0" fmla="*/ 0 h 2104012"/>
                  <a:gd name="connsiteX1" fmla="*/ 2400310 w 2400310"/>
                  <a:gd name="connsiteY1" fmla="*/ 0 h 2104012"/>
                  <a:gd name="connsiteX2" fmla="*/ 2400310 w 2400310"/>
                  <a:gd name="connsiteY2" fmla="*/ 2104012 h 2104012"/>
                  <a:gd name="connsiteX3" fmla="*/ 0 w 2400310"/>
                  <a:gd name="connsiteY3" fmla="*/ 2104012 h 2104012"/>
                  <a:gd name="connsiteX4" fmla="*/ 0 w 2400310"/>
                  <a:gd name="connsiteY4" fmla="*/ 0 h 21040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00310" h="2104012">
                    <a:moveTo>
                      <a:pt x="0" y="0"/>
                    </a:moveTo>
                    <a:lnTo>
                      <a:pt x="2400310" y="0"/>
                    </a:lnTo>
                    <a:lnTo>
                      <a:pt x="2400310" y="2104012"/>
                    </a:lnTo>
                    <a:lnTo>
                      <a:pt x="0" y="2104012"/>
                    </a:lnTo>
                    <a:lnTo>
                      <a:pt x="0" y="0"/>
                    </a:lnTo>
                    <a:close/>
                  </a:path>
                </a:pathLst>
              </a:custGeom>
            </p:spPr>
            <p:style>
              <a:lnRef idx="0">
                <a:schemeClr val="dk1">
                  <a:alpha val="0"/>
                  <a:hueOff val="0"/>
                  <a:satOff val="0"/>
                  <a:lumOff val="0"/>
                  <a:alphaOff val="0"/>
                </a:schemeClr>
              </a:lnRef>
              <a:fillRef idx="0">
                <a:schemeClr val="lt1">
                  <a:alpha val="0"/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lt1">
                  <a:alpha val="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tx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spcFirstLastPara="0" vert="horz" wrap="square" lIns="133350" tIns="133350" rIns="133350" bIns="133350" numCol="1" spcCol="1270" anchor="t" anchorCtr="0">
                <a:noAutofit/>
              </a:bodyPr>
              <a:lstStyle/>
              <a:p>
                <a:pPr lvl="0" algn="l" defTabSz="15557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ru-RU" sz="2000" i="0" kern="1200" dirty="0" smtClean="0">
                    <a:latin typeface="Inter Variable Text Medium" panose="02000503000000020004" pitchFamily="2" charset="0"/>
                    <a:ea typeface="Inter Variable Text Medium" panose="02000503000000020004" pitchFamily="2" charset="0"/>
                    <a:cs typeface="Inter Variable Text Medium" panose="02000503000000020004" pitchFamily="2" charset="0"/>
                  </a:rPr>
                  <a:t>Практическая значимость:</a:t>
                </a:r>
              </a:p>
              <a:p>
                <a:pPr lvl="0" algn="l" defTabSz="15557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ru-RU" dirty="0">
                    <a:latin typeface="Inter Variable Text Medium" panose="02000503000000020004" pitchFamily="2" charset="0"/>
                    <a:ea typeface="Inter Variable Text Medium" panose="02000503000000020004" pitchFamily="2" charset="0"/>
                    <a:cs typeface="Inter Variable Text Medium" panose="02000503000000020004" pitchFamily="2" charset="0"/>
                  </a:rPr>
                  <a:t>п</a:t>
                </a:r>
                <a:r>
                  <a:rPr lang="ru-RU" dirty="0" smtClean="0">
                    <a:latin typeface="Inter Variable Text Medium" panose="02000503000000020004" pitchFamily="2" charset="0"/>
                    <a:ea typeface="Inter Variable Text Medium" panose="02000503000000020004" pitchFamily="2" charset="0"/>
                    <a:cs typeface="Inter Variable Text Medium" panose="02000503000000020004" pitchFamily="2" charset="0"/>
                  </a:rPr>
                  <a:t>ереход от реактивного решения проблемы к </a:t>
                </a:r>
                <a:r>
                  <a:rPr lang="ru-RU" dirty="0" err="1" smtClean="0">
                    <a:latin typeface="Inter Variable Text Medium" panose="02000503000000020004" pitchFamily="2" charset="0"/>
                    <a:ea typeface="Inter Variable Text Medium" panose="02000503000000020004" pitchFamily="2" charset="0"/>
                    <a:cs typeface="Inter Variable Text Medium" panose="02000503000000020004" pitchFamily="2" charset="0"/>
                  </a:rPr>
                  <a:t>проактивному</a:t>
                </a:r>
                <a:r>
                  <a:rPr lang="ru-RU" dirty="0" smtClean="0">
                    <a:latin typeface="Inter Variable Text Medium" panose="02000503000000020004" pitchFamily="2" charset="0"/>
                    <a:ea typeface="Inter Variable Text Medium" panose="02000503000000020004" pitchFamily="2" charset="0"/>
                    <a:cs typeface="Inter Variable Text Medium" panose="02000503000000020004" pitchFamily="2" charset="0"/>
                  </a:rPr>
                  <a:t> мониторингу состояния персонала, что повысит </a:t>
                </a:r>
                <a:r>
                  <a:rPr lang="ru-RU" dirty="0" err="1" smtClean="0">
                    <a:latin typeface="Inter Variable Text Medium" panose="02000503000000020004" pitchFamily="2" charset="0"/>
                    <a:ea typeface="Inter Variable Text Medium" panose="02000503000000020004" pitchFamily="2" charset="0"/>
                    <a:cs typeface="Inter Variable Text Medium" panose="02000503000000020004" pitchFamily="2" charset="0"/>
                  </a:rPr>
                  <a:t>проиводительность</a:t>
                </a:r>
                <a:endParaRPr lang="ru-RU" i="0" kern="1200" dirty="0">
                  <a:latin typeface="Inter Variable Text Medium" panose="02000503000000020004" pitchFamily="2" charset="0"/>
                  <a:ea typeface="Inter Variable Text Medium" panose="02000503000000020004" pitchFamily="2" charset="0"/>
                  <a:cs typeface="Inter Variable Text Medium" panose="02000503000000020004" pitchFamily="2" charset="0"/>
                </a:endParaRPr>
              </a:p>
              <a:p>
                <a:pPr lvl="0" algn="l" defTabSz="15557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2000" i="0" kern="1200" dirty="0">
                  <a:latin typeface="Inter Variable Text Medium" panose="02000503000000020004" pitchFamily="2" charset="0"/>
                  <a:ea typeface="Inter Variable Text Medium" panose="02000503000000020004" pitchFamily="2" charset="0"/>
                  <a:cs typeface="Inter Variable Text Medium" panose="02000503000000020004" pitchFamily="2" charset="0"/>
                </a:endParaRPr>
              </a:p>
            </p:txBody>
          </p:sp>
        </p:grpSp>
        <p:pic>
          <p:nvPicPr>
            <p:cNvPr id="5" name="Рисунок 4">
              <a:extLst>
                <a:ext uri="{FF2B5EF4-FFF2-40B4-BE49-F238E27FC236}">
                  <a16:creationId xmlns:a16="http://schemas.microsoft.com/office/drawing/2014/main" id="{AC9C9B27-F4B1-D53F-E312-F80AFA1B2AA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0282" y="2825519"/>
              <a:ext cx="728500" cy="1130986"/>
            </a:xfrm>
            <a:prstGeom prst="rect">
              <a:avLst/>
            </a:prstGeom>
          </p:spPr>
        </p:pic>
        <p:grpSp>
          <p:nvGrpSpPr>
            <p:cNvPr id="8" name="Группа 7">
              <a:extLst>
                <a:ext uri="{FF2B5EF4-FFF2-40B4-BE49-F238E27FC236}">
                  <a16:creationId xmlns:a16="http://schemas.microsoft.com/office/drawing/2014/main" id="{74B1A5E7-B8C0-38C8-03E0-380D6EB33D44}"/>
                </a:ext>
              </a:extLst>
            </p:cNvPr>
            <p:cNvGrpSpPr/>
            <p:nvPr/>
          </p:nvGrpSpPr>
          <p:grpSpPr>
            <a:xfrm>
              <a:off x="4213325" y="2118983"/>
              <a:ext cx="709679" cy="1186667"/>
              <a:chOff x="4183975" y="1757105"/>
              <a:chExt cx="1125843" cy="1882541"/>
            </a:xfrm>
          </p:grpSpPr>
          <p:pic>
            <p:nvPicPr>
              <p:cNvPr id="16" name="Рисунок 15">
                <a:extLst>
                  <a:ext uri="{FF2B5EF4-FFF2-40B4-BE49-F238E27FC236}">
                    <a16:creationId xmlns:a16="http://schemas.microsoft.com/office/drawing/2014/main" id="{9933FCCF-BF2F-9133-7667-81AFF43D46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183975" y="3095283"/>
                <a:ext cx="1105223" cy="544363"/>
              </a:xfrm>
              <a:prstGeom prst="rect">
                <a:avLst/>
              </a:prstGeom>
            </p:spPr>
          </p:pic>
          <p:pic>
            <p:nvPicPr>
              <p:cNvPr id="17" name="Рисунок 16">
                <a:extLst>
                  <a:ext uri="{FF2B5EF4-FFF2-40B4-BE49-F238E27FC236}">
                    <a16:creationId xmlns:a16="http://schemas.microsoft.com/office/drawing/2014/main" id="{A8A3BF7F-2D07-B7DA-F030-439C5F9759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183975" y="2442690"/>
                <a:ext cx="1125843" cy="507248"/>
              </a:xfrm>
              <a:prstGeom prst="rect">
                <a:avLst/>
              </a:prstGeom>
            </p:spPr>
          </p:pic>
          <p:pic>
            <p:nvPicPr>
              <p:cNvPr id="18" name="Рисунок 17">
                <a:extLst>
                  <a:ext uri="{FF2B5EF4-FFF2-40B4-BE49-F238E27FC236}">
                    <a16:creationId xmlns:a16="http://schemas.microsoft.com/office/drawing/2014/main" id="{94B679AD-E536-5800-9F48-2D562B5348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183975" y="1757105"/>
                <a:ext cx="1092851" cy="540240"/>
              </a:xfrm>
              <a:prstGeom prst="rect">
                <a:avLst/>
              </a:prstGeom>
            </p:spPr>
          </p:pic>
        </p:grpSp>
        <p:grpSp>
          <p:nvGrpSpPr>
            <p:cNvPr id="9" name="Группа 8">
              <a:extLst>
                <a:ext uri="{FF2B5EF4-FFF2-40B4-BE49-F238E27FC236}">
                  <a16:creationId xmlns:a16="http://schemas.microsoft.com/office/drawing/2014/main" id="{4B554231-1DAA-4025-5B55-6C7A4AA604A1}"/>
                </a:ext>
              </a:extLst>
            </p:cNvPr>
            <p:cNvGrpSpPr/>
            <p:nvPr/>
          </p:nvGrpSpPr>
          <p:grpSpPr>
            <a:xfrm>
              <a:off x="7075961" y="1430471"/>
              <a:ext cx="719619" cy="1188708"/>
              <a:chOff x="7046611" y="1067397"/>
              <a:chExt cx="1141610" cy="1885778"/>
            </a:xfrm>
          </p:grpSpPr>
          <p:pic>
            <p:nvPicPr>
              <p:cNvPr id="12" name="Рисунок 11">
                <a:extLst>
                  <a:ext uri="{FF2B5EF4-FFF2-40B4-BE49-F238E27FC236}">
                    <a16:creationId xmlns:a16="http://schemas.microsoft.com/office/drawing/2014/main" id="{3A9B363C-0B78-B8D6-E2EB-577910D4EC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046611" y="2398656"/>
                <a:ext cx="1125843" cy="554519"/>
              </a:xfrm>
              <a:prstGeom prst="rect">
                <a:avLst/>
              </a:prstGeom>
            </p:spPr>
          </p:pic>
          <p:grpSp>
            <p:nvGrpSpPr>
              <p:cNvPr id="13" name="Группа 12">
                <a:extLst>
                  <a:ext uri="{FF2B5EF4-FFF2-40B4-BE49-F238E27FC236}">
                    <a16:creationId xmlns:a16="http://schemas.microsoft.com/office/drawing/2014/main" id="{9F52E7F1-1E92-8CD7-FC26-E3EF2814867C}"/>
                  </a:ext>
                </a:extLst>
              </p:cNvPr>
              <p:cNvGrpSpPr/>
              <p:nvPr/>
            </p:nvGrpSpPr>
            <p:grpSpPr>
              <a:xfrm>
                <a:off x="7062378" y="1067397"/>
                <a:ext cx="1125843" cy="1192833"/>
                <a:chOff x="4183975" y="1757105"/>
                <a:chExt cx="1125843" cy="1192833"/>
              </a:xfrm>
            </p:grpSpPr>
            <p:pic>
              <p:nvPicPr>
                <p:cNvPr id="14" name="Рисунок 13">
                  <a:extLst>
                    <a:ext uri="{FF2B5EF4-FFF2-40B4-BE49-F238E27FC236}">
                      <a16:creationId xmlns:a16="http://schemas.microsoft.com/office/drawing/2014/main" id="{8BE0B294-0531-B15C-9D1F-797F2220FE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 cstate="print">
                  <a:duotone>
                    <a:schemeClr val="accent1">
                      <a:shade val="45000"/>
                      <a:satMod val="135000"/>
                    </a:schemeClr>
                    <a:prstClr val="white"/>
                  </a:duoton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183975" y="2442690"/>
                  <a:ext cx="1125843" cy="507248"/>
                </a:xfrm>
                <a:prstGeom prst="rect">
                  <a:avLst/>
                </a:prstGeom>
              </p:spPr>
            </p:pic>
            <p:pic>
              <p:nvPicPr>
                <p:cNvPr id="15" name="Рисунок 14">
                  <a:extLst>
                    <a:ext uri="{FF2B5EF4-FFF2-40B4-BE49-F238E27FC236}">
                      <a16:creationId xmlns:a16="http://schemas.microsoft.com/office/drawing/2014/main" id="{7A382997-EEAA-7570-024F-A1689287CF4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 cstate="print">
                  <a:duotone>
                    <a:schemeClr val="accent1">
                      <a:shade val="45000"/>
                      <a:satMod val="135000"/>
                    </a:schemeClr>
                    <a:prstClr val="white"/>
                  </a:duoton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183975" y="1757105"/>
                  <a:ext cx="1092851" cy="540240"/>
                </a:xfrm>
                <a:prstGeom prst="rect">
                  <a:avLst/>
                </a:prstGeom>
              </p:spPr>
            </p:pic>
          </p:grpSp>
        </p:grpSp>
        <p:sp>
          <p:nvSpPr>
            <p:cNvPr id="10" name="Полилиния 10">
              <a:extLst>
                <a:ext uri="{FF2B5EF4-FFF2-40B4-BE49-F238E27FC236}">
                  <a16:creationId xmlns:a16="http://schemas.microsoft.com/office/drawing/2014/main" id="{DC676B8D-D31B-C44D-E098-28B7DFCC1ED7}"/>
                </a:ext>
              </a:extLst>
            </p:cNvPr>
            <p:cNvSpPr/>
            <p:nvPr/>
          </p:nvSpPr>
          <p:spPr>
            <a:xfrm>
              <a:off x="9430060" y="2846288"/>
              <a:ext cx="2400311" cy="743085"/>
            </a:xfrm>
            <a:custGeom>
              <a:avLst/>
              <a:gdLst>
                <a:gd name="connsiteX0" fmla="*/ 0 w 2400310"/>
                <a:gd name="connsiteY0" fmla="*/ 0 h 2104012"/>
                <a:gd name="connsiteX1" fmla="*/ 2400310 w 2400310"/>
                <a:gd name="connsiteY1" fmla="*/ 0 h 2104012"/>
                <a:gd name="connsiteX2" fmla="*/ 2400310 w 2400310"/>
                <a:gd name="connsiteY2" fmla="*/ 2104012 h 2104012"/>
                <a:gd name="connsiteX3" fmla="*/ 0 w 2400310"/>
                <a:gd name="connsiteY3" fmla="*/ 2104012 h 2104012"/>
                <a:gd name="connsiteX4" fmla="*/ 0 w 2400310"/>
                <a:gd name="connsiteY4" fmla="*/ 0 h 21040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00310" h="2104012">
                  <a:moveTo>
                    <a:pt x="0" y="0"/>
                  </a:moveTo>
                  <a:lnTo>
                    <a:pt x="2400310" y="0"/>
                  </a:lnTo>
                  <a:lnTo>
                    <a:pt x="2400310" y="2104012"/>
                  </a:lnTo>
                  <a:lnTo>
                    <a:pt x="0" y="2104012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33350" tIns="133350" rIns="133350" bIns="133350" numCol="1" spcCol="1270" anchor="b" anchorCtr="0">
              <a:noAutofit/>
            </a:bodyPr>
            <a:lstStyle/>
            <a:p>
              <a:pPr marL="0" lvl="1" algn="l" defTabSz="12001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endParaRPr lang="ru-RU" sz="1600" b="0" i="0" kern="1200" dirty="0"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endParaRPr>
            </a:p>
          </p:txBody>
        </p:sp>
        <p:pic>
          <p:nvPicPr>
            <p:cNvPr id="11" name="Рисунок 10">
              <a:extLst>
                <a:ext uri="{FF2B5EF4-FFF2-40B4-BE49-F238E27FC236}">
                  <a16:creationId xmlns:a16="http://schemas.microsoft.com/office/drawing/2014/main" id="{4C71AA96-484D-5196-0647-DAE241F86F3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print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482995" y="752694"/>
              <a:ext cx="1121821" cy="1011756"/>
            </a:xfrm>
            <a:prstGeom prst="rect">
              <a:avLst/>
            </a:prstGeom>
          </p:spPr>
        </p:pic>
      </p:grpSp>
      <p:grpSp>
        <p:nvGrpSpPr>
          <p:cNvPr id="32" name="Группа 31">
            <a:extLst>
              <a:ext uri="{FF2B5EF4-FFF2-40B4-BE49-F238E27FC236}">
                <a16:creationId xmlns:a16="http://schemas.microsoft.com/office/drawing/2014/main" id="{CF78C864-B779-FBF1-CDA0-3D8B70333616}"/>
              </a:ext>
            </a:extLst>
          </p:cNvPr>
          <p:cNvGrpSpPr/>
          <p:nvPr/>
        </p:nvGrpSpPr>
        <p:grpSpPr>
          <a:xfrm>
            <a:off x="11641128" y="6312477"/>
            <a:ext cx="490760" cy="490760"/>
            <a:chOff x="11383518" y="6084717"/>
            <a:chExt cx="618259" cy="618259"/>
          </a:xfrm>
        </p:grpSpPr>
        <p:sp>
          <p:nvSpPr>
            <p:cNvPr id="30" name="Прямоугольник: скругленные углы 29">
              <a:extLst>
                <a:ext uri="{FF2B5EF4-FFF2-40B4-BE49-F238E27FC236}">
                  <a16:creationId xmlns:a16="http://schemas.microsoft.com/office/drawing/2014/main" id="{34453806-0341-C208-45DA-F12084CB2987}"/>
                </a:ext>
              </a:extLst>
            </p:cNvPr>
            <p:cNvSpPr/>
            <p:nvPr/>
          </p:nvSpPr>
          <p:spPr>
            <a:xfrm>
              <a:off x="11383518" y="6084717"/>
              <a:ext cx="618259" cy="618259"/>
            </a:xfrm>
            <a:prstGeom prst="roundRect">
              <a:avLst/>
            </a:prstGeom>
            <a:solidFill>
              <a:srgbClr val="1A3773"/>
            </a:solidFill>
            <a:ln>
              <a:solidFill>
                <a:srgbClr val="1A3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B046D73-9EBC-F981-144F-CEF31D7F5E67}"/>
                </a:ext>
              </a:extLst>
            </p:cNvPr>
            <p:cNvSpPr txBox="1"/>
            <p:nvPr/>
          </p:nvSpPr>
          <p:spPr>
            <a:xfrm>
              <a:off x="11508348" y="6199977"/>
              <a:ext cx="368600" cy="38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/>
                  </a:solidFill>
                  <a:latin typeface="Inter Variable Text" panose="02000503000000020004" pitchFamily="2" charset="0"/>
                  <a:ea typeface="Inter Variable Text" panose="02000503000000020004" pitchFamily="2" charset="0"/>
                  <a:cs typeface="Inter Variable Text" panose="02000503000000020004" pitchFamily="2" charset="0"/>
                </a:rPr>
                <a:t>2</a:t>
              </a:r>
              <a:endParaRPr lang="en-US" sz="1400" dirty="0">
                <a:solidFill>
                  <a:schemeClr val="bg1"/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06613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6F1D31-E70B-52A8-9DB2-8A60E366F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902E1B8-AFDF-9C5C-0A9E-BC9B07972774}"/>
              </a:ext>
            </a:extLst>
          </p:cNvPr>
          <p:cNvSpPr txBox="1"/>
          <p:nvPr/>
        </p:nvSpPr>
        <p:spPr>
          <a:xfrm>
            <a:off x="3638792" y="238690"/>
            <a:ext cx="34708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>
                <a:solidFill>
                  <a:srgbClr val="274E9C"/>
                </a:solidFill>
                <a:latin typeface="Inter Variable Text Medium" panose="02000503000000020004" pitchFamily="2" charset="0"/>
                <a:ea typeface="Inter Variable Text Medium" panose="02000503000000020004" pitchFamily="2" charset="0"/>
                <a:cs typeface="Inter Variable Text Medium" panose="02000503000000020004" pitchFamily="2" charset="0"/>
              </a:rPr>
              <a:t>Цели и задачи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1B272114-7B88-41BD-7F92-C6A7B61CE6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sp>
        <p:nvSpPr>
          <p:cNvPr id="4" name="Объект 2">
            <a:extLst>
              <a:ext uri="{FF2B5EF4-FFF2-40B4-BE49-F238E27FC236}">
                <a16:creationId xmlns:a16="http://schemas.microsoft.com/office/drawing/2014/main" id="{FD059847-A5AF-5241-F4D5-7D58F1B6A7FC}"/>
              </a:ext>
            </a:extLst>
          </p:cNvPr>
          <p:cNvSpPr txBox="1">
            <a:spLocks/>
          </p:cNvSpPr>
          <p:nvPr/>
        </p:nvSpPr>
        <p:spPr>
          <a:xfrm>
            <a:off x="485193" y="1184989"/>
            <a:ext cx="4301412" cy="5340298"/>
          </a:xfrm>
          <a:prstGeom prst="roundRect">
            <a:avLst>
              <a:gd name="adj" fmla="val 4817"/>
            </a:avLst>
          </a:prstGeom>
          <a:ln>
            <a:solidFill>
              <a:srgbClr val="1A3773"/>
            </a:solidFill>
            <a:prstDash val="dash"/>
          </a:ln>
        </p:spPr>
        <p:txBody>
          <a:bodyPr anchor="ctr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800" b="0" i="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Open Sans Light" charset="0"/>
                <a:cs typeface="Open Sans Light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ru-RU" sz="2400" dirty="0"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rPr>
              <a:t>С</a:t>
            </a:r>
            <a:r>
              <a:rPr lang="ru-RU" sz="2400" dirty="0" smtClean="0"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rPr>
              <a:t>оздание </a:t>
            </a:r>
            <a:r>
              <a:rPr lang="ru-RU" sz="2400" dirty="0"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rPr>
              <a:t>автоматизированного модуля для анализа степени выгорания сотрудников ПАО СК «Росгосстрах», основанного на методах обработки естественного языка и машинного обучения, и оценке его экономической эффективности.</a:t>
            </a:r>
            <a:endParaRPr lang="ru-RU" sz="2400" dirty="0">
              <a:latin typeface="Inter Variable Text" panose="02000503000000020004" pitchFamily="2" charset="0"/>
              <a:ea typeface="Inter Variable Text" panose="02000503000000020004" pitchFamily="2" charset="0"/>
              <a:cs typeface="Inter Variable Text" panose="02000503000000020004" pitchFamily="2" charset="0"/>
            </a:endParaRPr>
          </a:p>
        </p:txBody>
      </p:sp>
      <p:pic>
        <p:nvPicPr>
          <p:cNvPr id="5" name="Рисунок 4" descr="В яблочко">
            <a:extLst>
              <a:ext uri="{FF2B5EF4-FFF2-40B4-BE49-F238E27FC236}">
                <a16:creationId xmlns:a16="http://schemas.microsoft.com/office/drawing/2014/main" id="{17856A50-E635-A095-E4A3-F88B999E97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485192" y="1184989"/>
            <a:ext cx="542081" cy="542081"/>
          </a:xfrm>
          <a:prstGeom prst="rect">
            <a:avLst/>
          </a:prstGeom>
        </p:spPr>
      </p:pic>
      <p:graphicFrame>
        <p:nvGraphicFramePr>
          <p:cNvPr id="3" name="Объект 4">
            <a:extLst>
              <a:ext uri="{FF2B5EF4-FFF2-40B4-BE49-F238E27FC236}">
                <a16:creationId xmlns:a16="http://schemas.microsoft.com/office/drawing/2014/main" id="{52473C9A-6E45-374C-D55E-72AE5DF886B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12181724"/>
              </p:ext>
            </p:extLst>
          </p:nvPr>
        </p:nvGraphicFramePr>
        <p:xfrm>
          <a:off x="3881534" y="1093497"/>
          <a:ext cx="9302620" cy="54317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AC395A31-2EC6-C922-9931-5DFB798A8C13}"/>
              </a:ext>
            </a:extLst>
          </p:cNvPr>
          <p:cNvGrpSpPr/>
          <p:nvPr/>
        </p:nvGrpSpPr>
        <p:grpSpPr>
          <a:xfrm>
            <a:off x="11641128" y="6312477"/>
            <a:ext cx="490760" cy="490760"/>
            <a:chOff x="11383518" y="6084717"/>
            <a:chExt cx="618259" cy="618259"/>
          </a:xfrm>
        </p:grpSpPr>
        <p:sp>
          <p:nvSpPr>
            <p:cNvPr id="16" name="Прямоугольник: скругленные углы 15">
              <a:extLst>
                <a:ext uri="{FF2B5EF4-FFF2-40B4-BE49-F238E27FC236}">
                  <a16:creationId xmlns:a16="http://schemas.microsoft.com/office/drawing/2014/main" id="{8FDA0D01-2D17-96C7-F9DC-D2B1F1E78B28}"/>
                </a:ext>
              </a:extLst>
            </p:cNvPr>
            <p:cNvSpPr/>
            <p:nvPr/>
          </p:nvSpPr>
          <p:spPr>
            <a:xfrm>
              <a:off x="11383518" y="6084717"/>
              <a:ext cx="618259" cy="618259"/>
            </a:xfrm>
            <a:prstGeom prst="roundRect">
              <a:avLst/>
            </a:prstGeom>
            <a:solidFill>
              <a:srgbClr val="1A3773"/>
            </a:solidFill>
            <a:ln>
              <a:solidFill>
                <a:srgbClr val="1A3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F7E8B3B-20C1-7963-61D4-09C9F1D40B5F}"/>
                </a:ext>
              </a:extLst>
            </p:cNvPr>
            <p:cNvSpPr txBox="1"/>
            <p:nvPr/>
          </p:nvSpPr>
          <p:spPr>
            <a:xfrm>
              <a:off x="11508348" y="6199977"/>
              <a:ext cx="368600" cy="38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/>
                  </a:solidFill>
                  <a:latin typeface="Inter Variable Text" panose="02000503000000020004" pitchFamily="2" charset="0"/>
                  <a:ea typeface="Inter Variable Text" panose="02000503000000020004" pitchFamily="2" charset="0"/>
                  <a:cs typeface="Inter Variable Text" panose="02000503000000020004" pitchFamily="2" charset="0"/>
                </a:rPr>
                <a:t>4</a:t>
              </a:r>
              <a:endParaRPr lang="en-US" sz="1400" dirty="0">
                <a:solidFill>
                  <a:schemeClr val="bg1"/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endParaRPr>
            </a:p>
          </p:txBody>
        </p:sp>
      </p:grpSp>
      <p:sp>
        <p:nvSpPr>
          <p:cNvPr id="18" name="Shape 2530">
            <a:extLst>
              <a:ext uri="{FF2B5EF4-FFF2-40B4-BE49-F238E27FC236}">
                <a16:creationId xmlns:a16="http://schemas.microsoft.com/office/drawing/2014/main" id="{EB47C5BD-F028-B747-B516-8F8B5713C8B8}"/>
              </a:ext>
            </a:extLst>
          </p:cNvPr>
          <p:cNvSpPr/>
          <p:nvPr/>
        </p:nvSpPr>
        <p:spPr>
          <a:xfrm>
            <a:off x="4568143" y="888600"/>
            <a:ext cx="436923" cy="53401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400" y="19636"/>
                </a:moveTo>
                <a:cubicBezTo>
                  <a:pt x="20400" y="20178"/>
                  <a:pt x="19862" y="20617"/>
                  <a:pt x="19200" y="20617"/>
                </a:cubicBezTo>
                <a:lnTo>
                  <a:pt x="6000" y="20617"/>
                </a:lnTo>
                <a:lnTo>
                  <a:pt x="6000" y="982"/>
                </a:lnTo>
                <a:lnTo>
                  <a:pt x="13200" y="982"/>
                </a:lnTo>
                <a:lnTo>
                  <a:pt x="13200" y="6872"/>
                </a:lnTo>
                <a:lnTo>
                  <a:pt x="15600" y="4909"/>
                </a:lnTo>
                <a:lnTo>
                  <a:pt x="18000" y="6872"/>
                </a:lnTo>
                <a:lnTo>
                  <a:pt x="18000" y="982"/>
                </a:lnTo>
                <a:lnTo>
                  <a:pt x="19200" y="982"/>
                </a:lnTo>
                <a:cubicBezTo>
                  <a:pt x="19862" y="982"/>
                  <a:pt x="20400" y="1422"/>
                  <a:pt x="20400" y="1964"/>
                </a:cubicBezTo>
                <a:cubicBezTo>
                  <a:pt x="20400" y="1964"/>
                  <a:pt x="20400" y="19636"/>
                  <a:pt x="20400" y="19636"/>
                </a:cubicBezTo>
                <a:close/>
                <a:moveTo>
                  <a:pt x="4800" y="20617"/>
                </a:moveTo>
                <a:lnTo>
                  <a:pt x="2400" y="20617"/>
                </a:lnTo>
                <a:cubicBezTo>
                  <a:pt x="1738" y="20617"/>
                  <a:pt x="1200" y="20178"/>
                  <a:pt x="1200" y="19636"/>
                </a:cubicBezTo>
                <a:lnTo>
                  <a:pt x="1200" y="1964"/>
                </a:lnTo>
                <a:cubicBezTo>
                  <a:pt x="1200" y="1422"/>
                  <a:pt x="1738" y="982"/>
                  <a:pt x="2400" y="982"/>
                </a:cubicBezTo>
                <a:lnTo>
                  <a:pt x="4800" y="982"/>
                </a:lnTo>
                <a:cubicBezTo>
                  <a:pt x="4800" y="982"/>
                  <a:pt x="4800" y="20617"/>
                  <a:pt x="4800" y="20617"/>
                </a:cubicBezTo>
                <a:close/>
                <a:moveTo>
                  <a:pt x="14400" y="982"/>
                </a:moveTo>
                <a:lnTo>
                  <a:pt x="16800" y="982"/>
                </a:lnTo>
                <a:lnTo>
                  <a:pt x="16800" y="4418"/>
                </a:lnTo>
                <a:lnTo>
                  <a:pt x="15600" y="3436"/>
                </a:lnTo>
                <a:lnTo>
                  <a:pt x="14400" y="4418"/>
                </a:lnTo>
                <a:cubicBezTo>
                  <a:pt x="14400" y="4418"/>
                  <a:pt x="14400" y="982"/>
                  <a:pt x="14400" y="982"/>
                </a:cubicBezTo>
                <a:close/>
                <a:moveTo>
                  <a:pt x="19200" y="0"/>
                </a:moveTo>
                <a:lnTo>
                  <a:pt x="2400" y="0"/>
                </a:lnTo>
                <a:cubicBezTo>
                  <a:pt x="1075" y="0"/>
                  <a:pt x="0" y="879"/>
                  <a:pt x="0" y="1964"/>
                </a:cubicBezTo>
                <a:lnTo>
                  <a:pt x="0" y="19636"/>
                </a:lnTo>
                <a:cubicBezTo>
                  <a:pt x="0" y="20720"/>
                  <a:pt x="1075" y="21600"/>
                  <a:pt x="2400" y="21600"/>
                </a:cubicBezTo>
                <a:lnTo>
                  <a:pt x="19200" y="21600"/>
                </a:lnTo>
                <a:cubicBezTo>
                  <a:pt x="20525" y="21600"/>
                  <a:pt x="21600" y="20720"/>
                  <a:pt x="21600" y="19636"/>
                </a:cubicBezTo>
                <a:lnTo>
                  <a:pt x="21600" y="1964"/>
                </a:lnTo>
                <a:cubicBezTo>
                  <a:pt x="21600" y="879"/>
                  <a:pt x="20525" y="0"/>
                  <a:pt x="19200" y="0"/>
                </a:cubicBezTo>
              </a:path>
            </a:pathLst>
          </a:custGeom>
          <a:solidFill>
            <a:schemeClr val="bg1"/>
          </a:solidFill>
          <a:ln w="12700">
            <a:solidFill>
              <a:schemeClr val="bg1"/>
            </a:solidFill>
            <a:miter lim="400000"/>
          </a:ln>
        </p:spPr>
        <p:txBody>
          <a:bodyPr lIns="19045" tIns="19045" rIns="19045" bIns="19045" anchor="ctr"/>
          <a:lstStyle/>
          <a:p>
            <a:pPr defTabSz="228526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15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latin typeface="Gill Sans"/>
              <a:ea typeface="Calibri" charset="0"/>
              <a:cs typeface="Calibri" charset="0"/>
              <a:sym typeface="Gill Sans"/>
            </a:endParaRPr>
          </a:p>
        </p:txBody>
      </p:sp>
      <p:sp>
        <p:nvSpPr>
          <p:cNvPr id="19" name="Shape 2530">
            <a:extLst>
              <a:ext uri="{FF2B5EF4-FFF2-40B4-BE49-F238E27FC236}">
                <a16:creationId xmlns:a16="http://schemas.microsoft.com/office/drawing/2014/main" id="{EB47C5BD-F028-B747-B516-8F8B5713C8B8}"/>
              </a:ext>
            </a:extLst>
          </p:cNvPr>
          <p:cNvSpPr/>
          <p:nvPr/>
        </p:nvSpPr>
        <p:spPr>
          <a:xfrm>
            <a:off x="5444349" y="1272648"/>
            <a:ext cx="436923" cy="53401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400" y="19636"/>
                </a:moveTo>
                <a:cubicBezTo>
                  <a:pt x="20400" y="20178"/>
                  <a:pt x="19862" y="20617"/>
                  <a:pt x="19200" y="20617"/>
                </a:cubicBezTo>
                <a:lnTo>
                  <a:pt x="6000" y="20617"/>
                </a:lnTo>
                <a:lnTo>
                  <a:pt x="6000" y="982"/>
                </a:lnTo>
                <a:lnTo>
                  <a:pt x="13200" y="982"/>
                </a:lnTo>
                <a:lnTo>
                  <a:pt x="13200" y="6872"/>
                </a:lnTo>
                <a:lnTo>
                  <a:pt x="15600" y="4909"/>
                </a:lnTo>
                <a:lnTo>
                  <a:pt x="18000" y="6872"/>
                </a:lnTo>
                <a:lnTo>
                  <a:pt x="18000" y="982"/>
                </a:lnTo>
                <a:lnTo>
                  <a:pt x="19200" y="982"/>
                </a:lnTo>
                <a:cubicBezTo>
                  <a:pt x="19862" y="982"/>
                  <a:pt x="20400" y="1422"/>
                  <a:pt x="20400" y="1964"/>
                </a:cubicBezTo>
                <a:cubicBezTo>
                  <a:pt x="20400" y="1964"/>
                  <a:pt x="20400" y="19636"/>
                  <a:pt x="20400" y="19636"/>
                </a:cubicBezTo>
                <a:close/>
                <a:moveTo>
                  <a:pt x="4800" y="20617"/>
                </a:moveTo>
                <a:lnTo>
                  <a:pt x="2400" y="20617"/>
                </a:lnTo>
                <a:cubicBezTo>
                  <a:pt x="1738" y="20617"/>
                  <a:pt x="1200" y="20178"/>
                  <a:pt x="1200" y="19636"/>
                </a:cubicBezTo>
                <a:lnTo>
                  <a:pt x="1200" y="1964"/>
                </a:lnTo>
                <a:cubicBezTo>
                  <a:pt x="1200" y="1422"/>
                  <a:pt x="1738" y="982"/>
                  <a:pt x="2400" y="982"/>
                </a:cubicBezTo>
                <a:lnTo>
                  <a:pt x="4800" y="982"/>
                </a:lnTo>
                <a:cubicBezTo>
                  <a:pt x="4800" y="982"/>
                  <a:pt x="4800" y="20617"/>
                  <a:pt x="4800" y="20617"/>
                </a:cubicBezTo>
                <a:close/>
                <a:moveTo>
                  <a:pt x="14400" y="982"/>
                </a:moveTo>
                <a:lnTo>
                  <a:pt x="16800" y="982"/>
                </a:lnTo>
                <a:lnTo>
                  <a:pt x="16800" y="4418"/>
                </a:lnTo>
                <a:lnTo>
                  <a:pt x="15600" y="3436"/>
                </a:lnTo>
                <a:lnTo>
                  <a:pt x="14400" y="4418"/>
                </a:lnTo>
                <a:cubicBezTo>
                  <a:pt x="14400" y="4418"/>
                  <a:pt x="14400" y="982"/>
                  <a:pt x="14400" y="982"/>
                </a:cubicBezTo>
                <a:close/>
                <a:moveTo>
                  <a:pt x="19200" y="0"/>
                </a:moveTo>
                <a:lnTo>
                  <a:pt x="2400" y="0"/>
                </a:lnTo>
                <a:cubicBezTo>
                  <a:pt x="1075" y="0"/>
                  <a:pt x="0" y="879"/>
                  <a:pt x="0" y="1964"/>
                </a:cubicBezTo>
                <a:lnTo>
                  <a:pt x="0" y="19636"/>
                </a:lnTo>
                <a:cubicBezTo>
                  <a:pt x="0" y="20720"/>
                  <a:pt x="1075" y="21600"/>
                  <a:pt x="2400" y="21600"/>
                </a:cubicBezTo>
                <a:lnTo>
                  <a:pt x="19200" y="21600"/>
                </a:lnTo>
                <a:cubicBezTo>
                  <a:pt x="20525" y="21600"/>
                  <a:pt x="21600" y="20720"/>
                  <a:pt x="21600" y="19636"/>
                </a:cubicBezTo>
                <a:lnTo>
                  <a:pt x="21600" y="1964"/>
                </a:lnTo>
                <a:cubicBezTo>
                  <a:pt x="21600" y="879"/>
                  <a:pt x="20525" y="0"/>
                  <a:pt x="19200" y="0"/>
                </a:cubicBezTo>
              </a:path>
            </a:pathLst>
          </a:custGeom>
          <a:solidFill>
            <a:schemeClr val="bg1"/>
          </a:solidFill>
          <a:ln w="12700">
            <a:solidFill>
              <a:schemeClr val="bg1"/>
            </a:solidFill>
            <a:miter lim="400000"/>
          </a:ln>
        </p:spPr>
        <p:txBody>
          <a:bodyPr lIns="19045" tIns="19045" rIns="19045" bIns="19045" anchor="ctr"/>
          <a:lstStyle/>
          <a:p>
            <a:pPr defTabSz="228526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15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latin typeface="Gill Sans"/>
              <a:ea typeface="Calibri" charset="0"/>
              <a:cs typeface="Calibri" charset="0"/>
              <a:sym typeface="Gill Sans"/>
            </a:endParaRPr>
          </a:p>
        </p:txBody>
      </p:sp>
      <p:sp>
        <p:nvSpPr>
          <p:cNvPr id="20" name="Shape 2564">
            <a:extLst>
              <a:ext uri="{FF2B5EF4-FFF2-40B4-BE49-F238E27FC236}">
                <a16:creationId xmlns:a16="http://schemas.microsoft.com/office/drawing/2014/main" id="{7EB884E8-FEBF-D646-8D65-B0B2FE26DE73}"/>
              </a:ext>
            </a:extLst>
          </p:cNvPr>
          <p:cNvSpPr/>
          <p:nvPr/>
        </p:nvSpPr>
        <p:spPr>
          <a:xfrm>
            <a:off x="5407254" y="2396681"/>
            <a:ext cx="511112" cy="5111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9818" y="10800"/>
                </a:moveTo>
                <a:lnTo>
                  <a:pt x="11782" y="10800"/>
                </a:lnTo>
                <a:lnTo>
                  <a:pt x="11782" y="12764"/>
                </a:lnTo>
                <a:lnTo>
                  <a:pt x="9818" y="12764"/>
                </a:lnTo>
                <a:cubicBezTo>
                  <a:pt x="9818" y="12764"/>
                  <a:pt x="9818" y="10800"/>
                  <a:pt x="9818" y="10800"/>
                </a:cubicBezTo>
                <a:close/>
                <a:moveTo>
                  <a:pt x="9327" y="13745"/>
                </a:moveTo>
                <a:lnTo>
                  <a:pt x="12273" y="13745"/>
                </a:lnTo>
                <a:cubicBezTo>
                  <a:pt x="12544" y="13745"/>
                  <a:pt x="12764" y="13526"/>
                  <a:pt x="12764" y="13255"/>
                </a:cubicBezTo>
                <a:lnTo>
                  <a:pt x="12764" y="10309"/>
                </a:lnTo>
                <a:cubicBezTo>
                  <a:pt x="12764" y="10038"/>
                  <a:pt x="12544" y="9818"/>
                  <a:pt x="12273" y="9818"/>
                </a:cubicBezTo>
                <a:lnTo>
                  <a:pt x="9327" y="9818"/>
                </a:lnTo>
                <a:cubicBezTo>
                  <a:pt x="9056" y="9818"/>
                  <a:pt x="8836" y="10038"/>
                  <a:pt x="8836" y="10309"/>
                </a:cubicBezTo>
                <a:lnTo>
                  <a:pt x="8836" y="13255"/>
                </a:lnTo>
                <a:cubicBezTo>
                  <a:pt x="8836" y="13526"/>
                  <a:pt x="9056" y="13745"/>
                  <a:pt x="9327" y="13745"/>
                </a:cubicBezTo>
                <a:moveTo>
                  <a:pt x="14727" y="15709"/>
                </a:moveTo>
                <a:lnTo>
                  <a:pt x="16691" y="15709"/>
                </a:lnTo>
                <a:lnTo>
                  <a:pt x="16691" y="17673"/>
                </a:lnTo>
                <a:lnTo>
                  <a:pt x="14727" y="17673"/>
                </a:lnTo>
                <a:cubicBezTo>
                  <a:pt x="14727" y="17673"/>
                  <a:pt x="14727" y="15709"/>
                  <a:pt x="14727" y="15709"/>
                </a:cubicBezTo>
                <a:close/>
                <a:moveTo>
                  <a:pt x="14236" y="18655"/>
                </a:moveTo>
                <a:lnTo>
                  <a:pt x="17182" y="18655"/>
                </a:lnTo>
                <a:cubicBezTo>
                  <a:pt x="17453" y="18655"/>
                  <a:pt x="17673" y="18435"/>
                  <a:pt x="17673" y="18164"/>
                </a:cubicBezTo>
                <a:lnTo>
                  <a:pt x="17673" y="15218"/>
                </a:lnTo>
                <a:cubicBezTo>
                  <a:pt x="17673" y="14947"/>
                  <a:pt x="17453" y="14727"/>
                  <a:pt x="17182" y="14727"/>
                </a:cubicBezTo>
                <a:lnTo>
                  <a:pt x="14236" y="14727"/>
                </a:lnTo>
                <a:cubicBezTo>
                  <a:pt x="13965" y="14727"/>
                  <a:pt x="13745" y="14947"/>
                  <a:pt x="13745" y="15218"/>
                </a:cubicBezTo>
                <a:lnTo>
                  <a:pt x="13745" y="18164"/>
                </a:lnTo>
                <a:cubicBezTo>
                  <a:pt x="13745" y="18435"/>
                  <a:pt x="13965" y="18655"/>
                  <a:pt x="14236" y="18655"/>
                </a:cubicBezTo>
                <a:moveTo>
                  <a:pt x="9818" y="5891"/>
                </a:moveTo>
                <a:lnTo>
                  <a:pt x="11782" y="5891"/>
                </a:lnTo>
                <a:lnTo>
                  <a:pt x="11782" y="7855"/>
                </a:lnTo>
                <a:lnTo>
                  <a:pt x="9818" y="7855"/>
                </a:lnTo>
                <a:cubicBezTo>
                  <a:pt x="9818" y="7855"/>
                  <a:pt x="9818" y="5891"/>
                  <a:pt x="9818" y="5891"/>
                </a:cubicBezTo>
                <a:close/>
                <a:moveTo>
                  <a:pt x="9327" y="8836"/>
                </a:moveTo>
                <a:lnTo>
                  <a:pt x="12273" y="8836"/>
                </a:lnTo>
                <a:cubicBezTo>
                  <a:pt x="12544" y="8836"/>
                  <a:pt x="12764" y="8617"/>
                  <a:pt x="12764" y="8345"/>
                </a:cubicBezTo>
                <a:lnTo>
                  <a:pt x="12764" y="5400"/>
                </a:lnTo>
                <a:cubicBezTo>
                  <a:pt x="12764" y="5129"/>
                  <a:pt x="12544" y="4909"/>
                  <a:pt x="12273" y="4909"/>
                </a:cubicBezTo>
                <a:lnTo>
                  <a:pt x="9327" y="4909"/>
                </a:lnTo>
                <a:cubicBezTo>
                  <a:pt x="9056" y="4909"/>
                  <a:pt x="8836" y="5129"/>
                  <a:pt x="8836" y="5400"/>
                </a:cubicBezTo>
                <a:lnTo>
                  <a:pt x="8836" y="8345"/>
                </a:lnTo>
                <a:cubicBezTo>
                  <a:pt x="8836" y="8617"/>
                  <a:pt x="9056" y="8836"/>
                  <a:pt x="9327" y="8836"/>
                </a:cubicBezTo>
                <a:moveTo>
                  <a:pt x="4909" y="15709"/>
                </a:moveTo>
                <a:lnTo>
                  <a:pt x="6873" y="15709"/>
                </a:lnTo>
                <a:lnTo>
                  <a:pt x="6873" y="17673"/>
                </a:lnTo>
                <a:lnTo>
                  <a:pt x="4909" y="17673"/>
                </a:lnTo>
                <a:cubicBezTo>
                  <a:pt x="4909" y="17673"/>
                  <a:pt x="4909" y="15709"/>
                  <a:pt x="4909" y="15709"/>
                </a:cubicBezTo>
                <a:close/>
                <a:moveTo>
                  <a:pt x="4418" y="18655"/>
                </a:moveTo>
                <a:lnTo>
                  <a:pt x="7364" y="18655"/>
                </a:lnTo>
                <a:cubicBezTo>
                  <a:pt x="7635" y="18655"/>
                  <a:pt x="7855" y="18435"/>
                  <a:pt x="7855" y="18164"/>
                </a:cubicBezTo>
                <a:lnTo>
                  <a:pt x="7855" y="15218"/>
                </a:lnTo>
                <a:cubicBezTo>
                  <a:pt x="7855" y="14947"/>
                  <a:pt x="7635" y="14727"/>
                  <a:pt x="7364" y="14727"/>
                </a:cubicBezTo>
                <a:lnTo>
                  <a:pt x="4418" y="14727"/>
                </a:lnTo>
                <a:cubicBezTo>
                  <a:pt x="4147" y="14727"/>
                  <a:pt x="3927" y="14947"/>
                  <a:pt x="3927" y="15218"/>
                </a:cubicBezTo>
                <a:lnTo>
                  <a:pt x="3927" y="18164"/>
                </a:lnTo>
                <a:cubicBezTo>
                  <a:pt x="3927" y="18435"/>
                  <a:pt x="4147" y="18655"/>
                  <a:pt x="4418" y="18655"/>
                </a:cubicBezTo>
                <a:moveTo>
                  <a:pt x="14727" y="10800"/>
                </a:moveTo>
                <a:lnTo>
                  <a:pt x="16691" y="10800"/>
                </a:lnTo>
                <a:lnTo>
                  <a:pt x="16691" y="12764"/>
                </a:lnTo>
                <a:lnTo>
                  <a:pt x="14727" y="12764"/>
                </a:lnTo>
                <a:cubicBezTo>
                  <a:pt x="14727" y="12764"/>
                  <a:pt x="14727" y="10800"/>
                  <a:pt x="14727" y="10800"/>
                </a:cubicBezTo>
                <a:close/>
                <a:moveTo>
                  <a:pt x="14236" y="13745"/>
                </a:moveTo>
                <a:lnTo>
                  <a:pt x="17182" y="13745"/>
                </a:lnTo>
                <a:cubicBezTo>
                  <a:pt x="17453" y="13745"/>
                  <a:pt x="17673" y="13526"/>
                  <a:pt x="17673" y="13255"/>
                </a:cubicBezTo>
                <a:lnTo>
                  <a:pt x="17673" y="10309"/>
                </a:lnTo>
                <a:cubicBezTo>
                  <a:pt x="17673" y="10038"/>
                  <a:pt x="17453" y="9818"/>
                  <a:pt x="17182" y="9818"/>
                </a:cubicBezTo>
                <a:lnTo>
                  <a:pt x="14236" y="9818"/>
                </a:lnTo>
                <a:cubicBezTo>
                  <a:pt x="13965" y="9818"/>
                  <a:pt x="13745" y="10038"/>
                  <a:pt x="13745" y="10309"/>
                </a:cubicBezTo>
                <a:lnTo>
                  <a:pt x="13745" y="13255"/>
                </a:lnTo>
                <a:cubicBezTo>
                  <a:pt x="13745" y="13526"/>
                  <a:pt x="13965" y="13745"/>
                  <a:pt x="14236" y="13745"/>
                </a:cubicBezTo>
                <a:moveTo>
                  <a:pt x="4909" y="10800"/>
                </a:moveTo>
                <a:lnTo>
                  <a:pt x="6873" y="10800"/>
                </a:lnTo>
                <a:lnTo>
                  <a:pt x="6873" y="12764"/>
                </a:lnTo>
                <a:lnTo>
                  <a:pt x="4909" y="12764"/>
                </a:lnTo>
                <a:cubicBezTo>
                  <a:pt x="4909" y="12764"/>
                  <a:pt x="4909" y="10800"/>
                  <a:pt x="4909" y="10800"/>
                </a:cubicBezTo>
                <a:close/>
                <a:moveTo>
                  <a:pt x="4418" y="13745"/>
                </a:moveTo>
                <a:lnTo>
                  <a:pt x="7364" y="13745"/>
                </a:lnTo>
                <a:cubicBezTo>
                  <a:pt x="7635" y="13745"/>
                  <a:pt x="7855" y="13526"/>
                  <a:pt x="7855" y="13255"/>
                </a:cubicBezTo>
                <a:lnTo>
                  <a:pt x="7855" y="10309"/>
                </a:lnTo>
                <a:cubicBezTo>
                  <a:pt x="7855" y="10038"/>
                  <a:pt x="7635" y="9818"/>
                  <a:pt x="7364" y="9818"/>
                </a:cubicBezTo>
                <a:lnTo>
                  <a:pt x="4418" y="9818"/>
                </a:lnTo>
                <a:cubicBezTo>
                  <a:pt x="4147" y="9818"/>
                  <a:pt x="3927" y="10038"/>
                  <a:pt x="3927" y="10309"/>
                </a:cubicBezTo>
                <a:lnTo>
                  <a:pt x="3927" y="13255"/>
                </a:lnTo>
                <a:cubicBezTo>
                  <a:pt x="3927" y="13526"/>
                  <a:pt x="4147" y="13745"/>
                  <a:pt x="4418" y="13745"/>
                </a:cubicBezTo>
                <a:moveTo>
                  <a:pt x="4909" y="5891"/>
                </a:moveTo>
                <a:lnTo>
                  <a:pt x="6873" y="5891"/>
                </a:lnTo>
                <a:lnTo>
                  <a:pt x="6873" y="7855"/>
                </a:lnTo>
                <a:lnTo>
                  <a:pt x="4909" y="7855"/>
                </a:lnTo>
                <a:cubicBezTo>
                  <a:pt x="4909" y="7855"/>
                  <a:pt x="4909" y="5891"/>
                  <a:pt x="4909" y="5891"/>
                </a:cubicBezTo>
                <a:close/>
                <a:moveTo>
                  <a:pt x="4418" y="8836"/>
                </a:moveTo>
                <a:lnTo>
                  <a:pt x="7364" y="8836"/>
                </a:lnTo>
                <a:cubicBezTo>
                  <a:pt x="7635" y="8836"/>
                  <a:pt x="7855" y="8617"/>
                  <a:pt x="7855" y="8345"/>
                </a:cubicBezTo>
                <a:lnTo>
                  <a:pt x="7855" y="5400"/>
                </a:lnTo>
                <a:cubicBezTo>
                  <a:pt x="7855" y="5129"/>
                  <a:pt x="7635" y="4909"/>
                  <a:pt x="7364" y="4909"/>
                </a:cubicBezTo>
                <a:lnTo>
                  <a:pt x="4418" y="4909"/>
                </a:lnTo>
                <a:cubicBezTo>
                  <a:pt x="4147" y="4909"/>
                  <a:pt x="3927" y="5129"/>
                  <a:pt x="3927" y="5400"/>
                </a:cubicBezTo>
                <a:lnTo>
                  <a:pt x="3927" y="8345"/>
                </a:lnTo>
                <a:cubicBezTo>
                  <a:pt x="3927" y="8617"/>
                  <a:pt x="4147" y="8836"/>
                  <a:pt x="4418" y="8836"/>
                </a:cubicBezTo>
                <a:moveTo>
                  <a:pt x="14727" y="5891"/>
                </a:moveTo>
                <a:lnTo>
                  <a:pt x="16691" y="5891"/>
                </a:lnTo>
                <a:lnTo>
                  <a:pt x="16691" y="7855"/>
                </a:lnTo>
                <a:lnTo>
                  <a:pt x="14727" y="7855"/>
                </a:lnTo>
                <a:cubicBezTo>
                  <a:pt x="14727" y="7855"/>
                  <a:pt x="14727" y="5891"/>
                  <a:pt x="14727" y="5891"/>
                </a:cubicBezTo>
                <a:close/>
                <a:moveTo>
                  <a:pt x="14236" y="8836"/>
                </a:moveTo>
                <a:lnTo>
                  <a:pt x="17182" y="8836"/>
                </a:lnTo>
                <a:cubicBezTo>
                  <a:pt x="17453" y="8836"/>
                  <a:pt x="17673" y="8617"/>
                  <a:pt x="17673" y="8345"/>
                </a:cubicBezTo>
                <a:lnTo>
                  <a:pt x="17673" y="5400"/>
                </a:lnTo>
                <a:cubicBezTo>
                  <a:pt x="17673" y="5129"/>
                  <a:pt x="17453" y="4909"/>
                  <a:pt x="17182" y="4909"/>
                </a:cubicBezTo>
                <a:lnTo>
                  <a:pt x="14236" y="4909"/>
                </a:lnTo>
                <a:cubicBezTo>
                  <a:pt x="13965" y="4909"/>
                  <a:pt x="13745" y="5129"/>
                  <a:pt x="13745" y="5400"/>
                </a:cubicBezTo>
                <a:lnTo>
                  <a:pt x="13745" y="8345"/>
                </a:lnTo>
                <a:cubicBezTo>
                  <a:pt x="13745" y="8617"/>
                  <a:pt x="13965" y="8836"/>
                  <a:pt x="14236" y="8836"/>
                </a:cubicBezTo>
                <a:moveTo>
                  <a:pt x="19636" y="1964"/>
                </a:moveTo>
                <a:lnTo>
                  <a:pt x="1964" y="1964"/>
                </a:lnTo>
                <a:lnTo>
                  <a:pt x="1964" y="982"/>
                </a:lnTo>
                <a:lnTo>
                  <a:pt x="19636" y="982"/>
                </a:lnTo>
                <a:cubicBezTo>
                  <a:pt x="19636" y="982"/>
                  <a:pt x="19636" y="1964"/>
                  <a:pt x="19636" y="1964"/>
                </a:cubicBezTo>
                <a:close/>
                <a:moveTo>
                  <a:pt x="19636" y="20618"/>
                </a:moveTo>
                <a:lnTo>
                  <a:pt x="12764" y="20618"/>
                </a:lnTo>
                <a:lnTo>
                  <a:pt x="12764" y="15218"/>
                </a:lnTo>
                <a:cubicBezTo>
                  <a:pt x="12764" y="14947"/>
                  <a:pt x="12544" y="14727"/>
                  <a:pt x="12273" y="14727"/>
                </a:cubicBezTo>
                <a:lnTo>
                  <a:pt x="9327" y="14727"/>
                </a:lnTo>
                <a:cubicBezTo>
                  <a:pt x="9056" y="14727"/>
                  <a:pt x="8836" y="14947"/>
                  <a:pt x="8836" y="15218"/>
                </a:cubicBezTo>
                <a:lnTo>
                  <a:pt x="8836" y="20618"/>
                </a:lnTo>
                <a:lnTo>
                  <a:pt x="1964" y="20618"/>
                </a:lnTo>
                <a:lnTo>
                  <a:pt x="1964" y="2945"/>
                </a:lnTo>
                <a:lnTo>
                  <a:pt x="19636" y="2945"/>
                </a:lnTo>
                <a:cubicBezTo>
                  <a:pt x="19636" y="2945"/>
                  <a:pt x="19636" y="20618"/>
                  <a:pt x="19636" y="20618"/>
                </a:cubicBezTo>
                <a:close/>
                <a:moveTo>
                  <a:pt x="11782" y="20618"/>
                </a:moveTo>
                <a:lnTo>
                  <a:pt x="9818" y="20618"/>
                </a:lnTo>
                <a:lnTo>
                  <a:pt x="9818" y="15709"/>
                </a:lnTo>
                <a:lnTo>
                  <a:pt x="11782" y="15709"/>
                </a:lnTo>
                <a:cubicBezTo>
                  <a:pt x="11782" y="15709"/>
                  <a:pt x="11782" y="20618"/>
                  <a:pt x="11782" y="20618"/>
                </a:cubicBezTo>
                <a:close/>
                <a:moveTo>
                  <a:pt x="21109" y="1964"/>
                </a:moveTo>
                <a:lnTo>
                  <a:pt x="20618" y="1964"/>
                </a:lnTo>
                <a:lnTo>
                  <a:pt x="20618" y="491"/>
                </a:lnTo>
                <a:cubicBezTo>
                  <a:pt x="20618" y="220"/>
                  <a:pt x="20399" y="0"/>
                  <a:pt x="20127" y="0"/>
                </a:cubicBezTo>
                <a:lnTo>
                  <a:pt x="1473" y="0"/>
                </a:lnTo>
                <a:cubicBezTo>
                  <a:pt x="1201" y="0"/>
                  <a:pt x="982" y="220"/>
                  <a:pt x="982" y="491"/>
                </a:cubicBezTo>
                <a:lnTo>
                  <a:pt x="982" y="1964"/>
                </a:lnTo>
                <a:lnTo>
                  <a:pt x="491" y="1964"/>
                </a:lnTo>
                <a:cubicBezTo>
                  <a:pt x="220" y="1964"/>
                  <a:pt x="0" y="2184"/>
                  <a:pt x="0" y="2455"/>
                </a:cubicBezTo>
                <a:cubicBezTo>
                  <a:pt x="0" y="2726"/>
                  <a:pt x="220" y="2945"/>
                  <a:pt x="491" y="2945"/>
                </a:cubicBezTo>
                <a:lnTo>
                  <a:pt x="982" y="2945"/>
                </a:lnTo>
                <a:lnTo>
                  <a:pt x="982" y="21109"/>
                </a:lnTo>
                <a:cubicBezTo>
                  <a:pt x="982" y="21381"/>
                  <a:pt x="1201" y="21600"/>
                  <a:pt x="1473" y="21600"/>
                </a:cubicBezTo>
                <a:lnTo>
                  <a:pt x="20127" y="21600"/>
                </a:lnTo>
                <a:cubicBezTo>
                  <a:pt x="20399" y="21600"/>
                  <a:pt x="20618" y="21381"/>
                  <a:pt x="20618" y="21109"/>
                </a:cubicBezTo>
                <a:lnTo>
                  <a:pt x="20618" y="2945"/>
                </a:lnTo>
                <a:lnTo>
                  <a:pt x="21109" y="2945"/>
                </a:lnTo>
                <a:cubicBezTo>
                  <a:pt x="21380" y="2945"/>
                  <a:pt x="21600" y="2726"/>
                  <a:pt x="21600" y="2455"/>
                </a:cubicBezTo>
                <a:cubicBezTo>
                  <a:pt x="21600" y="2184"/>
                  <a:pt x="21380" y="1964"/>
                  <a:pt x="21109" y="1964"/>
                </a:cubicBezTo>
              </a:path>
            </a:pathLst>
          </a:custGeom>
          <a:solidFill>
            <a:schemeClr val="bg1"/>
          </a:solidFill>
          <a:ln w="12700">
            <a:solidFill>
              <a:schemeClr val="bg1"/>
            </a:solidFill>
            <a:miter lim="400000"/>
          </a:ln>
        </p:spPr>
        <p:txBody>
          <a:bodyPr lIns="19045" tIns="19045" rIns="19045" bIns="19045" anchor="ctr"/>
          <a:lstStyle/>
          <a:p>
            <a:pPr defTabSz="228526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15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latin typeface="Gill Sans"/>
              <a:ea typeface="Calibri" charset="0"/>
              <a:cs typeface="Calibri" charset="0"/>
              <a:sym typeface="Gill Sans"/>
            </a:endParaRPr>
          </a:p>
        </p:txBody>
      </p:sp>
      <p:sp>
        <p:nvSpPr>
          <p:cNvPr id="24" name="Shape 2538">
            <a:extLst>
              <a:ext uri="{FF2B5EF4-FFF2-40B4-BE49-F238E27FC236}">
                <a16:creationId xmlns:a16="http://schemas.microsoft.com/office/drawing/2014/main" id="{07449BE2-A8F2-B643-B996-5CEDCB103ADB}"/>
              </a:ext>
            </a:extLst>
          </p:cNvPr>
          <p:cNvSpPr/>
          <p:nvPr/>
        </p:nvSpPr>
        <p:spPr>
          <a:xfrm>
            <a:off x="5436885" y="3497809"/>
            <a:ext cx="459098" cy="56112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400" y="5891"/>
                </a:moveTo>
                <a:lnTo>
                  <a:pt x="1200" y="5891"/>
                </a:lnTo>
                <a:lnTo>
                  <a:pt x="1200" y="3927"/>
                </a:lnTo>
                <a:lnTo>
                  <a:pt x="6000" y="3927"/>
                </a:lnTo>
                <a:cubicBezTo>
                  <a:pt x="6000" y="4469"/>
                  <a:pt x="6538" y="4909"/>
                  <a:pt x="7200" y="4909"/>
                </a:cubicBezTo>
                <a:lnTo>
                  <a:pt x="14400" y="4909"/>
                </a:lnTo>
                <a:cubicBezTo>
                  <a:pt x="15062" y="4909"/>
                  <a:pt x="15600" y="4469"/>
                  <a:pt x="15600" y="3927"/>
                </a:cubicBezTo>
                <a:lnTo>
                  <a:pt x="20400" y="3927"/>
                </a:lnTo>
                <a:cubicBezTo>
                  <a:pt x="20400" y="3927"/>
                  <a:pt x="20400" y="5891"/>
                  <a:pt x="20400" y="5891"/>
                </a:cubicBezTo>
                <a:close/>
                <a:moveTo>
                  <a:pt x="20400" y="20618"/>
                </a:moveTo>
                <a:lnTo>
                  <a:pt x="1200" y="20618"/>
                </a:lnTo>
                <a:lnTo>
                  <a:pt x="1200" y="6873"/>
                </a:lnTo>
                <a:lnTo>
                  <a:pt x="20400" y="6873"/>
                </a:lnTo>
                <a:cubicBezTo>
                  <a:pt x="20400" y="6873"/>
                  <a:pt x="20400" y="20618"/>
                  <a:pt x="20400" y="20618"/>
                </a:cubicBezTo>
                <a:close/>
                <a:moveTo>
                  <a:pt x="7200" y="1964"/>
                </a:moveTo>
                <a:lnTo>
                  <a:pt x="14400" y="1964"/>
                </a:lnTo>
                <a:lnTo>
                  <a:pt x="14400" y="3927"/>
                </a:lnTo>
                <a:lnTo>
                  <a:pt x="7200" y="3927"/>
                </a:lnTo>
                <a:cubicBezTo>
                  <a:pt x="7200" y="3927"/>
                  <a:pt x="7200" y="1964"/>
                  <a:pt x="7200" y="1964"/>
                </a:cubicBezTo>
                <a:close/>
                <a:moveTo>
                  <a:pt x="20400" y="2945"/>
                </a:moveTo>
                <a:lnTo>
                  <a:pt x="15600" y="2945"/>
                </a:lnTo>
                <a:lnTo>
                  <a:pt x="15600" y="1964"/>
                </a:lnTo>
                <a:cubicBezTo>
                  <a:pt x="15600" y="1422"/>
                  <a:pt x="15062" y="982"/>
                  <a:pt x="14400" y="982"/>
                </a:cubicBezTo>
                <a:lnTo>
                  <a:pt x="12000" y="982"/>
                </a:lnTo>
                <a:cubicBezTo>
                  <a:pt x="12000" y="440"/>
                  <a:pt x="11462" y="0"/>
                  <a:pt x="10800" y="0"/>
                </a:cubicBezTo>
                <a:cubicBezTo>
                  <a:pt x="10138" y="0"/>
                  <a:pt x="9600" y="440"/>
                  <a:pt x="9600" y="982"/>
                </a:cubicBezTo>
                <a:lnTo>
                  <a:pt x="7200" y="982"/>
                </a:lnTo>
                <a:cubicBezTo>
                  <a:pt x="6538" y="982"/>
                  <a:pt x="6000" y="1422"/>
                  <a:pt x="6000" y="1964"/>
                </a:cubicBezTo>
                <a:lnTo>
                  <a:pt x="6000" y="2945"/>
                </a:lnTo>
                <a:lnTo>
                  <a:pt x="1200" y="2945"/>
                </a:lnTo>
                <a:cubicBezTo>
                  <a:pt x="538" y="2945"/>
                  <a:pt x="0" y="3386"/>
                  <a:pt x="0" y="3927"/>
                </a:cubicBezTo>
                <a:lnTo>
                  <a:pt x="0" y="20618"/>
                </a:lnTo>
                <a:cubicBezTo>
                  <a:pt x="0" y="21160"/>
                  <a:pt x="538" y="21600"/>
                  <a:pt x="1200" y="21600"/>
                </a:cubicBezTo>
                <a:lnTo>
                  <a:pt x="20400" y="21600"/>
                </a:lnTo>
                <a:cubicBezTo>
                  <a:pt x="21062" y="21600"/>
                  <a:pt x="21600" y="21160"/>
                  <a:pt x="21600" y="20618"/>
                </a:cubicBezTo>
                <a:lnTo>
                  <a:pt x="21600" y="3927"/>
                </a:lnTo>
                <a:cubicBezTo>
                  <a:pt x="21600" y="3386"/>
                  <a:pt x="21062" y="2945"/>
                  <a:pt x="20400" y="2945"/>
                </a:cubicBezTo>
                <a:moveTo>
                  <a:pt x="4200" y="16691"/>
                </a:moveTo>
                <a:lnTo>
                  <a:pt x="15000" y="16691"/>
                </a:lnTo>
                <a:cubicBezTo>
                  <a:pt x="15331" y="16691"/>
                  <a:pt x="15600" y="16472"/>
                  <a:pt x="15600" y="16200"/>
                </a:cubicBezTo>
                <a:cubicBezTo>
                  <a:pt x="15600" y="15929"/>
                  <a:pt x="15331" y="15709"/>
                  <a:pt x="15000" y="15709"/>
                </a:cubicBezTo>
                <a:lnTo>
                  <a:pt x="4200" y="15709"/>
                </a:lnTo>
                <a:cubicBezTo>
                  <a:pt x="3869" y="15709"/>
                  <a:pt x="3600" y="15929"/>
                  <a:pt x="3600" y="16200"/>
                </a:cubicBezTo>
                <a:cubicBezTo>
                  <a:pt x="3600" y="16472"/>
                  <a:pt x="3869" y="16691"/>
                  <a:pt x="4200" y="16691"/>
                </a:cubicBezTo>
                <a:moveTo>
                  <a:pt x="4200" y="13745"/>
                </a:moveTo>
                <a:lnTo>
                  <a:pt x="17400" y="13745"/>
                </a:lnTo>
                <a:cubicBezTo>
                  <a:pt x="17731" y="13745"/>
                  <a:pt x="18000" y="13526"/>
                  <a:pt x="18000" y="13255"/>
                </a:cubicBezTo>
                <a:cubicBezTo>
                  <a:pt x="18000" y="12984"/>
                  <a:pt x="17731" y="12764"/>
                  <a:pt x="17400" y="12764"/>
                </a:cubicBezTo>
                <a:lnTo>
                  <a:pt x="4200" y="12764"/>
                </a:lnTo>
                <a:cubicBezTo>
                  <a:pt x="3869" y="12764"/>
                  <a:pt x="3600" y="12984"/>
                  <a:pt x="3600" y="13255"/>
                </a:cubicBezTo>
                <a:cubicBezTo>
                  <a:pt x="3600" y="13526"/>
                  <a:pt x="3869" y="13745"/>
                  <a:pt x="4200" y="13745"/>
                </a:cubicBezTo>
                <a:moveTo>
                  <a:pt x="4200" y="10800"/>
                </a:moveTo>
                <a:lnTo>
                  <a:pt x="11400" y="10800"/>
                </a:lnTo>
                <a:cubicBezTo>
                  <a:pt x="11731" y="10800"/>
                  <a:pt x="12000" y="10581"/>
                  <a:pt x="12000" y="10309"/>
                </a:cubicBezTo>
                <a:cubicBezTo>
                  <a:pt x="12000" y="10038"/>
                  <a:pt x="11731" y="9818"/>
                  <a:pt x="11400" y="9818"/>
                </a:cubicBezTo>
                <a:lnTo>
                  <a:pt x="4200" y="9818"/>
                </a:lnTo>
                <a:cubicBezTo>
                  <a:pt x="3869" y="9818"/>
                  <a:pt x="3600" y="10038"/>
                  <a:pt x="3600" y="10309"/>
                </a:cubicBezTo>
                <a:cubicBezTo>
                  <a:pt x="3600" y="10581"/>
                  <a:pt x="3869" y="10800"/>
                  <a:pt x="4200" y="10800"/>
                </a:cubicBezTo>
              </a:path>
            </a:pathLst>
          </a:custGeom>
          <a:solidFill>
            <a:schemeClr val="bg1"/>
          </a:solidFill>
          <a:ln w="12700">
            <a:solidFill>
              <a:schemeClr val="bg1"/>
            </a:solidFill>
            <a:miter lim="400000"/>
          </a:ln>
        </p:spPr>
        <p:txBody>
          <a:bodyPr lIns="19045" tIns="19045" rIns="19045" bIns="19045" anchor="ctr"/>
          <a:lstStyle/>
          <a:p>
            <a:pPr defTabSz="228526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15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latin typeface="Gill Sans"/>
              <a:ea typeface="Calibri" charset="0"/>
              <a:cs typeface="Calibri" charset="0"/>
              <a:sym typeface="Gill Sans"/>
            </a:endParaRPr>
          </a:p>
        </p:txBody>
      </p:sp>
      <p:pic>
        <p:nvPicPr>
          <p:cNvPr id="25" name="Рисунок 24" descr="Одна шестеренка">
            <a:extLst>
              <a:ext uri="{FF2B5EF4-FFF2-40B4-BE49-F238E27FC236}">
                <a16:creationId xmlns:a16="http://schemas.microsoft.com/office/drawing/2014/main" id="{DF75B43F-A76E-6C9D-0817-C5EA2850EEB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xmlns="" r:embed="rId11"/>
              </a:ext>
            </a:extLst>
          </a:blip>
          <a:stretch>
            <a:fillRect/>
          </a:stretch>
        </p:blipFill>
        <p:spPr>
          <a:xfrm>
            <a:off x="5327674" y="4617800"/>
            <a:ext cx="658287" cy="658287"/>
          </a:xfrm>
          <a:prstGeom prst="rect">
            <a:avLst/>
          </a:prstGeom>
        </p:spPr>
      </p:pic>
      <p:pic>
        <p:nvPicPr>
          <p:cNvPr id="26" name="Рисунок 25" descr="Исследование">
            <a:extLst>
              <a:ext uri="{FF2B5EF4-FFF2-40B4-BE49-F238E27FC236}">
                <a16:creationId xmlns:a16="http://schemas.microsoft.com/office/drawing/2014/main" id="{2F21505A-EA7E-71AC-8EEA-98E8247DD91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xmlns="" r:embed="rId13"/>
              </a:ext>
            </a:extLst>
          </a:blip>
          <a:stretch>
            <a:fillRect/>
          </a:stretch>
        </p:blipFill>
        <p:spPr>
          <a:xfrm>
            <a:off x="5383546" y="5768936"/>
            <a:ext cx="602415" cy="602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07295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9CA8C-E8D0-CA67-ACB1-468BFAE71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079E5E9-341A-934C-B63C-39D6E0EBE68A}"/>
              </a:ext>
            </a:extLst>
          </p:cNvPr>
          <p:cNvSpPr txBox="1"/>
          <p:nvPr/>
        </p:nvSpPr>
        <p:spPr>
          <a:xfrm>
            <a:off x="4179794" y="273858"/>
            <a:ext cx="55851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 smtClean="0">
                <a:solidFill>
                  <a:srgbClr val="274E9C"/>
                </a:solidFill>
                <a:latin typeface="Inter Variable Text Medium" panose="02000503000000020004" pitchFamily="2" charset="0"/>
                <a:ea typeface="Inter Variable Text Medium" panose="02000503000000020004" pitchFamily="2" charset="0"/>
                <a:cs typeface="Inter Variable Text Medium" panose="02000503000000020004" pitchFamily="2" charset="0"/>
              </a:rPr>
              <a:t>ПАО СК «Росгосстрах»</a:t>
            </a:r>
            <a:endParaRPr lang="ru-RU" sz="3600" dirty="0">
              <a:solidFill>
                <a:srgbClr val="274E9C"/>
              </a:solidFill>
              <a:latin typeface="Inter Variable Text Medium" panose="02000503000000020004" pitchFamily="2" charset="0"/>
              <a:ea typeface="Inter Variable Text Medium" panose="02000503000000020004" pitchFamily="2" charset="0"/>
              <a:cs typeface="Inter Variable Text Medium" panose="02000503000000020004" pitchFamily="2" charset="0"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8B06BEAF-306F-5AB4-1249-32A40BC992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grpSp>
        <p:nvGrpSpPr>
          <p:cNvPr id="32" name="Группа 31">
            <a:extLst>
              <a:ext uri="{FF2B5EF4-FFF2-40B4-BE49-F238E27FC236}">
                <a16:creationId xmlns:a16="http://schemas.microsoft.com/office/drawing/2014/main" id="{869F90AB-5735-7F50-0EBD-CC3A89330D8C}"/>
              </a:ext>
            </a:extLst>
          </p:cNvPr>
          <p:cNvGrpSpPr/>
          <p:nvPr/>
        </p:nvGrpSpPr>
        <p:grpSpPr>
          <a:xfrm>
            <a:off x="11641128" y="6312477"/>
            <a:ext cx="490760" cy="490760"/>
            <a:chOff x="11383518" y="6084717"/>
            <a:chExt cx="618259" cy="618259"/>
          </a:xfrm>
        </p:grpSpPr>
        <p:sp>
          <p:nvSpPr>
            <p:cNvPr id="30" name="Прямоугольник: скругленные углы 29">
              <a:extLst>
                <a:ext uri="{FF2B5EF4-FFF2-40B4-BE49-F238E27FC236}">
                  <a16:creationId xmlns:a16="http://schemas.microsoft.com/office/drawing/2014/main" id="{58CF9463-A938-00E1-CB8B-930897804B5B}"/>
                </a:ext>
              </a:extLst>
            </p:cNvPr>
            <p:cNvSpPr/>
            <p:nvPr/>
          </p:nvSpPr>
          <p:spPr>
            <a:xfrm>
              <a:off x="11383518" y="6084717"/>
              <a:ext cx="618259" cy="618259"/>
            </a:xfrm>
            <a:prstGeom prst="roundRect">
              <a:avLst/>
            </a:prstGeom>
            <a:solidFill>
              <a:srgbClr val="1A3773"/>
            </a:solidFill>
            <a:ln>
              <a:solidFill>
                <a:srgbClr val="1A3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CAEE406-3186-9523-B123-A3C59D5340DC}"/>
                </a:ext>
              </a:extLst>
            </p:cNvPr>
            <p:cNvSpPr txBox="1"/>
            <p:nvPr/>
          </p:nvSpPr>
          <p:spPr>
            <a:xfrm>
              <a:off x="11508348" y="6199977"/>
              <a:ext cx="368600" cy="38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/>
                  </a:solidFill>
                  <a:latin typeface="Inter Variable Text" panose="02000503000000020004" pitchFamily="2" charset="0"/>
                  <a:ea typeface="Inter Variable Text" panose="02000503000000020004" pitchFamily="2" charset="0"/>
                  <a:cs typeface="Inter Variable Text" panose="02000503000000020004" pitchFamily="2" charset="0"/>
                </a:rPr>
                <a:t>3</a:t>
              </a:r>
              <a:endParaRPr lang="en-US" sz="1400" dirty="0">
                <a:solidFill>
                  <a:schemeClr val="bg1"/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C152CECF-A242-7004-3B18-4A4F5198EC44}"/>
              </a:ext>
            </a:extLst>
          </p:cNvPr>
          <p:cNvSpPr txBox="1"/>
          <p:nvPr/>
        </p:nvSpPr>
        <p:spPr>
          <a:xfrm>
            <a:off x="379143" y="1874104"/>
            <a:ext cx="1136107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447675"/>
            <a:r>
              <a:rPr lang="ru-RU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rPr>
              <a:t>ПАО СК «Росгосстрах» является системообразующей страховой компанией Российской Федерации, обладающей титулом одного из крупнейших страховщиков. </a:t>
            </a:r>
            <a:endParaRPr lang="ru-RU" sz="2800" dirty="0">
              <a:solidFill>
                <a:schemeClr val="tx1">
                  <a:lumMod val="85000"/>
                  <a:lumOff val="15000"/>
                </a:schemeClr>
              </a:solidFill>
              <a:latin typeface="Inter Variable Text" panose="02000503000000020004" pitchFamily="2" charset="0"/>
              <a:ea typeface="Inter Variable Text" panose="02000503000000020004" pitchFamily="2" charset="0"/>
              <a:cs typeface="Inter Variable Text" panose="02000503000000020004" pitchFamily="2" charset="0"/>
            </a:endParaRPr>
          </a:p>
        </p:txBody>
      </p:sp>
      <p:pic>
        <p:nvPicPr>
          <p:cNvPr id="8" name="Picture 2" descr="https://a.d-cd.net/4e7952es-1920.jpg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" t="-205" r="-334" b="1"/>
          <a:stretch/>
        </p:blipFill>
        <p:spPr bwMode="auto">
          <a:xfrm>
            <a:off x="8636640" y="4282974"/>
            <a:ext cx="3249868" cy="1435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Shape 2617">
            <a:extLst>
              <a:ext uri="{FF2B5EF4-FFF2-40B4-BE49-F238E27FC236}">
                <a16:creationId xmlns:a16="http://schemas.microsoft.com/office/drawing/2014/main" id="{321EBBF0-1155-3245-9F27-E537209F5D0A}"/>
              </a:ext>
            </a:extLst>
          </p:cNvPr>
          <p:cNvSpPr/>
          <p:nvPr/>
        </p:nvSpPr>
        <p:spPr>
          <a:xfrm>
            <a:off x="540367" y="5307177"/>
            <a:ext cx="805991" cy="65944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457" y="20400"/>
                </a:moveTo>
                <a:cubicBezTo>
                  <a:pt x="4686" y="18711"/>
                  <a:pt x="5897" y="18036"/>
                  <a:pt x="7134" y="17493"/>
                </a:cubicBezTo>
                <a:lnTo>
                  <a:pt x="7173" y="17477"/>
                </a:lnTo>
                <a:cubicBezTo>
                  <a:pt x="8055" y="17190"/>
                  <a:pt x="9626" y="16039"/>
                  <a:pt x="9626" y="13569"/>
                </a:cubicBezTo>
                <a:cubicBezTo>
                  <a:pt x="9626" y="11474"/>
                  <a:pt x="8932" y="10452"/>
                  <a:pt x="8558" y="9902"/>
                </a:cubicBezTo>
                <a:cubicBezTo>
                  <a:pt x="8484" y="9791"/>
                  <a:pt x="8394" y="9649"/>
                  <a:pt x="8414" y="9680"/>
                </a:cubicBezTo>
                <a:cubicBezTo>
                  <a:pt x="8384" y="9599"/>
                  <a:pt x="8237" y="9129"/>
                  <a:pt x="8449" y="8035"/>
                </a:cubicBezTo>
                <a:cubicBezTo>
                  <a:pt x="8549" y="7522"/>
                  <a:pt x="8380" y="7241"/>
                  <a:pt x="8380" y="7241"/>
                </a:cubicBezTo>
                <a:cubicBezTo>
                  <a:pt x="8112" y="6505"/>
                  <a:pt x="7614" y="5133"/>
                  <a:pt x="7988" y="4025"/>
                </a:cubicBezTo>
                <a:cubicBezTo>
                  <a:pt x="8490" y="2492"/>
                  <a:pt x="8935" y="2190"/>
                  <a:pt x="9741" y="1747"/>
                </a:cubicBezTo>
                <a:cubicBezTo>
                  <a:pt x="9788" y="1721"/>
                  <a:pt x="9834" y="1691"/>
                  <a:pt x="9877" y="1657"/>
                </a:cubicBezTo>
                <a:cubicBezTo>
                  <a:pt x="10029" y="1535"/>
                  <a:pt x="10674" y="1200"/>
                  <a:pt x="11403" y="1200"/>
                </a:cubicBezTo>
                <a:cubicBezTo>
                  <a:pt x="11768" y="1200"/>
                  <a:pt x="12075" y="1285"/>
                  <a:pt x="12318" y="1454"/>
                </a:cubicBezTo>
                <a:cubicBezTo>
                  <a:pt x="12610" y="1655"/>
                  <a:pt x="12890" y="2039"/>
                  <a:pt x="13313" y="3271"/>
                </a:cubicBezTo>
                <a:cubicBezTo>
                  <a:pt x="14101" y="5469"/>
                  <a:pt x="13602" y="6698"/>
                  <a:pt x="13350" y="7124"/>
                </a:cubicBezTo>
                <a:cubicBezTo>
                  <a:pt x="13183" y="7407"/>
                  <a:pt x="13126" y="7764"/>
                  <a:pt x="13191" y="8102"/>
                </a:cubicBezTo>
                <a:cubicBezTo>
                  <a:pt x="13386" y="9109"/>
                  <a:pt x="13260" y="9534"/>
                  <a:pt x="13227" y="9619"/>
                </a:cubicBezTo>
                <a:cubicBezTo>
                  <a:pt x="13219" y="9631"/>
                  <a:pt x="13101" y="9814"/>
                  <a:pt x="13041" y="9902"/>
                </a:cubicBezTo>
                <a:cubicBezTo>
                  <a:pt x="12668" y="10452"/>
                  <a:pt x="11973" y="11474"/>
                  <a:pt x="11973" y="13569"/>
                </a:cubicBezTo>
                <a:cubicBezTo>
                  <a:pt x="11973" y="16039"/>
                  <a:pt x="13545" y="17190"/>
                  <a:pt x="14427" y="17477"/>
                </a:cubicBezTo>
                <a:lnTo>
                  <a:pt x="14466" y="17493"/>
                </a:lnTo>
                <a:cubicBezTo>
                  <a:pt x="15703" y="18036"/>
                  <a:pt x="16914" y="18711"/>
                  <a:pt x="17143" y="20400"/>
                </a:cubicBezTo>
                <a:cubicBezTo>
                  <a:pt x="17143" y="20400"/>
                  <a:pt x="4457" y="20400"/>
                  <a:pt x="4457" y="20400"/>
                </a:cubicBezTo>
                <a:close/>
                <a:moveTo>
                  <a:pt x="14715" y="16328"/>
                </a:moveTo>
                <a:cubicBezTo>
                  <a:pt x="14715" y="16328"/>
                  <a:pt x="12955" y="15815"/>
                  <a:pt x="12955" y="13569"/>
                </a:cubicBezTo>
                <a:cubicBezTo>
                  <a:pt x="12955" y="11596"/>
                  <a:pt x="13678" y="10901"/>
                  <a:pt x="13957" y="10421"/>
                </a:cubicBezTo>
                <a:cubicBezTo>
                  <a:pt x="13957" y="10421"/>
                  <a:pt x="14531" y="9807"/>
                  <a:pt x="14146" y="7826"/>
                </a:cubicBezTo>
                <a:cubicBezTo>
                  <a:pt x="14787" y="6740"/>
                  <a:pt x="14995" y="4972"/>
                  <a:pt x="14211" y="2789"/>
                </a:cubicBezTo>
                <a:cubicBezTo>
                  <a:pt x="13774" y="1514"/>
                  <a:pt x="13389" y="815"/>
                  <a:pt x="12801" y="409"/>
                </a:cubicBezTo>
                <a:cubicBezTo>
                  <a:pt x="12370" y="110"/>
                  <a:pt x="11880" y="0"/>
                  <a:pt x="11403" y="0"/>
                </a:cubicBezTo>
                <a:cubicBezTo>
                  <a:pt x="10516" y="0"/>
                  <a:pt x="9675" y="384"/>
                  <a:pt x="9339" y="653"/>
                </a:cubicBezTo>
                <a:cubicBezTo>
                  <a:pt x="8357" y="1192"/>
                  <a:pt x="7697" y="1688"/>
                  <a:pt x="7077" y="3579"/>
                </a:cubicBezTo>
                <a:cubicBezTo>
                  <a:pt x="6540" y="5168"/>
                  <a:pt x="7179" y="6892"/>
                  <a:pt x="7494" y="7758"/>
                </a:cubicBezTo>
                <a:cubicBezTo>
                  <a:pt x="7110" y="9740"/>
                  <a:pt x="7642" y="10421"/>
                  <a:pt x="7642" y="10421"/>
                </a:cubicBezTo>
                <a:cubicBezTo>
                  <a:pt x="7922" y="10901"/>
                  <a:pt x="8644" y="11596"/>
                  <a:pt x="8644" y="13569"/>
                </a:cubicBezTo>
                <a:cubicBezTo>
                  <a:pt x="8644" y="15815"/>
                  <a:pt x="6885" y="16328"/>
                  <a:pt x="6885" y="16328"/>
                </a:cubicBezTo>
                <a:cubicBezTo>
                  <a:pt x="5768" y="16819"/>
                  <a:pt x="3436" y="17760"/>
                  <a:pt x="3436" y="21000"/>
                </a:cubicBezTo>
                <a:cubicBezTo>
                  <a:pt x="3436" y="21000"/>
                  <a:pt x="3436" y="21600"/>
                  <a:pt x="3927" y="21600"/>
                </a:cubicBezTo>
                <a:lnTo>
                  <a:pt x="17673" y="21600"/>
                </a:lnTo>
                <a:cubicBezTo>
                  <a:pt x="18164" y="21600"/>
                  <a:pt x="18164" y="21000"/>
                  <a:pt x="18164" y="21000"/>
                </a:cubicBezTo>
                <a:cubicBezTo>
                  <a:pt x="18164" y="17760"/>
                  <a:pt x="15832" y="16819"/>
                  <a:pt x="14715" y="16328"/>
                </a:cubicBezTo>
                <a:moveTo>
                  <a:pt x="19516" y="15006"/>
                </a:moveTo>
                <a:cubicBezTo>
                  <a:pt x="19516" y="15006"/>
                  <a:pt x="18416" y="14701"/>
                  <a:pt x="18416" y="12954"/>
                </a:cubicBezTo>
                <a:cubicBezTo>
                  <a:pt x="18416" y="11419"/>
                  <a:pt x="18794" y="10879"/>
                  <a:pt x="19017" y="10506"/>
                </a:cubicBezTo>
                <a:cubicBezTo>
                  <a:pt x="19017" y="10506"/>
                  <a:pt x="19443" y="9975"/>
                  <a:pt x="19136" y="8435"/>
                </a:cubicBezTo>
                <a:cubicBezTo>
                  <a:pt x="19388" y="7760"/>
                  <a:pt x="19900" y="6419"/>
                  <a:pt x="19470" y="5184"/>
                </a:cubicBezTo>
                <a:cubicBezTo>
                  <a:pt x="18974" y="3714"/>
                  <a:pt x="18645" y="3327"/>
                  <a:pt x="17860" y="2908"/>
                </a:cubicBezTo>
                <a:cubicBezTo>
                  <a:pt x="17591" y="2699"/>
                  <a:pt x="16918" y="2400"/>
                  <a:pt x="16208" y="2400"/>
                </a:cubicBezTo>
                <a:cubicBezTo>
                  <a:pt x="15873" y="2400"/>
                  <a:pt x="15531" y="2473"/>
                  <a:pt x="15218" y="2647"/>
                </a:cubicBezTo>
                <a:cubicBezTo>
                  <a:pt x="15343" y="3035"/>
                  <a:pt x="15449" y="3420"/>
                  <a:pt x="15525" y="3799"/>
                </a:cubicBezTo>
                <a:cubicBezTo>
                  <a:pt x="15537" y="3790"/>
                  <a:pt x="15550" y="3779"/>
                  <a:pt x="15563" y="3770"/>
                </a:cubicBezTo>
                <a:cubicBezTo>
                  <a:pt x="15730" y="3657"/>
                  <a:pt x="15948" y="3600"/>
                  <a:pt x="16208" y="3600"/>
                </a:cubicBezTo>
                <a:cubicBezTo>
                  <a:pt x="16716" y="3600"/>
                  <a:pt x="17211" y="3825"/>
                  <a:pt x="17332" y="3919"/>
                </a:cubicBezTo>
                <a:cubicBezTo>
                  <a:pt x="17375" y="3953"/>
                  <a:pt x="17421" y="3983"/>
                  <a:pt x="17467" y="4008"/>
                </a:cubicBezTo>
                <a:cubicBezTo>
                  <a:pt x="17950" y="4265"/>
                  <a:pt x="18131" y="4362"/>
                  <a:pt x="18562" y="5641"/>
                </a:cubicBezTo>
                <a:cubicBezTo>
                  <a:pt x="18822" y="6387"/>
                  <a:pt x="18452" y="7378"/>
                  <a:pt x="18253" y="7911"/>
                </a:cubicBezTo>
                <a:cubicBezTo>
                  <a:pt x="18161" y="8156"/>
                  <a:pt x="18130" y="8457"/>
                  <a:pt x="18182" y="8718"/>
                </a:cubicBezTo>
                <a:cubicBezTo>
                  <a:pt x="18316" y="9392"/>
                  <a:pt x="18254" y="9706"/>
                  <a:pt x="18232" y="9784"/>
                </a:cubicBezTo>
                <a:cubicBezTo>
                  <a:pt x="18230" y="9788"/>
                  <a:pt x="18227" y="9793"/>
                  <a:pt x="18224" y="9798"/>
                </a:cubicBezTo>
                <a:lnTo>
                  <a:pt x="18191" y="9853"/>
                </a:lnTo>
                <a:cubicBezTo>
                  <a:pt x="17926" y="10290"/>
                  <a:pt x="17434" y="11106"/>
                  <a:pt x="17434" y="12954"/>
                </a:cubicBezTo>
                <a:cubicBezTo>
                  <a:pt x="17434" y="15019"/>
                  <a:pt x="18570" y="15933"/>
                  <a:pt x="19229" y="16155"/>
                </a:cubicBezTo>
                <a:cubicBezTo>
                  <a:pt x="19856" y="16429"/>
                  <a:pt x="20435" y="16859"/>
                  <a:pt x="20582" y="17999"/>
                </a:cubicBezTo>
                <a:lnTo>
                  <a:pt x="18459" y="18000"/>
                </a:lnTo>
                <a:cubicBezTo>
                  <a:pt x="18647" y="18353"/>
                  <a:pt x="18802" y="18755"/>
                  <a:pt x="18920" y="19200"/>
                </a:cubicBezTo>
                <a:lnTo>
                  <a:pt x="21109" y="19199"/>
                </a:lnTo>
                <a:cubicBezTo>
                  <a:pt x="21600" y="19199"/>
                  <a:pt x="21600" y="18599"/>
                  <a:pt x="21600" y="18599"/>
                </a:cubicBezTo>
                <a:cubicBezTo>
                  <a:pt x="21600" y="16199"/>
                  <a:pt x="20410" y="15388"/>
                  <a:pt x="19516" y="15006"/>
                </a:cubicBezTo>
                <a:moveTo>
                  <a:pt x="2371" y="16155"/>
                </a:moveTo>
                <a:cubicBezTo>
                  <a:pt x="3030" y="15933"/>
                  <a:pt x="4166" y="15019"/>
                  <a:pt x="4166" y="12954"/>
                </a:cubicBezTo>
                <a:cubicBezTo>
                  <a:pt x="4166" y="11106"/>
                  <a:pt x="3673" y="10290"/>
                  <a:pt x="3409" y="9853"/>
                </a:cubicBezTo>
                <a:lnTo>
                  <a:pt x="3376" y="9798"/>
                </a:lnTo>
                <a:cubicBezTo>
                  <a:pt x="3373" y="9793"/>
                  <a:pt x="3370" y="9788"/>
                  <a:pt x="3367" y="9784"/>
                </a:cubicBezTo>
                <a:cubicBezTo>
                  <a:pt x="3346" y="9706"/>
                  <a:pt x="3283" y="9392"/>
                  <a:pt x="3418" y="8718"/>
                </a:cubicBezTo>
                <a:cubicBezTo>
                  <a:pt x="3470" y="8457"/>
                  <a:pt x="3439" y="8156"/>
                  <a:pt x="3347" y="7911"/>
                </a:cubicBezTo>
                <a:cubicBezTo>
                  <a:pt x="3148" y="7378"/>
                  <a:pt x="2778" y="6387"/>
                  <a:pt x="3038" y="5641"/>
                </a:cubicBezTo>
                <a:cubicBezTo>
                  <a:pt x="3469" y="4362"/>
                  <a:pt x="3649" y="4265"/>
                  <a:pt x="4133" y="4008"/>
                </a:cubicBezTo>
                <a:cubicBezTo>
                  <a:pt x="4180" y="3983"/>
                  <a:pt x="4225" y="3953"/>
                  <a:pt x="4268" y="3919"/>
                </a:cubicBezTo>
                <a:cubicBezTo>
                  <a:pt x="4389" y="3825"/>
                  <a:pt x="4884" y="3600"/>
                  <a:pt x="5392" y="3600"/>
                </a:cubicBezTo>
                <a:cubicBezTo>
                  <a:pt x="5636" y="3600"/>
                  <a:pt x="5839" y="3655"/>
                  <a:pt x="6002" y="3755"/>
                </a:cubicBezTo>
                <a:cubicBezTo>
                  <a:pt x="6045" y="3548"/>
                  <a:pt x="6096" y="3341"/>
                  <a:pt x="6165" y="3134"/>
                </a:cubicBezTo>
                <a:cubicBezTo>
                  <a:pt x="6225" y="2950"/>
                  <a:pt x="6289" y="2793"/>
                  <a:pt x="6351" y="2630"/>
                </a:cubicBezTo>
                <a:cubicBezTo>
                  <a:pt x="6046" y="2468"/>
                  <a:pt x="5716" y="2400"/>
                  <a:pt x="5392" y="2400"/>
                </a:cubicBezTo>
                <a:cubicBezTo>
                  <a:pt x="4682" y="2400"/>
                  <a:pt x="4009" y="2699"/>
                  <a:pt x="3740" y="2908"/>
                </a:cubicBezTo>
                <a:cubicBezTo>
                  <a:pt x="2955" y="3327"/>
                  <a:pt x="2625" y="3714"/>
                  <a:pt x="2130" y="5184"/>
                </a:cubicBezTo>
                <a:cubicBezTo>
                  <a:pt x="1700" y="6419"/>
                  <a:pt x="2212" y="7760"/>
                  <a:pt x="2464" y="8435"/>
                </a:cubicBezTo>
                <a:cubicBezTo>
                  <a:pt x="2156" y="9975"/>
                  <a:pt x="2583" y="10506"/>
                  <a:pt x="2583" y="10506"/>
                </a:cubicBezTo>
                <a:cubicBezTo>
                  <a:pt x="2806" y="10879"/>
                  <a:pt x="3185" y="11419"/>
                  <a:pt x="3185" y="12954"/>
                </a:cubicBezTo>
                <a:cubicBezTo>
                  <a:pt x="3185" y="14701"/>
                  <a:pt x="2084" y="15006"/>
                  <a:pt x="2084" y="15006"/>
                </a:cubicBezTo>
                <a:cubicBezTo>
                  <a:pt x="1191" y="15388"/>
                  <a:pt x="0" y="16199"/>
                  <a:pt x="0" y="18599"/>
                </a:cubicBezTo>
                <a:cubicBezTo>
                  <a:pt x="0" y="18599"/>
                  <a:pt x="0" y="19199"/>
                  <a:pt x="491" y="19199"/>
                </a:cubicBezTo>
                <a:lnTo>
                  <a:pt x="2680" y="19200"/>
                </a:lnTo>
                <a:cubicBezTo>
                  <a:pt x="2798" y="18755"/>
                  <a:pt x="2952" y="18353"/>
                  <a:pt x="3141" y="18000"/>
                </a:cubicBezTo>
                <a:lnTo>
                  <a:pt x="1018" y="17999"/>
                </a:lnTo>
                <a:cubicBezTo>
                  <a:pt x="1165" y="16859"/>
                  <a:pt x="1744" y="16429"/>
                  <a:pt x="2371" y="16155"/>
                </a:cubicBezTo>
              </a:path>
            </a:pathLst>
          </a:custGeom>
          <a:solidFill>
            <a:srgbClr val="274E9C"/>
          </a:solidFill>
          <a:ln w="12700">
            <a:solidFill>
              <a:srgbClr val="274E9C"/>
            </a:solidFill>
            <a:miter lim="400000"/>
          </a:ln>
        </p:spPr>
        <p:txBody>
          <a:bodyPr lIns="19045" tIns="19045" rIns="19045" bIns="19045" anchor="ctr"/>
          <a:lstStyle/>
          <a:p>
            <a:pPr defTabSz="228526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15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latin typeface="Gill Sans"/>
              <a:ea typeface="Calibri" charset="0"/>
              <a:cs typeface="Calibri" charset="0"/>
              <a:sym typeface="Gill Sans"/>
            </a:endParaRPr>
          </a:p>
        </p:txBody>
      </p:sp>
      <p:sp>
        <p:nvSpPr>
          <p:cNvPr id="11" name="Shape 2564">
            <a:extLst>
              <a:ext uri="{FF2B5EF4-FFF2-40B4-BE49-F238E27FC236}">
                <a16:creationId xmlns:a16="http://schemas.microsoft.com/office/drawing/2014/main" id="{7EB884E8-FEBF-D646-8D65-B0B2FE26DE73}"/>
              </a:ext>
            </a:extLst>
          </p:cNvPr>
          <p:cNvSpPr/>
          <p:nvPr/>
        </p:nvSpPr>
        <p:spPr>
          <a:xfrm>
            <a:off x="525802" y="4154182"/>
            <a:ext cx="716252" cy="6785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9818" y="10800"/>
                </a:moveTo>
                <a:lnTo>
                  <a:pt x="11782" y="10800"/>
                </a:lnTo>
                <a:lnTo>
                  <a:pt x="11782" y="12764"/>
                </a:lnTo>
                <a:lnTo>
                  <a:pt x="9818" y="12764"/>
                </a:lnTo>
                <a:cubicBezTo>
                  <a:pt x="9818" y="12764"/>
                  <a:pt x="9818" y="10800"/>
                  <a:pt x="9818" y="10800"/>
                </a:cubicBezTo>
                <a:close/>
                <a:moveTo>
                  <a:pt x="9327" y="13745"/>
                </a:moveTo>
                <a:lnTo>
                  <a:pt x="12273" y="13745"/>
                </a:lnTo>
                <a:cubicBezTo>
                  <a:pt x="12544" y="13745"/>
                  <a:pt x="12764" y="13526"/>
                  <a:pt x="12764" y="13255"/>
                </a:cubicBezTo>
                <a:lnTo>
                  <a:pt x="12764" y="10309"/>
                </a:lnTo>
                <a:cubicBezTo>
                  <a:pt x="12764" y="10038"/>
                  <a:pt x="12544" y="9818"/>
                  <a:pt x="12273" y="9818"/>
                </a:cubicBezTo>
                <a:lnTo>
                  <a:pt x="9327" y="9818"/>
                </a:lnTo>
                <a:cubicBezTo>
                  <a:pt x="9056" y="9818"/>
                  <a:pt x="8836" y="10038"/>
                  <a:pt x="8836" y="10309"/>
                </a:cubicBezTo>
                <a:lnTo>
                  <a:pt x="8836" y="13255"/>
                </a:lnTo>
                <a:cubicBezTo>
                  <a:pt x="8836" y="13526"/>
                  <a:pt x="9056" y="13745"/>
                  <a:pt x="9327" y="13745"/>
                </a:cubicBezTo>
                <a:moveTo>
                  <a:pt x="14727" y="15709"/>
                </a:moveTo>
                <a:lnTo>
                  <a:pt x="16691" y="15709"/>
                </a:lnTo>
                <a:lnTo>
                  <a:pt x="16691" y="17673"/>
                </a:lnTo>
                <a:lnTo>
                  <a:pt x="14727" y="17673"/>
                </a:lnTo>
                <a:cubicBezTo>
                  <a:pt x="14727" y="17673"/>
                  <a:pt x="14727" y="15709"/>
                  <a:pt x="14727" y="15709"/>
                </a:cubicBezTo>
                <a:close/>
                <a:moveTo>
                  <a:pt x="14236" y="18655"/>
                </a:moveTo>
                <a:lnTo>
                  <a:pt x="17182" y="18655"/>
                </a:lnTo>
                <a:cubicBezTo>
                  <a:pt x="17453" y="18655"/>
                  <a:pt x="17673" y="18435"/>
                  <a:pt x="17673" y="18164"/>
                </a:cubicBezTo>
                <a:lnTo>
                  <a:pt x="17673" y="15218"/>
                </a:lnTo>
                <a:cubicBezTo>
                  <a:pt x="17673" y="14947"/>
                  <a:pt x="17453" y="14727"/>
                  <a:pt x="17182" y="14727"/>
                </a:cubicBezTo>
                <a:lnTo>
                  <a:pt x="14236" y="14727"/>
                </a:lnTo>
                <a:cubicBezTo>
                  <a:pt x="13965" y="14727"/>
                  <a:pt x="13745" y="14947"/>
                  <a:pt x="13745" y="15218"/>
                </a:cubicBezTo>
                <a:lnTo>
                  <a:pt x="13745" y="18164"/>
                </a:lnTo>
                <a:cubicBezTo>
                  <a:pt x="13745" y="18435"/>
                  <a:pt x="13965" y="18655"/>
                  <a:pt x="14236" y="18655"/>
                </a:cubicBezTo>
                <a:moveTo>
                  <a:pt x="9818" y="5891"/>
                </a:moveTo>
                <a:lnTo>
                  <a:pt x="11782" y="5891"/>
                </a:lnTo>
                <a:lnTo>
                  <a:pt x="11782" y="7855"/>
                </a:lnTo>
                <a:lnTo>
                  <a:pt x="9818" y="7855"/>
                </a:lnTo>
                <a:cubicBezTo>
                  <a:pt x="9818" y="7855"/>
                  <a:pt x="9818" y="5891"/>
                  <a:pt x="9818" y="5891"/>
                </a:cubicBezTo>
                <a:close/>
                <a:moveTo>
                  <a:pt x="9327" y="8836"/>
                </a:moveTo>
                <a:lnTo>
                  <a:pt x="12273" y="8836"/>
                </a:lnTo>
                <a:cubicBezTo>
                  <a:pt x="12544" y="8836"/>
                  <a:pt x="12764" y="8617"/>
                  <a:pt x="12764" y="8345"/>
                </a:cubicBezTo>
                <a:lnTo>
                  <a:pt x="12764" y="5400"/>
                </a:lnTo>
                <a:cubicBezTo>
                  <a:pt x="12764" y="5129"/>
                  <a:pt x="12544" y="4909"/>
                  <a:pt x="12273" y="4909"/>
                </a:cubicBezTo>
                <a:lnTo>
                  <a:pt x="9327" y="4909"/>
                </a:lnTo>
                <a:cubicBezTo>
                  <a:pt x="9056" y="4909"/>
                  <a:pt x="8836" y="5129"/>
                  <a:pt x="8836" y="5400"/>
                </a:cubicBezTo>
                <a:lnTo>
                  <a:pt x="8836" y="8345"/>
                </a:lnTo>
                <a:cubicBezTo>
                  <a:pt x="8836" y="8617"/>
                  <a:pt x="9056" y="8836"/>
                  <a:pt x="9327" y="8836"/>
                </a:cubicBezTo>
                <a:moveTo>
                  <a:pt x="4909" y="15709"/>
                </a:moveTo>
                <a:lnTo>
                  <a:pt x="6873" y="15709"/>
                </a:lnTo>
                <a:lnTo>
                  <a:pt x="6873" y="17673"/>
                </a:lnTo>
                <a:lnTo>
                  <a:pt x="4909" y="17673"/>
                </a:lnTo>
                <a:cubicBezTo>
                  <a:pt x="4909" y="17673"/>
                  <a:pt x="4909" y="15709"/>
                  <a:pt x="4909" y="15709"/>
                </a:cubicBezTo>
                <a:close/>
                <a:moveTo>
                  <a:pt x="4418" y="18655"/>
                </a:moveTo>
                <a:lnTo>
                  <a:pt x="7364" y="18655"/>
                </a:lnTo>
                <a:cubicBezTo>
                  <a:pt x="7635" y="18655"/>
                  <a:pt x="7855" y="18435"/>
                  <a:pt x="7855" y="18164"/>
                </a:cubicBezTo>
                <a:lnTo>
                  <a:pt x="7855" y="15218"/>
                </a:lnTo>
                <a:cubicBezTo>
                  <a:pt x="7855" y="14947"/>
                  <a:pt x="7635" y="14727"/>
                  <a:pt x="7364" y="14727"/>
                </a:cubicBezTo>
                <a:lnTo>
                  <a:pt x="4418" y="14727"/>
                </a:lnTo>
                <a:cubicBezTo>
                  <a:pt x="4147" y="14727"/>
                  <a:pt x="3927" y="14947"/>
                  <a:pt x="3927" y="15218"/>
                </a:cubicBezTo>
                <a:lnTo>
                  <a:pt x="3927" y="18164"/>
                </a:lnTo>
                <a:cubicBezTo>
                  <a:pt x="3927" y="18435"/>
                  <a:pt x="4147" y="18655"/>
                  <a:pt x="4418" y="18655"/>
                </a:cubicBezTo>
                <a:moveTo>
                  <a:pt x="14727" y="10800"/>
                </a:moveTo>
                <a:lnTo>
                  <a:pt x="16691" y="10800"/>
                </a:lnTo>
                <a:lnTo>
                  <a:pt x="16691" y="12764"/>
                </a:lnTo>
                <a:lnTo>
                  <a:pt x="14727" y="12764"/>
                </a:lnTo>
                <a:cubicBezTo>
                  <a:pt x="14727" y="12764"/>
                  <a:pt x="14727" y="10800"/>
                  <a:pt x="14727" y="10800"/>
                </a:cubicBezTo>
                <a:close/>
                <a:moveTo>
                  <a:pt x="14236" y="13745"/>
                </a:moveTo>
                <a:lnTo>
                  <a:pt x="17182" y="13745"/>
                </a:lnTo>
                <a:cubicBezTo>
                  <a:pt x="17453" y="13745"/>
                  <a:pt x="17673" y="13526"/>
                  <a:pt x="17673" y="13255"/>
                </a:cubicBezTo>
                <a:lnTo>
                  <a:pt x="17673" y="10309"/>
                </a:lnTo>
                <a:cubicBezTo>
                  <a:pt x="17673" y="10038"/>
                  <a:pt x="17453" y="9818"/>
                  <a:pt x="17182" y="9818"/>
                </a:cubicBezTo>
                <a:lnTo>
                  <a:pt x="14236" y="9818"/>
                </a:lnTo>
                <a:cubicBezTo>
                  <a:pt x="13965" y="9818"/>
                  <a:pt x="13745" y="10038"/>
                  <a:pt x="13745" y="10309"/>
                </a:cubicBezTo>
                <a:lnTo>
                  <a:pt x="13745" y="13255"/>
                </a:lnTo>
                <a:cubicBezTo>
                  <a:pt x="13745" y="13526"/>
                  <a:pt x="13965" y="13745"/>
                  <a:pt x="14236" y="13745"/>
                </a:cubicBezTo>
                <a:moveTo>
                  <a:pt x="4909" y="10800"/>
                </a:moveTo>
                <a:lnTo>
                  <a:pt x="6873" y="10800"/>
                </a:lnTo>
                <a:lnTo>
                  <a:pt x="6873" y="12764"/>
                </a:lnTo>
                <a:lnTo>
                  <a:pt x="4909" y="12764"/>
                </a:lnTo>
                <a:cubicBezTo>
                  <a:pt x="4909" y="12764"/>
                  <a:pt x="4909" y="10800"/>
                  <a:pt x="4909" y="10800"/>
                </a:cubicBezTo>
                <a:close/>
                <a:moveTo>
                  <a:pt x="4418" y="13745"/>
                </a:moveTo>
                <a:lnTo>
                  <a:pt x="7364" y="13745"/>
                </a:lnTo>
                <a:cubicBezTo>
                  <a:pt x="7635" y="13745"/>
                  <a:pt x="7855" y="13526"/>
                  <a:pt x="7855" y="13255"/>
                </a:cubicBezTo>
                <a:lnTo>
                  <a:pt x="7855" y="10309"/>
                </a:lnTo>
                <a:cubicBezTo>
                  <a:pt x="7855" y="10038"/>
                  <a:pt x="7635" y="9818"/>
                  <a:pt x="7364" y="9818"/>
                </a:cubicBezTo>
                <a:lnTo>
                  <a:pt x="4418" y="9818"/>
                </a:lnTo>
                <a:cubicBezTo>
                  <a:pt x="4147" y="9818"/>
                  <a:pt x="3927" y="10038"/>
                  <a:pt x="3927" y="10309"/>
                </a:cubicBezTo>
                <a:lnTo>
                  <a:pt x="3927" y="13255"/>
                </a:lnTo>
                <a:cubicBezTo>
                  <a:pt x="3927" y="13526"/>
                  <a:pt x="4147" y="13745"/>
                  <a:pt x="4418" y="13745"/>
                </a:cubicBezTo>
                <a:moveTo>
                  <a:pt x="4909" y="5891"/>
                </a:moveTo>
                <a:lnTo>
                  <a:pt x="6873" y="5891"/>
                </a:lnTo>
                <a:lnTo>
                  <a:pt x="6873" y="7855"/>
                </a:lnTo>
                <a:lnTo>
                  <a:pt x="4909" y="7855"/>
                </a:lnTo>
                <a:cubicBezTo>
                  <a:pt x="4909" y="7855"/>
                  <a:pt x="4909" y="5891"/>
                  <a:pt x="4909" y="5891"/>
                </a:cubicBezTo>
                <a:close/>
                <a:moveTo>
                  <a:pt x="4418" y="8836"/>
                </a:moveTo>
                <a:lnTo>
                  <a:pt x="7364" y="8836"/>
                </a:lnTo>
                <a:cubicBezTo>
                  <a:pt x="7635" y="8836"/>
                  <a:pt x="7855" y="8617"/>
                  <a:pt x="7855" y="8345"/>
                </a:cubicBezTo>
                <a:lnTo>
                  <a:pt x="7855" y="5400"/>
                </a:lnTo>
                <a:cubicBezTo>
                  <a:pt x="7855" y="5129"/>
                  <a:pt x="7635" y="4909"/>
                  <a:pt x="7364" y="4909"/>
                </a:cubicBezTo>
                <a:lnTo>
                  <a:pt x="4418" y="4909"/>
                </a:lnTo>
                <a:cubicBezTo>
                  <a:pt x="4147" y="4909"/>
                  <a:pt x="3927" y="5129"/>
                  <a:pt x="3927" y="5400"/>
                </a:cubicBezTo>
                <a:lnTo>
                  <a:pt x="3927" y="8345"/>
                </a:lnTo>
                <a:cubicBezTo>
                  <a:pt x="3927" y="8617"/>
                  <a:pt x="4147" y="8836"/>
                  <a:pt x="4418" y="8836"/>
                </a:cubicBezTo>
                <a:moveTo>
                  <a:pt x="14727" y="5891"/>
                </a:moveTo>
                <a:lnTo>
                  <a:pt x="16691" y="5891"/>
                </a:lnTo>
                <a:lnTo>
                  <a:pt x="16691" y="7855"/>
                </a:lnTo>
                <a:lnTo>
                  <a:pt x="14727" y="7855"/>
                </a:lnTo>
                <a:cubicBezTo>
                  <a:pt x="14727" y="7855"/>
                  <a:pt x="14727" y="5891"/>
                  <a:pt x="14727" y="5891"/>
                </a:cubicBezTo>
                <a:close/>
                <a:moveTo>
                  <a:pt x="14236" y="8836"/>
                </a:moveTo>
                <a:lnTo>
                  <a:pt x="17182" y="8836"/>
                </a:lnTo>
                <a:cubicBezTo>
                  <a:pt x="17453" y="8836"/>
                  <a:pt x="17673" y="8617"/>
                  <a:pt x="17673" y="8345"/>
                </a:cubicBezTo>
                <a:lnTo>
                  <a:pt x="17673" y="5400"/>
                </a:lnTo>
                <a:cubicBezTo>
                  <a:pt x="17673" y="5129"/>
                  <a:pt x="17453" y="4909"/>
                  <a:pt x="17182" y="4909"/>
                </a:cubicBezTo>
                <a:lnTo>
                  <a:pt x="14236" y="4909"/>
                </a:lnTo>
                <a:cubicBezTo>
                  <a:pt x="13965" y="4909"/>
                  <a:pt x="13745" y="5129"/>
                  <a:pt x="13745" y="5400"/>
                </a:cubicBezTo>
                <a:lnTo>
                  <a:pt x="13745" y="8345"/>
                </a:lnTo>
                <a:cubicBezTo>
                  <a:pt x="13745" y="8617"/>
                  <a:pt x="13965" y="8836"/>
                  <a:pt x="14236" y="8836"/>
                </a:cubicBezTo>
                <a:moveTo>
                  <a:pt x="19636" y="1964"/>
                </a:moveTo>
                <a:lnTo>
                  <a:pt x="1964" y="1964"/>
                </a:lnTo>
                <a:lnTo>
                  <a:pt x="1964" y="982"/>
                </a:lnTo>
                <a:lnTo>
                  <a:pt x="19636" y="982"/>
                </a:lnTo>
                <a:cubicBezTo>
                  <a:pt x="19636" y="982"/>
                  <a:pt x="19636" y="1964"/>
                  <a:pt x="19636" y="1964"/>
                </a:cubicBezTo>
                <a:close/>
                <a:moveTo>
                  <a:pt x="19636" y="20618"/>
                </a:moveTo>
                <a:lnTo>
                  <a:pt x="12764" y="20618"/>
                </a:lnTo>
                <a:lnTo>
                  <a:pt x="12764" y="15218"/>
                </a:lnTo>
                <a:cubicBezTo>
                  <a:pt x="12764" y="14947"/>
                  <a:pt x="12544" y="14727"/>
                  <a:pt x="12273" y="14727"/>
                </a:cubicBezTo>
                <a:lnTo>
                  <a:pt x="9327" y="14727"/>
                </a:lnTo>
                <a:cubicBezTo>
                  <a:pt x="9056" y="14727"/>
                  <a:pt x="8836" y="14947"/>
                  <a:pt x="8836" y="15218"/>
                </a:cubicBezTo>
                <a:lnTo>
                  <a:pt x="8836" y="20618"/>
                </a:lnTo>
                <a:lnTo>
                  <a:pt x="1964" y="20618"/>
                </a:lnTo>
                <a:lnTo>
                  <a:pt x="1964" y="2945"/>
                </a:lnTo>
                <a:lnTo>
                  <a:pt x="19636" y="2945"/>
                </a:lnTo>
                <a:cubicBezTo>
                  <a:pt x="19636" y="2945"/>
                  <a:pt x="19636" y="20618"/>
                  <a:pt x="19636" y="20618"/>
                </a:cubicBezTo>
                <a:close/>
                <a:moveTo>
                  <a:pt x="11782" y="20618"/>
                </a:moveTo>
                <a:lnTo>
                  <a:pt x="9818" y="20618"/>
                </a:lnTo>
                <a:lnTo>
                  <a:pt x="9818" y="15709"/>
                </a:lnTo>
                <a:lnTo>
                  <a:pt x="11782" y="15709"/>
                </a:lnTo>
                <a:cubicBezTo>
                  <a:pt x="11782" y="15709"/>
                  <a:pt x="11782" y="20618"/>
                  <a:pt x="11782" y="20618"/>
                </a:cubicBezTo>
                <a:close/>
                <a:moveTo>
                  <a:pt x="21109" y="1964"/>
                </a:moveTo>
                <a:lnTo>
                  <a:pt x="20618" y="1964"/>
                </a:lnTo>
                <a:lnTo>
                  <a:pt x="20618" y="491"/>
                </a:lnTo>
                <a:cubicBezTo>
                  <a:pt x="20618" y="220"/>
                  <a:pt x="20399" y="0"/>
                  <a:pt x="20127" y="0"/>
                </a:cubicBezTo>
                <a:lnTo>
                  <a:pt x="1473" y="0"/>
                </a:lnTo>
                <a:cubicBezTo>
                  <a:pt x="1201" y="0"/>
                  <a:pt x="982" y="220"/>
                  <a:pt x="982" y="491"/>
                </a:cubicBezTo>
                <a:lnTo>
                  <a:pt x="982" y="1964"/>
                </a:lnTo>
                <a:lnTo>
                  <a:pt x="491" y="1964"/>
                </a:lnTo>
                <a:cubicBezTo>
                  <a:pt x="220" y="1964"/>
                  <a:pt x="0" y="2184"/>
                  <a:pt x="0" y="2455"/>
                </a:cubicBezTo>
                <a:cubicBezTo>
                  <a:pt x="0" y="2726"/>
                  <a:pt x="220" y="2945"/>
                  <a:pt x="491" y="2945"/>
                </a:cubicBezTo>
                <a:lnTo>
                  <a:pt x="982" y="2945"/>
                </a:lnTo>
                <a:lnTo>
                  <a:pt x="982" y="21109"/>
                </a:lnTo>
                <a:cubicBezTo>
                  <a:pt x="982" y="21381"/>
                  <a:pt x="1201" y="21600"/>
                  <a:pt x="1473" y="21600"/>
                </a:cubicBezTo>
                <a:lnTo>
                  <a:pt x="20127" y="21600"/>
                </a:lnTo>
                <a:cubicBezTo>
                  <a:pt x="20399" y="21600"/>
                  <a:pt x="20618" y="21381"/>
                  <a:pt x="20618" y="21109"/>
                </a:cubicBezTo>
                <a:lnTo>
                  <a:pt x="20618" y="2945"/>
                </a:lnTo>
                <a:lnTo>
                  <a:pt x="21109" y="2945"/>
                </a:lnTo>
                <a:cubicBezTo>
                  <a:pt x="21380" y="2945"/>
                  <a:pt x="21600" y="2726"/>
                  <a:pt x="21600" y="2455"/>
                </a:cubicBezTo>
                <a:cubicBezTo>
                  <a:pt x="21600" y="2184"/>
                  <a:pt x="21380" y="1964"/>
                  <a:pt x="21109" y="1964"/>
                </a:cubicBezTo>
              </a:path>
            </a:pathLst>
          </a:custGeom>
          <a:solidFill>
            <a:srgbClr val="274E9C"/>
          </a:solidFill>
          <a:ln w="12700">
            <a:solidFill>
              <a:srgbClr val="274E9C"/>
            </a:solidFill>
            <a:miter lim="400000"/>
          </a:ln>
        </p:spPr>
        <p:txBody>
          <a:bodyPr lIns="19045" tIns="19045" rIns="19045" bIns="19045" anchor="ctr"/>
          <a:lstStyle/>
          <a:p>
            <a:pPr defTabSz="228526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15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latin typeface="Gill Sans"/>
              <a:ea typeface="Calibri" charset="0"/>
              <a:cs typeface="Calibri" charset="0"/>
              <a:sym typeface="Gill San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52CECF-A242-7004-3B18-4A4F5198EC44}"/>
              </a:ext>
            </a:extLst>
          </p:cNvPr>
          <p:cNvSpPr txBox="1"/>
          <p:nvPr/>
        </p:nvSpPr>
        <p:spPr>
          <a:xfrm>
            <a:off x="1017834" y="4247994"/>
            <a:ext cx="797729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447675"/>
            <a:r>
              <a:rPr lang="ru-RU" sz="3200" dirty="0" smtClean="0">
                <a:solidFill>
                  <a:srgbClr val="274E9C"/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rPr>
              <a:t>1,5 тыс. офисов по всей стране</a:t>
            </a:r>
            <a:endParaRPr lang="ru-RU" sz="3200" dirty="0">
              <a:solidFill>
                <a:srgbClr val="274E9C"/>
              </a:solidFill>
              <a:latin typeface="Inter Variable Text" panose="02000503000000020004" pitchFamily="2" charset="0"/>
              <a:ea typeface="Inter Variable Text" panose="02000503000000020004" pitchFamily="2" charset="0"/>
              <a:cs typeface="Inter Variable Text" panose="02000503000000020004" pitchFamily="2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152CECF-A242-7004-3B18-4A4F5198EC44}"/>
              </a:ext>
            </a:extLst>
          </p:cNvPr>
          <p:cNvSpPr txBox="1"/>
          <p:nvPr/>
        </p:nvSpPr>
        <p:spPr>
          <a:xfrm>
            <a:off x="1017834" y="5428992"/>
            <a:ext cx="797729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447675"/>
            <a:r>
              <a:rPr lang="ru-RU" sz="3200" dirty="0" smtClean="0">
                <a:solidFill>
                  <a:srgbClr val="274E9C"/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rPr>
              <a:t>Более 40 тыс. специалистов</a:t>
            </a:r>
            <a:endParaRPr lang="ru-RU" sz="3200" dirty="0">
              <a:solidFill>
                <a:srgbClr val="274E9C"/>
              </a:solidFill>
              <a:latin typeface="Inter Variable Text" panose="02000503000000020004" pitchFamily="2" charset="0"/>
              <a:ea typeface="Inter Variable Text" panose="02000503000000020004" pitchFamily="2" charset="0"/>
              <a:cs typeface="Inter Variable Text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00547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9CA8C-E8D0-CA67-ACB1-468BFAE71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079E5E9-341A-934C-B63C-39D6E0EBE68A}"/>
              </a:ext>
            </a:extLst>
          </p:cNvPr>
          <p:cNvSpPr txBox="1"/>
          <p:nvPr/>
        </p:nvSpPr>
        <p:spPr>
          <a:xfrm>
            <a:off x="4179794" y="273858"/>
            <a:ext cx="74318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 smtClean="0">
                <a:solidFill>
                  <a:srgbClr val="274E9C"/>
                </a:solidFill>
                <a:latin typeface="Inter Variable Text Medium" panose="02000503000000020004" pitchFamily="2" charset="0"/>
                <a:ea typeface="Inter Variable Text Medium" panose="02000503000000020004" pitchFamily="2" charset="0"/>
                <a:cs typeface="Inter Variable Text Medium" panose="02000503000000020004" pitchFamily="2" charset="0"/>
              </a:rPr>
              <a:t>Текущие решения в компании</a:t>
            </a:r>
            <a:endParaRPr lang="ru-RU" sz="3600" dirty="0">
              <a:solidFill>
                <a:srgbClr val="274E9C"/>
              </a:solidFill>
              <a:latin typeface="Inter Variable Text Medium" panose="02000503000000020004" pitchFamily="2" charset="0"/>
              <a:ea typeface="Inter Variable Text Medium" panose="02000503000000020004" pitchFamily="2" charset="0"/>
              <a:cs typeface="Inter Variable Text Medium" panose="02000503000000020004" pitchFamily="2" charset="0"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8B06BEAF-306F-5AB4-1249-32A40BC992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grpSp>
        <p:nvGrpSpPr>
          <p:cNvPr id="32" name="Группа 31">
            <a:extLst>
              <a:ext uri="{FF2B5EF4-FFF2-40B4-BE49-F238E27FC236}">
                <a16:creationId xmlns:a16="http://schemas.microsoft.com/office/drawing/2014/main" id="{869F90AB-5735-7F50-0EBD-CC3A89330D8C}"/>
              </a:ext>
            </a:extLst>
          </p:cNvPr>
          <p:cNvGrpSpPr/>
          <p:nvPr/>
        </p:nvGrpSpPr>
        <p:grpSpPr>
          <a:xfrm>
            <a:off x="11641128" y="6312477"/>
            <a:ext cx="490760" cy="490760"/>
            <a:chOff x="11383518" y="6084717"/>
            <a:chExt cx="618259" cy="618259"/>
          </a:xfrm>
        </p:grpSpPr>
        <p:sp>
          <p:nvSpPr>
            <p:cNvPr id="30" name="Прямоугольник: скругленные углы 29">
              <a:extLst>
                <a:ext uri="{FF2B5EF4-FFF2-40B4-BE49-F238E27FC236}">
                  <a16:creationId xmlns:a16="http://schemas.microsoft.com/office/drawing/2014/main" id="{58CF9463-A938-00E1-CB8B-930897804B5B}"/>
                </a:ext>
              </a:extLst>
            </p:cNvPr>
            <p:cNvSpPr/>
            <p:nvPr/>
          </p:nvSpPr>
          <p:spPr>
            <a:xfrm>
              <a:off x="11383518" y="6084717"/>
              <a:ext cx="618259" cy="618259"/>
            </a:xfrm>
            <a:prstGeom prst="roundRect">
              <a:avLst/>
            </a:prstGeom>
            <a:solidFill>
              <a:srgbClr val="1A3773"/>
            </a:solidFill>
            <a:ln>
              <a:solidFill>
                <a:srgbClr val="1A3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CAEE406-3186-9523-B123-A3C59D5340DC}"/>
                </a:ext>
              </a:extLst>
            </p:cNvPr>
            <p:cNvSpPr txBox="1"/>
            <p:nvPr/>
          </p:nvSpPr>
          <p:spPr>
            <a:xfrm>
              <a:off x="11508348" y="6199977"/>
              <a:ext cx="368600" cy="38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/>
                  </a:solidFill>
                  <a:latin typeface="Inter Variable Text" panose="02000503000000020004" pitchFamily="2" charset="0"/>
                  <a:ea typeface="Inter Variable Text" panose="02000503000000020004" pitchFamily="2" charset="0"/>
                  <a:cs typeface="Inter Variable Text" panose="02000503000000020004" pitchFamily="2" charset="0"/>
                </a:rPr>
                <a:t>3</a:t>
              </a:r>
              <a:endParaRPr lang="en-US" sz="1400" dirty="0">
                <a:solidFill>
                  <a:schemeClr val="bg1"/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endParaRPr>
            </a:p>
          </p:txBody>
        </p:sp>
      </p:grpSp>
      <p:sp>
        <p:nvSpPr>
          <p:cNvPr id="14" name="Shape 2539">
            <a:extLst>
              <a:ext uri="{FF2B5EF4-FFF2-40B4-BE49-F238E27FC236}">
                <a16:creationId xmlns:a16="http://schemas.microsoft.com/office/drawing/2014/main" id="{387D2D9B-9D8F-624D-98EB-19997A8C7FEC}"/>
              </a:ext>
            </a:extLst>
          </p:cNvPr>
          <p:cNvSpPr/>
          <p:nvPr/>
        </p:nvSpPr>
        <p:spPr>
          <a:xfrm>
            <a:off x="2342711" y="1191452"/>
            <a:ext cx="948187" cy="646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720"/>
                </a:moveTo>
                <a:cubicBezTo>
                  <a:pt x="21600" y="323"/>
                  <a:pt x="21380" y="0"/>
                  <a:pt x="21109" y="0"/>
                </a:cubicBezTo>
                <a:cubicBezTo>
                  <a:pt x="20969" y="0"/>
                  <a:pt x="20845" y="88"/>
                  <a:pt x="20756" y="226"/>
                </a:cubicBezTo>
                <a:lnTo>
                  <a:pt x="20754" y="223"/>
                </a:lnTo>
                <a:lnTo>
                  <a:pt x="7848" y="19853"/>
                </a:lnTo>
                <a:lnTo>
                  <a:pt x="838" y="9571"/>
                </a:lnTo>
                <a:cubicBezTo>
                  <a:pt x="749" y="9441"/>
                  <a:pt x="626" y="9360"/>
                  <a:pt x="491" y="9360"/>
                </a:cubicBezTo>
                <a:cubicBezTo>
                  <a:pt x="220" y="9360"/>
                  <a:pt x="0" y="9683"/>
                  <a:pt x="0" y="10080"/>
                </a:cubicBezTo>
                <a:cubicBezTo>
                  <a:pt x="0" y="10279"/>
                  <a:pt x="55" y="10459"/>
                  <a:pt x="144" y="10589"/>
                </a:cubicBezTo>
                <a:lnTo>
                  <a:pt x="7507" y="21390"/>
                </a:lnTo>
                <a:cubicBezTo>
                  <a:pt x="7596" y="21520"/>
                  <a:pt x="7719" y="21600"/>
                  <a:pt x="7855" y="21600"/>
                </a:cubicBezTo>
                <a:cubicBezTo>
                  <a:pt x="7995" y="21600"/>
                  <a:pt x="8119" y="21513"/>
                  <a:pt x="8208" y="21376"/>
                </a:cubicBezTo>
                <a:lnTo>
                  <a:pt x="8210" y="21377"/>
                </a:lnTo>
                <a:lnTo>
                  <a:pt x="21465" y="1217"/>
                </a:lnTo>
                <a:lnTo>
                  <a:pt x="21462" y="1215"/>
                </a:lnTo>
                <a:cubicBezTo>
                  <a:pt x="21547" y="1087"/>
                  <a:pt x="21600" y="913"/>
                  <a:pt x="21600" y="720"/>
                </a:cubicBezTo>
              </a:path>
            </a:pathLst>
          </a:custGeom>
          <a:solidFill>
            <a:srgbClr val="92D050"/>
          </a:solidFill>
          <a:ln w="12700">
            <a:solidFill>
              <a:srgbClr val="92D050"/>
            </a:solidFill>
            <a:miter lim="400000"/>
          </a:ln>
        </p:spPr>
        <p:txBody>
          <a:bodyPr lIns="19045" tIns="19045" rIns="19045" bIns="19045" anchor="ctr"/>
          <a:lstStyle/>
          <a:p>
            <a:pPr defTabSz="228526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1500">
              <a:solidFill>
                <a:srgbClr val="92D050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latin typeface="Gill Sans"/>
              <a:ea typeface="Calibri" charset="0"/>
              <a:cs typeface="Calibri" charset="0"/>
              <a:sym typeface="Gill Sans"/>
            </a:endParaRPr>
          </a:p>
        </p:txBody>
      </p:sp>
      <p:sp>
        <p:nvSpPr>
          <p:cNvPr id="15" name="Shape 2541">
            <a:extLst>
              <a:ext uri="{FF2B5EF4-FFF2-40B4-BE49-F238E27FC236}">
                <a16:creationId xmlns:a16="http://schemas.microsoft.com/office/drawing/2014/main" id="{CDEE6DB3-63ED-164B-9A02-F2AB66F0C5E8}"/>
              </a:ext>
            </a:extLst>
          </p:cNvPr>
          <p:cNvSpPr/>
          <p:nvPr/>
        </p:nvSpPr>
        <p:spPr>
          <a:xfrm>
            <a:off x="8676996" y="1171981"/>
            <a:ext cx="648853" cy="64885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1648" y="10800"/>
                </a:moveTo>
                <a:lnTo>
                  <a:pt x="21424" y="1024"/>
                </a:lnTo>
                <a:cubicBezTo>
                  <a:pt x="21533" y="916"/>
                  <a:pt x="21600" y="766"/>
                  <a:pt x="21600" y="600"/>
                </a:cubicBezTo>
                <a:cubicBezTo>
                  <a:pt x="21600" y="269"/>
                  <a:pt x="21332" y="0"/>
                  <a:pt x="21000" y="0"/>
                </a:cubicBezTo>
                <a:cubicBezTo>
                  <a:pt x="20835" y="0"/>
                  <a:pt x="20685" y="67"/>
                  <a:pt x="20576" y="176"/>
                </a:cubicBezTo>
                <a:lnTo>
                  <a:pt x="10800" y="9952"/>
                </a:lnTo>
                <a:lnTo>
                  <a:pt x="1024" y="176"/>
                </a:lnTo>
                <a:cubicBezTo>
                  <a:pt x="916" y="67"/>
                  <a:pt x="766" y="0"/>
                  <a:pt x="600" y="0"/>
                </a:cubicBezTo>
                <a:cubicBezTo>
                  <a:pt x="268" y="0"/>
                  <a:pt x="0" y="269"/>
                  <a:pt x="0" y="600"/>
                </a:cubicBezTo>
                <a:cubicBezTo>
                  <a:pt x="0" y="766"/>
                  <a:pt x="67" y="916"/>
                  <a:pt x="176" y="1025"/>
                </a:cubicBezTo>
                <a:lnTo>
                  <a:pt x="9952" y="10800"/>
                </a:lnTo>
                <a:lnTo>
                  <a:pt x="176" y="20576"/>
                </a:lnTo>
                <a:cubicBezTo>
                  <a:pt x="67" y="20684"/>
                  <a:pt x="0" y="20834"/>
                  <a:pt x="0" y="21000"/>
                </a:cubicBezTo>
                <a:cubicBezTo>
                  <a:pt x="0" y="21332"/>
                  <a:pt x="268" y="21600"/>
                  <a:pt x="600" y="21600"/>
                </a:cubicBezTo>
                <a:cubicBezTo>
                  <a:pt x="766" y="21600"/>
                  <a:pt x="916" y="21533"/>
                  <a:pt x="1024" y="21424"/>
                </a:cubicBezTo>
                <a:lnTo>
                  <a:pt x="10800" y="11648"/>
                </a:lnTo>
                <a:lnTo>
                  <a:pt x="20576" y="21424"/>
                </a:lnTo>
                <a:cubicBezTo>
                  <a:pt x="20685" y="21533"/>
                  <a:pt x="20835" y="21600"/>
                  <a:pt x="21000" y="21600"/>
                </a:cubicBezTo>
                <a:cubicBezTo>
                  <a:pt x="21332" y="21600"/>
                  <a:pt x="21600" y="21332"/>
                  <a:pt x="21600" y="21000"/>
                </a:cubicBezTo>
                <a:cubicBezTo>
                  <a:pt x="21600" y="20834"/>
                  <a:pt x="21533" y="20684"/>
                  <a:pt x="21424" y="20576"/>
                </a:cubicBezTo>
                <a:cubicBezTo>
                  <a:pt x="21424" y="20576"/>
                  <a:pt x="11648" y="10800"/>
                  <a:pt x="11648" y="10800"/>
                </a:cubicBezTo>
                <a:close/>
              </a:path>
            </a:pathLst>
          </a:custGeom>
          <a:solidFill>
            <a:srgbClr val="C00000"/>
          </a:solidFill>
          <a:ln w="12700">
            <a:solidFill>
              <a:srgbClr val="C00000"/>
            </a:solidFill>
            <a:miter lim="400000"/>
          </a:ln>
        </p:spPr>
        <p:txBody>
          <a:bodyPr lIns="19045" tIns="19045" rIns="19045" bIns="19045" anchor="ctr"/>
          <a:lstStyle/>
          <a:p>
            <a:pPr defTabSz="228526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15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latin typeface="Gill Sans"/>
              <a:ea typeface="Calibri" charset="0"/>
              <a:cs typeface="Calibri" charset="0"/>
              <a:sym typeface="Gill Sans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152CECF-A242-7004-3B18-4A4F5198EC44}"/>
              </a:ext>
            </a:extLst>
          </p:cNvPr>
          <p:cNvSpPr txBox="1"/>
          <p:nvPr/>
        </p:nvSpPr>
        <p:spPr>
          <a:xfrm>
            <a:off x="432338" y="2161188"/>
            <a:ext cx="47689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rPr>
              <a:t>Ежегодный опрос удовлетворенности</a:t>
            </a:r>
            <a:endParaRPr lang="ru-RU" sz="2400" dirty="0">
              <a:solidFill>
                <a:schemeClr val="tx1">
                  <a:lumMod val="85000"/>
                  <a:lumOff val="15000"/>
                </a:schemeClr>
              </a:solidFill>
              <a:latin typeface="Inter Variable Text" panose="02000503000000020004" pitchFamily="2" charset="0"/>
              <a:ea typeface="Inter Variable Text" panose="02000503000000020004" pitchFamily="2" charset="0"/>
              <a:cs typeface="Inter Variable Text" panose="02000503000000020004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152CECF-A242-7004-3B18-4A4F5198EC44}"/>
              </a:ext>
            </a:extLst>
          </p:cNvPr>
          <p:cNvSpPr txBox="1"/>
          <p:nvPr/>
        </p:nvSpPr>
        <p:spPr>
          <a:xfrm>
            <a:off x="432339" y="3315431"/>
            <a:ext cx="476892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rPr>
              <a:t>Поддерживающие мероприятия:</a:t>
            </a:r>
          </a:p>
          <a:p>
            <a:pPr marL="342900" indent="-342900" algn="ctr">
              <a:buFontTx/>
              <a:buChar char="-"/>
            </a:pPr>
            <a:r>
              <a:rPr lang="ru-RU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rPr>
              <a:t>с</a:t>
            </a:r>
            <a:r>
              <a:rPr lang="ru-RU" sz="24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rPr>
              <a:t>портивные секции</a:t>
            </a:r>
          </a:p>
          <a:p>
            <a:pPr marL="342900" indent="-342900" algn="ctr">
              <a:buFontTx/>
              <a:buChar char="-"/>
            </a:pPr>
            <a:r>
              <a:rPr lang="ru-RU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rPr>
              <a:t>к</a:t>
            </a:r>
            <a:r>
              <a:rPr lang="ru-RU" sz="24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rPr>
              <a:t>ружки по интересам</a:t>
            </a:r>
          </a:p>
          <a:p>
            <a:pPr marL="342900" indent="-342900" algn="ctr">
              <a:buFontTx/>
              <a:buChar char="-"/>
            </a:pPr>
            <a:r>
              <a:rPr lang="ru-RU" sz="24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rPr>
              <a:t>обучения</a:t>
            </a:r>
            <a:endParaRPr lang="ru-RU" sz="2400" dirty="0">
              <a:solidFill>
                <a:schemeClr val="tx1">
                  <a:lumMod val="85000"/>
                  <a:lumOff val="15000"/>
                </a:schemeClr>
              </a:solidFill>
              <a:latin typeface="Inter Variable Text" panose="02000503000000020004" pitchFamily="2" charset="0"/>
              <a:ea typeface="Inter Variable Text" panose="02000503000000020004" pitchFamily="2" charset="0"/>
              <a:cs typeface="Inter Variable Text" panose="02000503000000020004" pitchFamily="2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52CECF-A242-7004-3B18-4A4F5198EC44}"/>
              </a:ext>
            </a:extLst>
          </p:cNvPr>
          <p:cNvSpPr txBox="1"/>
          <p:nvPr/>
        </p:nvSpPr>
        <p:spPr>
          <a:xfrm>
            <a:off x="6116339" y="2209418"/>
            <a:ext cx="577016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rPr>
              <a:t>Отсутствие специализированного инструмента диагностики</a:t>
            </a:r>
            <a:endParaRPr lang="ru-RU" sz="2400" dirty="0">
              <a:solidFill>
                <a:schemeClr val="tx1">
                  <a:lumMod val="85000"/>
                  <a:lumOff val="15000"/>
                </a:schemeClr>
              </a:solidFill>
              <a:latin typeface="Inter Variable Text" panose="02000503000000020004" pitchFamily="2" charset="0"/>
              <a:ea typeface="Inter Variable Text" panose="02000503000000020004" pitchFamily="2" charset="0"/>
              <a:cs typeface="Inter Variable Text" panose="02000503000000020004" pitchFamily="2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152CECF-A242-7004-3B18-4A4F5198EC44}"/>
              </a:ext>
            </a:extLst>
          </p:cNvPr>
          <p:cNvSpPr txBox="1"/>
          <p:nvPr/>
        </p:nvSpPr>
        <p:spPr>
          <a:xfrm>
            <a:off x="6719309" y="3429000"/>
            <a:ext cx="47689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rPr>
              <a:t>Низкая частота измерений</a:t>
            </a:r>
            <a:endParaRPr lang="ru-RU" sz="2400" dirty="0">
              <a:solidFill>
                <a:schemeClr val="tx1">
                  <a:lumMod val="85000"/>
                  <a:lumOff val="15000"/>
                </a:schemeClr>
              </a:solidFill>
              <a:latin typeface="Inter Variable Text" panose="02000503000000020004" pitchFamily="2" charset="0"/>
              <a:ea typeface="Inter Variable Text" panose="02000503000000020004" pitchFamily="2" charset="0"/>
              <a:cs typeface="Inter Variable Text" panose="02000503000000020004" pitchFamily="2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152CECF-A242-7004-3B18-4A4F5198EC44}"/>
              </a:ext>
            </a:extLst>
          </p:cNvPr>
          <p:cNvSpPr txBox="1"/>
          <p:nvPr/>
        </p:nvSpPr>
        <p:spPr>
          <a:xfrm>
            <a:off x="6096000" y="4284927"/>
            <a:ext cx="60155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rPr>
              <a:t>Отсутствие анализа косвенных индикаторов выгорания</a:t>
            </a:r>
            <a:endParaRPr lang="ru-RU" sz="2400" dirty="0">
              <a:solidFill>
                <a:schemeClr val="tx1">
                  <a:lumMod val="85000"/>
                  <a:lumOff val="15000"/>
                </a:schemeClr>
              </a:solidFill>
              <a:latin typeface="Inter Variable Text" panose="02000503000000020004" pitchFamily="2" charset="0"/>
              <a:ea typeface="Inter Variable Text" panose="02000503000000020004" pitchFamily="2" charset="0"/>
              <a:cs typeface="Inter Variable Text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87271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9CA8C-E8D0-CA67-ACB1-468BFAE71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079E5E9-341A-934C-B63C-39D6E0EBE68A}"/>
              </a:ext>
            </a:extLst>
          </p:cNvPr>
          <p:cNvSpPr txBox="1"/>
          <p:nvPr/>
        </p:nvSpPr>
        <p:spPr>
          <a:xfrm>
            <a:off x="4179794" y="273858"/>
            <a:ext cx="59025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 smtClean="0">
                <a:solidFill>
                  <a:srgbClr val="274E9C"/>
                </a:solidFill>
                <a:latin typeface="Inter Variable Text Medium" panose="02000503000000020004" pitchFamily="2" charset="0"/>
                <a:ea typeface="Inter Variable Text Medium" panose="02000503000000020004" pitchFamily="2" charset="0"/>
                <a:cs typeface="Inter Variable Text Medium" panose="02000503000000020004" pitchFamily="2" charset="0"/>
              </a:rPr>
              <a:t>Программные средства</a:t>
            </a:r>
            <a:endParaRPr lang="ru-RU" sz="3600" dirty="0">
              <a:solidFill>
                <a:srgbClr val="274E9C"/>
              </a:solidFill>
              <a:latin typeface="Inter Variable Text Medium" panose="02000503000000020004" pitchFamily="2" charset="0"/>
              <a:ea typeface="Inter Variable Text Medium" panose="02000503000000020004" pitchFamily="2" charset="0"/>
              <a:cs typeface="Inter Variable Text Medium" panose="02000503000000020004" pitchFamily="2" charset="0"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8B06BEAF-306F-5AB4-1249-32A40BC992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grpSp>
        <p:nvGrpSpPr>
          <p:cNvPr id="32" name="Группа 31">
            <a:extLst>
              <a:ext uri="{FF2B5EF4-FFF2-40B4-BE49-F238E27FC236}">
                <a16:creationId xmlns:a16="http://schemas.microsoft.com/office/drawing/2014/main" id="{869F90AB-5735-7F50-0EBD-CC3A89330D8C}"/>
              </a:ext>
            </a:extLst>
          </p:cNvPr>
          <p:cNvGrpSpPr/>
          <p:nvPr/>
        </p:nvGrpSpPr>
        <p:grpSpPr>
          <a:xfrm>
            <a:off x="11641128" y="6312477"/>
            <a:ext cx="490760" cy="490760"/>
            <a:chOff x="11383518" y="6084717"/>
            <a:chExt cx="618259" cy="618259"/>
          </a:xfrm>
        </p:grpSpPr>
        <p:sp>
          <p:nvSpPr>
            <p:cNvPr id="30" name="Прямоугольник: скругленные углы 29">
              <a:extLst>
                <a:ext uri="{FF2B5EF4-FFF2-40B4-BE49-F238E27FC236}">
                  <a16:creationId xmlns:a16="http://schemas.microsoft.com/office/drawing/2014/main" id="{58CF9463-A938-00E1-CB8B-930897804B5B}"/>
                </a:ext>
              </a:extLst>
            </p:cNvPr>
            <p:cNvSpPr/>
            <p:nvPr/>
          </p:nvSpPr>
          <p:spPr>
            <a:xfrm>
              <a:off x="11383518" y="6084717"/>
              <a:ext cx="618259" cy="618259"/>
            </a:xfrm>
            <a:prstGeom prst="roundRect">
              <a:avLst/>
            </a:prstGeom>
            <a:solidFill>
              <a:srgbClr val="1A3773"/>
            </a:solidFill>
            <a:ln>
              <a:solidFill>
                <a:srgbClr val="1A3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CAEE406-3186-9523-B123-A3C59D5340DC}"/>
                </a:ext>
              </a:extLst>
            </p:cNvPr>
            <p:cNvSpPr txBox="1"/>
            <p:nvPr/>
          </p:nvSpPr>
          <p:spPr>
            <a:xfrm>
              <a:off x="11508348" y="6199977"/>
              <a:ext cx="368600" cy="38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/>
                  </a:solidFill>
                  <a:latin typeface="Inter Variable Text" panose="02000503000000020004" pitchFamily="2" charset="0"/>
                  <a:ea typeface="Inter Variable Text" panose="02000503000000020004" pitchFamily="2" charset="0"/>
                  <a:cs typeface="Inter Variable Text" panose="02000503000000020004" pitchFamily="2" charset="0"/>
                </a:rPr>
                <a:t>3</a:t>
              </a:r>
              <a:endParaRPr lang="en-US" sz="1400" dirty="0">
                <a:solidFill>
                  <a:schemeClr val="bg1"/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endParaRPr>
            </a:p>
          </p:txBody>
        </p:sp>
      </p:grpSp>
      <p:pic>
        <p:nvPicPr>
          <p:cNvPr id="1026" name="Picture 2" descr="Picture background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63" y="1737457"/>
            <a:ext cx="2852873" cy="6491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Прямоугольник 2"/>
          <p:cNvSpPr/>
          <p:nvPr/>
        </p:nvSpPr>
        <p:spPr>
          <a:xfrm>
            <a:off x="4179794" y="1351301"/>
            <a:ext cx="7771413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447675"/>
            <a:r>
              <a:rPr lang="ru-RU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rPr>
              <a:t>Для обеспечения изолированного развертывания компонентов системы внутри корпоративного контура используется </a:t>
            </a:r>
            <a:r>
              <a:rPr lang="ru-RU" sz="24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rPr>
              <a:t>контейнеризация</a:t>
            </a:r>
            <a:r>
              <a:rPr lang="ru-RU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rPr>
              <a:t> </a:t>
            </a:r>
            <a:r>
              <a:rPr lang="ru-RU" sz="24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rPr>
              <a:t>с помощью </a:t>
            </a:r>
            <a:r>
              <a:rPr lang="ru-RU" sz="2400" dirty="0" err="1" smtClean="0">
                <a:solidFill>
                  <a:schemeClr val="tx1">
                    <a:lumMod val="85000"/>
                    <a:lumOff val="15000"/>
                  </a:schemeClr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rPr>
              <a:t>Docker</a:t>
            </a:r>
            <a:r>
              <a:rPr lang="ru-RU" sz="24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rPr>
              <a:t>. </a:t>
            </a:r>
            <a:endParaRPr lang="ru-RU" sz="2400" dirty="0">
              <a:solidFill>
                <a:schemeClr val="tx1">
                  <a:lumMod val="85000"/>
                  <a:lumOff val="15000"/>
                </a:schemeClr>
              </a:solidFill>
              <a:latin typeface="Inter Variable Text" panose="02000503000000020004" pitchFamily="2" charset="0"/>
              <a:ea typeface="Inter Variable Text" panose="02000503000000020004" pitchFamily="2" charset="0"/>
              <a:cs typeface="Inter Variable Text" panose="02000503000000020004" pitchFamily="2" charset="0"/>
            </a:endParaRPr>
          </a:p>
        </p:txBody>
      </p:sp>
      <p:sp>
        <p:nvSpPr>
          <p:cNvPr id="21" name="Shape 2554">
            <a:extLst>
              <a:ext uri="{FF2B5EF4-FFF2-40B4-BE49-F238E27FC236}">
                <a16:creationId xmlns:a16="http://schemas.microsoft.com/office/drawing/2014/main" id="{B04D2D18-0141-AF48-A2DD-4EE380FE45EB}"/>
              </a:ext>
            </a:extLst>
          </p:cNvPr>
          <p:cNvSpPr/>
          <p:nvPr/>
        </p:nvSpPr>
        <p:spPr>
          <a:xfrm>
            <a:off x="10082372" y="3895344"/>
            <a:ext cx="1418234" cy="128930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7855" y="18900"/>
                </a:moveTo>
                <a:cubicBezTo>
                  <a:pt x="7279" y="18900"/>
                  <a:pt x="6684" y="18827"/>
                  <a:pt x="6086" y="18683"/>
                </a:cubicBezTo>
                <a:cubicBezTo>
                  <a:pt x="6017" y="18666"/>
                  <a:pt x="5946" y="18658"/>
                  <a:pt x="5876" y="18658"/>
                </a:cubicBezTo>
                <a:cubicBezTo>
                  <a:pt x="5756" y="18658"/>
                  <a:pt x="5636" y="18682"/>
                  <a:pt x="5523" y="18729"/>
                </a:cubicBezTo>
                <a:lnTo>
                  <a:pt x="2957" y="19815"/>
                </a:lnTo>
                <a:lnTo>
                  <a:pt x="3365" y="18243"/>
                </a:lnTo>
                <a:cubicBezTo>
                  <a:pt x="3474" y="17827"/>
                  <a:pt x="3345" y="17380"/>
                  <a:pt x="3039" y="17108"/>
                </a:cubicBezTo>
                <a:cubicBezTo>
                  <a:pt x="1712" y="15926"/>
                  <a:pt x="982" y="14358"/>
                  <a:pt x="982" y="12690"/>
                </a:cubicBezTo>
                <a:cubicBezTo>
                  <a:pt x="982" y="9266"/>
                  <a:pt x="4065" y="6480"/>
                  <a:pt x="7855" y="6480"/>
                </a:cubicBezTo>
                <a:cubicBezTo>
                  <a:pt x="11644" y="6480"/>
                  <a:pt x="14727" y="9266"/>
                  <a:pt x="14727" y="12690"/>
                </a:cubicBezTo>
                <a:cubicBezTo>
                  <a:pt x="14727" y="16114"/>
                  <a:pt x="11644" y="18900"/>
                  <a:pt x="7855" y="18900"/>
                </a:cubicBezTo>
                <a:moveTo>
                  <a:pt x="7855" y="5400"/>
                </a:moveTo>
                <a:cubicBezTo>
                  <a:pt x="3517" y="5400"/>
                  <a:pt x="0" y="8664"/>
                  <a:pt x="0" y="12690"/>
                </a:cubicBezTo>
                <a:cubicBezTo>
                  <a:pt x="0" y="14758"/>
                  <a:pt x="932" y="16620"/>
                  <a:pt x="2422" y="17947"/>
                </a:cubicBezTo>
                <a:lnTo>
                  <a:pt x="1473" y="21600"/>
                </a:lnTo>
                <a:lnTo>
                  <a:pt x="5876" y="19738"/>
                </a:lnTo>
                <a:cubicBezTo>
                  <a:pt x="6509" y="19891"/>
                  <a:pt x="7169" y="19980"/>
                  <a:pt x="7855" y="19980"/>
                </a:cubicBezTo>
                <a:cubicBezTo>
                  <a:pt x="12192" y="19980"/>
                  <a:pt x="15709" y="16716"/>
                  <a:pt x="15709" y="12690"/>
                </a:cubicBezTo>
                <a:cubicBezTo>
                  <a:pt x="15709" y="8664"/>
                  <a:pt x="12192" y="5400"/>
                  <a:pt x="7855" y="5400"/>
                </a:cubicBezTo>
                <a:moveTo>
                  <a:pt x="21600" y="7290"/>
                </a:moveTo>
                <a:cubicBezTo>
                  <a:pt x="21600" y="3264"/>
                  <a:pt x="18084" y="0"/>
                  <a:pt x="13745" y="0"/>
                </a:cubicBezTo>
                <a:cubicBezTo>
                  <a:pt x="10506" y="0"/>
                  <a:pt x="7725" y="1821"/>
                  <a:pt x="6525" y="4422"/>
                </a:cubicBezTo>
                <a:cubicBezTo>
                  <a:pt x="6912" y="4367"/>
                  <a:pt x="7306" y="4332"/>
                  <a:pt x="7708" y="4326"/>
                </a:cubicBezTo>
                <a:cubicBezTo>
                  <a:pt x="8875" y="2394"/>
                  <a:pt x="11143" y="1080"/>
                  <a:pt x="13745" y="1080"/>
                </a:cubicBezTo>
                <a:cubicBezTo>
                  <a:pt x="17535" y="1080"/>
                  <a:pt x="20618" y="3866"/>
                  <a:pt x="20618" y="7290"/>
                </a:cubicBezTo>
                <a:cubicBezTo>
                  <a:pt x="20618" y="8958"/>
                  <a:pt x="19888" y="10526"/>
                  <a:pt x="18561" y="11707"/>
                </a:cubicBezTo>
                <a:cubicBezTo>
                  <a:pt x="18255" y="11980"/>
                  <a:pt x="18126" y="12428"/>
                  <a:pt x="18234" y="12843"/>
                </a:cubicBezTo>
                <a:lnTo>
                  <a:pt x="18643" y="14415"/>
                </a:lnTo>
                <a:lnTo>
                  <a:pt x="16613" y="13556"/>
                </a:lnTo>
                <a:cubicBezTo>
                  <a:pt x="16573" y="13922"/>
                  <a:pt x="16500" y="14278"/>
                  <a:pt x="16411" y="14628"/>
                </a:cubicBezTo>
                <a:lnTo>
                  <a:pt x="20127" y="16200"/>
                </a:lnTo>
                <a:lnTo>
                  <a:pt x="19178" y="12547"/>
                </a:lnTo>
                <a:cubicBezTo>
                  <a:pt x="20669" y="11220"/>
                  <a:pt x="21600" y="9358"/>
                  <a:pt x="21600" y="7290"/>
                </a:cubicBezTo>
              </a:path>
            </a:pathLst>
          </a:custGeom>
          <a:solidFill>
            <a:srgbClr val="274E9C"/>
          </a:solidFill>
          <a:ln w="12700">
            <a:solidFill>
              <a:srgbClr val="274E9C"/>
            </a:solidFill>
            <a:miter lim="400000"/>
          </a:ln>
        </p:spPr>
        <p:txBody>
          <a:bodyPr lIns="19045" tIns="19045" rIns="19045" bIns="19045" anchor="ctr"/>
          <a:lstStyle/>
          <a:p>
            <a:pPr defTabSz="228526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15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latin typeface="Gill Sans"/>
              <a:ea typeface="Calibri" charset="0"/>
              <a:cs typeface="Calibri" charset="0"/>
              <a:sym typeface="Gill Sans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448056" y="3647223"/>
            <a:ext cx="8970264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447675"/>
            <a:r>
              <a:rPr lang="ru-RU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rPr>
              <a:t>Для задачи анализа корпоративных коммуникаций </a:t>
            </a:r>
            <a:r>
              <a:rPr lang="ru-RU" sz="24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rPr>
              <a:t>используется </a:t>
            </a:r>
            <a:r>
              <a:rPr lang="ru-RU" sz="2400" dirty="0" err="1" smtClean="0">
                <a:solidFill>
                  <a:schemeClr val="tx1">
                    <a:lumMod val="85000"/>
                    <a:lumOff val="15000"/>
                  </a:schemeClr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rPr>
              <a:t>Conversational</a:t>
            </a:r>
            <a:r>
              <a:rPr lang="ru-RU" sz="24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rPr>
              <a:t> </a:t>
            </a:r>
            <a:r>
              <a:rPr lang="ru-RU" sz="24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rPr>
              <a:t>RuBERT</a:t>
            </a:r>
            <a:r>
              <a:rPr lang="ru-RU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rPr>
              <a:t>. Эта </a:t>
            </a:r>
            <a:r>
              <a:rPr lang="ru-RU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rPr>
              <a:t>модель специально </a:t>
            </a:r>
            <a:r>
              <a:rPr lang="ru-RU" sz="24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rPr>
              <a:t>предобучена</a:t>
            </a:r>
            <a:r>
              <a:rPr lang="ru-RU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rPr>
              <a:t> на диалогах и неформальных текстах, что соответствует специфике сообщений в корпоративных чатах.</a:t>
            </a:r>
          </a:p>
        </p:txBody>
      </p:sp>
    </p:spTree>
    <p:extLst>
      <p:ext uri="{BB962C8B-B14F-4D97-AF65-F5344CB8AC3E}">
        <p14:creationId xmlns:p14="http://schemas.microsoft.com/office/powerpoint/2010/main" val="3622541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9CA8C-E8D0-CA67-ACB1-468BFAE71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079E5E9-341A-934C-B63C-39D6E0EBE68A}"/>
              </a:ext>
            </a:extLst>
          </p:cNvPr>
          <p:cNvSpPr txBox="1"/>
          <p:nvPr/>
        </p:nvSpPr>
        <p:spPr>
          <a:xfrm>
            <a:off x="4179794" y="273858"/>
            <a:ext cx="59025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 smtClean="0">
                <a:solidFill>
                  <a:srgbClr val="274E9C"/>
                </a:solidFill>
                <a:latin typeface="Inter Variable Text Medium" panose="02000503000000020004" pitchFamily="2" charset="0"/>
                <a:ea typeface="Inter Variable Text Medium" panose="02000503000000020004" pitchFamily="2" charset="0"/>
                <a:cs typeface="Inter Variable Text Medium" panose="02000503000000020004" pitchFamily="2" charset="0"/>
              </a:rPr>
              <a:t>Программные средства</a:t>
            </a:r>
            <a:endParaRPr lang="ru-RU" sz="3600" dirty="0">
              <a:solidFill>
                <a:srgbClr val="274E9C"/>
              </a:solidFill>
              <a:latin typeface="Inter Variable Text Medium" panose="02000503000000020004" pitchFamily="2" charset="0"/>
              <a:ea typeface="Inter Variable Text Medium" panose="02000503000000020004" pitchFamily="2" charset="0"/>
              <a:cs typeface="Inter Variable Text Medium" panose="02000503000000020004" pitchFamily="2" charset="0"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8B06BEAF-306F-5AB4-1249-32A40BC992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grpSp>
        <p:nvGrpSpPr>
          <p:cNvPr id="32" name="Группа 31">
            <a:extLst>
              <a:ext uri="{FF2B5EF4-FFF2-40B4-BE49-F238E27FC236}">
                <a16:creationId xmlns:a16="http://schemas.microsoft.com/office/drawing/2014/main" id="{869F90AB-5735-7F50-0EBD-CC3A89330D8C}"/>
              </a:ext>
            </a:extLst>
          </p:cNvPr>
          <p:cNvGrpSpPr/>
          <p:nvPr/>
        </p:nvGrpSpPr>
        <p:grpSpPr>
          <a:xfrm>
            <a:off x="11641128" y="6312477"/>
            <a:ext cx="490760" cy="490760"/>
            <a:chOff x="11383518" y="6084717"/>
            <a:chExt cx="618259" cy="618259"/>
          </a:xfrm>
        </p:grpSpPr>
        <p:sp>
          <p:nvSpPr>
            <p:cNvPr id="30" name="Прямоугольник: скругленные углы 29">
              <a:extLst>
                <a:ext uri="{FF2B5EF4-FFF2-40B4-BE49-F238E27FC236}">
                  <a16:creationId xmlns:a16="http://schemas.microsoft.com/office/drawing/2014/main" id="{58CF9463-A938-00E1-CB8B-930897804B5B}"/>
                </a:ext>
              </a:extLst>
            </p:cNvPr>
            <p:cNvSpPr/>
            <p:nvPr/>
          </p:nvSpPr>
          <p:spPr>
            <a:xfrm>
              <a:off x="11383518" y="6084717"/>
              <a:ext cx="618259" cy="618259"/>
            </a:xfrm>
            <a:prstGeom prst="roundRect">
              <a:avLst/>
            </a:prstGeom>
            <a:solidFill>
              <a:srgbClr val="1A3773"/>
            </a:solidFill>
            <a:ln>
              <a:solidFill>
                <a:srgbClr val="1A3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CAEE406-3186-9523-B123-A3C59D5340DC}"/>
                </a:ext>
              </a:extLst>
            </p:cNvPr>
            <p:cNvSpPr txBox="1"/>
            <p:nvPr/>
          </p:nvSpPr>
          <p:spPr>
            <a:xfrm>
              <a:off x="11508348" y="6199977"/>
              <a:ext cx="368600" cy="38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/>
                  </a:solidFill>
                  <a:latin typeface="Inter Variable Text" panose="02000503000000020004" pitchFamily="2" charset="0"/>
                  <a:ea typeface="Inter Variable Text" panose="02000503000000020004" pitchFamily="2" charset="0"/>
                  <a:cs typeface="Inter Variable Text" panose="02000503000000020004" pitchFamily="2" charset="0"/>
                </a:rPr>
                <a:t>3</a:t>
              </a:r>
              <a:endParaRPr lang="en-US" sz="1400" dirty="0">
                <a:solidFill>
                  <a:schemeClr val="bg1"/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endParaRPr>
            </a:p>
          </p:txBody>
        </p:sp>
      </p:grpSp>
      <p:sp>
        <p:nvSpPr>
          <p:cNvPr id="3" name="Прямоугольник 2"/>
          <p:cNvSpPr/>
          <p:nvPr/>
        </p:nvSpPr>
        <p:spPr>
          <a:xfrm>
            <a:off x="4627850" y="1351301"/>
            <a:ext cx="7771413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447675"/>
            <a:r>
              <a:rPr lang="en-US" sz="24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rPr>
              <a:t>Python </a:t>
            </a:r>
            <a:r>
              <a:rPr lang="ru-RU" sz="24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rPr>
              <a:t>высокоуровневый </a:t>
            </a:r>
            <a:r>
              <a:rPr lang="ru-RU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rPr>
              <a:t>язык программирования общего назначения с динамической строгой типизацией и автоматическим управлением памятью.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429768" y="3841923"/>
            <a:ext cx="8970264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447675"/>
            <a:r>
              <a:rPr lang="ru-RU" sz="24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rPr>
              <a:t>PostgreSQL</a:t>
            </a:r>
            <a:r>
              <a:rPr lang="ru-RU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rPr>
              <a:t> </a:t>
            </a:r>
            <a:r>
              <a:rPr lang="ru-RU" sz="24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rPr>
              <a:t>оптимальн</a:t>
            </a:r>
            <a:r>
              <a:rPr lang="ru-RU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rPr>
              <a:t>о</a:t>
            </a:r>
            <a:r>
              <a:rPr lang="ru-RU" sz="24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rPr>
              <a:t> сочетает в себе надежность</a:t>
            </a:r>
            <a:r>
              <a:rPr lang="ru-RU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rPr>
              <a:t>, производительность, поддержка сложных запросов, наличие типа JSONB для гибкого хранения результатов анализа, развитая экосистема и инструменты администрирования. </a:t>
            </a:r>
            <a:endParaRPr lang="ru-RU" sz="2400" dirty="0">
              <a:solidFill>
                <a:schemeClr val="tx1">
                  <a:lumMod val="85000"/>
                  <a:lumOff val="15000"/>
                </a:schemeClr>
              </a:solidFill>
              <a:latin typeface="Inter Variable Text" panose="02000503000000020004" pitchFamily="2" charset="0"/>
              <a:ea typeface="Inter Variable Text" panose="02000503000000020004" pitchFamily="2" charset="0"/>
              <a:cs typeface="Inter Variable Text" panose="02000503000000020004" pitchFamily="2" charset="0"/>
            </a:endParaRPr>
          </a:p>
        </p:txBody>
      </p:sp>
      <p:pic>
        <p:nvPicPr>
          <p:cNvPr id="2050" name="Picture 2" descr="Picture background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2002" y="1126402"/>
            <a:ext cx="2098935" cy="20989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Picture background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25756" y="3956078"/>
            <a:ext cx="1768252" cy="1824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916651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726CE-5435-5A21-58A9-D2AAA4911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562EB5D-F46C-E526-4460-5B7562D4BD08}"/>
              </a:ext>
            </a:extLst>
          </p:cNvPr>
          <p:cNvSpPr txBox="1"/>
          <p:nvPr/>
        </p:nvSpPr>
        <p:spPr>
          <a:xfrm>
            <a:off x="3841466" y="76046"/>
            <a:ext cx="679300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 smtClean="0">
                <a:solidFill>
                  <a:srgbClr val="274E9C"/>
                </a:solidFill>
                <a:latin typeface="Inter Variable Text Medium" panose="02000503000000020004" pitchFamily="2" charset="0"/>
                <a:ea typeface="Inter Variable Text Medium" panose="02000503000000020004" pitchFamily="2" charset="0"/>
                <a:cs typeface="Inter Variable Text Medium" panose="02000503000000020004" pitchFamily="2" charset="0"/>
              </a:rPr>
              <a:t>Оценка экономической эффективности</a:t>
            </a:r>
            <a:endParaRPr lang="ru-RU" sz="3600" dirty="0">
              <a:solidFill>
                <a:srgbClr val="274E9C"/>
              </a:solidFill>
              <a:latin typeface="Inter Variable Text Medium" panose="02000503000000020004" pitchFamily="2" charset="0"/>
              <a:ea typeface="Inter Variable Text Medium" panose="02000503000000020004" pitchFamily="2" charset="0"/>
              <a:cs typeface="Inter Variable Text Medium" panose="02000503000000020004" pitchFamily="2" charset="0"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C6AA96AB-E05F-1C53-92DC-87697C618E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AB22CAB9-BABD-EA76-0AB5-0EF9EDCA7336}"/>
              </a:ext>
            </a:extLst>
          </p:cNvPr>
          <p:cNvGrpSpPr/>
          <p:nvPr/>
        </p:nvGrpSpPr>
        <p:grpSpPr>
          <a:xfrm>
            <a:off x="11641128" y="6312477"/>
            <a:ext cx="490760" cy="490760"/>
            <a:chOff x="11383518" y="6084717"/>
            <a:chExt cx="618259" cy="618259"/>
          </a:xfrm>
        </p:grpSpPr>
        <p:sp>
          <p:nvSpPr>
            <p:cNvPr id="16" name="Прямоугольник: скругленные углы 15">
              <a:extLst>
                <a:ext uri="{FF2B5EF4-FFF2-40B4-BE49-F238E27FC236}">
                  <a16:creationId xmlns:a16="http://schemas.microsoft.com/office/drawing/2014/main" id="{8FFC8F32-A17D-7EE1-B626-193594062BC8}"/>
                </a:ext>
              </a:extLst>
            </p:cNvPr>
            <p:cNvSpPr/>
            <p:nvPr/>
          </p:nvSpPr>
          <p:spPr>
            <a:xfrm>
              <a:off x="11383518" y="6084717"/>
              <a:ext cx="618259" cy="618259"/>
            </a:xfrm>
            <a:prstGeom prst="roundRect">
              <a:avLst/>
            </a:prstGeom>
            <a:solidFill>
              <a:srgbClr val="1A3773"/>
            </a:solidFill>
            <a:ln>
              <a:solidFill>
                <a:srgbClr val="1A3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09A0FA5-5E41-86B1-817E-A9A8849EA63D}"/>
                </a:ext>
              </a:extLst>
            </p:cNvPr>
            <p:cNvSpPr txBox="1"/>
            <p:nvPr/>
          </p:nvSpPr>
          <p:spPr>
            <a:xfrm>
              <a:off x="11508348" y="6199977"/>
              <a:ext cx="368600" cy="38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/>
                  </a:solidFill>
                  <a:latin typeface="Inter Variable Text" panose="02000503000000020004" pitchFamily="2" charset="0"/>
                  <a:ea typeface="Inter Variable Text" panose="02000503000000020004" pitchFamily="2" charset="0"/>
                  <a:cs typeface="Inter Variable Text" panose="02000503000000020004" pitchFamily="2" charset="0"/>
                </a:rPr>
                <a:t>5</a:t>
              </a:r>
              <a:endParaRPr lang="en-US" sz="1400" dirty="0">
                <a:solidFill>
                  <a:schemeClr val="bg1"/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endParaRPr>
            </a:p>
          </p:txBody>
        </p:sp>
      </p:grpSp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6CBF7AB0-CF05-0CC0-0742-99E29894C2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6591191"/>
              </p:ext>
            </p:extLst>
          </p:nvPr>
        </p:nvGraphicFramePr>
        <p:xfrm>
          <a:off x="636297" y="1344197"/>
          <a:ext cx="10705794" cy="53257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76367">
                  <a:extLst>
                    <a:ext uri="{9D8B030D-6E8A-4147-A177-3AD203B41FA5}">
                      <a16:colId xmlns:a16="http://schemas.microsoft.com/office/drawing/2014/main" val="250697221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4199941448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3671968417"/>
                    </a:ext>
                  </a:extLst>
                </a:gridCol>
                <a:gridCol w="2006067">
                  <a:extLst>
                    <a:ext uri="{9D8B030D-6E8A-4147-A177-3AD203B41FA5}">
                      <a16:colId xmlns:a16="http://schemas.microsoft.com/office/drawing/2014/main" val="3814319430"/>
                    </a:ext>
                  </a:extLst>
                </a:gridCol>
              </a:tblGrid>
              <a:tr h="83799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600" b="1" i="0" dirty="0" smtClean="0"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Наименование показателя</a:t>
                      </a:r>
                      <a:endParaRPr lang="ru-RU" sz="1600" b="1" i="0" dirty="0">
                        <a:effectLst/>
                        <a:latin typeface="Inter Variable Text" panose="02000503000000020004" pitchFamily="2" charset="0"/>
                        <a:ea typeface="Inter Variable Text" panose="02000503000000020004" pitchFamily="2" charset="0"/>
                        <a:cs typeface="Inter Variable Text" panose="02000503000000020004" pitchFamily="2" charset="0"/>
                      </a:endParaRPr>
                    </a:p>
                  </a:txBody>
                  <a:tcPr marL="68580" marR="68580" marT="0" marB="0" anchor="ctr">
                    <a:solidFill>
                      <a:srgbClr val="274E9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600" b="1" i="0" dirty="0" smtClean="0"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Обозначение</a:t>
                      </a:r>
                      <a:endParaRPr lang="ru-RU" sz="1600" b="1" i="0" dirty="0">
                        <a:effectLst/>
                        <a:latin typeface="Inter Variable Text" panose="02000503000000020004" pitchFamily="2" charset="0"/>
                        <a:ea typeface="Inter Variable Text" panose="02000503000000020004" pitchFamily="2" charset="0"/>
                        <a:cs typeface="Inter Variable Text" panose="02000503000000020004" pitchFamily="2" charset="0"/>
                      </a:endParaRPr>
                    </a:p>
                  </a:txBody>
                  <a:tcPr marL="68580" marR="68580" marT="0" marB="0" anchor="ctr">
                    <a:solidFill>
                      <a:srgbClr val="274E9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600" b="1" i="0" dirty="0" smtClean="0"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Ед. изм.</a:t>
                      </a:r>
                      <a:endParaRPr lang="ru-RU" sz="1600" b="1" i="0" dirty="0">
                        <a:effectLst/>
                        <a:latin typeface="Inter Variable Text" panose="02000503000000020004" pitchFamily="2" charset="0"/>
                        <a:ea typeface="Inter Variable Text" panose="02000503000000020004" pitchFamily="2" charset="0"/>
                        <a:cs typeface="Inter Variable Text" panose="02000503000000020004" pitchFamily="2" charset="0"/>
                      </a:endParaRPr>
                    </a:p>
                  </a:txBody>
                  <a:tcPr marL="68580" marR="68580" marT="0" marB="0" anchor="ctr">
                    <a:solidFill>
                      <a:srgbClr val="274E9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600" b="1" i="0" smtClean="0"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Величина показателя</a:t>
                      </a:r>
                      <a:endParaRPr lang="ru-RU" sz="1600" b="1" i="0" dirty="0">
                        <a:effectLst/>
                        <a:latin typeface="Inter Variable Text" panose="02000503000000020004" pitchFamily="2" charset="0"/>
                        <a:ea typeface="Inter Variable Text" panose="02000503000000020004" pitchFamily="2" charset="0"/>
                        <a:cs typeface="Inter Variable Text" panose="02000503000000020004" pitchFamily="2" charset="0"/>
                      </a:endParaRPr>
                    </a:p>
                  </a:txBody>
                  <a:tcPr marL="68580" marR="68580" marT="0" marB="0" anchor="ctr">
                    <a:solidFill>
                      <a:srgbClr val="274E9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7080750"/>
                  </a:ext>
                </a:extLst>
              </a:tr>
              <a:tr h="536609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1</a:t>
                      </a:r>
                      <a:r>
                        <a:rPr lang="ru-RU" sz="1600" kern="1200" dirty="0" smtClean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. Объем </a:t>
                      </a: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инвестиций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I проект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руб.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indent="3600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1 234 895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5695488"/>
                  </a:ext>
                </a:extLst>
              </a:tr>
              <a:tr h="536609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2</a:t>
                      </a:r>
                      <a:r>
                        <a:rPr lang="ru-RU" sz="1600" kern="1200" dirty="0" smtClean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. Ставка </a:t>
                      </a: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дисконтирования</a:t>
                      </a:r>
                    </a:p>
                  </a:txBody>
                  <a:tcPr marL="68580" marR="6858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r</a:t>
                      </a:r>
                    </a:p>
                  </a:txBody>
                  <a:tcPr marL="68580" marR="6858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%</a:t>
                      </a:r>
                    </a:p>
                  </a:txBody>
                  <a:tcPr marL="68580" marR="6858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3600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12,1%</a:t>
                      </a:r>
                    </a:p>
                  </a:txBody>
                  <a:tcPr marL="68580" marR="6858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0234404"/>
                  </a:ext>
                </a:extLst>
              </a:tr>
              <a:tr h="536609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3</a:t>
                      </a:r>
                      <a:r>
                        <a:rPr lang="ru-RU" sz="1600" kern="1200" dirty="0" smtClean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. Чистая </a:t>
                      </a: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приведенная стоимость проекта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NPV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руб.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indent="3600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19 127 878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7476496"/>
                  </a:ext>
                </a:extLst>
              </a:tr>
              <a:tr h="536609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4</a:t>
                      </a:r>
                      <a:r>
                        <a:rPr lang="ru-RU" sz="1600" kern="1200" dirty="0" smtClean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. Внутренняя </a:t>
                      </a: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ставка доходности</a:t>
                      </a:r>
                    </a:p>
                  </a:txBody>
                  <a:tcPr marL="68580" marR="6858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IRR</a:t>
                      </a:r>
                    </a:p>
                  </a:txBody>
                  <a:tcPr marL="68580" marR="6858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%</a:t>
                      </a:r>
                    </a:p>
                  </a:txBody>
                  <a:tcPr marL="68580" marR="6858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3600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27,6%</a:t>
                      </a:r>
                    </a:p>
                  </a:txBody>
                  <a:tcPr marL="68580" marR="6858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2205829"/>
                  </a:ext>
                </a:extLst>
              </a:tr>
              <a:tr h="536609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5</a:t>
                      </a:r>
                      <a:r>
                        <a:rPr lang="ru-RU" sz="1600" kern="1200" dirty="0" smtClean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. Простой </a:t>
                      </a: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срок окупаемости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 err="1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PPs</a:t>
                      </a:r>
                      <a:endParaRPr lang="ru-RU" sz="1600" kern="1200" dirty="0">
                        <a:solidFill>
                          <a:schemeClr val="dk1"/>
                        </a:solidFill>
                        <a:effectLst/>
                        <a:latin typeface="Inter Variable Text" panose="02000503000000020004" pitchFamily="2" charset="0"/>
                        <a:ea typeface="Inter Variable Text" panose="02000503000000020004" pitchFamily="2" charset="0"/>
                        <a:cs typeface="Inter Variable Text" panose="02000503000000020004" pitchFamily="2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месяцев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indent="3600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5,53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8996264"/>
                  </a:ext>
                </a:extLst>
              </a:tr>
              <a:tr h="536609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6</a:t>
                      </a:r>
                      <a:r>
                        <a:rPr lang="ru-RU" sz="1600" kern="1200" dirty="0" smtClean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. Дисконтированный </a:t>
                      </a: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срок окупаемости</a:t>
                      </a:r>
                    </a:p>
                  </a:txBody>
                  <a:tcPr marL="68580" marR="6858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 err="1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PPd</a:t>
                      </a:r>
                      <a:endParaRPr lang="ru-RU" sz="1600" kern="1200" dirty="0">
                        <a:solidFill>
                          <a:schemeClr val="dk1"/>
                        </a:solidFill>
                        <a:effectLst/>
                        <a:latin typeface="Inter Variable Text" panose="02000503000000020004" pitchFamily="2" charset="0"/>
                        <a:ea typeface="Inter Variable Text" panose="02000503000000020004" pitchFamily="2" charset="0"/>
                        <a:cs typeface="Inter Variable Text" panose="02000503000000020004" pitchFamily="2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месяцев</a:t>
                      </a:r>
                    </a:p>
                  </a:txBody>
                  <a:tcPr marL="68580" marR="6858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3600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5,57</a:t>
                      </a:r>
                    </a:p>
                  </a:txBody>
                  <a:tcPr marL="68580" marR="6858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3059309"/>
                  </a:ext>
                </a:extLst>
              </a:tr>
              <a:tr h="536609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7</a:t>
                      </a:r>
                      <a:r>
                        <a:rPr lang="ru-RU" sz="1600" kern="1200" dirty="0" smtClean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. Коэффициент </a:t>
                      </a: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удельной эффективности проекта (модифицированный)</a:t>
                      </a:r>
                    </a:p>
                  </a:txBody>
                  <a:tcPr marL="68580" marR="6858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 err="1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PI_мод</a:t>
                      </a:r>
                      <a:endParaRPr lang="ru-RU" sz="1600" kern="1200" dirty="0">
                        <a:solidFill>
                          <a:schemeClr val="dk1"/>
                        </a:solidFill>
                        <a:effectLst/>
                        <a:latin typeface="Inter Variable Text" panose="02000503000000020004" pitchFamily="2" charset="0"/>
                        <a:ea typeface="Inter Variable Text" panose="02000503000000020004" pitchFamily="2" charset="0"/>
                        <a:cs typeface="Inter Variable Text" panose="02000503000000020004" pitchFamily="2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 err="1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коэф</a:t>
                      </a: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-т</a:t>
                      </a:r>
                    </a:p>
                  </a:txBody>
                  <a:tcPr marL="68580" marR="6858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3600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15,49</a:t>
                      </a:r>
                    </a:p>
                  </a:txBody>
                  <a:tcPr marL="68580" marR="6858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902814"/>
                  </a:ext>
                </a:extLst>
              </a:tr>
              <a:tr h="536609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8. Чистая конечная стоимость</a:t>
                      </a:r>
                    </a:p>
                  </a:txBody>
                  <a:tcPr marL="68580" marR="6858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NTV</a:t>
                      </a:r>
                    </a:p>
                  </a:txBody>
                  <a:tcPr marL="68580" marR="6858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руб.</a:t>
                      </a:r>
                    </a:p>
                  </a:txBody>
                  <a:tcPr marL="68580" marR="6858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3600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30 198 205,16</a:t>
                      </a:r>
                    </a:p>
                  </a:txBody>
                  <a:tcPr marL="68580" marR="6858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72283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91375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357</TotalTime>
  <Words>373</Words>
  <Application>Microsoft Office PowerPoint</Application>
  <PresentationFormat>Широкоэкранный</PresentationFormat>
  <Paragraphs>84</Paragraphs>
  <Slides>8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5" baseType="lpstr">
      <vt:lpstr>Arial</vt:lpstr>
      <vt:lpstr>Calibri</vt:lpstr>
      <vt:lpstr>Calibri Light</vt:lpstr>
      <vt:lpstr>Gill Sans</vt:lpstr>
      <vt:lpstr>Inter Variable Text</vt:lpstr>
      <vt:lpstr>Inter Variable Text Medium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Егор Жучков</dc:creator>
  <cp:lastModifiedBy>Горбачева София Зауровна (Sofiya Gorbacheva)</cp:lastModifiedBy>
  <cp:revision>23</cp:revision>
  <dcterms:created xsi:type="dcterms:W3CDTF">2024-10-09T13:54:56Z</dcterms:created>
  <dcterms:modified xsi:type="dcterms:W3CDTF">2026-05-14T14:33:06Z</dcterms:modified>
</cp:coreProperties>
</file>