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7" r:id="rId2"/>
    <p:sldId id="261" r:id="rId3"/>
    <p:sldId id="263" r:id="rId4"/>
    <p:sldId id="262" r:id="rId5"/>
    <p:sldId id="295" r:id="rId6"/>
    <p:sldId id="296" r:id="rId7"/>
    <p:sldId id="297" r:id="rId8"/>
    <p:sldId id="264" r:id="rId9"/>
    <p:sldId id="300" r:id="rId10"/>
    <p:sldId id="303" r:id="rId11"/>
    <p:sldId id="314" r:id="rId12"/>
    <p:sldId id="315" r:id="rId13"/>
    <p:sldId id="320" r:id="rId14"/>
    <p:sldId id="304" r:id="rId15"/>
    <p:sldId id="319" r:id="rId16"/>
    <p:sldId id="318" r:id="rId17"/>
    <p:sldId id="306" r:id="rId18"/>
    <p:sldId id="316" r:id="rId19"/>
    <p:sldId id="308" r:id="rId20"/>
    <p:sldId id="307" r:id="rId21"/>
    <p:sldId id="309" r:id="rId22"/>
    <p:sldId id="310" r:id="rId23"/>
    <p:sldId id="313" r:id="rId24"/>
    <p:sldId id="312" r:id="rId25"/>
    <p:sldId id="311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4E9C"/>
    <a:srgbClr val="F3F7FF"/>
    <a:srgbClr val="232323"/>
    <a:srgbClr val="1A3773"/>
    <a:srgbClr val="005C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6" autoAdjust="0"/>
    <p:restoredTop sz="94657"/>
  </p:normalViewPr>
  <p:slideViewPr>
    <p:cSldViewPr snapToGrid="0" showGuides="1">
      <p:cViewPr>
        <p:scale>
          <a:sx n="125" d="100"/>
          <a:sy n="125" d="100"/>
        </p:scale>
        <p:origin x="120" y="8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0322A2-04D1-9B4A-AFBE-637420FC70CA}" type="doc">
      <dgm:prSet loTypeId="urn:microsoft.com/office/officeart/2005/8/layout/vList3" loCatId="" qsTypeId="urn:microsoft.com/office/officeart/2005/8/quickstyle/simple1" qsCatId="simple" csTypeId="urn:microsoft.com/office/officeart/2005/8/colors/accent2_1" csCatId="accent2" phldr="1"/>
      <dgm:spPr/>
    </dgm:pt>
    <dgm:pt modelId="{264106F1-4E3F-1348-9926-864509FC5B26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Обзор понятия «профессиональное выгорание»</a:t>
          </a:r>
          <a:endParaRPr lang="ru-RU" sz="2400" b="0" i="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77AB77B0-FC5F-1B49-B62D-388F78A3575E}" type="parTrans" cxnId="{3D5CC35C-DAE7-1144-A58F-A89BC1590CDE}">
      <dgm:prSet/>
      <dgm:spPr/>
      <dgm:t>
        <a:bodyPr/>
        <a:lstStyle/>
        <a:p>
          <a:endParaRPr lang="ru-RU"/>
        </a:p>
      </dgm:t>
    </dgm:pt>
    <dgm:pt modelId="{938DDC3B-226C-B64C-9C80-E869FD1E849B}" type="sibTrans" cxnId="{3D5CC35C-DAE7-1144-A58F-A89BC1590CDE}">
      <dgm:prSet/>
      <dgm:spPr/>
      <dgm:t>
        <a:bodyPr/>
        <a:lstStyle/>
        <a:p>
          <a:endParaRPr lang="ru-RU"/>
        </a:p>
      </dgm:t>
    </dgm:pt>
    <dgm:pt modelId="{737F8ACF-DA9F-794F-97AF-8494DC8C41DD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Описание характеристики ПАО СК «Росгосстрах»</a:t>
          </a:r>
        </a:p>
      </dgm:t>
    </dgm:pt>
    <dgm:pt modelId="{B18A813F-35E4-0B41-8C17-11657748886A}" type="parTrans" cxnId="{1FC5AF25-D0EF-1049-B1AA-30CC5925A7A3}">
      <dgm:prSet/>
      <dgm:spPr/>
      <dgm:t>
        <a:bodyPr/>
        <a:lstStyle/>
        <a:p>
          <a:endParaRPr lang="ru-RU"/>
        </a:p>
      </dgm:t>
    </dgm:pt>
    <dgm:pt modelId="{2D8F7AD0-DD5E-4A45-9E6A-ECD67B623543}" type="sibTrans" cxnId="{1FC5AF25-D0EF-1049-B1AA-30CC5925A7A3}">
      <dgm:prSet/>
      <dgm:spPr/>
      <dgm:t>
        <a:bodyPr/>
        <a:lstStyle/>
        <a:p>
          <a:endParaRPr lang="ru-RU"/>
        </a:p>
      </dgm:t>
    </dgm:pt>
    <dgm:pt modelId="{D61E8C4B-83B1-6141-BC93-DB3A2D637E65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Формулирование требований</a:t>
          </a:r>
        </a:p>
      </dgm:t>
    </dgm:pt>
    <dgm:pt modelId="{39633656-1D75-4D47-814D-3AE55C9FAC4F}" type="parTrans" cxnId="{FEADCBE4-63A4-0746-A73C-BA892C961313}">
      <dgm:prSet/>
      <dgm:spPr/>
      <dgm:t>
        <a:bodyPr/>
        <a:lstStyle/>
        <a:p>
          <a:endParaRPr lang="ru-RU"/>
        </a:p>
      </dgm:t>
    </dgm:pt>
    <dgm:pt modelId="{FCD11EBC-0635-BB4F-A06F-57BA7B52C0BD}" type="sibTrans" cxnId="{FEADCBE4-63A4-0746-A73C-BA892C961313}">
      <dgm:prSet/>
      <dgm:spPr/>
      <dgm:t>
        <a:bodyPr/>
        <a:lstStyle/>
        <a:p>
          <a:endParaRPr lang="ru-RU"/>
        </a:p>
      </dgm:t>
    </dgm:pt>
    <dgm:pt modelId="{4C7AB5D6-A31F-1046-8FDF-A1AFF4044342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Расчет экономической эффективности</a:t>
          </a:r>
        </a:p>
      </dgm:t>
    </dgm:pt>
    <dgm:pt modelId="{5B735AE0-D970-284B-8892-1129F83E2E07}" type="parTrans" cxnId="{3CC44D87-481B-3243-A148-EABFD07A62AA}">
      <dgm:prSet/>
      <dgm:spPr/>
      <dgm:t>
        <a:bodyPr/>
        <a:lstStyle/>
        <a:p>
          <a:endParaRPr lang="ru-RU"/>
        </a:p>
      </dgm:t>
    </dgm:pt>
    <dgm:pt modelId="{1CAAA2D9-EE5B-8A49-A0EA-94C1BCF8C286}" type="sibTrans" cxnId="{3CC44D87-481B-3243-A148-EABFD07A62AA}">
      <dgm:prSet/>
      <dgm:spPr/>
      <dgm:t>
        <a:bodyPr/>
        <a:lstStyle/>
        <a:p>
          <a:endParaRPr lang="ru-RU"/>
        </a:p>
      </dgm:t>
    </dgm:pt>
    <dgm:pt modelId="{EBA695E6-3616-584B-ADB9-1BC767543C22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Реализация</a:t>
          </a:r>
          <a:r>
            <a:rPr lang="ru-RU" sz="2400" baseline="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 прототипа</a:t>
          </a:r>
          <a:endParaRPr lang="ru-RU" sz="24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27E78313-E23F-FC4D-9E8E-CC23CDC08F20}" type="parTrans" cxnId="{EA42916E-61F2-D149-AE42-B6214319DAAB}">
      <dgm:prSet/>
      <dgm:spPr/>
      <dgm:t>
        <a:bodyPr/>
        <a:lstStyle/>
        <a:p>
          <a:endParaRPr lang="ru-RU"/>
        </a:p>
      </dgm:t>
    </dgm:pt>
    <dgm:pt modelId="{62A08F34-709E-8145-99C7-3B8EFF566206}" type="sibTrans" cxnId="{EA42916E-61F2-D149-AE42-B6214319DAAB}">
      <dgm:prSet/>
      <dgm:spPr/>
      <dgm:t>
        <a:bodyPr/>
        <a:lstStyle/>
        <a:p>
          <a:endParaRPr lang="ru-RU"/>
        </a:p>
      </dgm:t>
    </dgm:pt>
    <dgm:pt modelId="{FA28B158-B89F-6548-BC91-5B3BC6A03976}" type="pres">
      <dgm:prSet presAssocID="{9B0322A2-04D1-9B4A-AFBE-637420FC70CA}" presName="linearFlow" presStyleCnt="0">
        <dgm:presLayoutVars>
          <dgm:dir/>
          <dgm:resizeHandles val="exact"/>
        </dgm:presLayoutVars>
      </dgm:prSet>
      <dgm:spPr/>
    </dgm:pt>
    <dgm:pt modelId="{DDEA1B25-38AD-044E-90C8-58B4B119F0A4}" type="pres">
      <dgm:prSet presAssocID="{264106F1-4E3F-1348-9926-864509FC5B26}" presName="composite" presStyleCnt="0"/>
      <dgm:spPr/>
    </dgm:pt>
    <dgm:pt modelId="{461663A7-095E-5349-A58D-186EEEBCE797}" type="pres">
      <dgm:prSet presAssocID="{264106F1-4E3F-1348-9926-864509FC5B26}" presName="imgShp" presStyleLbl="fgImgPlace1" presStyleIdx="0" presStyleCnt="5"/>
      <dgm:spPr>
        <a:solidFill>
          <a:srgbClr val="274E9C"/>
        </a:solidFill>
        <a:ln>
          <a:noFill/>
        </a:ln>
      </dgm:spPr>
    </dgm:pt>
    <dgm:pt modelId="{BBA26809-E33A-8441-BB70-723BCB5A1C85}" type="pres">
      <dgm:prSet presAssocID="{264106F1-4E3F-1348-9926-864509FC5B26}" presName="txShp" presStyleLbl="node1" presStyleIdx="0" presStyleCnt="5">
        <dgm:presLayoutVars>
          <dgm:bulletEnabled val="1"/>
        </dgm:presLayoutVars>
      </dgm:prSet>
      <dgm:spPr/>
    </dgm:pt>
    <dgm:pt modelId="{3A9646A3-E861-714A-9687-76EDA4C5096C}" type="pres">
      <dgm:prSet presAssocID="{938DDC3B-226C-B64C-9C80-E869FD1E849B}" presName="spacing" presStyleCnt="0"/>
      <dgm:spPr/>
    </dgm:pt>
    <dgm:pt modelId="{8C1438E6-3B83-6F43-AF2A-5BC6696C2518}" type="pres">
      <dgm:prSet presAssocID="{737F8ACF-DA9F-794F-97AF-8494DC8C41DD}" presName="composite" presStyleCnt="0"/>
      <dgm:spPr/>
    </dgm:pt>
    <dgm:pt modelId="{91C536B7-3FF0-7540-A9E6-94ED27AD4BFD}" type="pres">
      <dgm:prSet presAssocID="{737F8ACF-DA9F-794F-97AF-8494DC8C41DD}" presName="imgShp" presStyleLbl="fgImgPlace1" presStyleIdx="1" presStyleCnt="5"/>
      <dgm:spPr>
        <a:solidFill>
          <a:srgbClr val="274E9C"/>
        </a:solidFill>
        <a:ln>
          <a:noFill/>
        </a:ln>
      </dgm:spPr>
    </dgm:pt>
    <dgm:pt modelId="{F4B7EFF2-69B2-EB45-A229-95657A516E17}" type="pres">
      <dgm:prSet presAssocID="{737F8ACF-DA9F-794F-97AF-8494DC8C41DD}" presName="txShp" presStyleLbl="node1" presStyleIdx="1" presStyleCnt="5">
        <dgm:presLayoutVars>
          <dgm:bulletEnabled val="1"/>
        </dgm:presLayoutVars>
      </dgm:prSet>
      <dgm:spPr/>
    </dgm:pt>
    <dgm:pt modelId="{494A97EF-B9FA-CE4A-9B41-1D7814DAF4A6}" type="pres">
      <dgm:prSet presAssocID="{2D8F7AD0-DD5E-4A45-9E6A-ECD67B623543}" presName="spacing" presStyleCnt="0"/>
      <dgm:spPr/>
    </dgm:pt>
    <dgm:pt modelId="{AD26E4BF-2287-6545-BD2A-9E9F112E42F2}" type="pres">
      <dgm:prSet presAssocID="{D61E8C4B-83B1-6141-BC93-DB3A2D637E65}" presName="composite" presStyleCnt="0"/>
      <dgm:spPr/>
    </dgm:pt>
    <dgm:pt modelId="{D40C6A89-69F2-4547-B292-3B110D581711}" type="pres">
      <dgm:prSet presAssocID="{D61E8C4B-83B1-6141-BC93-DB3A2D637E65}" presName="imgShp" presStyleLbl="fgImgPlace1" presStyleIdx="2" presStyleCnt="5"/>
      <dgm:spPr>
        <a:solidFill>
          <a:srgbClr val="274E9C"/>
        </a:solidFill>
        <a:ln>
          <a:noFill/>
        </a:ln>
      </dgm:spPr>
    </dgm:pt>
    <dgm:pt modelId="{67AA8280-0D44-A94E-8043-2EEFE276D1E9}" type="pres">
      <dgm:prSet presAssocID="{D61E8C4B-83B1-6141-BC93-DB3A2D637E65}" presName="txShp" presStyleLbl="node1" presStyleIdx="2" presStyleCnt="5">
        <dgm:presLayoutVars>
          <dgm:bulletEnabled val="1"/>
        </dgm:presLayoutVars>
      </dgm:prSet>
      <dgm:spPr/>
    </dgm:pt>
    <dgm:pt modelId="{7D4638E8-A0DE-2443-8760-D2B6E693FF23}" type="pres">
      <dgm:prSet presAssocID="{FCD11EBC-0635-BB4F-A06F-57BA7B52C0BD}" presName="spacing" presStyleCnt="0"/>
      <dgm:spPr/>
    </dgm:pt>
    <dgm:pt modelId="{F697070B-8B88-F441-892E-1DDD0AF45A64}" type="pres">
      <dgm:prSet presAssocID="{EBA695E6-3616-584B-ADB9-1BC767543C22}" presName="composite" presStyleCnt="0"/>
      <dgm:spPr/>
    </dgm:pt>
    <dgm:pt modelId="{BD4E3E7B-E244-FD4B-95F0-3CD7EAD42C42}" type="pres">
      <dgm:prSet presAssocID="{EBA695E6-3616-584B-ADB9-1BC767543C22}" presName="imgShp" presStyleLbl="fgImgPlace1" presStyleIdx="3" presStyleCnt="5"/>
      <dgm:spPr>
        <a:solidFill>
          <a:srgbClr val="274E9C"/>
        </a:solidFill>
        <a:ln>
          <a:noFill/>
        </a:ln>
      </dgm:spPr>
    </dgm:pt>
    <dgm:pt modelId="{CEECF6D7-B242-034B-9EBA-1DE376851B65}" type="pres">
      <dgm:prSet presAssocID="{EBA695E6-3616-584B-ADB9-1BC767543C22}" presName="txShp" presStyleLbl="node1" presStyleIdx="3" presStyleCnt="5">
        <dgm:presLayoutVars>
          <dgm:bulletEnabled val="1"/>
        </dgm:presLayoutVars>
      </dgm:prSet>
      <dgm:spPr/>
    </dgm:pt>
    <dgm:pt modelId="{ABCA5B62-D309-2D4A-8D9A-0BD4C76FD0EF}" type="pres">
      <dgm:prSet presAssocID="{62A08F34-709E-8145-99C7-3B8EFF566206}" presName="spacing" presStyleCnt="0"/>
      <dgm:spPr/>
    </dgm:pt>
    <dgm:pt modelId="{B51B8F56-82B1-3147-9CB7-AE8DD2A5B29E}" type="pres">
      <dgm:prSet presAssocID="{4C7AB5D6-A31F-1046-8FDF-A1AFF4044342}" presName="composite" presStyleCnt="0"/>
      <dgm:spPr/>
    </dgm:pt>
    <dgm:pt modelId="{7CD4DBAE-3334-D541-8C7D-FC4CB0F79389}" type="pres">
      <dgm:prSet presAssocID="{4C7AB5D6-A31F-1046-8FDF-A1AFF4044342}" presName="imgShp" presStyleLbl="fgImgPlace1" presStyleIdx="4" presStyleCnt="5"/>
      <dgm:spPr>
        <a:solidFill>
          <a:srgbClr val="274E9C"/>
        </a:solidFill>
        <a:ln>
          <a:noFill/>
        </a:ln>
      </dgm:spPr>
    </dgm:pt>
    <dgm:pt modelId="{43FB68EF-01F5-C24B-89F6-A34C6D98A7E9}" type="pres">
      <dgm:prSet presAssocID="{4C7AB5D6-A31F-1046-8FDF-A1AFF4044342}" presName="txShp" presStyleLbl="node1" presStyleIdx="4" presStyleCnt="5">
        <dgm:presLayoutVars>
          <dgm:bulletEnabled val="1"/>
        </dgm:presLayoutVars>
      </dgm:prSet>
      <dgm:spPr/>
    </dgm:pt>
  </dgm:ptLst>
  <dgm:cxnLst>
    <dgm:cxn modelId="{DF989020-3809-3F42-932C-D74D2D49C988}" type="presOf" srcId="{EBA695E6-3616-584B-ADB9-1BC767543C22}" destId="{CEECF6D7-B242-034B-9EBA-1DE376851B65}" srcOrd="0" destOrd="0" presId="urn:microsoft.com/office/officeart/2005/8/layout/vList3"/>
    <dgm:cxn modelId="{1FC5AF25-D0EF-1049-B1AA-30CC5925A7A3}" srcId="{9B0322A2-04D1-9B4A-AFBE-637420FC70CA}" destId="{737F8ACF-DA9F-794F-97AF-8494DC8C41DD}" srcOrd="1" destOrd="0" parTransId="{B18A813F-35E4-0B41-8C17-11657748886A}" sibTransId="{2D8F7AD0-DD5E-4A45-9E6A-ECD67B623543}"/>
    <dgm:cxn modelId="{8DD43C3B-B551-C843-B92E-3C6AA3DE85D5}" type="presOf" srcId="{D61E8C4B-83B1-6141-BC93-DB3A2D637E65}" destId="{67AA8280-0D44-A94E-8043-2EEFE276D1E9}" srcOrd="0" destOrd="0" presId="urn:microsoft.com/office/officeart/2005/8/layout/vList3"/>
    <dgm:cxn modelId="{D0CC0F3F-05BC-6946-9F48-9961E04B1665}" type="presOf" srcId="{9B0322A2-04D1-9B4A-AFBE-637420FC70CA}" destId="{FA28B158-B89F-6548-BC91-5B3BC6A03976}" srcOrd="0" destOrd="0" presId="urn:microsoft.com/office/officeart/2005/8/layout/vList3"/>
    <dgm:cxn modelId="{3D5CC35C-DAE7-1144-A58F-A89BC1590CDE}" srcId="{9B0322A2-04D1-9B4A-AFBE-637420FC70CA}" destId="{264106F1-4E3F-1348-9926-864509FC5B26}" srcOrd="0" destOrd="0" parTransId="{77AB77B0-FC5F-1B49-B62D-388F78A3575E}" sibTransId="{938DDC3B-226C-B64C-9C80-E869FD1E849B}"/>
    <dgm:cxn modelId="{5E5A6346-DC91-D747-B577-DF8BF46525A4}" type="presOf" srcId="{264106F1-4E3F-1348-9926-864509FC5B26}" destId="{BBA26809-E33A-8441-BB70-723BCB5A1C85}" srcOrd="0" destOrd="0" presId="urn:microsoft.com/office/officeart/2005/8/layout/vList3"/>
    <dgm:cxn modelId="{EA42916E-61F2-D149-AE42-B6214319DAAB}" srcId="{9B0322A2-04D1-9B4A-AFBE-637420FC70CA}" destId="{EBA695E6-3616-584B-ADB9-1BC767543C22}" srcOrd="3" destOrd="0" parTransId="{27E78313-E23F-FC4D-9E8E-CC23CDC08F20}" sibTransId="{62A08F34-709E-8145-99C7-3B8EFF566206}"/>
    <dgm:cxn modelId="{C26CF673-0E1E-CC46-A6D4-45E22FC81D1F}" type="presOf" srcId="{4C7AB5D6-A31F-1046-8FDF-A1AFF4044342}" destId="{43FB68EF-01F5-C24B-89F6-A34C6D98A7E9}" srcOrd="0" destOrd="0" presId="urn:microsoft.com/office/officeart/2005/8/layout/vList3"/>
    <dgm:cxn modelId="{99C95F80-7C09-C24E-ADD2-7B712B111C38}" type="presOf" srcId="{737F8ACF-DA9F-794F-97AF-8494DC8C41DD}" destId="{F4B7EFF2-69B2-EB45-A229-95657A516E17}" srcOrd="0" destOrd="0" presId="urn:microsoft.com/office/officeart/2005/8/layout/vList3"/>
    <dgm:cxn modelId="{3CC44D87-481B-3243-A148-EABFD07A62AA}" srcId="{9B0322A2-04D1-9B4A-AFBE-637420FC70CA}" destId="{4C7AB5D6-A31F-1046-8FDF-A1AFF4044342}" srcOrd="4" destOrd="0" parTransId="{5B735AE0-D970-284B-8892-1129F83E2E07}" sibTransId="{1CAAA2D9-EE5B-8A49-A0EA-94C1BCF8C286}"/>
    <dgm:cxn modelId="{FEADCBE4-63A4-0746-A73C-BA892C961313}" srcId="{9B0322A2-04D1-9B4A-AFBE-637420FC70CA}" destId="{D61E8C4B-83B1-6141-BC93-DB3A2D637E65}" srcOrd="2" destOrd="0" parTransId="{39633656-1D75-4D47-814D-3AE55C9FAC4F}" sibTransId="{FCD11EBC-0635-BB4F-A06F-57BA7B52C0BD}"/>
    <dgm:cxn modelId="{7E6BAE93-23FE-FD48-894B-6B7A1431B8E7}" type="presParOf" srcId="{FA28B158-B89F-6548-BC91-5B3BC6A03976}" destId="{DDEA1B25-38AD-044E-90C8-58B4B119F0A4}" srcOrd="0" destOrd="0" presId="urn:microsoft.com/office/officeart/2005/8/layout/vList3"/>
    <dgm:cxn modelId="{340AF7D0-2F31-3140-A5AA-B201517AC378}" type="presParOf" srcId="{DDEA1B25-38AD-044E-90C8-58B4B119F0A4}" destId="{461663A7-095E-5349-A58D-186EEEBCE797}" srcOrd="0" destOrd="0" presId="urn:microsoft.com/office/officeart/2005/8/layout/vList3"/>
    <dgm:cxn modelId="{07FE8005-91A4-BC46-B93E-E6B52E94C790}" type="presParOf" srcId="{DDEA1B25-38AD-044E-90C8-58B4B119F0A4}" destId="{BBA26809-E33A-8441-BB70-723BCB5A1C85}" srcOrd="1" destOrd="0" presId="urn:microsoft.com/office/officeart/2005/8/layout/vList3"/>
    <dgm:cxn modelId="{C1C3CB28-9749-2F40-AABB-381D23C509C2}" type="presParOf" srcId="{FA28B158-B89F-6548-BC91-5B3BC6A03976}" destId="{3A9646A3-E861-714A-9687-76EDA4C5096C}" srcOrd="1" destOrd="0" presId="urn:microsoft.com/office/officeart/2005/8/layout/vList3"/>
    <dgm:cxn modelId="{3F82A1AE-671A-6C42-B263-8CA75C0C7FA2}" type="presParOf" srcId="{FA28B158-B89F-6548-BC91-5B3BC6A03976}" destId="{8C1438E6-3B83-6F43-AF2A-5BC6696C2518}" srcOrd="2" destOrd="0" presId="urn:microsoft.com/office/officeart/2005/8/layout/vList3"/>
    <dgm:cxn modelId="{ABE36C66-43A7-AB44-9C48-AB6D814D21B9}" type="presParOf" srcId="{8C1438E6-3B83-6F43-AF2A-5BC6696C2518}" destId="{91C536B7-3FF0-7540-A9E6-94ED27AD4BFD}" srcOrd="0" destOrd="0" presId="urn:microsoft.com/office/officeart/2005/8/layout/vList3"/>
    <dgm:cxn modelId="{599ACF84-00F8-B346-8FAA-AD9179FDA902}" type="presParOf" srcId="{8C1438E6-3B83-6F43-AF2A-5BC6696C2518}" destId="{F4B7EFF2-69B2-EB45-A229-95657A516E17}" srcOrd="1" destOrd="0" presId="urn:microsoft.com/office/officeart/2005/8/layout/vList3"/>
    <dgm:cxn modelId="{79DBFA8F-BE7F-9140-AFF2-EA622381BFAE}" type="presParOf" srcId="{FA28B158-B89F-6548-BC91-5B3BC6A03976}" destId="{494A97EF-B9FA-CE4A-9B41-1D7814DAF4A6}" srcOrd="3" destOrd="0" presId="urn:microsoft.com/office/officeart/2005/8/layout/vList3"/>
    <dgm:cxn modelId="{847AC919-1D95-AC47-A733-AE3956E747EE}" type="presParOf" srcId="{FA28B158-B89F-6548-BC91-5B3BC6A03976}" destId="{AD26E4BF-2287-6545-BD2A-9E9F112E42F2}" srcOrd="4" destOrd="0" presId="urn:microsoft.com/office/officeart/2005/8/layout/vList3"/>
    <dgm:cxn modelId="{266D3389-34F0-3647-9F77-FD766FA6FA32}" type="presParOf" srcId="{AD26E4BF-2287-6545-BD2A-9E9F112E42F2}" destId="{D40C6A89-69F2-4547-B292-3B110D581711}" srcOrd="0" destOrd="0" presId="urn:microsoft.com/office/officeart/2005/8/layout/vList3"/>
    <dgm:cxn modelId="{4844238A-4B09-454C-9EB4-063E41818B6F}" type="presParOf" srcId="{AD26E4BF-2287-6545-BD2A-9E9F112E42F2}" destId="{67AA8280-0D44-A94E-8043-2EEFE276D1E9}" srcOrd="1" destOrd="0" presId="urn:microsoft.com/office/officeart/2005/8/layout/vList3"/>
    <dgm:cxn modelId="{DE31FB3E-8F1C-B644-9F74-7F6603CBE609}" type="presParOf" srcId="{FA28B158-B89F-6548-BC91-5B3BC6A03976}" destId="{7D4638E8-A0DE-2443-8760-D2B6E693FF23}" srcOrd="5" destOrd="0" presId="urn:microsoft.com/office/officeart/2005/8/layout/vList3"/>
    <dgm:cxn modelId="{DB3748E0-C3BA-0847-A553-908637DAC22E}" type="presParOf" srcId="{FA28B158-B89F-6548-BC91-5B3BC6A03976}" destId="{F697070B-8B88-F441-892E-1DDD0AF45A64}" srcOrd="6" destOrd="0" presId="urn:microsoft.com/office/officeart/2005/8/layout/vList3"/>
    <dgm:cxn modelId="{C55E6331-A96E-0A4F-A77B-AF1036F4521D}" type="presParOf" srcId="{F697070B-8B88-F441-892E-1DDD0AF45A64}" destId="{BD4E3E7B-E244-FD4B-95F0-3CD7EAD42C42}" srcOrd="0" destOrd="0" presId="urn:microsoft.com/office/officeart/2005/8/layout/vList3"/>
    <dgm:cxn modelId="{50F07FAF-9F82-1E4E-8F47-AC51096A2699}" type="presParOf" srcId="{F697070B-8B88-F441-892E-1DDD0AF45A64}" destId="{CEECF6D7-B242-034B-9EBA-1DE376851B65}" srcOrd="1" destOrd="0" presId="urn:microsoft.com/office/officeart/2005/8/layout/vList3"/>
    <dgm:cxn modelId="{314B743E-A452-3E4D-AE27-F8A78F413A21}" type="presParOf" srcId="{FA28B158-B89F-6548-BC91-5B3BC6A03976}" destId="{ABCA5B62-D309-2D4A-8D9A-0BD4C76FD0EF}" srcOrd="7" destOrd="0" presId="urn:microsoft.com/office/officeart/2005/8/layout/vList3"/>
    <dgm:cxn modelId="{DD43933D-2BFA-BD42-8188-2141A7F5BB5F}" type="presParOf" srcId="{FA28B158-B89F-6548-BC91-5B3BC6A03976}" destId="{B51B8F56-82B1-3147-9CB7-AE8DD2A5B29E}" srcOrd="8" destOrd="0" presId="urn:microsoft.com/office/officeart/2005/8/layout/vList3"/>
    <dgm:cxn modelId="{4005E062-C531-344C-A5FD-AF7EA505F9D8}" type="presParOf" srcId="{B51B8F56-82B1-3147-9CB7-AE8DD2A5B29E}" destId="{7CD4DBAE-3334-D541-8C7D-FC4CB0F79389}" srcOrd="0" destOrd="0" presId="urn:microsoft.com/office/officeart/2005/8/layout/vList3"/>
    <dgm:cxn modelId="{C9524FC5-4AE6-B04F-A5DD-AF19B89EC67F}" type="presParOf" srcId="{B51B8F56-82B1-3147-9CB7-AE8DD2A5B29E}" destId="{43FB68EF-01F5-C24B-89F6-A34C6D98A7E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0322A2-04D1-9B4A-AFBE-637420FC70CA}" type="doc">
      <dgm:prSet loTypeId="urn:microsoft.com/office/officeart/2005/8/layout/vList3" loCatId="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ru-RU"/>
        </a:p>
      </dgm:t>
    </dgm:pt>
    <dgm:pt modelId="{264106F1-4E3F-1348-9926-864509FC5B26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Провести комплексный анализ проблемы, выявить барьеры</a:t>
          </a:r>
          <a:endParaRPr lang="ru-RU" sz="2400" b="0" i="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77AB77B0-FC5F-1B49-B62D-388F78A3575E}" type="parTrans" cxnId="{3D5CC35C-DAE7-1144-A58F-A89BC1590CDE}">
      <dgm:prSet/>
      <dgm:spPr/>
      <dgm:t>
        <a:bodyPr/>
        <a:lstStyle/>
        <a:p>
          <a:endParaRPr lang="ru-RU"/>
        </a:p>
      </dgm:t>
    </dgm:pt>
    <dgm:pt modelId="{938DDC3B-226C-B64C-9C80-E869FD1E849B}" type="sibTrans" cxnId="{3D5CC35C-DAE7-1144-A58F-A89BC1590CDE}">
      <dgm:prSet/>
      <dgm:spPr/>
      <dgm:t>
        <a:bodyPr/>
        <a:lstStyle/>
        <a:p>
          <a:endParaRPr lang="ru-RU"/>
        </a:p>
      </dgm:t>
    </dgm:pt>
    <dgm:pt modelId="{737F8ACF-DA9F-794F-97AF-8494DC8C41DD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Провести критический анализ существующих цифровых решений</a:t>
          </a:r>
          <a:endParaRPr lang="ru-RU" sz="24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B18A813F-35E4-0B41-8C17-11657748886A}" type="parTrans" cxnId="{1FC5AF25-D0EF-1049-B1AA-30CC5925A7A3}">
      <dgm:prSet/>
      <dgm:spPr/>
      <dgm:t>
        <a:bodyPr/>
        <a:lstStyle/>
        <a:p>
          <a:endParaRPr lang="ru-RU"/>
        </a:p>
      </dgm:t>
    </dgm:pt>
    <dgm:pt modelId="{2D8F7AD0-DD5E-4A45-9E6A-ECD67B623543}" type="sibTrans" cxnId="{1FC5AF25-D0EF-1049-B1AA-30CC5925A7A3}">
      <dgm:prSet/>
      <dgm:spPr/>
      <dgm:t>
        <a:bodyPr/>
        <a:lstStyle/>
        <a:p>
          <a:endParaRPr lang="ru-RU"/>
        </a:p>
      </dgm:t>
    </dgm:pt>
    <dgm:pt modelId="{D61E8C4B-83B1-6141-BC93-DB3A2D637E65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Сформулировать требования к разрабатываемой методике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и системе</a:t>
          </a:r>
          <a:endParaRPr lang="ru-RU" sz="24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39633656-1D75-4D47-814D-3AE55C9FAC4F}" type="parTrans" cxnId="{FEADCBE4-63A4-0746-A73C-BA892C961313}">
      <dgm:prSet/>
      <dgm:spPr/>
      <dgm:t>
        <a:bodyPr/>
        <a:lstStyle/>
        <a:p>
          <a:endParaRPr lang="ru-RU"/>
        </a:p>
      </dgm:t>
    </dgm:pt>
    <dgm:pt modelId="{FCD11EBC-0635-BB4F-A06F-57BA7B52C0BD}" type="sibTrans" cxnId="{FEADCBE4-63A4-0746-A73C-BA892C961313}">
      <dgm:prSet/>
      <dgm:spPr/>
      <dgm:t>
        <a:bodyPr/>
        <a:lstStyle/>
        <a:p>
          <a:endParaRPr lang="ru-RU"/>
        </a:p>
      </dgm:t>
    </dgm:pt>
    <dgm:pt modelId="{4C7AB5D6-A31F-1046-8FDF-A1AFF4044342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Провести контролируемый эксперимент для подтверждения эффективности</a:t>
          </a:r>
          <a:endParaRPr lang="ru-RU" sz="24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5B735AE0-D970-284B-8892-1129F83E2E07}" type="parTrans" cxnId="{3CC44D87-481B-3243-A148-EABFD07A62AA}">
      <dgm:prSet/>
      <dgm:spPr/>
      <dgm:t>
        <a:bodyPr/>
        <a:lstStyle/>
        <a:p>
          <a:endParaRPr lang="ru-RU"/>
        </a:p>
      </dgm:t>
    </dgm:pt>
    <dgm:pt modelId="{1CAAA2D9-EE5B-8A49-A0EA-94C1BCF8C286}" type="sibTrans" cxnId="{3CC44D87-481B-3243-A148-EABFD07A62AA}">
      <dgm:prSet/>
      <dgm:spPr/>
      <dgm:t>
        <a:bodyPr/>
        <a:lstStyle/>
        <a:p>
          <a:endParaRPr lang="ru-RU"/>
        </a:p>
      </dgm:t>
    </dgm:pt>
    <dgm:pt modelId="{EBA695E6-3616-584B-ADB9-1BC767543C22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Реализовать сервис</a:t>
          </a:r>
          <a:endParaRPr lang="ru-RU" sz="24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27E78313-E23F-FC4D-9E8E-CC23CDC08F20}" type="parTrans" cxnId="{EA42916E-61F2-D149-AE42-B6214319DAAB}">
      <dgm:prSet/>
      <dgm:spPr/>
      <dgm:t>
        <a:bodyPr/>
        <a:lstStyle/>
        <a:p>
          <a:endParaRPr lang="ru-RU"/>
        </a:p>
      </dgm:t>
    </dgm:pt>
    <dgm:pt modelId="{62A08F34-709E-8145-99C7-3B8EFF566206}" type="sibTrans" cxnId="{EA42916E-61F2-D149-AE42-B6214319DAAB}">
      <dgm:prSet/>
      <dgm:spPr/>
      <dgm:t>
        <a:bodyPr/>
        <a:lstStyle/>
        <a:p>
          <a:endParaRPr lang="ru-RU"/>
        </a:p>
      </dgm:t>
    </dgm:pt>
    <dgm:pt modelId="{FA28B158-B89F-6548-BC91-5B3BC6A03976}" type="pres">
      <dgm:prSet presAssocID="{9B0322A2-04D1-9B4A-AFBE-637420FC70CA}" presName="linearFlow" presStyleCnt="0">
        <dgm:presLayoutVars>
          <dgm:dir/>
          <dgm:resizeHandles val="exact"/>
        </dgm:presLayoutVars>
      </dgm:prSet>
      <dgm:spPr/>
    </dgm:pt>
    <dgm:pt modelId="{DDEA1B25-38AD-044E-90C8-58B4B119F0A4}" type="pres">
      <dgm:prSet presAssocID="{264106F1-4E3F-1348-9926-864509FC5B26}" presName="composite" presStyleCnt="0"/>
      <dgm:spPr/>
    </dgm:pt>
    <dgm:pt modelId="{461663A7-095E-5349-A58D-186EEEBCE797}" type="pres">
      <dgm:prSet presAssocID="{264106F1-4E3F-1348-9926-864509FC5B26}" presName="imgShp" presStyleLbl="fgImgPlace1" presStyleIdx="0" presStyleCnt="5"/>
      <dgm:spPr>
        <a:solidFill>
          <a:srgbClr val="274E9C"/>
        </a:solidFill>
        <a:ln>
          <a:noFill/>
        </a:ln>
      </dgm:spPr>
    </dgm:pt>
    <dgm:pt modelId="{BBA26809-E33A-8441-BB70-723BCB5A1C85}" type="pres">
      <dgm:prSet presAssocID="{264106F1-4E3F-1348-9926-864509FC5B26}" presName="txShp" presStyleLbl="node1" presStyleIdx="0" presStyleCnt="5">
        <dgm:presLayoutVars>
          <dgm:bulletEnabled val="1"/>
        </dgm:presLayoutVars>
      </dgm:prSet>
      <dgm:spPr/>
    </dgm:pt>
    <dgm:pt modelId="{3A9646A3-E861-714A-9687-76EDA4C5096C}" type="pres">
      <dgm:prSet presAssocID="{938DDC3B-226C-B64C-9C80-E869FD1E849B}" presName="spacing" presStyleCnt="0"/>
      <dgm:spPr/>
    </dgm:pt>
    <dgm:pt modelId="{8C1438E6-3B83-6F43-AF2A-5BC6696C2518}" type="pres">
      <dgm:prSet presAssocID="{737F8ACF-DA9F-794F-97AF-8494DC8C41DD}" presName="composite" presStyleCnt="0"/>
      <dgm:spPr/>
    </dgm:pt>
    <dgm:pt modelId="{91C536B7-3FF0-7540-A9E6-94ED27AD4BFD}" type="pres">
      <dgm:prSet presAssocID="{737F8ACF-DA9F-794F-97AF-8494DC8C41DD}" presName="imgShp" presStyleLbl="fgImgPlace1" presStyleIdx="1" presStyleCnt="5"/>
      <dgm:spPr>
        <a:solidFill>
          <a:srgbClr val="274E9C"/>
        </a:solidFill>
        <a:ln>
          <a:noFill/>
        </a:ln>
      </dgm:spPr>
    </dgm:pt>
    <dgm:pt modelId="{F4B7EFF2-69B2-EB45-A229-95657A516E17}" type="pres">
      <dgm:prSet presAssocID="{737F8ACF-DA9F-794F-97AF-8494DC8C41DD}" presName="txShp" presStyleLbl="node1" presStyleIdx="1" presStyleCnt="5">
        <dgm:presLayoutVars>
          <dgm:bulletEnabled val="1"/>
        </dgm:presLayoutVars>
      </dgm:prSet>
      <dgm:spPr/>
    </dgm:pt>
    <dgm:pt modelId="{494A97EF-B9FA-CE4A-9B41-1D7814DAF4A6}" type="pres">
      <dgm:prSet presAssocID="{2D8F7AD0-DD5E-4A45-9E6A-ECD67B623543}" presName="spacing" presStyleCnt="0"/>
      <dgm:spPr/>
    </dgm:pt>
    <dgm:pt modelId="{AD26E4BF-2287-6545-BD2A-9E9F112E42F2}" type="pres">
      <dgm:prSet presAssocID="{D61E8C4B-83B1-6141-BC93-DB3A2D637E65}" presName="composite" presStyleCnt="0"/>
      <dgm:spPr/>
    </dgm:pt>
    <dgm:pt modelId="{D40C6A89-69F2-4547-B292-3B110D581711}" type="pres">
      <dgm:prSet presAssocID="{D61E8C4B-83B1-6141-BC93-DB3A2D637E65}" presName="imgShp" presStyleLbl="fgImgPlace1" presStyleIdx="2" presStyleCnt="5"/>
      <dgm:spPr>
        <a:solidFill>
          <a:srgbClr val="274E9C"/>
        </a:solidFill>
        <a:ln>
          <a:noFill/>
        </a:ln>
      </dgm:spPr>
    </dgm:pt>
    <dgm:pt modelId="{67AA8280-0D44-A94E-8043-2EEFE276D1E9}" type="pres">
      <dgm:prSet presAssocID="{D61E8C4B-83B1-6141-BC93-DB3A2D637E65}" presName="txShp" presStyleLbl="node1" presStyleIdx="2" presStyleCnt="5">
        <dgm:presLayoutVars>
          <dgm:bulletEnabled val="1"/>
        </dgm:presLayoutVars>
      </dgm:prSet>
      <dgm:spPr/>
    </dgm:pt>
    <dgm:pt modelId="{7D4638E8-A0DE-2443-8760-D2B6E693FF23}" type="pres">
      <dgm:prSet presAssocID="{FCD11EBC-0635-BB4F-A06F-57BA7B52C0BD}" presName="spacing" presStyleCnt="0"/>
      <dgm:spPr/>
    </dgm:pt>
    <dgm:pt modelId="{F697070B-8B88-F441-892E-1DDD0AF45A64}" type="pres">
      <dgm:prSet presAssocID="{EBA695E6-3616-584B-ADB9-1BC767543C22}" presName="composite" presStyleCnt="0"/>
      <dgm:spPr/>
    </dgm:pt>
    <dgm:pt modelId="{BD4E3E7B-E244-FD4B-95F0-3CD7EAD42C42}" type="pres">
      <dgm:prSet presAssocID="{EBA695E6-3616-584B-ADB9-1BC767543C22}" presName="imgShp" presStyleLbl="fgImgPlace1" presStyleIdx="3" presStyleCnt="5"/>
      <dgm:spPr>
        <a:solidFill>
          <a:srgbClr val="274E9C"/>
        </a:solidFill>
        <a:ln>
          <a:noFill/>
        </a:ln>
      </dgm:spPr>
    </dgm:pt>
    <dgm:pt modelId="{CEECF6D7-B242-034B-9EBA-1DE376851B65}" type="pres">
      <dgm:prSet presAssocID="{EBA695E6-3616-584B-ADB9-1BC767543C22}" presName="txShp" presStyleLbl="node1" presStyleIdx="3" presStyleCnt="5">
        <dgm:presLayoutVars>
          <dgm:bulletEnabled val="1"/>
        </dgm:presLayoutVars>
      </dgm:prSet>
      <dgm:spPr/>
    </dgm:pt>
    <dgm:pt modelId="{ABCA5B62-D309-2D4A-8D9A-0BD4C76FD0EF}" type="pres">
      <dgm:prSet presAssocID="{62A08F34-709E-8145-99C7-3B8EFF566206}" presName="spacing" presStyleCnt="0"/>
      <dgm:spPr/>
    </dgm:pt>
    <dgm:pt modelId="{B51B8F56-82B1-3147-9CB7-AE8DD2A5B29E}" type="pres">
      <dgm:prSet presAssocID="{4C7AB5D6-A31F-1046-8FDF-A1AFF4044342}" presName="composite" presStyleCnt="0"/>
      <dgm:spPr/>
    </dgm:pt>
    <dgm:pt modelId="{7CD4DBAE-3334-D541-8C7D-FC4CB0F79389}" type="pres">
      <dgm:prSet presAssocID="{4C7AB5D6-A31F-1046-8FDF-A1AFF4044342}" presName="imgShp" presStyleLbl="fgImgPlace1" presStyleIdx="4" presStyleCnt="5"/>
      <dgm:spPr>
        <a:solidFill>
          <a:srgbClr val="274E9C"/>
        </a:solidFill>
        <a:ln>
          <a:noFill/>
        </a:ln>
      </dgm:spPr>
    </dgm:pt>
    <dgm:pt modelId="{43FB68EF-01F5-C24B-89F6-A34C6D98A7E9}" type="pres">
      <dgm:prSet presAssocID="{4C7AB5D6-A31F-1046-8FDF-A1AFF4044342}" presName="txShp" presStyleLbl="node1" presStyleIdx="4" presStyleCnt="5">
        <dgm:presLayoutVars>
          <dgm:bulletEnabled val="1"/>
        </dgm:presLayoutVars>
      </dgm:prSet>
      <dgm:spPr/>
    </dgm:pt>
  </dgm:ptLst>
  <dgm:cxnLst>
    <dgm:cxn modelId="{DF989020-3809-3F42-932C-D74D2D49C988}" type="presOf" srcId="{EBA695E6-3616-584B-ADB9-1BC767543C22}" destId="{CEECF6D7-B242-034B-9EBA-1DE376851B65}" srcOrd="0" destOrd="0" presId="urn:microsoft.com/office/officeart/2005/8/layout/vList3"/>
    <dgm:cxn modelId="{1FC5AF25-D0EF-1049-B1AA-30CC5925A7A3}" srcId="{9B0322A2-04D1-9B4A-AFBE-637420FC70CA}" destId="{737F8ACF-DA9F-794F-97AF-8494DC8C41DD}" srcOrd="1" destOrd="0" parTransId="{B18A813F-35E4-0B41-8C17-11657748886A}" sibTransId="{2D8F7AD0-DD5E-4A45-9E6A-ECD67B623543}"/>
    <dgm:cxn modelId="{8DD43C3B-B551-C843-B92E-3C6AA3DE85D5}" type="presOf" srcId="{D61E8C4B-83B1-6141-BC93-DB3A2D637E65}" destId="{67AA8280-0D44-A94E-8043-2EEFE276D1E9}" srcOrd="0" destOrd="0" presId="urn:microsoft.com/office/officeart/2005/8/layout/vList3"/>
    <dgm:cxn modelId="{D0CC0F3F-05BC-6946-9F48-9961E04B1665}" type="presOf" srcId="{9B0322A2-04D1-9B4A-AFBE-637420FC70CA}" destId="{FA28B158-B89F-6548-BC91-5B3BC6A03976}" srcOrd="0" destOrd="0" presId="urn:microsoft.com/office/officeart/2005/8/layout/vList3"/>
    <dgm:cxn modelId="{3D5CC35C-DAE7-1144-A58F-A89BC1590CDE}" srcId="{9B0322A2-04D1-9B4A-AFBE-637420FC70CA}" destId="{264106F1-4E3F-1348-9926-864509FC5B26}" srcOrd="0" destOrd="0" parTransId="{77AB77B0-FC5F-1B49-B62D-388F78A3575E}" sibTransId="{938DDC3B-226C-B64C-9C80-E869FD1E849B}"/>
    <dgm:cxn modelId="{5E5A6346-DC91-D747-B577-DF8BF46525A4}" type="presOf" srcId="{264106F1-4E3F-1348-9926-864509FC5B26}" destId="{BBA26809-E33A-8441-BB70-723BCB5A1C85}" srcOrd="0" destOrd="0" presId="urn:microsoft.com/office/officeart/2005/8/layout/vList3"/>
    <dgm:cxn modelId="{EA42916E-61F2-D149-AE42-B6214319DAAB}" srcId="{9B0322A2-04D1-9B4A-AFBE-637420FC70CA}" destId="{EBA695E6-3616-584B-ADB9-1BC767543C22}" srcOrd="3" destOrd="0" parTransId="{27E78313-E23F-FC4D-9E8E-CC23CDC08F20}" sibTransId="{62A08F34-709E-8145-99C7-3B8EFF566206}"/>
    <dgm:cxn modelId="{C26CF673-0E1E-CC46-A6D4-45E22FC81D1F}" type="presOf" srcId="{4C7AB5D6-A31F-1046-8FDF-A1AFF4044342}" destId="{43FB68EF-01F5-C24B-89F6-A34C6D98A7E9}" srcOrd="0" destOrd="0" presId="urn:microsoft.com/office/officeart/2005/8/layout/vList3"/>
    <dgm:cxn modelId="{99C95F80-7C09-C24E-ADD2-7B712B111C38}" type="presOf" srcId="{737F8ACF-DA9F-794F-97AF-8494DC8C41DD}" destId="{F4B7EFF2-69B2-EB45-A229-95657A516E17}" srcOrd="0" destOrd="0" presId="urn:microsoft.com/office/officeart/2005/8/layout/vList3"/>
    <dgm:cxn modelId="{3CC44D87-481B-3243-A148-EABFD07A62AA}" srcId="{9B0322A2-04D1-9B4A-AFBE-637420FC70CA}" destId="{4C7AB5D6-A31F-1046-8FDF-A1AFF4044342}" srcOrd="4" destOrd="0" parTransId="{5B735AE0-D970-284B-8892-1129F83E2E07}" sibTransId="{1CAAA2D9-EE5B-8A49-A0EA-94C1BCF8C286}"/>
    <dgm:cxn modelId="{FEADCBE4-63A4-0746-A73C-BA892C961313}" srcId="{9B0322A2-04D1-9B4A-AFBE-637420FC70CA}" destId="{D61E8C4B-83B1-6141-BC93-DB3A2D637E65}" srcOrd="2" destOrd="0" parTransId="{39633656-1D75-4D47-814D-3AE55C9FAC4F}" sibTransId="{FCD11EBC-0635-BB4F-A06F-57BA7B52C0BD}"/>
    <dgm:cxn modelId="{7E6BAE93-23FE-FD48-894B-6B7A1431B8E7}" type="presParOf" srcId="{FA28B158-B89F-6548-BC91-5B3BC6A03976}" destId="{DDEA1B25-38AD-044E-90C8-58B4B119F0A4}" srcOrd="0" destOrd="0" presId="urn:microsoft.com/office/officeart/2005/8/layout/vList3"/>
    <dgm:cxn modelId="{340AF7D0-2F31-3140-A5AA-B201517AC378}" type="presParOf" srcId="{DDEA1B25-38AD-044E-90C8-58B4B119F0A4}" destId="{461663A7-095E-5349-A58D-186EEEBCE797}" srcOrd="0" destOrd="0" presId="urn:microsoft.com/office/officeart/2005/8/layout/vList3"/>
    <dgm:cxn modelId="{07FE8005-91A4-BC46-B93E-E6B52E94C790}" type="presParOf" srcId="{DDEA1B25-38AD-044E-90C8-58B4B119F0A4}" destId="{BBA26809-E33A-8441-BB70-723BCB5A1C85}" srcOrd="1" destOrd="0" presId="urn:microsoft.com/office/officeart/2005/8/layout/vList3"/>
    <dgm:cxn modelId="{C1C3CB28-9749-2F40-AABB-381D23C509C2}" type="presParOf" srcId="{FA28B158-B89F-6548-BC91-5B3BC6A03976}" destId="{3A9646A3-E861-714A-9687-76EDA4C5096C}" srcOrd="1" destOrd="0" presId="urn:microsoft.com/office/officeart/2005/8/layout/vList3"/>
    <dgm:cxn modelId="{3F82A1AE-671A-6C42-B263-8CA75C0C7FA2}" type="presParOf" srcId="{FA28B158-B89F-6548-BC91-5B3BC6A03976}" destId="{8C1438E6-3B83-6F43-AF2A-5BC6696C2518}" srcOrd="2" destOrd="0" presId="urn:microsoft.com/office/officeart/2005/8/layout/vList3"/>
    <dgm:cxn modelId="{ABE36C66-43A7-AB44-9C48-AB6D814D21B9}" type="presParOf" srcId="{8C1438E6-3B83-6F43-AF2A-5BC6696C2518}" destId="{91C536B7-3FF0-7540-A9E6-94ED27AD4BFD}" srcOrd="0" destOrd="0" presId="urn:microsoft.com/office/officeart/2005/8/layout/vList3"/>
    <dgm:cxn modelId="{599ACF84-00F8-B346-8FAA-AD9179FDA902}" type="presParOf" srcId="{8C1438E6-3B83-6F43-AF2A-5BC6696C2518}" destId="{F4B7EFF2-69B2-EB45-A229-95657A516E17}" srcOrd="1" destOrd="0" presId="urn:microsoft.com/office/officeart/2005/8/layout/vList3"/>
    <dgm:cxn modelId="{79DBFA8F-BE7F-9140-AFF2-EA622381BFAE}" type="presParOf" srcId="{FA28B158-B89F-6548-BC91-5B3BC6A03976}" destId="{494A97EF-B9FA-CE4A-9B41-1D7814DAF4A6}" srcOrd="3" destOrd="0" presId="urn:microsoft.com/office/officeart/2005/8/layout/vList3"/>
    <dgm:cxn modelId="{847AC919-1D95-AC47-A733-AE3956E747EE}" type="presParOf" srcId="{FA28B158-B89F-6548-BC91-5B3BC6A03976}" destId="{AD26E4BF-2287-6545-BD2A-9E9F112E42F2}" srcOrd="4" destOrd="0" presId="urn:microsoft.com/office/officeart/2005/8/layout/vList3"/>
    <dgm:cxn modelId="{266D3389-34F0-3647-9F77-FD766FA6FA32}" type="presParOf" srcId="{AD26E4BF-2287-6545-BD2A-9E9F112E42F2}" destId="{D40C6A89-69F2-4547-B292-3B110D581711}" srcOrd="0" destOrd="0" presId="urn:microsoft.com/office/officeart/2005/8/layout/vList3"/>
    <dgm:cxn modelId="{4844238A-4B09-454C-9EB4-063E41818B6F}" type="presParOf" srcId="{AD26E4BF-2287-6545-BD2A-9E9F112E42F2}" destId="{67AA8280-0D44-A94E-8043-2EEFE276D1E9}" srcOrd="1" destOrd="0" presId="urn:microsoft.com/office/officeart/2005/8/layout/vList3"/>
    <dgm:cxn modelId="{DE31FB3E-8F1C-B644-9F74-7F6603CBE609}" type="presParOf" srcId="{FA28B158-B89F-6548-BC91-5B3BC6A03976}" destId="{7D4638E8-A0DE-2443-8760-D2B6E693FF23}" srcOrd="5" destOrd="0" presId="urn:microsoft.com/office/officeart/2005/8/layout/vList3"/>
    <dgm:cxn modelId="{DB3748E0-C3BA-0847-A553-908637DAC22E}" type="presParOf" srcId="{FA28B158-B89F-6548-BC91-5B3BC6A03976}" destId="{F697070B-8B88-F441-892E-1DDD0AF45A64}" srcOrd="6" destOrd="0" presId="urn:microsoft.com/office/officeart/2005/8/layout/vList3"/>
    <dgm:cxn modelId="{C55E6331-A96E-0A4F-A77B-AF1036F4521D}" type="presParOf" srcId="{F697070B-8B88-F441-892E-1DDD0AF45A64}" destId="{BD4E3E7B-E244-FD4B-95F0-3CD7EAD42C42}" srcOrd="0" destOrd="0" presId="urn:microsoft.com/office/officeart/2005/8/layout/vList3"/>
    <dgm:cxn modelId="{50F07FAF-9F82-1E4E-8F47-AC51096A2699}" type="presParOf" srcId="{F697070B-8B88-F441-892E-1DDD0AF45A64}" destId="{CEECF6D7-B242-034B-9EBA-1DE376851B65}" srcOrd="1" destOrd="0" presId="urn:microsoft.com/office/officeart/2005/8/layout/vList3"/>
    <dgm:cxn modelId="{314B743E-A452-3E4D-AE27-F8A78F413A21}" type="presParOf" srcId="{FA28B158-B89F-6548-BC91-5B3BC6A03976}" destId="{ABCA5B62-D309-2D4A-8D9A-0BD4C76FD0EF}" srcOrd="7" destOrd="0" presId="urn:microsoft.com/office/officeart/2005/8/layout/vList3"/>
    <dgm:cxn modelId="{DD43933D-2BFA-BD42-8188-2141A7F5BB5F}" type="presParOf" srcId="{FA28B158-B89F-6548-BC91-5B3BC6A03976}" destId="{B51B8F56-82B1-3147-9CB7-AE8DD2A5B29E}" srcOrd="8" destOrd="0" presId="urn:microsoft.com/office/officeart/2005/8/layout/vList3"/>
    <dgm:cxn modelId="{4005E062-C531-344C-A5FD-AF7EA505F9D8}" type="presParOf" srcId="{B51B8F56-82B1-3147-9CB7-AE8DD2A5B29E}" destId="{7CD4DBAE-3334-D541-8C7D-FC4CB0F79389}" srcOrd="0" destOrd="0" presId="urn:microsoft.com/office/officeart/2005/8/layout/vList3"/>
    <dgm:cxn modelId="{C9524FC5-4AE6-B04F-A5DD-AF19B89EC67F}" type="presParOf" srcId="{B51B8F56-82B1-3147-9CB7-AE8DD2A5B29E}" destId="{43FB68EF-01F5-C24B-89F6-A34C6D98A7E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A26809-E33A-8441-BB70-723BCB5A1C85}">
      <dsp:nvSpPr>
        <dsp:cNvPr id="0" name=""/>
        <dsp:cNvSpPr/>
      </dsp:nvSpPr>
      <dsp:spPr>
        <a:xfrm rot="10800000">
          <a:off x="1777309" y="1419"/>
          <a:ext cx="6186242" cy="87648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504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Обзор понятия «профессиональное выгорание»</a:t>
          </a:r>
          <a:endParaRPr lang="ru-RU" sz="2400" b="0" i="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996429" y="1419"/>
        <a:ext cx="5967122" cy="876481"/>
      </dsp:txXfrm>
    </dsp:sp>
    <dsp:sp modelId="{461663A7-095E-5349-A58D-186EEEBCE797}">
      <dsp:nvSpPr>
        <dsp:cNvPr id="0" name=""/>
        <dsp:cNvSpPr/>
      </dsp:nvSpPr>
      <dsp:spPr>
        <a:xfrm>
          <a:off x="1339068" y="1419"/>
          <a:ext cx="876481" cy="876481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B7EFF2-69B2-EB45-A229-95657A516E17}">
      <dsp:nvSpPr>
        <dsp:cNvPr id="0" name=""/>
        <dsp:cNvSpPr/>
      </dsp:nvSpPr>
      <dsp:spPr>
        <a:xfrm rot="10800000">
          <a:off x="1777309" y="1139536"/>
          <a:ext cx="6186242" cy="87648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504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Описание характеристики ПАО СК «Росгосстрах»</a:t>
          </a:r>
        </a:p>
      </dsp:txBody>
      <dsp:txXfrm rot="10800000">
        <a:off x="1996429" y="1139536"/>
        <a:ext cx="5967122" cy="876481"/>
      </dsp:txXfrm>
    </dsp:sp>
    <dsp:sp modelId="{91C536B7-3FF0-7540-A9E6-94ED27AD4BFD}">
      <dsp:nvSpPr>
        <dsp:cNvPr id="0" name=""/>
        <dsp:cNvSpPr/>
      </dsp:nvSpPr>
      <dsp:spPr>
        <a:xfrm>
          <a:off x="1339068" y="1139536"/>
          <a:ext cx="876481" cy="876481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AA8280-0D44-A94E-8043-2EEFE276D1E9}">
      <dsp:nvSpPr>
        <dsp:cNvPr id="0" name=""/>
        <dsp:cNvSpPr/>
      </dsp:nvSpPr>
      <dsp:spPr>
        <a:xfrm rot="10800000">
          <a:off x="1777309" y="2277654"/>
          <a:ext cx="6186242" cy="87648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504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Формулирование требований</a:t>
          </a:r>
        </a:p>
      </dsp:txBody>
      <dsp:txXfrm rot="10800000">
        <a:off x="1996429" y="2277654"/>
        <a:ext cx="5967122" cy="876481"/>
      </dsp:txXfrm>
    </dsp:sp>
    <dsp:sp modelId="{D40C6A89-69F2-4547-B292-3B110D581711}">
      <dsp:nvSpPr>
        <dsp:cNvPr id="0" name=""/>
        <dsp:cNvSpPr/>
      </dsp:nvSpPr>
      <dsp:spPr>
        <a:xfrm>
          <a:off x="1339068" y="2277654"/>
          <a:ext cx="876481" cy="876481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ECF6D7-B242-034B-9EBA-1DE376851B65}">
      <dsp:nvSpPr>
        <dsp:cNvPr id="0" name=""/>
        <dsp:cNvSpPr/>
      </dsp:nvSpPr>
      <dsp:spPr>
        <a:xfrm rot="10800000">
          <a:off x="1777309" y="3415771"/>
          <a:ext cx="6186242" cy="87648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504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Реализация</a:t>
          </a:r>
          <a:r>
            <a:rPr lang="ru-RU" sz="2400" kern="1200" baseline="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 прототипа</a:t>
          </a:r>
          <a:endParaRPr lang="ru-RU" sz="240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996429" y="3415771"/>
        <a:ext cx="5967122" cy="876481"/>
      </dsp:txXfrm>
    </dsp:sp>
    <dsp:sp modelId="{BD4E3E7B-E244-FD4B-95F0-3CD7EAD42C42}">
      <dsp:nvSpPr>
        <dsp:cNvPr id="0" name=""/>
        <dsp:cNvSpPr/>
      </dsp:nvSpPr>
      <dsp:spPr>
        <a:xfrm>
          <a:off x="1339068" y="3415771"/>
          <a:ext cx="876481" cy="876481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FB68EF-01F5-C24B-89F6-A34C6D98A7E9}">
      <dsp:nvSpPr>
        <dsp:cNvPr id="0" name=""/>
        <dsp:cNvSpPr/>
      </dsp:nvSpPr>
      <dsp:spPr>
        <a:xfrm rot="10800000">
          <a:off x="1777309" y="4553889"/>
          <a:ext cx="6186242" cy="87648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504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Расчет экономической эффективности</a:t>
          </a:r>
        </a:p>
      </dsp:txBody>
      <dsp:txXfrm rot="10800000">
        <a:off x="1996429" y="4553889"/>
        <a:ext cx="5967122" cy="876481"/>
      </dsp:txXfrm>
    </dsp:sp>
    <dsp:sp modelId="{7CD4DBAE-3334-D541-8C7D-FC4CB0F79389}">
      <dsp:nvSpPr>
        <dsp:cNvPr id="0" name=""/>
        <dsp:cNvSpPr/>
      </dsp:nvSpPr>
      <dsp:spPr>
        <a:xfrm>
          <a:off x="1339068" y="4553889"/>
          <a:ext cx="876481" cy="876481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A26809-E33A-8441-BB70-723BCB5A1C85}">
      <dsp:nvSpPr>
        <dsp:cNvPr id="0" name=""/>
        <dsp:cNvSpPr/>
      </dsp:nvSpPr>
      <dsp:spPr>
        <a:xfrm rot="10800000">
          <a:off x="1676665" y="4382"/>
          <a:ext cx="5787620" cy="87552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082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Провести комплексный анализ проблемы, выявить барьеры</a:t>
          </a:r>
          <a:endParaRPr lang="ru-RU" sz="2400" b="0" i="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895546" y="4382"/>
        <a:ext cx="5568739" cy="875524"/>
      </dsp:txXfrm>
    </dsp:sp>
    <dsp:sp modelId="{461663A7-095E-5349-A58D-186EEEBCE797}">
      <dsp:nvSpPr>
        <dsp:cNvPr id="0" name=""/>
        <dsp:cNvSpPr/>
      </dsp:nvSpPr>
      <dsp:spPr>
        <a:xfrm>
          <a:off x="1238902" y="4382"/>
          <a:ext cx="875524" cy="875524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B7EFF2-69B2-EB45-A229-95657A516E17}">
      <dsp:nvSpPr>
        <dsp:cNvPr id="0" name=""/>
        <dsp:cNvSpPr/>
      </dsp:nvSpPr>
      <dsp:spPr>
        <a:xfrm rot="10800000">
          <a:off x="1676665" y="1141257"/>
          <a:ext cx="5787620" cy="87552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082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Провести критический анализ существующих цифровых решений</a:t>
          </a:r>
          <a:endParaRPr lang="ru-RU" sz="240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895546" y="1141257"/>
        <a:ext cx="5568739" cy="875524"/>
      </dsp:txXfrm>
    </dsp:sp>
    <dsp:sp modelId="{91C536B7-3FF0-7540-A9E6-94ED27AD4BFD}">
      <dsp:nvSpPr>
        <dsp:cNvPr id="0" name=""/>
        <dsp:cNvSpPr/>
      </dsp:nvSpPr>
      <dsp:spPr>
        <a:xfrm>
          <a:off x="1238902" y="1141257"/>
          <a:ext cx="875524" cy="875524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AA8280-0D44-A94E-8043-2EEFE276D1E9}">
      <dsp:nvSpPr>
        <dsp:cNvPr id="0" name=""/>
        <dsp:cNvSpPr/>
      </dsp:nvSpPr>
      <dsp:spPr>
        <a:xfrm rot="10800000">
          <a:off x="1676665" y="2278132"/>
          <a:ext cx="5787620" cy="87552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082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Сформулировать требования к разрабатываемой методике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и системе</a:t>
          </a:r>
          <a:endParaRPr lang="ru-RU" sz="240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895546" y="2278132"/>
        <a:ext cx="5568739" cy="875524"/>
      </dsp:txXfrm>
    </dsp:sp>
    <dsp:sp modelId="{D40C6A89-69F2-4547-B292-3B110D581711}">
      <dsp:nvSpPr>
        <dsp:cNvPr id="0" name=""/>
        <dsp:cNvSpPr/>
      </dsp:nvSpPr>
      <dsp:spPr>
        <a:xfrm>
          <a:off x="1238902" y="2278132"/>
          <a:ext cx="875524" cy="875524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ECF6D7-B242-034B-9EBA-1DE376851B65}">
      <dsp:nvSpPr>
        <dsp:cNvPr id="0" name=""/>
        <dsp:cNvSpPr/>
      </dsp:nvSpPr>
      <dsp:spPr>
        <a:xfrm rot="10800000">
          <a:off x="1676665" y="3415007"/>
          <a:ext cx="5787620" cy="87552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082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Реализовать сервис</a:t>
          </a:r>
          <a:endParaRPr lang="ru-RU" sz="240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895546" y="3415007"/>
        <a:ext cx="5568739" cy="875524"/>
      </dsp:txXfrm>
    </dsp:sp>
    <dsp:sp modelId="{BD4E3E7B-E244-FD4B-95F0-3CD7EAD42C42}">
      <dsp:nvSpPr>
        <dsp:cNvPr id="0" name=""/>
        <dsp:cNvSpPr/>
      </dsp:nvSpPr>
      <dsp:spPr>
        <a:xfrm>
          <a:off x="1238902" y="3415007"/>
          <a:ext cx="875524" cy="875524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FB68EF-01F5-C24B-89F6-A34C6D98A7E9}">
      <dsp:nvSpPr>
        <dsp:cNvPr id="0" name=""/>
        <dsp:cNvSpPr/>
      </dsp:nvSpPr>
      <dsp:spPr>
        <a:xfrm rot="10800000">
          <a:off x="1676665" y="4551883"/>
          <a:ext cx="5787620" cy="87552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082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Провести контролируемый эксперимент для подтверждения эффективности</a:t>
          </a:r>
          <a:endParaRPr lang="ru-RU" sz="240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895546" y="4551883"/>
        <a:ext cx="5568739" cy="875524"/>
      </dsp:txXfrm>
    </dsp:sp>
    <dsp:sp modelId="{7CD4DBAE-3334-D541-8C7D-FC4CB0F79389}">
      <dsp:nvSpPr>
        <dsp:cNvPr id="0" name=""/>
        <dsp:cNvSpPr/>
      </dsp:nvSpPr>
      <dsp:spPr>
        <a:xfrm>
          <a:off x="1238902" y="4551883"/>
          <a:ext cx="875524" cy="875524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5A6D9-C591-48FC-BCC5-4F44DCD5D36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F1928-7763-4D19-8FE7-5ACFF015A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779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028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3306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031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EA08-4721-DCB9-53C0-114F1C7D9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9A1B630-FE58-6152-8E81-F135EF1C18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EC7DAAC-9C9B-4ECA-32A5-5AA9D08215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0826EE-AC0F-6146-49B0-1C82F51B48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6762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9AAAC-6D43-0F24-01E5-4465ECC0D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7FB43C0-9177-3195-DF78-27C1E75C90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1B28203-1AD5-1CCC-1B9F-398E306A88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8A4141-50F4-D8E3-5786-085D698B2E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6559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44C51-AD00-F301-A103-DCB52D825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A69F49B-57E6-A3E4-DD46-B9984D994E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7E74509-91F2-7456-62CE-EB9BCFD3AE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E2840D2-F40F-3A03-BD5F-9BAC553BB4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752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F738C-59DE-A698-E7A9-7A314AC3A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FF60B42-0EAF-F65C-3B0E-0E55C67E8C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8E604E6-0A7C-14D2-9BC8-D2F24E360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8A552FA-ED9E-97B9-9DCE-A22486D911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7475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8E8C9-93C8-C856-140D-8F1523C3E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89846FF-873C-760F-2DD4-BC1F7AE2E6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A84C0CB-77C0-0923-26C8-31AFC4B87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7160B2-F037-2D9C-8B34-F403AF3C1E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9126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A85FD-850C-4ECB-0564-9ABCBDA7C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B3D7CED-83FB-77DA-E2A9-42BEBA5A0A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6EDB6CF-DD2F-BB7E-F2CA-4D60114DD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4E4F755-398D-C099-C589-74378CB0D5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310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CD25C-10CF-6ECD-731E-6223051E1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C01B11E-83CB-5A16-7625-054C396B5C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A0D8572-3ECD-ED6D-61D7-B352FBF4FA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AF9F463-4217-4CD8-BB82-296B4C389A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65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A9331-7E3D-D4D3-588F-6B9DD7074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59E5573-1958-E69A-55C5-009C178766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EEF5F34-0B90-DE41-92FF-3568E40CA1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B4118B2-E302-0F6E-1E8C-5FF6D177D4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924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1E552-6268-2CA8-6037-E21338750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F6944F2-E378-A3F2-3600-974757F764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7A72047-B537-2C79-ECE2-BB35E01F1B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CC819E2-D969-3ADB-E866-8C9263037E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5645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D317F-2D9C-9B76-DF40-01B6EF543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FC0CAFC-2AAD-B9C8-BC6D-ECE416E4EF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3753651-334F-8F4F-256C-974244254E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B7FB3BC-7C2D-C564-115D-08DDEFB18F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2700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1970C-2C94-82F1-0F3D-4A4BDCB08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5E84D7E-2CA2-58CB-DBD4-D249FEEDA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6471C7B-3239-DA47-2706-62E98AF2D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3C68162-CAAB-0F65-CE1D-08E5772281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8613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B3CB8-9C92-5026-0195-7E2A0650E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DDD8355-8B96-9D7D-499C-749C8AC8FD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2D5CF2F-7373-BBA5-DEF5-90C457F054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C3D2D70-5FB5-F10D-3515-F705B72E67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5899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DF570-91E3-2540-5C77-F9A1D8BCE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AADCB1F-2BA3-3F07-3FAA-CEFF3EA87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106C3B1-4EBF-F378-0CBE-90A9A91AFB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EE40326-B102-0E4E-399E-63FD07ACFD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652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77C98-670C-65F9-4547-ECED8247D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CBBE2E7-E87F-BCC7-AE73-BB78CCA18D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7DFBE97-E8C6-95E0-3740-F7B476946D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54BFC31-0F2B-EDBC-ED20-258D7CF782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379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280DC-42DD-AEF7-248E-D34BC8FBA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5882BC7-2C41-CDB4-F5BA-750464B6DC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6CBA4CC-C138-C71F-D4AD-3FD4A28FBB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D772EDA-1FA8-C9D2-8158-4873E46E4B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116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9E129-16CC-E6EA-FF16-D0E4EC9B6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137C509-1910-5AFE-D15F-292C2EF52C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79DE127-F046-A44A-61AE-B6A98F02C7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3533D7B-BBD7-403B-FA51-CC264D9EBC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143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ACD9A7-26A0-558D-E48B-3DA81ED641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1770BBA-46C2-5337-2139-4826A39FB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E6DEB3-69B5-D689-F691-2D3BEBE1A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CED81F-42E1-091D-62D5-EF2A612CA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F89A0E-1B72-FF7D-0909-F23FB050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5011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2ED5F6-5374-76DC-57D9-992D3DA7E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E6514D-2189-56FC-FFDB-4A6C2FF6A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C6B7D3-345D-F093-26D0-A6C6AF49E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C452BB-8FD4-4EDD-FB38-CFE6A5B2C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851FC6-D106-C6E2-DD7B-B8117C413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5095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16E4B-5DB0-E445-A76B-AA414F66B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A7ECCB7-C83C-9710-E9F9-E7AD054F6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156FFD-D93A-38FF-2999-48F5052CD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8AF727-CB03-3EDD-2BE3-493F881EC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BF96E8-E81D-7040-46CF-B8C6FBA6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7470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D2E553-02F3-CD99-B015-447CDD788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268026-3021-EDA0-610D-46A9D34F8C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6A9D97F-FD09-7F88-2031-99B2F839C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0EF5E71-6907-A9DD-9171-7FFC3B7BB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B822552-C430-BEE1-37E3-3D2EED45F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E06298-D658-3F14-7B92-DE737CC59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8276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4B572C-C978-AA19-412C-CB769FF56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843F3D-3592-3842-6774-EED8A0DC2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8174E90-DB44-E10F-5644-E428AD465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C82248D-D4E9-F70E-0DDB-C007DDB4AA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DD58770-6E32-4DB3-38B1-D0E1D7E8BA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D306C3D-4091-9C9C-AF29-792839819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1CBD93B-3E6D-EE28-4D2A-0D40A2E05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B8FDE51-1323-7C66-4D6C-CA2DEEE87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8910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E9E4CB-4AF3-9121-EB40-22017A6AD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B6D4A7E-9EBC-6C89-3C34-A21985A5D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DEB98B5-A93A-11DF-7B89-5B239DDB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B8B72C7-52B8-4201-8EEB-543F4C3D5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3029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43B8230-4050-B141-D7BA-36E27709A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223A9D9-865B-9B6E-0E3A-7B232B88F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C5B269-5C40-F5CC-7DA2-16D43CB58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0265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C0B313-D6F4-5E53-826C-EEA2F57B9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694EE3-CADE-175B-370D-F3141958E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F7041BC-0A54-612F-1F7C-704D10CE9B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4C34793-6496-87EF-7D34-13C425405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60FD95C-9829-7ADE-4182-311A56EA7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BD197E-75FA-F0D4-B27A-C34FF0ED8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3901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E4DC17-FCF0-5BAE-8020-2BF11C51A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4F8251E-7329-1F92-BEB1-DAAFB9C21B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D2D194-A432-9AE7-9108-9F9509867A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5DFFCB2-3EEE-B76E-B243-BFE4F5FA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15C4689-CC8B-7D0D-8ACB-705DE9CF3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99A0B99-147E-9E25-A4AF-6F1D96B5A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7050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9FE45D-38FF-218B-E5A9-8F35063DD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CBFEB12-4A2D-97EC-D003-F318EE362A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49860D-6536-A1D5-2033-74584BA82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9CBF98-F785-4E91-0EB7-AF44BB2F7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5C9C5C-2403-3E49-54A2-3BC9678F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6886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7BE845B-6DB4-B7E8-3404-377AC267D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3C728E5-86D4-829D-B823-91F27094C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5AADE6-D954-D4DB-31A9-0300CBF17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73535A-311F-CD29-540D-95C1AF614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4BBC46-2D11-8C22-DE87-A244DAD19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4849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8200DF-7309-D8CD-1863-0E6E09605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BA1A5A-444D-A36E-C737-8DCE92D11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2E98A1-5FF7-0F7B-EE9A-4DE330D877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41A35-9E0E-854D-AA68-667636D6212A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9189CA-4343-18CF-BC48-101FEAE25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4B7DC1-24A3-8AF0-2561-8ACDD6917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479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0.svg"/><Relationship Id="rId7" Type="http://schemas.openxmlformats.org/officeDocument/2006/relationships/diagramColors" Target="../diagrams/colors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10" Type="http://schemas.openxmlformats.org/officeDocument/2006/relationships/image" Target="../media/image12.svg"/><Relationship Id="rId4" Type="http://schemas.openxmlformats.org/officeDocument/2006/relationships/diagramData" Target="../diagrams/data1.xml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0.svg"/><Relationship Id="rId7" Type="http://schemas.openxmlformats.org/officeDocument/2006/relationships/diagramColors" Target="../diagrams/colors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10" Type="http://schemas.openxmlformats.org/officeDocument/2006/relationships/image" Target="../media/image12.svg"/><Relationship Id="rId4" Type="http://schemas.openxmlformats.org/officeDocument/2006/relationships/diagramData" Target="../diagrams/data2.xml"/><Relationship Id="rId9" Type="http://schemas.openxmlformats.org/officeDocument/2006/relationships/image" Target="../media/image1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0178A3-F511-D226-2956-40A2464B9526}"/>
              </a:ext>
            </a:extLst>
          </p:cNvPr>
          <p:cNvSpPr txBox="1"/>
          <p:nvPr/>
        </p:nvSpPr>
        <p:spPr>
          <a:xfrm>
            <a:off x="300037" y="1663799"/>
            <a:ext cx="8606220" cy="3272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ru-RU" sz="3600" b="1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методики формирования</a:t>
            </a: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ru-RU" sz="3600" b="1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здоровых привычек средствами игровой психологии</a:t>
            </a:r>
          </a:p>
          <a:p>
            <a:pPr marL="127080" algn="ctr"/>
            <a:r>
              <a:rPr lang="ru-RU" sz="3600" b="1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наставнической поддержки в Телеграм-боте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772571-CE1A-9124-F61D-FE02B6459C68}"/>
              </a:ext>
            </a:extLst>
          </p:cNvPr>
          <p:cNvSpPr txBox="1"/>
          <p:nvPr/>
        </p:nvSpPr>
        <p:spPr>
          <a:xfrm>
            <a:off x="372773" y="5626485"/>
            <a:ext cx="3391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Inter Variable Text" panose="02000503000000020004" pitchFamily="2" charset="0"/>
                <a:cs typeface="Times New Roman" panose="02020603050405020304" pitchFamily="18" charset="0"/>
              </a:rPr>
              <a:t>Гамов Павел Антонович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032ACB8-8A05-C3B8-A59C-A29D700F2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08177AD0-C179-B96C-20F0-758F8DF24C99}"/>
              </a:ext>
            </a:extLst>
          </p:cNvPr>
          <p:cNvGrpSpPr/>
          <p:nvPr/>
        </p:nvGrpSpPr>
        <p:grpSpPr>
          <a:xfrm>
            <a:off x="9066068" y="4936490"/>
            <a:ext cx="3125932" cy="4025879"/>
            <a:chOff x="9066069" y="1480379"/>
            <a:chExt cx="3125932" cy="4025879"/>
          </a:xfrm>
        </p:grpSpPr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2AB808DE-DEDE-B9C1-02DE-E5BBA45C88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3603" t="31176" r="60969" b="10607"/>
            <a:stretch>
              <a:fillRect/>
            </a:stretch>
          </p:blipFill>
          <p:spPr>
            <a:xfrm>
              <a:off x="9066069" y="1480379"/>
              <a:ext cx="3125932" cy="4025879"/>
            </a:xfrm>
            <a:prstGeom prst="rect">
              <a:avLst/>
            </a:prstGeom>
          </p:spPr>
        </p:pic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20FC1641-E058-44C3-4EB2-6FF05A31CA27}"/>
                </a:ext>
              </a:extLst>
            </p:cNvPr>
            <p:cNvSpPr/>
            <p:nvPr/>
          </p:nvSpPr>
          <p:spPr>
            <a:xfrm rot="5400000">
              <a:off x="8861494" y="1684954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7ED13E26-E889-60DE-EE81-1EEF495B5271}"/>
                </a:ext>
              </a:extLst>
            </p:cNvPr>
            <p:cNvSpPr/>
            <p:nvPr/>
          </p:nvSpPr>
          <p:spPr>
            <a:xfrm rot="5400000">
              <a:off x="8861494" y="3119545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058CDAC3-1569-5BE0-2658-39A5C674D334}"/>
                </a:ext>
              </a:extLst>
            </p:cNvPr>
            <p:cNvSpPr/>
            <p:nvPr/>
          </p:nvSpPr>
          <p:spPr>
            <a:xfrm rot="5400000">
              <a:off x="8861494" y="4542774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CE47F50C-CE4A-156E-DE62-F39CAA0D7A3C}"/>
              </a:ext>
            </a:extLst>
          </p:cNvPr>
          <p:cNvGrpSpPr/>
          <p:nvPr/>
        </p:nvGrpSpPr>
        <p:grpSpPr>
          <a:xfrm>
            <a:off x="9066068" y="156097"/>
            <a:ext cx="3125932" cy="4721745"/>
            <a:chOff x="9066069" y="784513"/>
            <a:chExt cx="3125932" cy="4721745"/>
          </a:xfrm>
        </p:grpSpPr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52FB1375-D23A-DABD-BF39-231B123E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3603" t="21113" r="60969" b="10607"/>
            <a:stretch>
              <a:fillRect/>
            </a:stretch>
          </p:blipFill>
          <p:spPr>
            <a:xfrm>
              <a:off x="9066069" y="784513"/>
              <a:ext cx="3125932" cy="4721745"/>
            </a:xfrm>
            <a:prstGeom prst="rect">
              <a:avLst/>
            </a:prstGeom>
          </p:spPr>
        </p:pic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B94207A2-862F-D6BD-A183-DA4593922874}"/>
                </a:ext>
              </a:extLst>
            </p:cNvPr>
            <p:cNvSpPr/>
            <p:nvPr/>
          </p:nvSpPr>
          <p:spPr>
            <a:xfrm rot="5400000">
              <a:off x="8861494" y="1684954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1738318F-B22B-B4A1-A385-185C2F9FCB09}"/>
                </a:ext>
              </a:extLst>
            </p:cNvPr>
            <p:cNvSpPr/>
            <p:nvPr/>
          </p:nvSpPr>
          <p:spPr>
            <a:xfrm rot="5400000">
              <a:off x="8861494" y="3119545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F2215235-0382-F748-8940-D6BB19BD58B2}"/>
                </a:ext>
              </a:extLst>
            </p:cNvPr>
            <p:cNvSpPr/>
            <p:nvPr/>
          </p:nvSpPr>
          <p:spPr>
            <a:xfrm rot="5400000">
              <a:off x="8861494" y="4542774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12035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D5B0377-8134-0B01-D0EA-ED83F1C94CC1}"/>
              </a:ext>
            </a:extLst>
          </p:cNvPr>
          <p:cNvSpPr txBox="1"/>
          <p:nvPr/>
        </p:nvSpPr>
        <p:spPr>
          <a:xfrm>
            <a:off x="3728540" y="230966"/>
            <a:ext cx="80672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Объект и предмет исследования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F155BF4-6281-13E9-3D46-2E1499F82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8A566630-8C45-161E-7ABE-2D9140BA00BA}"/>
              </a:ext>
            </a:extLst>
          </p:cNvPr>
          <p:cNvGrpSpPr/>
          <p:nvPr/>
        </p:nvGrpSpPr>
        <p:grpSpPr>
          <a:xfrm>
            <a:off x="483450" y="1096472"/>
            <a:ext cx="11207221" cy="5307496"/>
            <a:chOff x="356300" y="752694"/>
            <a:chExt cx="12012208" cy="5688720"/>
          </a:xfrm>
        </p:grpSpPr>
        <p:grpSp>
          <p:nvGrpSpPr>
            <p:cNvPr id="4" name="Группа 3">
              <a:extLst>
                <a:ext uri="{FF2B5EF4-FFF2-40B4-BE49-F238E27FC236}">
                  <a16:creationId xmlns:a16="http://schemas.microsoft.com/office/drawing/2014/main" id="{2E6CF149-D3D6-F24D-FD79-266A4B8BBBE9}"/>
                </a:ext>
              </a:extLst>
            </p:cNvPr>
            <p:cNvGrpSpPr/>
            <p:nvPr/>
          </p:nvGrpSpPr>
          <p:grpSpPr>
            <a:xfrm>
              <a:off x="356300" y="1892107"/>
              <a:ext cx="12012208" cy="4549307"/>
              <a:chOff x="374556" y="2297346"/>
              <a:chExt cx="12012208" cy="4549307"/>
            </a:xfrm>
          </p:grpSpPr>
          <p:sp>
            <p:nvSpPr>
              <p:cNvPr id="19" name="Фигура, имеющая форму буквы L 18">
                <a:extLst>
                  <a:ext uri="{FF2B5EF4-FFF2-40B4-BE49-F238E27FC236}">
                    <a16:creationId xmlns:a16="http://schemas.microsoft.com/office/drawing/2014/main" id="{21E103C3-437E-D9EE-014F-CB46829EBB82}"/>
                  </a:ext>
                </a:extLst>
              </p:cNvPr>
              <p:cNvSpPr/>
              <p:nvPr/>
            </p:nvSpPr>
            <p:spPr>
              <a:xfrm rot="5400000">
                <a:off x="905012" y="3948256"/>
                <a:ext cx="1597812" cy="2658723"/>
              </a:xfrm>
              <a:prstGeom prst="corner">
                <a:avLst>
                  <a:gd name="adj1" fmla="val 16120"/>
                  <a:gd name="adj2" fmla="val 16110"/>
                </a:avLst>
              </a:prstGeom>
              <a:noFill/>
              <a:ln>
                <a:solidFill>
                  <a:srgbClr val="1A3773"/>
                </a:solidFill>
                <a:prstDash val="dash"/>
              </a:ln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0" name="Полилиния 21">
                <a:extLst>
                  <a:ext uri="{FF2B5EF4-FFF2-40B4-BE49-F238E27FC236}">
                    <a16:creationId xmlns:a16="http://schemas.microsoft.com/office/drawing/2014/main" id="{A8F01F63-7F7E-9A0F-BB42-5B5DBA073AF1}"/>
                  </a:ext>
                </a:extLst>
              </p:cNvPr>
              <p:cNvSpPr/>
              <p:nvPr/>
            </p:nvSpPr>
            <p:spPr>
              <a:xfrm>
                <a:off x="638297" y="4742641"/>
                <a:ext cx="3107433" cy="2104012"/>
              </a:xfrm>
              <a:custGeom>
                <a:avLst/>
                <a:gdLst>
                  <a:gd name="connsiteX0" fmla="*/ 0 w 2400310"/>
                  <a:gd name="connsiteY0" fmla="*/ 0 h 2104012"/>
                  <a:gd name="connsiteX1" fmla="*/ 2400310 w 2400310"/>
                  <a:gd name="connsiteY1" fmla="*/ 0 h 2104012"/>
                  <a:gd name="connsiteX2" fmla="*/ 2400310 w 2400310"/>
                  <a:gd name="connsiteY2" fmla="*/ 2104012 h 2104012"/>
                  <a:gd name="connsiteX3" fmla="*/ 0 w 2400310"/>
                  <a:gd name="connsiteY3" fmla="*/ 2104012 h 2104012"/>
                  <a:gd name="connsiteX4" fmla="*/ 0 w 2400310"/>
                  <a:gd name="connsiteY4" fmla="*/ 0 h 2104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00310" h="2104012">
                    <a:moveTo>
                      <a:pt x="0" y="0"/>
                    </a:moveTo>
                    <a:lnTo>
                      <a:pt x="2400310" y="0"/>
                    </a:lnTo>
                    <a:lnTo>
                      <a:pt x="2400310" y="2104012"/>
                    </a:lnTo>
                    <a:lnTo>
                      <a:pt x="0" y="210401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33350" tIns="133350" rIns="133350" bIns="133350" numCol="1" spcCol="1270" anchor="t" anchorCtr="0">
                <a:noAutofit/>
              </a:bodyPr>
              <a:lstStyle/>
              <a:p>
                <a:pPr defTabSz="1555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sz="2000" dirty="0">
                    <a:latin typeface="Inter Variable Text Medium" panose="02000503000000020004" pitchFamily="2" charset="0"/>
                    <a:ea typeface="Inter Variable Text Medium" panose="02000503000000020004" pitchFamily="2" charset="0"/>
                    <a:cs typeface="Inter Variable Text Medium" panose="02000503000000020004" pitchFamily="2" charset="0"/>
                  </a:rPr>
                  <a:t>Актуальность:</a:t>
                </a:r>
              </a:p>
              <a:p>
                <a:pPr defTabSz="1555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dirty="0">
                    <a:latin typeface="Inter Variable Text Medium" panose="02000503000000020004" pitchFamily="2" charset="0"/>
                    <a:ea typeface="Inter Variable Text Medium" panose="02000503000000020004" pitchFamily="2" charset="0"/>
                    <a:cs typeface="Inter Variable Text Medium" panose="02000503000000020004" pitchFamily="2" charset="0"/>
                  </a:rPr>
                  <a:t>широкое распространение проблемы профессионального выгорания</a:t>
                </a:r>
              </a:p>
              <a:p>
                <a:pPr lvl="0" algn="l" defTabSz="1555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dirty="0">
                  <a:latin typeface="Inter Variable Text Medium" panose="02000503000000020004" pitchFamily="2" charset="0"/>
                  <a:ea typeface="Inter Variable Text Medium" panose="02000503000000020004" pitchFamily="2" charset="0"/>
                  <a:cs typeface="Inter Variable Text Medium" panose="02000503000000020004" pitchFamily="2" charset="0"/>
                </a:endParaRPr>
              </a:p>
            </p:txBody>
          </p:sp>
          <p:sp>
            <p:nvSpPr>
              <p:cNvPr id="21" name="Треугольник 22">
                <a:extLst>
                  <a:ext uri="{FF2B5EF4-FFF2-40B4-BE49-F238E27FC236}">
                    <a16:creationId xmlns:a16="http://schemas.microsoft.com/office/drawing/2014/main" id="{D90B0ECD-B8F5-8CA9-E1FE-B49CCA67D774}"/>
                  </a:ext>
                </a:extLst>
              </p:cNvPr>
              <p:cNvSpPr/>
              <p:nvPr/>
            </p:nvSpPr>
            <p:spPr>
              <a:xfrm>
                <a:off x="2580392" y="3938564"/>
                <a:ext cx="452888" cy="452888"/>
              </a:xfrm>
              <a:prstGeom prst="triangle">
                <a:avLst>
                  <a:gd name="adj" fmla="val 100000"/>
                </a:avLst>
              </a:prstGeom>
              <a:solidFill>
                <a:srgbClr val="274E9C"/>
              </a:solidFill>
              <a:ln>
                <a:solidFill>
                  <a:srgbClr val="274E9C"/>
                </a:solidFill>
              </a:ln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2" name="Фигура, имеющая форму буквы L 21">
                <a:extLst>
                  <a:ext uri="{FF2B5EF4-FFF2-40B4-BE49-F238E27FC236}">
                    <a16:creationId xmlns:a16="http://schemas.microsoft.com/office/drawing/2014/main" id="{B8508353-FBCF-0932-B199-34001357130E}"/>
                  </a:ext>
                </a:extLst>
              </p:cNvPr>
              <p:cNvSpPr/>
              <p:nvPr/>
            </p:nvSpPr>
            <p:spPr>
              <a:xfrm rot="5400000">
                <a:off x="3843461" y="3221133"/>
                <a:ext cx="1597812" cy="2658723"/>
              </a:xfrm>
              <a:prstGeom prst="corner">
                <a:avLst>
                  <a:gd name="adj1" fmla="val 16120"/>
                  <a:gd name="adj2" fmla="val 16110"/>
                </a:avLst>
              </a:prstGeom>
              <a:noFill/>
              <a:ln>
                <a:solidFill>
                  <a:srgbClr val="1A3773"/>
                </a:solidFill>
                <a:prstDash val="dash"/>
              </a:ln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3" name="Полилиния 24">
                <a:extLst>
                  <a:ext uri="{FF2B5EF4-FFF2-40B4-BE49-F238E27FC236}">
                    <a16:creationId xmlns:a16="http://schemas.microsoft.com/office/drawing/2014/main" id="{C26BABC5-5D6A-C29D-4E37-743384D1B6FA}"/>
                  </a:ext>
                </a:extLst>
              </p:cNvPr>
              <p:cNvSpPr/>
              <p:nvPr/>
            </p:nvSpPr>
            <p:spPr>
              <a:xfrm>
                <a:off x="3576747" y="4015519"/>
                <a:ext cx="2669380" cy="2104012"/>
              </a:xfrm>
              <a:custGeom>
                <a:avLst/>
                <a:gdLst>
                  <a:gd name="connsiteX0" fmla="*/ 0 w 2400310"/>
                  <a:gd name="connsiteY0" fmla="*/ 0 h 2104012"/>
                  <a:gd name="connsiteX1" fmla="*/ 2400310 w 2400310"/>
                  <a:gd name="connsiteY1" fmla="*/ 0 h 2104012"/>
                  <a:gd name="connsiteX2" fmla="*/ 2400310 w 2400310"/>
                  <a:gd name="connsiteY2" fmla="*/ 2104012 h 2104012"/>
                  <a:gd name="connsiteX3" fmla="*/ 0 w 2400310"/>
                  <a:gd name="connsiteY3" fmla="*/ 2104012 h 2104012"/>
                  <a:gd name="connsiteX4" fmla="*/ 0 w 2400310"/>
                  <a:gd name="connsiteY4" fmla="*/ 0 h 2104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00310" h="2104012">
                    <a:moveTo>
                      <a:pt x="0" y="0"/>
                    </a:moveTo>
                    <a:lnTo>
                      <a:pt x="2400310" y="0"/>
                    </a:lnTo>
                    <a:lnTo>
                      <a:pt x="2400310" y="2104012"/>
                    </a:lnTo>
                    <a:lnTo>
                      <a:pt x="0" y="210401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33350" tIns="133350" rIns="133350" bIns="133350" numCol="1" spcCol="1270" anchor="t" anchorCtr="0">
                <a:noAutofit/>
              </a:bodyPr>
              <a:lstStyle/>
              <a:p>
                <a:pPr defTabSz="1555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sz="2000" i="0" kern="1200" dirty="0">
                    <a:latin typeface="Inter Variable Text Medium" panose="02000503000000020004" pitchFamily="2" charset="0"/>
                    <a:ea typeface="Inter Variable Text Medium" panose="02000503000000020004" pitchFamily="2" charset="0"/>
                    <a:cs typeface="Inter Variable Text Medium" panose="02000503000000020004" pitchFamily="2" charset="0"/>
                  </a:rPr>
                  <a:t>Объект исследования: </a:t>
                </a:r>
              </a:p>
              <a:p>
                <a:pPr defTabSz="1555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dirty="0">
                    <a:latin typeface="Inter Variable Text Medium" panose="02000503000000020004" pitchFamily="2" charset="0"/>
                    <a:ea typeface="Inter Variable Text Medium" panose="02000503000000020004" pitchFamily="2" charset="0"/>
                    <a:cs typeface="Inter Variable Text Medium" panose="02000503000000020004" pitchFamily="2" charset="0"/>
                  </a:rPr>
                  <a:t>система управления профессиональным выгоранием сотрудников ПАО СК «Росгосстрах».</a:t>
                </a:r>
              </a:p>
              <a:p>
                <a:pPr lvl="0" algn="l" defTabSz="1555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dirty="0">
                  <a:latin typeface="Inter Variable Text Medium" panose="02000503000000020004" pitchFamily="2" charset="0"/>
                  <a:ea typeface="Inter Variable Text Medium" panose="02000503000000020004" pitchFamily="2" charset="0"/>
                  <a:cs typeface="Inter Variable Text Medium" panose="02000503000000020004" pitchFamily="2" charset="0"/>
                </a:endParaRPr>
              </a:p>
            </p:txBody>
          </p:sp>
          <p:sp>
            <p:nvSpPr>
              <p:cNvPr id="24" name="Треугольник 25">
                <a:extLst>
                  <a:ext uri="{FF2B5EF4-FFF2-40B4-BE49-F238E27FC236}">
                    <a16:creationId xmlns:a16="http://schemas.microsoft.com/office/drawing/2014/main" id="{9479958B-A341-2FDA-BFB6-0654191CD743}"/>
                  </a:ext>
                </a:extLst>
              </p:cNvPr>
              <p:cNvSpPr/>
              <p:nvPr/>
            </p:nvSpPr>
            <p:spPr>
              <a:xfrm>
                <a:off x="5518841" y="3211442"/>
                <a:ext cx="452888" cy="452888"/>
              </a:xfrm>
              <a:prstGeom prst="triangle">
                <a:avLst>
                  <a:gd name="adj" fmla="val 100000"/>
                </a:avLst>
              </a:prstGeom>
              <a:solidFill>
                <a:srgbClr val="274E9C"/>
              </a:solidFill>
              <a:ln>
                <a:solidFill>
                  <a:srgbClr val="274E9C"/>
                </a:solidFill>
              </a:ln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5" name="Фигура, имеющая форму буквы L 24">
                <a:extLst>
                  <a:ext uri="{FF2B5EF4-FFF2-40B4-BE49-F238E27FC236}">
                    <a16:creationId xmlns:a16="http://schemas.microsoft.com/office/drawing/2014/main" id="{76410140-043E-F3AB-FC61-5C5BC13A56A0}"/>
                  </a:ext>
                </a:extLst>
              </p:cNvPr>
              <p:cNvSpPr/>
              <p:nvPr/>
            </p:nvSpPr>
            <p:spPr>
              <a:xfrm rot="5400000">
                <a:off x="6781910" y="2494011"/>
                <a:ext cx="1597812" cy="2658723"/>
              </a:xfrm>
              <a:prstGeom prst="corner">
                <a:avLst>
                  <a:gd name="adj1" fmla="val 16120"/>
                  <a:gd name="adj2" fmla="val 16110"/>
                </a:avLst>
              </a:prstGeom>
              <a:noFill/>
              <a:ln>
                <a:solidFill>
                  <a:srgbClr val="1A3773"/>
                </a:solidFill>
                <a:prstDash val="dash"/>
              </a:ln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6" name="Полилиния 27">
                <a:extLst>
                  <a:ext uri="{FF2B5EF4-FFF2-40B4-BE49-F238E27FC236}">
                    <a16:creationId xmlns:a16="http://schemas.microsoft.com/office/drawing/2014/main" id="{A7C8EA83-A7E7-642D-3DF9-54452D6D16FC}"/>
                  </a:ext>
                </a:extLst>
              </p:cNvPr>
              <p:cNvSpPr/>
              <p:nvPr/>
            </p:nvSpPr>
            <p:spPr>
              <a:xfrm>
                <a:off x="6517860" y="3309738"/>
                <a:ext cx="3395674" cy="2104012"/>
              </a:xfrm>
              <a:custGeom>
                <a:avLst/>
                <a:gdLst>
                  <a:gd name="connsiteX0" fmla="*/ 0 w 2400310"/>
                  <a:gd name="connsiteY0" fmla="*/ 0 h 2104012"/>
                  <a:gd name="connsiteX1" fmla="*/ 2400310 w 2400310"/>
                  <a:gd name="connsiteY1" fmla="*/ 0 h 2104012"/>
                  <a:gd name="connsiteX2" fmla="*/ 2400310 w 2400310"/>
                  <a:gd name="connsiteY2" fmla="*/ 2104012 h 2104012"/>
                  <a:gd name="connsiteX3" fmla="*/ 0 w 2400310"/>
                  <a:gd name="connsiteY3" fmla="*/ 2104012 h 2104012"/>
                  <a:gd name="connsiteX4" fmla="*/ 0 w 2400310"/>
                  <a:gd name="connsiteY4" fmla="*/ 0 h 2104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00310" h="2104012">
                    <a:moveTo>
                      <a:pt x="0" y="0"/>
                    </a:moveTo>
                    <a:lnTo>
                      <a:pt x="2400310" y="0"/>
                    </a:lnTo>
                    <a:lnTo>
                      <a:pt x="2400310" y="2104012"/>
                    </a:lnTo>
                    <a:lnTo>
                      <a:pt x="0" y="210401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33350" tIns="133350" rIns="133350" bIns="133350" numCol="1" spcCol="1270" anchor="t" anchorCtr="0">
                <a:noAutofit/>
              </a:bodyPr>
              <a:lstStyle/>
              <a:p>
                <a:pPr lvl="0" algn="l" defTabSz="1555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sz="2000" i="0" kern="1200" dirty="0">
                    <a:latin typeface="Inter Variable Text Medium" panose="02000503000000020004" pitchFamily="2" charset="0"/>
                    <a:ea typeface="Inter Variable Text Medium" panose="02000503000000020004" pitchFamily="2" charset="0"/>
                    <a:cs typeface="Inter Variable Text Medium" panose="02000503000000020004" pitchFamily="2" charset="0"/>
                  </a:rPr>
                  <a:t>Предмет исследования:</a:t>
                </a:r>
              </a:p>
              <a:p>
                <a:pPr lvl="0" algn="l" defTabSz="1555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dirty="0">
                    <a:latin typeface="Inter Variable Text Medium" panose="02000503000000020004" pitchFamily="2" charset="0"/>
                    <a:ea typeface="Inter Variable Text Medium" panose="02000503000000020004" pitchFamily="2" charset="0"/>
                    <a:cs typeface="Inter Variable Text Medium" panose="02000503000000020004" pitchFamily="2" charset="0"/>
                  </a:rPr>
                  <a:t>автоматизированный модуль для анализа степени выгорания сотрудников по текстовым коммуникациям</a:t>
                </a:r>
              </a:p>
            </p:txBody>
          </p:sp>
          <p:sp>
            <p:nvSpPr>
              <p:cNvPr id="27" name="Треугольник 28">
                <a:extLst>
                  <a:ext uri="{FF2B5EF4-FFF2-40B4-BE49-F238E27FC236}">
                    <a16:creationId xmlns:a16="http://schemas.microsoft.com/office/drawing/2014/main" id="{BA81189A-FE14-74FA-995C-03DC2D7C685E}"/>
                  </a:ext>
                </a:extLst>
              </p:cNvPr>
              <p:cNvSpPr/>
              <p:nvPr/>
            </p:nvSpPr>
            <p:spPr>
              <a:xfrm>
                <a:off x="8457290" y="2484320"/>
                <a:ext cx="452888" cy="452888"/>
              </a:xfrm>
              <a:prstGeom prst="triangle">
                <a:avLst>
                  <a:gd name="adj" fmla="val 100000"/>
                </a:avLst>
              </a:prstGeom>
              <a:solidFill>
                <a:srgbClr val="274E9C"/>
              </a:solidFill>
              <a:ln>
                <a:solidFill>
                  <a:srgbClr val="274E9C"/>
                </a:solidFill>
              </a:ln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8" name="Фигура, имеющая форму буквы L 27">
                <a:extLst>
                  <a:ext uri="{FF2B5EF4-FFF2-40B4-BE49-F238E27FC236}">
                    <a16:creationId xmlns:a16="http://schemas.microsoft.com/office/drawing/2014/main" id="{CFDE1D58-EE6C-FDF5-2EC3-F8C0500AAC33}"/>
                  </a:ext>
                </a:extLst>
              </p:cNvPr>
              <p:cNvSpPr/>
              <p:nvPr/>
            </p:nvSpPr>
            <p:spPr>
              <a:xfrm rot="5400000">
                <a:off x="9720359" y="1766890"/>
                <a:ext cx="1597812" cy="2658723"/>
              </a:xfrm>
              <a:prstGeom prst="corner">
                <a:avLst>
                  <a:gd name="adj1" fmla="val 16120"/>
                  <a:gd name="adj2" fmla="val 16110"/>
                </a:avLst>
              </a:prstGeom>
              <a:noFill/>
              <a:ln>
                <a:solidFill>
                  <a:srgbClr val="1A3773"/>
                </a:solidFill>
                <a:prstDash val="dash"/>
              </a:ln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9" name="Полилиния 30">
                <a:extLst>
                  <a:ext uri="{FF2B5EF4-FFF2-40B4-BE49-F238E27FC236}">
                    <a16:creationId xmlns:a16="http://schemas.microsoft.com/office/drawing/2014/main" id="{6B3DD64D-7113-D562-0438-D53FA96B3DD9}"/>
                  </a:ext>
                </a:extLst>
              </p:cNvPr>
              <p:cNvSpPr/>
              <p:nvPr/>
            </p:nvSpPr>
            <p:spPr>
              <a:xfrm>
                <a:off x="9453643" y="2561275"/>
                <a:ext cx="2933121" cy="2104012"/>
              </a:xfrm>
              <a:custGeom>
                <a:avLst/>
                <a:gdLst>
                  <a:gd name="connsiteX0" fmla="*/ 0 w 2400310"/>
                  <a:gd name="connsiteY0" fmla="*/ 0 h 2104012"/>
                  <a:gd name="connsiteX1" fmla="*/ 2400310 w 2400310"/>
                  <a:gd name="connsiteY1" fmla="*/ 0 h 2104012"/>
                  <a:gd name="connsiteX2" fmla="*/ 2400310 w 2400310"/>
                  <a:gd name="connsiteY2" fmla="*/ 2104012 h 2104012"/>
                  <a:gd name="connsiteX3" fmla="*/ 0 w 2400310"/>
                  <a:gd name="connsiteY3" fmla="*/ 2104012 h 2104012"/>
                  <a:gd name="connsiteX4" fmla="*/ 0 w 2400310"/>
                  <a:gd name="connsiteY4" fmla="*/ 0 h 2104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00310" h="2104012">
                    <a:moveTo>
                      <a:pt x="0" y="0"/>
                    </a:moveTo>
                    <a:lnTo>
                      <a:pt x="2400310" y="0"/>
                    </a:lnTo>
                    <a:lnTo>
                      <a:pt x="2400310" y="2104012"/>
                    </a:lnTo>
                    <a:lnTo>
                      <a:pt x="0" y="210401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33350" tIns="133350" rIns="133350" bIns="133350" numCol="1" spcCol="1270" anchor="t" anchorCtr="0">
                <a:noAutofit/>
              </a:bodyPr>
              <a:lstStyle/>
              <a:p>
                <a:pPr lvl="0" algn="l" defTabSz="1555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sz="2000" i="0" kern="1200" dirty="0">
                    <a:latin typeface="Inter Variable Text Medium" panose="02000503000000020004" pitchFamily="2" charset="0"/>
                    <a:ea typeface="Inter Variable Text Medium" panose="02000503000000020004" pitchFamily="2" charset="0"/>
                    <a:cs typeface="Inter Variable Text Medium" panose="02000503000000020004" pitchFamily="2" charset="0"/>
                  </a:rPr>
                  <a:t>Практическая значимость:</a:t>
                </a:r>
              </a:p>
              <a:p>
                <a:pPr lvl="0" algn="l" defTabSz="1555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dirty="0">
                    <a:latin typeface="Inter Variable Text Medium" panose="02000503000000020004" pitchFamily="2" charset="0"/>
                    <a:ea typeface="Inter Variable Text Medium" panose="02000503000000020004" pitchFamily="2" charset="0"/>
                    <a:cs typeface="Inter Variable Text Medium" panose="02000503000000020004" pitchFamily="2" charset="0"/>
                  </a:rPr>
                  <a:t>переход от реактивного решения проблемы к </a:t>
                </a:r>
                <a:r>
                  <a:rPr lang="ru-RU" dirty="0" err="1">
                    <a:latin typeface="Inter Variable Text Medium" panose="02000503000000020004" pitchFamily="2" charset="0"/>
                    <a:ea typeface="Inter Variable Text Medium" panose="02000503000000020004" pitchFamily="2" charset="0"/>
                    <a:cs typeface="Inter Variable Text Medium" panose="02000503000000020004" pitchFamily="2" charset="0"/>
                  </a:rPr>
                  <a:t>проактивному</a:t>
                </a:r>
                <a:r>
                  <a:rPr lang="ru-RU" dirty="0">
                    <a:latin typeface="Inter Variable Text Medium" panose="02000503000000020004" pitchFamily="2" charset="0"/>
                    <a:ea typeface="Inter Variable Text Medium" panose="02000503000000020004" pitchFamily="2" charset="0"/>
                    <a:cs typeface="Inter Variable Text Medium" panose="02000503000000020004" pitchFamily="2" charset="0"/>
                  </a:rPr>
                  <a:t> мониторингу состояния персонала, что повысит </a:t>
                </a:r>
                <a:r>
                  <a:rPr lang="ru-RU" dirty="0" err="1">
                    <a:latin typeface="Inter Variable Text Medium" panose="02000503000000020004" pitchFamily="2" charset="0"/>
                    <a:ea typeface="Inter Variable Text Medium" panose="02000503000000020004" pitchFamily="2" charset="0"/>
                    <a:cs typeface="Inter Variable Text Medium" panose="02000503000000020004" pitchFamily="2" charset="0"/>
                  </a:rPr>
                  <a:t>проиводительность</a:t>
                </a:r>
                <a:endParaRPr lang="ru-RU" i="0" kern="1200" dirty="0">
                  <a:latin typeface="Inter Variable Text Medium" panose="02000503000000020004" pitchFamily="2" charset="0"/>
                  <a:ea typeface="Inter Variable Text Medium" panose="02000503000000020004" pitchFamily="2" charset="0"/>
                  <a:cs typeface="Inter Variable Text Medium" panose="02000503000000020004" pitchFamily="2" charset="0"/>
                </a:endParaRPr>
              </a:p>
              <a:p>
                <a:pPr lvl="0" algn="l" defTabSz="1555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sz="2000" i="0" kern="1200" dirty="0">
                  <a:latin typeface="Inter Variable Text Medium" panose="02000503000000020004" pitchFamily="2" charset="0"/>
                  <a:ea typeface="Inter Variable Text Medium" panose="02000503000000020004" pitchFamily="2" charset="0"/>
                  <a:cs typeface="Inter Variable Text Medium" panose="02000503000000020004" pitchFamily="2" charset="0"/>
                </a:endParaRPr>
              </a:p>
            </p:txBody>
          </p:sp>
        </p:grpSp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AC9C9B27-F4B1-D53F-E312-F80AFA1B2A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82" y="2825519"/>
              <a:ext cx="728500" cy="1130986"/>
            </a:xfrm>
            <a:prstGeom prst="rect">
              <a:avLst/>
            </a:prstGeom>
          </p:spPr>
        </p:pic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74B1A5E7-B8C0-38C8-03E0-380D6EB33D44}"/>
                </a:ext>
              </a:extLst>
            </p:cNvPr>
            <p:cNvGrpSpPr/>
            <p:nvPr/>
          </p:nvGrpSpPr>
          <p:grpSpPr>
            <a:xfrm>
              <a:off x="4213325" y="2118983"/>
              <a:ext cx="709679" cy="1186667"/>
              <a:chOff x="4183975" y="1757105"/>
              <a:chExt cx="1125843" cy="1882541"/>
            </a:xfrm>
          </p:grpSpPr>
          <p:pic>
            <p:nvPicPr>
              <p:cNvPr id="16" name="Рисунок 15">
                <a:extLst>
                  <a:ext uri="{FF2B5EF4-FFF2-40B4-BE49-F238E27FC236}">
                    <a16:creationId xmlns:a16="http://schemas.microsoft.com/office/drawing/2014/main" id="{9933FCCF-BF2F-9133-7667-81AFF43D46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83975" y="3095283"/>
                <a:ext cx="1105223" cy="544363"/>
              </a:xfrm>
              <a:prstGeom prst="rect">
                <a:avLst/>
              </a:prstGeom>
            </p:spPr>
          </p:pic>
          <p:pic>
            <p:nvPicPr>
              <p:cNvPr id="17" name="Рисунок 16">
                <a:extLst>
                  <a:ext uri="{FF2B5EF4-FFF2-40B4-BE49-F238E27FC236}">
                    <a16:creationId xmlns:a16="http://schemas.microsoft.com/office/drawing/2014/main" id="{A8A3BF7F-2D07-B7DA-F030-439C5F9759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83975" y="2442690"/>
                <a:ext cx="1125843" cy="507248"/>
              </a:xfrm>
              <a:prstGeom prst="rect">
                <a:avLst/>
              </a:prstGeom>
            </p:spPr>
          </p:pic>
          <p:pic>
            <p:nvPicPr>
              <p:cNvPr id="18" name="Рисунок 17">
                <a:extLst>
                  <a:ext uri="{FF2B5EF4-FFF2-40B4-BE49-F238E27FC236}">
                    <a16:creationId xmlns:a16="http://schemas.microsoft.com/office/drawing/2014/main" id="{94B679AD-E536-5800-9F48-2D562B5348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83975" y="1757105"/>
                <a:ext cx="1092851" cy="540240"/>
              </a:xfrm>
              <a:prstGeom prst="rect">
                <a:avLst/>
              </a:prstGeom>
            </p:spPr>
          </p:pic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4B554231-1DAA-4025-5B55-6C7A4AA604A1}"/>
                </a:ext>
              </a:extLst>
            </p:cNvPr>
            <p:cNvGrpSpPr/>
            <p:nvPr/>
          </p:nvGrpSpPr>
          <p:grpSpPr>
            <a:xfrm>
              <a:off x="7075961" y="1430471"/>
              <a:ext cx="719619" cy="1188708"/>
              <a:chOff x="7046611" y="1067397"/>
              <a:chExt cx="1141610" cy="1885778"/>
            </a:xfrm>
          </p:grpSpPr>
          <p:pic>
            <p:nvPicPr>
              <p:cNvPr id="12" name="Рисунок 11">
                <a:extLst>
                  <a:ext uri="{FF2B5EF4-FFF2-40B4-BE49-F238E27FC236}">
                    <a16:creationId xmlns:a16="http://schemas.microsoft.com/office/drawing/2014/main" id="{3A9B363C-0B78-B8D6-E2EB-577910D4EC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46611" y="2398656"/>
                <a:ext cx="1125843" cy="554519"/>
              </a:xfrm>
              <a:prstGeom prst="rect">
                <a:avLst/>
              </a:prstGeom>
            </p:spPr>
          </p:pic>
          <p:grpSp>
            <p:nvGrpSpPr>
              <p:cNvPr id="13" name="Группа 12">
                <a:extLst>
                  <a:ext uri="{FF2B5EF4-FFF2-40B4-BE49-F238E27FC236}">
                    <a16:creationId xmlns:a16="http://schemas.microsoft.com/office/drawing/2014/main" id="{9F52E7F1-1E92-8CD7-FC26-E3EF2814867C}"/>
                  </a:ext>
                </a:extLst>
              </p:cNvPr>
              <p:cNvGrpSpPr/>
              <p:nvPr/>
            </p:nvGrpSpPr>
            <p:grpSpPr>
              <a:xfrm>
                <a:off x="7062378" y="1067397"/>
                <a:ext cx="1125843" cy="1192833"/>
                <a:chOff x="4183975" y="1757105"/>
                <a:chExt cx="1125843" cy="1192833"/>
              </a:xfrm>
            </p:grpSpPr>
            <p:pic>
              <p:nvPicPr>
                <p:cNvPr id="14" name="Рисунок 13">
                  <a:extLst>
                    <a:ext uri="{FF2B5EF4-FFF2-40B4-BE49-F238E27FC236}">
                      <a16:creationId xmlns:a16="http://schemas.microsoft.com/office/drawing/2014/main" id="{8BE0B294-0531-B15C-9D1F-797F2220FE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 cstate="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83975" y="2442690"/>
                  <a:ext cx="1125843" cy="507248"/>
                </a:xfrm>
                <a:prstGeom prst="rect">
                  <a:avLst/>
                </a:prstGeom>
              </p:spPr>
            </p:pic>
            <p:pic>
              <p:nvPicPr>
                <p:cNvPr id="15" name="Рисунок 14">
                  <a:extLst>
                    <a:ext uri="{FF2B5EF4-FFF2-40B4-BE49-F238E27FC236}">
                      <a16:creationId xmlns:a16="http://schemas.microsoft.com/office/drawing/2014/main" id="{7A382997-EEAA-7570-024F-A1689287CF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 cstate="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83975" y="1757105"/>
                  <a:ext cx="1092851" cy="540240"/>
                </a:xfrm>
                <a:prstGeom prst="rect">
                  <a:avLst/>
                </a:prstGeom>
              </p:spPr>
            </p:pic>
          </p:grpSp>
        </p:grpSp>
        <p:sp>
          <p:nvSpPr>
            <p:cNvPr id="10" name="Полилиния 10">
              <a:extLst>
                <a:ext uri="{FF2B5EF4-FFF2-40B4-BE49-F238E27FC236}">
                  <a16:creationId xmlns:a16="http://schemas.microsoft.com/office/drawing/2014/main" id="{DC676B8D-D31B-C44D-E098-28B7DFCC1ED7}"/>
                </a:ext>
              </a:extLst>
            </p:cNvPr>
            <p:cNvSpPr/>
            <p:nvPr/>
          </p:nvSpPr>
          <p:spPr>
            <a:xfrm>
              <a:off x="9430060" y="2846288"/>
              <a:ext cx="2400311" cy="743085"/>
            </a:xfrm>
            <a:custGeom>
              <a:avLst/>
              <a:gdLst>
                <a:gd name="connsiteX0" fmla="*/ 0 w 2400310"/>
                <a:gd name="connsiteY0" fmla="*/ 0 h 2104012"/>
                <a:gd name="connsiteX1" fmla="*/ 2400310 w 2400310"/>
                <a:gd name="connsiteY1" fmla="*/ 0 h 2104012"/>
                <a:gd name="connsiteX2" fmla="*/ 2400310 w 2400310"/>
                <a:gd name="connsiteY2" fmla="*/ 2104012 h 2104012"/>
                <a:gd name="connsiteX3" fmla="*/ 0 w 2400310"/>
                <a:gd name="connsiteY3" fmla="*/ 2104012 h 2104012"/>
                <a:gd name="connsiteX4" fmla="*/ 0 w 2400310"/>
                <a:gd name="connsiteY4" fmla="*/ 0 h 210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0310" h="2104012">
                  <a:moveTo>
                    <a:pt x="0" y="0"/>
                  </a:moveTo>
                  <a:lnTo>
                    <a:pt x="2400310" y="0"/>
                  </a:lnTo>
                  <a:lnTo>
                    <a:pt x="2400310" y="2104012"/>
                  </a:lnTo>
                  <a:lnTo>
                    <a:pt x="0" y="210401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3350" tIns="133350" rIns="133350" bIns="133350" numCol="1" spcCol="1270" anchor="b" anchorCtr="0">
              <a:noAutofit/>
            </a:bodyPr>
            <a:lstStyle/>
            <a:p>
              <a:pPr marL="0" lvl="1" algn="l" defTabSz="12001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ru-RU" sz="1600" b="0" i="0" kern="1200" dirty="0"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4C71AA96-484D-5196-0647-DAE241F86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82995" y="752694"/>
              <a:ext cx="1121821" cy="1011756"/>
            </a:xfrm>
            <a:prstGeom prst="rect">
              <a:avLst/>
            </a:prstGeom>
          </p:spPr>
        </p:pic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CF78C864-B779-FBF1-CDA0-3D8B70333616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30" name="Прямоугольник: скругленные углы 29">
              <a:extLst>
                <a:ext uri="{FF2B5EF4-FFF2-40B4-BE49-F238E27FC236}">
                  <a16:creationId xmlns:a16="http://schemas.microsoft.com/office/drawing/2014/main" id="{34453806-0341-C208-45DA-F12084CB2987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B046D73-9EBC-F981-144F-CEF31D7F5E67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2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661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F1D31-E70B-52A8-9DB2-8A60E366F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902E1B8-AFDF-9C5C-0A9E-BC9B07972774}"/>
              </a:ext>
            </a:extLst>
          </p:cNvPr>
          <p:cNvSpPr txBox="1"/>
          <p:nvPr/>
        </p:nvSpPr>
        <p:spPr>
          <a:xfrm>
            <a:off x="3638792" y="238690"/>
            <a:ext cx="34708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Цели и задачи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B272114-7B88-41BD-7F92-C6A7B61CE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sp>
        <p:nvSpPr>
          <p:cNvPr id="4" name="Объект 2">
            <a:extLst>
              <a:ext uri="{FF2B5EF4-FFF2-40B4-BE49-F238E27FC236}">
                <a16:creationId xmlns:a16="http://schemas.microsoft.com/office/drawing/2014/main" id="{FD059847-A5AF-5241-F4D5-7D58F1B6A7FC}"/>
              </a:ext>
            </a:extLst>
          </p:cNvPr>
          <p:cNvSpPr txBox="1">
            <a:spLocks/>
          </p:cNvSpPr>
          <p:nvPr/>
        </p:nvSpPr>
        <p:spPr>
          <a:xfrm>
            <a:off x="485193" y="1184989"/>
            <a:ext cx="4301412" cy="5340298"/>
          </a:xfrm>
          <a:prstGeom prst="roundRect">
            <a:avLst>
              <a:gd name="adj" fmla="val 4817"/>
            </a:avLst>
          </a:prstGeom>
          <a:ln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sz="2400" dirty="0"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Создание автоматизированного модуля для анализа степени выгорания сотрудников ПАО СК «Росгосстрах», основанного на методах обработки естественного языка и машинного обучения, и оценке его экономической эффективности.</a:t>
            </a:r>
          </a:p>
        </p:txBody>
      </p:sp>
      <p:pic>
        <p:nvPicPr>
          <p:cNvPr id="5" name="Рисунок 4" descr="В яблочко">
            <a:extLst>
              <a:ext uri="{FF2B5EF4-FFF2-40B4-BE49-F238E27FC236}">
                <a16:creationId xmlns:a16="http://schemas.microsoft.com/office/drawing/2014/main" id="{17856A50-E635-A095-E4A3-F88B999E97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5192" y="1184989"/>
            <a:ext cx="542081" cy="542081"/>
          </a:xfrm>
          <a:prstGeom prst="rect">
            <a:avLst/>
          </a:prstGeom>
        </p:spPr>
      </p:pic>
      <p:graphicFrame>
        <p:nvGraphicFramePr>
          <p:cNvPr id="3" name="Объект 4">
            <a:extLst>
              <a:ext uri="{FF2B5EF4-FFF2-40B4-BE49-F238E27FC236}">
                <a16:creationId xmlns:a16="http://schemas.microsoft.com/office/drawing/2014/main" id="{52473C9A-6E45-374C-D55E-72AE5DF886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2181724"/>
              </p:ext>
            </p:extLst>
          </p:nvPr>
        </p:nvGraphicFramePr>
        <p:xfrm>
          <a:off x="3881534" y="1093497"/>
          <a:ext cx="9302620" cy="54317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AC395A31-2EC6-C922-9931-5DFB798A8C13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8FDA0D01-2D17-96C7-F9DC-D2B1F1E78B28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F7E8B3B-20C1-7963-61D4-09C9F1D40B5F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4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sp>
        <p:nvSpPr>
          <p:cNvPr id="18" name="Shape 2530">
            <a:extLst>
              <a:ext uri="{FF2B5EF4-FFF2-40B4-BE49-F238E27FC236}">
                <a16:creationId xmlns:a16="http://schemas.microsoft.com/office/drawing/2014/main" id="{EB47C5BD-F028-B747-B516-8F8B5713C8B8}"/>
              </a:ext>
            </a:extLst>
          </p:cNvPr>
          <p:cNvSpPr/>
          <p:nvPr/>
        </p:nvSpPr>
        <p:spPr>
          <a:xfrm>
            <a:off x="4568143" y="888600"/>
            <a:ext cx="436923" cy="534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chemeClr val="bg1"/>
          </a:solidFill>
          <a:ln w="12700">
            <a:solidFill>
              <a:schemeClr val="bg1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" name="Shape 2530">
            <a:extLst>
              <a:ext uri="{FF2B5EF4-FFF2-40B4-BE49-F238E27FC236}">
                <a16:creationId xmlns:a16="http://schemas.microsoft.com/office/drawing/2014/main" id="{EB47C5BD-F028-B747-B516-8F8B5713C8B8}"/>
              </a:ext>
            </a:extLst>
          </p:cNvPr>
          <p:cNvSpPr/>
          <p:nvPr/>
        </p:nvSpPr>
        <p:spPr>
          <a:xfrm>
            <a:off x="5444349" y="1272648"/>
            <a:ext cx="436923" cy="534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chemeClr val="bg1"/>
          </a:solidFill>
          <a:ln w="12700">
            <a:solidFill>
              <a:schemeClr val="bg1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0" name="Shape 2564">
            <a:extLst>
              <a:ext uri="{FF2B5EF4-FFF2-40B4-BE49-F238E27FC236}">
                <a16:creationId xmlns:a16="http://schemas.microsoft.com/office/drawing/2014/main" id="{7EB884E8-FEBF-D646-8D65-B0B2FE26DE73}"/>
              </a:ext>
            </a:extLst>
          </p:cNvPr>
          <p:cNvSpPr/>
          <p:nvPr/>
        </p:nvSpPr>
        <p:spPr>
          <a:xfrm>
            <a:off x="5407254" y="2396681"/>
            <a:ext cx="511112" cy="5111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chemeClr val="bg1"/>
          </a:solidFill>
          <a:ln w="12700">
            <a:solidFill>
              <a:schemeClr val="bg1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4" name="Shape 2538">
            <a:extLst>
              <a:ext uri="{FF2B5EF4-FFF2-40B4-BE49-F238E27FC236}">
                <a16:creationId xmlns:a16="http://schemas.microsoft.com/office/drawing/2014/main" id="{07449BE2-A8F2-B643-B996-5CEDCB103ADB}"/>
              </a:ext>
            </a:extLst>
          </p:cNvPr>
          <p:cNvSpPr/>
          <p:nvPr/>
        </p:nvSpPr>
        <p:spPr>
          <a:xfrm>
            <a:off x="5436885" y="3497809"/>
            <a:ext cx="459098" cy="5611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chemeClr val="bg1"/>
          </a:solidFill>
          <a:ln w="12700">
            <a:solidFill>
              <a:schemeClr val="bg1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pic>
        <p:nvPicPr>
          <p:cNvPr id="25" name="Рисунок 24" descr="Одна шестеренка">
            <a:extLst>
              <a:ext uri="{FF2B5EF4-FFF2-40B4-BE49-F238E27FC236}">
                <a16:creationId xmlns:a16="http://schemas.microsoft.com/office/drawing/2014/main" id="{DF75B43F-A76E-6C9D-0817-C5EA2850EE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27674" y="4617800"/>
            <a:ext cx="658287" cy="658287"/>
          </a:xfrm>
          <a:prstGeom prst="rect">
            <a:avLst/>
          </a:prstGeom>
        </p:spPr>
      </p:pic>
      <p:pic>
        <p:nvPicPr>
          <p:cNvPr id="26" name="Рисунок 25" descr="Исследование">
            <a:extLst>
              <a:ext uri="{FF2B5EF4-FFF2-40B4-BE49-F238E27FC236}">
                <a16:creationId xmlns:a16="http://schemas.microsoft.com/office/drawing/2014/main" id="{2F21505A-EA7E-71AC-8EEA-98E8247DD9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83546" y="5768936"/>
            <a:ext cx="602415" cy="60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729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9CA8C-E8D0-CA67-ACB1-468BFAE71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079E5E9-341A-934C-B63C-39D6E0EBE68A}"/>
              </a:ext>
            </a:extLst>
          </p:cNvPr>
          <p:cNvSpPr txBox="1"/>
          <p:nvPr/>
        </p:nvSpPr>
        <p:spPr>
          <a:xfrm>
            <a:off x="4179794" y="273858"/>
            <a:ext cx="5585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ПАО СК «Росгосстрах»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B06BEAF-306F-5AB4-1249-32A40BC99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869F90AB-5735-7F50-0EBD-CC3A89330D8C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30" name="Прямоугольник: скругленные углы 29">
              <a:extLst>
                <a:ext uri="{FF2B5EF4-FFF2-40B4-BE49-F238E27FC236}">
                  <a16:creationId xmlns:a16="http://schemas.microsoft.com/office/drawing/2014/main" id="{58CF9463-A938-00E1-CB8B-930897804B5B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CAEE406-3186-9523-B123-A3C59D5340DC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3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152CECF-A242-7004-3B18-4A4F5198EC44}"/>
              </a:ext>
            </a:extLst>
          </p:cNvPr>
          <p:cNvSpPr txBox="1"/>
          <p:nvPr/>
        </p:nvSpPr>
        <p:spPr>
          <a:xfrm>
            <a:off x="379143" y="1874104"/>
            <a:ext cx="113610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47675"/>
            <a:r>
              <a:rPr lang="ru-R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ПАО СК «Росгосстрах» является системообразующей страховой компанией Российской Федерации, обладающей титулом одного из крупнейших страховщиков. </a:t>
            </a:r>
          </a:p>
        </p:txBody>
      </p:sp>
      <p:pic>
        <p:nvPicPr>
          <p:cNvPr id="8" name="Picture 2" descr="https://a.d-cd.net/4e7952es-19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" t="-205" r="-334" b="1"/>
          <a:stretch/>
        </p:blipFill>
        <p:spPr bwMode="auto">
          <a:xfrm>
            <a:off x="8636640" y="4282974"/>
            <a:ext cx="3249868" cy="1435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hape 2617">
            <a:extLst>
              <a:ext uri="{FF2B5EF4-FFF2-40B4-BE49-F238E27FC236}">
                <a16:creationId xmlns:a16="http://schemas.microsoft.com/office/drawing/2014/main" id="{321EBBF0-1155-3245-9F27-E537209F5D0A}"/>
              </a:ext>
            </a:extLst>
          </p:cNvPr>
          <p:cNvSpPr/>
          <p:nvPr/>
        </p:nvSpPr>
        <p:spPr>
          <a:xfrm>
            <a:off x="540367" y="5307177"/>
            <a:ext cx="805991" cy="6594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1" name="Shape 2564">
            <a:extLst>
              <a:ext uri="{FF2B5EF4-FFF2-40B4-BE49-F238E27FC236}">
                <a16:creationId xmlns:a16="http://schemas.microsoft.com/office/drawing/2014/main" id="{7EB884E8-FEBF-D646-8D65-B0B2FE26DE73}"/>
              </a:ext>
            </a:extLst>
          </p:cNvPr>
          <p:cNvSpPr/>
          <p:nvPr/>
        </p:nvSpPr>
        <p:spPr>
          <a:xfrm>
            <a:off x="525802" y="4154182"/>
            <a:ext cx="716252" cy="6785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52CECF-A242-7004-3B18-4A4F5198EC44}"/>
              </a:ext>
            </a:extLst>
          </p:cNvPr>
          <p:cNvSpPr txBox="1"/>
          <p:nvPr/>
        </p:nvSpPr>
        <p:spPr>
          <a:xfrm>
            <a:off x="1017834" y="4247994"/>
            <a:ext cx="79772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47675"/>
            <a:r>
              <a:rPr lang="ru-RU" sz="3200" dirty="0">
                <a:solidFill>
                  <a:srgbClr val="274E9C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1,5 тыс. офисов по всей стране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52CECF-A242-7004-3B18-4A4F5198EC44}"/>
              </a:ext>
            </a:extLst>
          </p:cNvPr>
          <p:cNvSpPr txBox="1"/>
          <p:nvPr/>
        </p:nvSpPr>
        <p:spPr>
          <a:xfrm>
            <a:off x="1017834" y="5428992"/>
            <a:ext cx="79772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47675"/>
            <a:r>
              <a:rPr lang="ru-RU" sz="3200" dirty="0">
                <a:solidFill>
                  <a:srgbClr val="274E9C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Более 40 тыс. специалистов</a:t>
            </a:r>
          </a:p>
        </p:txBody>
      </p:sp>
    </p:spTree>
    <p:extLst>
      <p:ext uri="{BB962C8B-B14F-4D97-AF65-F5344CB8AC3E}">
        <p14:creationId xmlns:p14="http://schemas.microsoft.com/office/powerpoint/2010/main" val="4240054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9CA8C-E8D0-CA67-ACB1-468BFAE71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079E5E9-341A-934C-B63C-39D6E0EBE68A}"/>
              </a:ext>
            </a:extLst>
          </p:cNvPr>
          <p:cNvSpPr txBox="1"/>
          <p:nvPr/>
        </p:nvSpPr>
        <p:spPr>
          <a:xfrm>
            <a:off x="4179794" y="273858"/>
            <a:ext cx="74318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Текущие решения в компании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B06BEAF-306F-5AB4-1249-32A40BC99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869F90AB-5735-7F50-0EBD-CC3A89330D8C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30" name="Прямоугольник: скругленные углы 29">
              <a:extLst>
                <a:ext uri="{FF2B5EF4-FFF2-40B4-BE49-F238E27FC236}">
                  <a16:creationId xmlns:a16="http://schemas.microsoft.com/office/drawing/2014/main" id="{58CF9463-A938-00E1-CB8B-930897804B5B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CAEE406-3186-9523-B123-A3C59D5340DC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3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sp>
        <p:nvSpPr>
          <p:cNvPr id="14" name="Shape 2539">
            <a:extLst>
              <a:ext uri="{FF2B5EF4-FFF2-40B4-BE49-F238E27FC236}">
                <a16:creationId xmlns:a16="http://schemas.microsoft.com/office/drawing/2014/main" id="{387D2D9B-9D8F-624D-98EB-19997A8C7FEC}"/>
              </a:ext>
            </a:extLst>
          </p:cNvPr>
          <p:cNvSpPr/>
          <p:nvPr/>
        </p:nvSpPr>
        <p:spPr>
          <a:xfrm>
            <a:off x="2342711" y="1191452"/>
            <a:ext cx="948187" cy="6464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rgbClr val="92D050"/>
          </a:solidFill>
          <a:ln w="12700">
            <a:solidFill>
              <a:srgbClr val="92D050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92D05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" name="Shape 2541">
            <a:extLst>
              <a:ext uri="{FF2B5EF4-FFF2-40B4-BE49-F238E27FC236}">
                <a16:creationId xmlns:a16="http://schemas.microsoft.com/office/drawing/2014/main" id="{CDEE6DB3-63ED-164B-9A02-F2AB66F0C5E8}"/>
              </a:ext>
            </a:extLst>
          </p:cNvPr>
          <p:cNvSpPr/>
          <p:nvPr/>
        </p:nvSpPr>
        <p:spPr>
          <a:xfrm>
            <a:off x="8676996" y="1171981"/>
            <a:ext cx="648853" cy="6488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648" y="10800"/>
                </a:moveTo>
                <a:lnTo>
                  <a:pt x="21424" y="1024"/>
                </a:lnTo>
                <a:cubicBezTo>
                  <a:pt x="21533" y="916"/>
                  <a:pt x="21600" y="766"/>
                  <a:pt x="21600" y="600"/>
                </a:cubicBezTo>
                <a:cubicBezTo>
                  <a:pt x="21600" y="269"/>
                  <a:pt x="21332" y="0"/>
                  <a:pt x="21000" y="0"/>
                </a:cubicBezTo>
                <a:cubicBezTo>
                  <a:pt x="20835" y="0"/>
                  <a:pt x="20685" y="67"/>
                  <a:pt x="20576" y="176"/>
                </a:cubicBezTo>
                <a:lnTo>
                  <a:pt x="10800" y="9952"/>
                </a:lnTo>
                <a:lnTo>
                  <a:pt x="1024" y="176"/>
                </a:lnTo>
                <a:cubicBezTo>
                  <a:pt x="916" y="67"/>
                  <a:pt x="766" y="0"/>
                  <a:pt x="600" y="0"/>
                </a:cubicBezTo>
                <a:cubicBezTo>
                  <a:pt x="268" y="0"/>
                  <a:pt x="0" y="269"/>
                  <a:pt x="0" y="600"/>
                </a:cubicBezTo>
                <a:cubicBezTo>
                  <a:pt x="0" y="766"/>
                  <a:pt x="67" y="916"/>
                  <a:pt x="176" y="1025"/>
                </a:cubicBezTo>
                <a:lnTo>
                  <a:pt x="9952" y="10800"/>
                </a:lnTo>
                <a:lnTo>
                  <a:pt x="176" y="20576"/>
                </a:lnTo>
                <a:cubicBezTo>
                  <a:pt x="67" y="20684"/>
                  <a:pt x="0" y="20834"/>
                  <a:pt x="0" y="21000"/>
                </a:cubicBezTo>
                <a:cubicBezTo>
                  <a:pt x="0" y="21332"/>
                  <a:pt x="268" y="21600"/>
                  <a:pt x="600" y="21600"/>
                </a:cubicBezTo>
                <a:cubicBezTo>
                  <a:pt x="766" y="21600"/>
                  <a:pt x="916" y="21533"/>
                  <a:pt x="1024" y="21424"/>
                </a:cubicBezTo>
                <a:lnTo>
                  <a:pt x="10800" y="11648"/>
                </a:lnTo>
                <a:lnTo>
                  <a:pt x="20576" y="21424"/>
                </a:lnTo>
                <a:cubicBezTo>
                  <a:pt x="20685" y="21533"/>
                  <a:pt x="20835" y="21600"/>
                  <a:pt x="21000" y="21600"/>
                </a:cubicBezTo>
                <a:cubicBezTo>
                  <a:pt x="21332" y="21600"/>
                  <a:pt x="21600" y="21332"/>
                  <a:pt x="21600" y="21000"/>
                </a:cubicBezTo>
                <a:cubicBezTo>
                  <a:pt x="21600" y="20834"/>
                  <a:pt x="21533" y="20684"/>
                  <a:pt x="21424" y="20576"/>
                </a:cubicBezTo>
                <a:cubicBezTo>
                  <a:pt x="21424" y="20576"/>
                  <a:pt x="11648" y="10800"/>
                  <a:pt x="11648" y="10800"/>
                </a:cubicBezTo>
                <a:close/>
              </a:path>
            </a:pathLst>
          </a:custGeom>
          <a:solidFill>
            <a:srgbClr val="C00000"/>
          </a:solidFill>
          <a:ln w="12700">
            <a:solidFill>
              <a:srgbClr val="C00000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52CECF-A242-7004-3B18-4A4F5198EC44}"/>
              </a:ext>
            </a:extLst>
          </p:cNvPr>
          <p:cNvSpPr txBox="1"/>
          <p:nvPr/>
        </p:nvSpPr>
        <p:spPr>
          <a:xfrm>
            <a:off x="432338" y="2161188"/>
            <a:ext cx="47689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Ежегодный опрос удовлетворенности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52CECF-A242-7004-3B18-4A4F5198EC44}"/>
              </a:ext>
            </a:extLst>
          </p:cNvPr>
          <p:cNvSpPr txBox="1"/>
          <p:nvPr/>
        </p:nvSpPr>
        <p:spPr>
          <a:xfrm>
            <a:off x="432339" y="3315431"/>
            <a:ext cx="476892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Поддерживающие мероприятия:</a:t>
            </a:r>
          </a:p>
          <a:p>
            <a:pPr marL="342900" indent="-342900" algn="ctr">
              <a:buFontTx/>
              <a:buChar char="-"/>
            </a:pP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спортивные секции</a:t>
            </a:r>
          </a:p>
          <a:p>
            <a:pPr marL="342900" indent="-342900" algn="ctr">
              <a:buFontTx/>
              <a:buChar char="-"/>
            </a:pP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кружки по интересам</a:t>
            </a:r>
          </a:p>
          <a:p>
            <a:pPr marL="342900" indent="-342900" algn="ctr">
              <a:buFontTx/>
              <a:buChar char="-"/>
            </a:pP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обучения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52CECF-A242-7004-3B18-4A4F5198EC44}"/>
              </a:ext>
            </a:extLst>
          </p:cNvPr>
          <p:cNvSpPr txBox="1"/>
          <p:nvPr/>
        </p:nvSpPr>
        <p:spPr>
          <a:xfrm>
            <a:off x="6116339" y="2209418"/>
            <a:ext cx="57701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Отсутствие специализированного инструмента диагностики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52CECF-A242-7004-3B18-4A4F5198EC44}"/>
              </a:ext>
            </a:extLst>
          </p:cNvPr>
          <p:cNvSpPr txBox="1"/>
          <p:nvPr/>
        </p:nvSpPr>
        <p:spPr>
          <a:xfrm>
            <a:off x="6719309" y="3429000"/>
            <a:ext cx="4768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Низкая частота измерений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52CECF-A242-7004-3B18-4A4F5198EC44}"/>
              </a:ext>
            </a:extLst>
          </p:cNvPr>
          <p:cNvSpPr txBox="1"/>
          <p:nvPr/>
        </p:nvSpPr>
        <p:spPr>
          <a:xfrm>
            <a:off x="6096000" y="4284927"/>
            <a:ext cx="6015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Отсутствие анализа косвенных индикаторов выгорания</a:t>
            </a:r>
          </a:p>
        </p:txBody>
      </p:sp>
    </p:spTree>
    <p:extLst>
      <p:ext uri="{BB962C8B-B14F-4D97-AF65-F5344CB8AC3E}">
        <p14:creationId xmlns:p14="http://schemas.microsoft.com/office/powerpoint/2010/main" val="4138727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9CA8C-E8D0-CA67-ACB1-468BFAE71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079E5E9-341A-934C-B63C-39D6E0EBE68A}"/>
              </a:ext>
            </a:extLst>
          </p:cNvPr>
          <p:cNvSpPr txBox="1"/>
          <p:nvPr/>
        </p:nvSpPr>
        <p:spPr>
          <a:xfrm>
            <a:off x="4179794" y="273858"/>
            <a:ext cx="59025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Программные средства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B06BEAF-306F-5AB4-1249-32A40BC99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869F90AB-5735-7F50-0EBD-CC3A89330D8C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30" name="Прямоугольник: скругленные углы 29">
              <a:extLst>
                <a:ext uri="{FF2B5EF4-FFF2-40B4-BE49-F238E27FC236}">
                  <a16:creationId xmlns:a16="http://schemas.microsoft.com/office/drawing/2014/main" id="{58CF9463-A938-00E1-CB8B-930897804B5B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CAEE406-3186-9523-B123-A3C59D5340DC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3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163" y="1737457"/>
            <a:ext cx="2852873" cy="649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4179794" y="1351301"/>
            <a:ext cx="777141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7675"/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Для обеспечения изолированного развертывания компонентов системы внутри корпоративного контура используется контейнеризация с помощью </a:t>
            </a:r>
            <a:r>
              <a:rPr lang="ru-RU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Docker</a:t>
            </a: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. </a:t>
            </a:r>
          </a:p>
        </p:txBody>
      </p:sp>
      <p:sp>
        <p:nvSpPr>
          <p:cNvPr id="21" name="Shape 2554">
            <a:extLst>
              <a:ext uri="{FF2B5EF4-FFF2-40B4-BE49-F238E27FC236}">
                <a16:creationId xmlns:a16="http://schemas.microsoft.com/office/drawing/2014/main" id="{B04D2D18-0141-AF48-A2DD-4EE380FE45EB}"/>
              </a:ext>
            </a:extLst>
          </p:cNvPr>
          <p:cNvSpPr/>
          <p:nvPr/>
        </p:nvSpPr>
        <p:spPr>
          <a:xfrm>
            <a:off x="10082372" y="3895344"/>
            <a:ext cx="1418234" cy="12893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48056" y="3647223"/>
            <a:ext cx="897026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7675"/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Для задачи анализа корпоративных коммуникаций используется </a:t>
            </a:r>
            <a:r>
              <a:rPr lang="ru-RU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Conversational</a:t>
            </a: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 </a:t>
            </a:r>
            <a:r>
              <a:rPr lang="ru-RU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RuBERT</a:t>
            </a: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. Эта модель специально </a:t>
            </a:r>
            <a:r>
              <a:rPr lang="ru-RU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предобучена</a:t>
            </a: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 на диалогах и неформальных текстах, что соответствует специфике сообщений в корпоративных чатах.</a:t>
            </a:r>
          </a:p>
        </p:txBody>
      </p:sp>
    </p:spTree>
    <p:extLst>
      <p:ext uri="{BB962C8B-B14F-4D97-AF65-F5344CB8AC3E}">
        <p14:creationId xmlns:p14="http://schemas.microsoft.com/office/powerpoint/2010/main" val="362254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9CA8C-E8D0-CA67-ACB1-468BFAE71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079E5E9-341A-934C-B63C-39D6E0EBE68A}"/>
              </a:ext>
            </a:extLst>
          </p:cNvPr>
          <p:cNvSpPr txBox="1"/>
          <p:nvPr/>
        </p:nvSpPr>
        <p:spPr>
          <a:xfrm>
            <a:off x="4179794" y="273858"/>
            <a:ext cx="59025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Программные средства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B06BEAF-306F-5AB4-1249-32A40BC99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869F90AB-5735-7F50-0EBD-CC3A89330D8C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30" name="Прямоугольник: скругленные углы 29">
              <a:extLst>
                <a:ext uri="{FF2B5EF4-FFF2-40B4-BE49-F238E27FC236}">
                  <a16:creationId xmlns:a16="http://schemas.microsoft.com/office/drawing/2014/main" id="{58CF9463-A938-00E1-CB8B-930897804B5B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CAEE406-3186-9523-B123-A3C59D5340DC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3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sp>
        <p:nvSpPr>
          <p:cNvPr id="3" name="Прямоугольник 2"/>
          <p:cNvSpPr/>
          <p:nvPr/>
        </p:nvSpPr>
        <p:spPr>
          <a:xfrm>
            <a:off x="4627850" y="1351301"/>
            <a:ext cx="777141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7675"/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Python </a:t>
            </a: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высокоуровневый язык программирования общего назначения с динамической строгой типизацией и автоматическим управлением памятью.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429768" y="3841923"/>
            <a:ext cx="897026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7675"/>
            <a:r>
              <a:rPr lang="ru-RU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PostgreSQL</a:t>
            </a: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 оптимально сочетает в себе надежность, производительность, поддержка сложных запросов, наличие типа JSONB для гибкого хранения результатов анализа, развитая экосистема и инструменты администрирования. </a:t>
            </a:r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002" y="1126402"/>
            <a:ext cx="2098935" cy="2098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icture backgroun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5756" y="3956078"/>
            <a:ext cx="1768252" cy="1824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1665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726CE-5435-5A21-58A9-D2AAA4911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62EB5D-F46C-E526-4460-5B7562D4BD08}"/>
              </a:ext>
            </a:extLst>
          </p:cNvPr>
          <p:cNvSpPr txBox="1"/>
          <p:nvPr/>
        </p:nvSpPr>
        <p:spPr>
          <a:xfrm>
            <a:off x="3841466" y="76046"/>
            <a:ext cx="67930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Оценка экономической эффективности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6AA96AB-E05F-1C53-92DC-87697C618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AB22CAB9-BABD-EA76-0AB5-0EF9EDCA7336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8FFC8F32-A17D-7EE1-B626-193594062BC8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09A0FA5-5E41-86B1-817E-A9A8849EA63D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5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6CBF7AB0-CF05-0CC0-0742-99E29894C2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591191"/>
              </p:ext>
            </p:extLst>
          </p:nvPr>
        </p:nvGraphicFramePr>
        <p:xfrm>
          <a:off x="636297" y="1344197"/>
          <a:ext cx="10705794" cy="52879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6367">
                  <a:extLst>
                    <a:ext uri="{9D8B030D-6E8A-4147-A177-3AD203B41FA5}">
                      <a16:colId xmlns:a16="http://schemas.microsoft.com/office/drawing/2014/main" val="250697221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4199941448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671968417"/>
                    </a:ext>
                  </a:extLst>
                </a:gridCol>
                <a:gridCol w="2006067">
                  <a:extLst>
                    <a:ext uri="{9D8B030D-6E8A-4147-A177-3AD203B41FA5}">
                      <a16:colId xmlns:a16="http://schemas.microsoft.com/office/drawing/2014/main" val="3814319430"/>
                    </a:ext>
                  </a:extLst>
                </a:gridCol>
              </a:tblGrid>
              <a:tr h="83799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i="0" dirty="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Наименование показателя</a:t>
                      </a:r>
                    </a:p>
                  </a:txBody>
                  <a:tcPr marL="68580" marR="68580" marT="0" marB="0" anchor="ctr">
                    <a:solidFill>
                      <a:srgbClr val="274E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i="0" dirty="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Обозначение</a:t>
                      </a:r>
                    </a:p>
                  </a:txBody>
                  <a:tcPr marL="68580" marR="68580" marT="0" marB="0" anchor="ctr">
                    <a:solidFill>
                      <a:srgbClr val="274E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i="0" dirty="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Ед. изм.</a:t>
                      </a:r>
                    </a:p>
                  </a:txBody>
                  <a:tcPr marL="68580" marR="68580" marT="0" marB="0" anchor="ctr">
                    <a:solidFill>
                      <a:srgbClr val="274E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i="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Величина показателя</a:t>
                      </a:r>
                      <a:endParaRPr lang="ru-RU" sz="1600" b="1" i="0" dirty="0">
                        <a:effectLst/>
                        <a:latin typeface="Inter Variable Text" panose="02000503000000020004" pitchFamily="2" charset="0"/>
                        <a:ea typeface="Inter Variable Text" panose="02000503000000020004" pitchFamily="2" charset="0"/>
                        <a:cs typeface="Inter Variable Text" panose="02000503000000020004" pitchFamily="2" charset="0"/>
                      </a:endParaRPr>
                    </a:p>
                  </a:txBody>
                  <a:tcPr marL="68580" marR="68580" marT="0" marB="0" anchor="ctr">
                    <a:solidFill>
                      <a:srgbClr val="274E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080750"/>
                  </a:ext>
                </a:extLst>
              </a:tr>
              <a:tr h="53660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1. Объем инвестиций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I проект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руб.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36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1 234 895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695488"/>
                  </a:ext>
                </a:extLst>
              </a:tr>
              <a:tr h="53660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2. Ставка дисконтирования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r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%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36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12,1%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234404"/>
                  </a:ext>
                </a:extLst>
              </a:tr>
              <a:tr h="53660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3. Чистая приведенная стоимость проекта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NPV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руб.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36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19 127 878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476496"/>
                  </a:ext>
                </a:extLst>
              </a:tr>
              <a:tr h="53660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4. Внутренняя ставка доходности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IRR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%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36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27,6%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205829"/>
                  </a:ext>
                </a:extLst>
              </a:tr>
              <a:tr h="53660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5. Простой срок окупаемости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 err="1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PPs</a:t>
                      </a:r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Inter Variable Text" panose="02000503000000020004" pitchFamily="2" charset="0"/>
                        <a:ea typeface="Inter Variable Text" panose="02000503000000020004" pitchFamily="2" charset="0"/>
                        <a:cs typeface="Inter Variable Text" panose="02000503000000020004" pitchFamily="2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месяцев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36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5,53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996264"/>
                  </a:ext>
                </a:extLst>
              </a:tr>
              <a:tr h="53660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6. Дисконтированный срок окупаемости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 err="1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PPd</a:t>
                      </a:r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Inter Variable Text" panose="02000503000000020004" pitchFamily="2" charset="0"/>
                        <a:ea typeface="Inter Variable Text" panose="02000503000000020004" pitchFamily="2" charset="0"/>
                        <a:cs typeface="Inter Variable Text" panose="02000503000000020004" pitchFamily="2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месяцев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36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5,57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059309"/>
                  </a:ext>
                </a:extLst>
              </a:tr>
              <a:tr h="53660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7. Коэффициент удельной эффективности проекта (модифицированный)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 err="1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PI_мод</a:t>
                      </a:r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Inter Variable Text" panose="02000503000000020004" pitchFamily="2" charset="0"/>
                        <a:ea typeface="Inter Variable Text" panose="02000503000000020004" pitchFamily="2" charset="0"/>
                        <a:cs typeface="Inter Variable Text" panose="02000503000000020004" pitchFamily="2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 err="1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коэф</a:t>
                      </a: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-т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36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15,49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02814"/>
                  </a:ext>
                </a:extLst>
              </a:tr>
              <a:tr h="53660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8. Чистая конечная стоимость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NTV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руб.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36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30 198 205,16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228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137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F561B21-E501-8589-968C-11B35C410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F205354-2082-366A-8DB2-8CA41082ACF0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Times New Roman" panose="02020603050405020304" pitchFamily="18" charset="0"/>
                <a:ea typeface="Inter Variable Text Medium" panose="02000503000000020004" pitchFamily="2" charset="0"/>
                <a:cs typeface="Times New Roman" panose="02020603050405020304" pitchFamily="18" charset="0"/>
              </a:rPr>
              <a:t>Объект и предмет исследования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EDEF8CE-807F-C05F-C118-3D52CFA16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381AA99D-0EB9-3172-58AD-37453165BD5B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FED2F507-78F6-94A0-99AF-3CF0345F32F4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7E3AA18-282D-508C-F08C-881DFD6BA3E1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5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AFAB3C3-38AB-F6BD-071D-02BA265D164D}"/>
              </a:ext>
            </a:extLst>
          </p:cNvPr>
          <p:cNvSpPr txBox="1"/>
          <p:nvPr/>
        </p:nvSpPr>
        <p:spPr>
          <a:xfrm>
            <a:off x="2113280" y="1532537"/>
            <a:ext cx="95278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Объектом исследования является: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формирования устойчивых здоровых привычек у пользователей в условиях цифровизированной среды.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657B8D-38AA-83BE-A4D5-C00CF2EDC344}"/>
              </a:ext>
            </a:extLst>
          </p:cNvPr>
          <p:cNvSpPr txBox="1"/>
          <p:nvPr/>
        </p:nvSpPr>
        <p:spPr>
          <a:xfrm>
            <a:off x="361950" y="2921737"/>
            <a:ext cx="1033653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Предметом исследования является: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Авторская методика формирования привычек, реализованная в виде интеллектуального чат-бота с применением инструментов глубинной геймификации и анонимного социального взаимодействия.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A4A590-059B-BF0F-AE64-2FD12399EB98}"/>
              </a:ext>
            </a:extLst>
          </p:cNvPr>
          <p:cNvSpPr txBox="1"/>
          <p:nvPr/>
        </p:nvSpPr>
        <p:spPr>
          <a:xfrm>
            <a:off x="2113280" y="4680268"/>
            <a:ext cx="95278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Научная новизна исследования: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Предложена оригинальная концепция формирования привычек, основанная на синергии глубинной геймификации и анонимного социального взаимодействия.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CA688B6-34C3-987D-A447-8296B02792C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61950" y="1517952"/>
            <a:ext cx="900000" cy="9000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87C025C-7AB6-4357-BDC9-1C8B35AED4D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741128" y="2979000"/>
            <a:ext cx="900000" cy="90000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0F1EAE2-91C9-C68F-C63D-27FCB24BFDD0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61950" y="4706482"/>
            <a:ext cx="90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509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EC864-314F-A759-CE9C-E7CD89250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68C0765-86C2-13A6-BC75-789B244C141B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Шаблон слайда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B9124FA-91BD-1AFE-C760-4548E2AB4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D7294BAD-71D2-C1D6-05EC-4E13416DBCF4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50620855-73C0-4DAC-1CE7-A20C0D64198D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ED1640C-24CE-D9ED-C537-6D3EF9129DEB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5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0094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E71E4-7AE6-CAB0-76A5-E69BBC623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4727B0-0353-CC7D-EB7A-0A296BA6D707}"/>
              </a:ext>
            </a:extLst>
          </p:cNvPr>
          <p:cNvSpPr txBox="1"/>
          <p:nvPr/>
        </p:nvSpPr>
        <p:spPr>
          <a:xfrm>
            <a:off x="3728540" y="230966"/>
            <a:ext cx="80672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Объект и предмет исследования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C1E6521-2A73-B03C-ED25-8E7D8FDCA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B4D5965-A6C3-060A-449F-EBFA5482B3CC}"/>
              </a:ext>
            </a:extLst>
          </p:cNvPr>
          <p:cNvGrpSpPr/>
          <p:nvPr/>
        </p:nvGrpSpPr>
        <p:grpSpPr>
          <a:xfrm>
            <a:off x="300037" y="1602589"/>
            <a:ext cx="11784187" cy="5056061"/>
            <a:chOff x="374555" y="2318761"/>
            <a:chExt cx="12427237" cy="4768066"/>
          </a:xfrm>
        </p:grpSpPr>
        <p:sp>
          <p:nvSpPr>
            <p:cNvPr id="19" name="Фигура, имеющая форму буквы L 18">
              <a:extLst>
                <a:ext uri="{FF2B5EF4-FFF2-40B4-BE49-F238E27FC236}">
                  <a16:creationId xmlns:a16="http://schemas.microsoft.com/office/drawing/2014/main" id="{C6EB7A23-4CDF-E412-D661-51C0A780F5AF}"/>
                </a:ext>
              </a:extLst>
            </p:cNvPr>
            <p:cNvSpPr/>
            <p:nvPr/>
          </p:nvSpPr>
          <p:spPr>
            <a:xfrm rot="5400000">
              <a:off x="1244827" y="3189743"/>
              <a:ext cx="918180" cy="2658723"/>
            </a:xfrm>
            <a:prstGeom prst="corner">
              <a:avLst>
                <a:gd name="adj1" fmla="val 16120"/>
                <a:gd name="adj2" fmla="val 16110"/>
              </a:avLst>
            </a:prstGeom>
            <a:noFill/>
            <a:ln>
              <a:solidFill>
                <a:srgbClr val="1A3773"/>
              </a:solidFill>
              <a:prstDash val="dash"/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Полилиния 21">
              <a:extLst>
                <a:ext uri="{FF2B5EF4-FFF2-40B4-BE49-F238E27FC236}">
                  <a16:creationId xmlns:a16="http://schemas.microsoft.com/office/drawing/2014/main" id="{E6DFA2BF-9513-618B-F024-5733EBB48792}"/>
                </a:ext>
              </a:extLst>
            </p:cNvPr>
            <p:cNvSpPr/>
            <p:nvPr/>
          </p:nvSpPr>
          <p:spPr>
            <a:xfrm>
              <a:off x="473758" y="4105599"/>
              <a:ext cx="3023920" cy="2537777"/>
            </a:xfrm>
            <a:custGeom>
              <a:avLst/>
              <a:gdLst>
                <a:gd name="connsiteX0" fmla="*/ 0 w 2400310"/>
                <a:gd name="connsiteY0" fmla="*/ 0 h 2104012"/>
                <a:gd name="connsiteX1" fmla="*/ 2400310 w 2400310"/>
                <a:gd name="connsiteY1" fmla="*/ 0 h 2104012"/>
                <a:gd name="connsiteX2" fmla="*/ 2400310 w 2400310"/>
                <a:gd name="connsiteY2" fmla="*/ 2104012 h 2104012"/>
                <a:gd name="connsiteX3" fmla="*/ 0 w 2400310"/>
                <a:gd name="connsiteY3" fmla="*/ 2104012 h 2104012"/>
                <a:gd name="connsiteX4" fmla="*/ 0 w 2400310"/>
                <a:gd name="connsiteY4" fmla="*/ 0 h 210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0310" h="2104012">
                  <a:moveTo>
                    <a:pt x="0" y="0"/>
                  </a:moveTo>
                  <a:lnTo>
                    <a:pt x="2400310" y="0"/>
                  </a:lnTo>
                  <a:lnTo>
                    <a:pt x="2400310" y="2104012"/>
                  </a:lnTo>
                  <a:lnTo>
                    <a:pt x="0" y="210401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3350" tIns="133350" rIns="133350" bIns="133350" numCol="1" spcCol="1270" anchor="t" anchorCtr="0">
              <a:noAutofit/>
            </a:bodyPr>
            <a:lstStyle/>
            <a:p>
              <a:pPr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2400" dirty="0">
                  <a:solidFill>
                    <a:srgbClr val="274E9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Актуальность: </a:t>
              </a:r>
              <a:r>
                <a: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Повышенная нагрузка на психику человека, рост числа заболеваний, вызванных нездоровыми привычками</a:t>
              </a:r>
              <a:endParaRPr lang="ru-RU" sz="2400" dirty="0">
                <a:latin typeface="Times New Roman" panose="02020603050405020304" pitchFamily="18" charset="0"/>
                <a:ea typeface="Inter Variable Text Medium" panose="02000503000000020004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Треугольник 22">
              <a:extLst>
                <a:ext uri="{FF2B5EF4-FFF2-40B4-BE49-F238E27FC236}">
                  <a16:creationId xmlns:a16="http://schemas.microsoft.com/office/drawing/2014/main" id="{2C953B47-50FF-01F2-B2E5-98F0AC59025B}"/>
                </a:ext>
              </a:extLst>
            </p:cNvPr>
            <p:cNvSpPr/>
            <p:nvPr/>
          </p:nvSpPr>
          <p:spPr>
            <a:xfrm>
              <a:off x="2570712" y="3525144"/>
              <a:ext cx="452888" cy="452888"/>
            </a:xfrm>
            <a:prstGeom prst="triangle">
              <a:avLst>
                <a:gd name="adj" fmla="val 100000"/>
              </a:avLst>
            </a:prstGeom>
            <a:solidFill>
              <a:srgbClr val="274E9C"/>
            </a:solidFill>
            <a:ln>
              <a:solidFill>
                <a:srgbClr val="274E9C"/>
              </a:solidFill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Фигура, имеющая форму буквы L 21">
              <a:extLst>
                <a:ext uri="{FF2B5EF4-FFF2-40B4-BE49-F238E27FC236}">
                  <a16:creationId xmlns:a16="http://schemas.microsoft.com/office/drawing/2014/main" id="{D3C551DA-F08D-A9A5-81F4-4A4E2B6D1278}"/>
                </a:ext>
              </a:extLst>
            </p:cNvPr>
            <p:cNvSpPr/>
            <p:nvPr/>
          </p:nvSpPr>
          <p:spPr>
            <a:xfrm rot="5400000">
              <a:off x="4008404" y="2960988"/>
              <a:ext cx="845931" cy="2658723"/>
            </a:xfrm>
            <a:prstGeom prst="corner">
              <a:avLst>
                <a:gd name="adj1" fmla="val 16120"/>
                <a:gd name="adj2" fmla="val 16110"/>
              </a:avLst>
            </a:prstGeom>
            <a:noFill/>
            <a:ln>
              <a:solidFill>
                <a:srgbClr val="1A3773"/>
              </a:solidFill>
              <a:prstDash val="dash"/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Полилиния 24">
              <a:extLst>
                <a:ext uri="{FF2B5EF4-FFF2-40B4-BE49-F238E27FC236}">
                  <a16:creationId xmlns:a16="http://schemas.microsoft.com/office/drawing/2014/main" id="{9846FE19-4349-5B2D-775D-A4B0DBA6A9EB}"/>
                </a:ext>
              </a:extLst>
            </p:cNvPr>
            <p:cNvSpPr/>
            <p:nvPr/>
          </p:nvSpPr>
          <p:spPr>
            <a:xfrm>
              <a:off x="3203419" y="3935633"/>
              <a:ext cx="3203134" cy="3121380"/>
            </a:xfrm>
            <a:custGeom>
              <a:avLst/>
              <a:gdLst>
                <a:gd name="connsiteX0" fmla="*/ 0 w 2400310"/>
                <a:gd name="connsiteY0" fmla="*/ 0 h 2104012"/>
                <a:gd name="connsiteX1" fmla="*/ 2400310 w 2400310"/>
                <a:gd name="connsiteY1" fmla="*/ 0 h 2104012"/>
                <a:gd name="connsiteX2" fmla="*/ 2400310 w 2400310"/>
                <a:gd name="connsiteY2" fmla="*/ 2104012 h 2104012"/>
                <a:gd name="connsiteX3" fmla="*/ 0 w 2400310"/>
                <a:gd name="connsiteY3" fmla="*/ 2104012 h 2104012"/>
                <a:gd name="connsiteX4" fmla="*/ 0 w 2400310"/>
                <a:gd name="connsiteY4" fmla="*/ 0 h 210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0310" h="2104012">
                  <a:moveTo>
                    <a:pt x="0" y="0"/>
                  </a:moveTo>
                  <a:lnTo>
                    <a:pt x="2400310" y="0"/>
                  </a:lnTo>
                  <a:lnTo>
                    <a:pt x="2400310" y="2104012"/>
                  </a:lnTo>
                  <a:lnTo>
                    <a:pt x="0" y="210401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3350" tIns="133350" rIns="133350" bIns="133350" numCol="1" spcCol="1270" anchor="t" anchorCtr="0">
              <a:noAutofit/>
            </a:bodyPr>
            <a:lstStyle/>
            <a:p>
              <a:r>
                <a:rPr lang="ru-RU" sz="2400" dirty="0">
                  <a:solidFill>
                    <a:srgbClr val="274E9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Объектом исследования является: </a:t>
              </a:r>
              <a:r>
                <a: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Процесс формирования устойчивых здоровых привычек у пользователей в условиях цифровизации</a:t>
              </a:r>
            </a:p>
          </p:txBody>
        </p:sp>
        <p:sp>
          <p:nvSpPr>
            <p:cNvPr id="24" name="Треугольник 25">
              <a:extLst>
                <a:ext uri="{FF2B5EF4-FFF2-40B4-BE49-F238E27FC236}">
                  <a16:creationId xmlns:a16="http://schemas.microsoft.com/office/drawing/2014/main" id="{465F4799-71A8-D4BD-E5C8-A225C1ADD905}"/>
                </a:ext>
              </a:extLst>
            </p:cNvPr>
            <p:cNvSpPr/>
            <p:nvPr/>
          </p:nvSpPr>
          <p:spPr>
            <a:xfrm>
              <a:off x="5307108" y="3356598"/>
              <a:ext cx="452888" cy="452888"/>
            </a:xfrm>
            <a:prstGeom prst="triangle">
              <a:avLst>
                <a:gd name="adj" fmla="val 100000"/>
              </a:avLst>
            </a:prstGeom>
            <a:solidFill>
              <a:srgbClr val="274E9C"/>
            </a:solidFill>
            <a:ln>
              <a:solidFill>
                <a:srgbClr val="274E9C"/>
              </a:solidFill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Фигура, имеющая форму буквы L 24">
              <a:extLst>
                <a:ext uri="{FF2B5EF4-FFF2-40B4-BE49-F238E27FC236}">
                  <a16:creationId xmlns:a16="http://schemas.microsoft.com/office/drawing/2014/main" id="{B8A9A123-F65B-363A-5F9F-394E47BA0536}"/>
                </a:ext>
              </a:extLst>
            </p:cNvPr>
            <p:cNvSpPr/>
            <p:nvPr/>
          </p:nvSpPr>
          <p:spPr>
            <a:xfrm rot="5400000">
              <a:off x="6984526" y="2198802"/>
              <a:ext cx="845932" cy="2967664"/>
            </a:xfrm>
            <a:prstGeom prst="corner">
              <a:avLst>
                <a:gd name="adj1" fmla="val 16120"/>
                <a:gd name="adj2" fmla="val 16110"/>
              </a:avLst>
            </a:prstGeom>
            <a:noFill/>
            <a:ln>
              <a:solidFill>
                <a:srgbClr val="1A3773"/>
              </a:solidFill>
              <a:prstDash val="dash"/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6" name="Полилиния 27">
              <a:extLst>
                <a:ext uri="{FF2B5EF4-FFF2-40B4-BE49-F238E27FC236}">
                  <a16:creationId xmlns:a16="http://schemas.microsoft.com/office/drawing/2014/main" id="{0E16A83D-D1CC-6AB9-80CF-2D3176183D04}"/>
                </a:ext>
              </a:extLst>
            </p:cNvPr>
            <p:cNvSpPr/>
            <p:nvPr/>
          </p:nvSpPr>
          <p:spPr>
            <a:xfrm>
              <a:off x="6025504" y="3259667"/>
              <a:ext cx="3375891" cy="3827160"/>
            </a:xfrm>
            <a:custGeom>
              <a:avLst/>
              <a:gdLst>
                <a:gd name="connsiteX0" fmla="*/ 0 w 2400310"/>
                <a:gd name="connsiteY0" fmla="*/ 0 h 2104012"/>
                <a:gd name="connsiteX1" fmla="*/ 2400310 w 2400310"/>
                <a:gd name="connsiteY1" fmla="*/ 0 h 2104012"/>
                <a:gd name="connsiteX2" fmla="*/ 2400310 w 2400310"/>
                <a:gd name="connsiteY2" fmla="*/ 2104012 h 2104012"/>
                <a:gd name="connsiteX3" fmla="*/ 0 w 2400310"/>
                <a:gd name="connsiteY3" fmla="*/ 2104012 h 2104012"/>
                <a:gd name="connsiteX4" fmla="*/ 0 w 2400310"/>
                <a:gd name="connsiteY4" fmla="*/ 0 h 210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0310" h="2104012">
                  <a:moveTo>
                    <a:pt x="0" y="0"/>
                  </a:moveTo>
                  <a:lnTo>
                    <a:pt x="2400310" y="0"/>
                  </a:lnTo>
                  <a:lnTo>
                    <a:pt x="2400310" y="2104012"/>
                  </a:lnTo>
                  <a:lnTo>
                    <a:pt x="0" y="210401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3350" tIns="133350" rIns="133350" bIns="133350" numCol="1" spcCol="1270" anchor="t" anchorCtr="0">
              <a:noAutofit/>
            </a:bodyPr>
            <a:lstStyle/>
            <a:p>
              <a:r>
                <a:rPr lang="ru-RU" sz="2400" dirty="0">
                  <a:solidFill>
                    <a:srgbClr val="274E9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Предметом исследования является: </a:t>
              </a:r>
              <a:r>
                <a: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Авторская методика формирования привычек в виде чат-бота с применением геймификации и анонимного социального взаимодействия</a:t>
              </a:r>
            </a:p>
          </p:txBody>
        </p:sp>
        <p:sp>
          <p:nvSpPr>
            <p:cNvPr id="27" name="Треугольник 28">
              <a:extLst>
                <a:ext uri="{FF2B5EF4-FFF2-40B4-BE49-F238E27FC236}">
                  <a16:creationId xmlns:a16="http://schemas.microsoft.com/office/drawing/2014/main" id="{2ED82B84-BEDA-FA10-252D-0EA51CC2DF26}"/>
                </a:ext>
              </a:extLst>
            </p:cNvPr>
            <p:cNvSpPr/>
            <p:nvPr/>
          </p:nvSpPr>
          <p:spPr>
            <a:xfrm>
              <a:off x="8136049" y="2722111"/>
              <a:ext cx="452888" cy="452888"/>
            </a:xfrm>
            <a:prstGeom prst="triangle">
              <a:avLst>
                <a:gd name="adj" fmla="val 100000"/>
              </a:avLst>
            </a:prstGeom>
            <a:solidFill>
              <a:srgbClr val="274E9C"/>
            </a:solidFill>
            <a:ln>
              <a:solidFill>
                <a:srgbClr val="274E9C"/>
              </a:solidFill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8" name="Фигура, имеющая форму буквы L 27">
              <a:extLst>
                <a:ext uri="{FF2B5EF4-FFF2-40B4-BE49-F238E27FC236}">
                  <a16:creationId xmlns:a16="http://schemas.microsoft.com/office/drawing/2014/main" id="{8EEB327F-F75B-89F0-77C9-9E9C77F9C4F5}"/>
                </a:ext>
              </a:extLst>
            </p:cNvPr>
            <p:cNvSpPr/>
            <p:nvPr/>
          </p:nvSpPr>
          <p:spPr>
            <a:xfrm rot="5400000">
              <a:off x="10059751" y="1247360"/>
              <a:ext cx="1100588" cy="3243390"/>
            </a:xfrm>
            <a:prstGeom prst="corner">
              <a:avLst>
                <a:gd name="adj1" fmla="val 16120"/>
                <a:gd name="adj2" fmla="val 16110"/>
              </a:avLst>
            </a:prstGeom>
            <a:noFill/>
            <a:ln>
              <a:solidFill>
                <a:srgbClr val="1A3773"/>
              </a:solidFill>
              <a:prstDash val="dash"/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9" name="Полилиния 30">
              <a:extLst>
                <a:ext uri="{FF2B5EF4-FFF2-40B4-BE49-F238E27FC236}">
                  <a16:creationId xmlns:a16="http://schemas.microsoft.com/office/drawing/2014/main" id="{9685821A-ED94-74F4-C3DB-1D318C1A821E}"/>
                </a:ext>
              </a:extLst>
            </p:cNvPr>
            <p:cNvSpPr/>
            <p:nvPr/>
          </p:nvSpPr>
          <p:spPr>
            <a:xfrm>
              <a:off x="9135709" y="2387027"/>
              <a:ext cx="3666083" cy="4652576"/>
            </a:xfrm>
            <a:custGeom>
              <a:avLst/>
              <a:gdLst>
                <a:gd name="connsiteX0" fmla="*/ 0 w 2400310"/>
                <a:gd name="connsiteY0" fmla="*/ 0 h 2104012"/>
                <a:gd name="connsiteX1" fmla="*/ 2400310 w 2400310"/>
                <a:gd name="connsiteY1" fmla="*/ 0 h 2104012"/>
                <a:gd name="connsiteX2" fmla="*/ 2400310 w 2400310"/>
                <a:gd name="connsiteY2" fmla="*/ 2104012 h 2104012"/>
                <a:gd name="connsiteX3" fmla="*/ 0 w 2400310"/>
                <a:gd name="connsiteY3" fmla="*/ 2104012 h 2104012"/>
                <a:gd name="connsiteX4" fmla="*/ 0 w 2400310"/>
                <a:gd name="connsiteY4" fmla="*/ 0 h 210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0310" h="2104012">
                  <a:moveTo>
                    <a:pt x="0" y="0"/>
                  </a:moveTo>
                  <a:lnTo>
                    <a:pt x="2400310" y="0"/>
                  </a:lnTo>
                  <a:lnTo>
                    <a:pt x="2400310" y="2104012"/>
                  </a:lnTo>
                  <a:lnTo>
                    <a:pt x="0" y="210401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3350" tIns="133350" rIns="133350" bIns="133350" numCol="1" spcCol="1270" anchor="t" anchorCtr="0">
              <a:noAutofit/>
            </a:bodyPr>
            <a:lstStyle/>
            <a:p>
              <a:r>
                <a:rPr lang="ru-RU" sz="2400" dirty="0">
                  <a:solidFill>
                    <a:srgbClr val="274E9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Научная новизна исследования: </a:t>
              </a:r>
              <a:r>
                <a: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Предложена оригинальная концепция формирования привычек, основанная на синергии геймификации и анонимного социального взаимодействия</a:t>
              </a:r>
            </a:p>
          </p:txBody>
        </p:sp>
      </p:grp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B62EC47-09FC-0A08-E549-9BCBC0FD0B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024" y="2604096"/>
            <a:ext cx="475173" cy="737700"/>
          </a:xfrm>
          <a:prstGeom prst="rect">
            <a:avLst/>
          </a:prstGeom>
        </p:spPr>
      </p:pic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4A7A7561-CC77-2434-70D0-4190BA2C4E72}"/>
              </a:ext>
            </a:extLst>
          </p:cNvPr>
          <p:cNvGrpSpPr/>
          <p:nvPr/>
        </p:nvGrpSpPr>
        <p:grpSpPr>
          <a:xfrm>
            <a:off x="3784995" y="2160341"/>
            <a:ext cx="575090" cy="961618"/>
            <a:chOff x="4183975" y="1757105"/>
            <a:chExt cx="1125843" cy="1882541"/>
          </a:xfrm>
        </p:grpSpPr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E3A728C9-EB45-DF61-44E9-AE643C940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3975" y="3095283"/>
              <a:ext cx="1105223" cy="544363"/>
            </a:xfrm>
            <a:prstGeom prst="rect">
              <a:avLst/>
            </a:prstGeom>
          </p:spPr>
        </p:pic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id="{ED69C349-5D30-5EC6-C315-07E28C0775D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3975" y="2442690"/>
              <a:ext cx="1125843" cy="507248"/>
            </a:xfrm>
            <a:prstGeom prst="rect">
              <a:avLst/>
            </a:prstGeom>
          </p:spPr>
        </p:pic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8A493787-8F7B-189E-79BB-EA54E493AD1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3975" y="1757105"/>
              <a:ext cx="1092851" cy="540240"/>
            </a:xfrm>
            <a:prstGeom prst="rect">
              <a:avLst/>
            </a:prstGeom>
          </p:spPr>
        </p:pic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CB94A46B-28B0-9977-797D-BCF61A6D6BA2}"/>
              </a:ext>
            </a:extLst>
          </p:cNvPr>
          <p:cNvGrpSpPr/>
          <p:nvPr/>
        </p:nvGrpSpPr>
        <p:grpSpPr>
          <a:xfrm>
            <a:off x="6574437" y="1569790"/>
            <a:ext cx="531023" cy="940754"/>
            <a:chOff x="7046611" y="1067397"/>
            <a:chExt cx="1141610" cy="1885778"/>
          </a:xfrm>
        </p:grpSpPr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id="{B1CD701B-2303-DC55-84C2-54E31F45BF0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46611" y="2398656"/>
              <a:ext cx="1125843" cy="554519"/>
            </a:xfrm>
            <a:prstGeom prst="rect">
              <a:avLst/>
            </a:prstGeom>
          </p:spPr>
        </p:pic>
        <p:grpSp>
          <p:nvGrpSpPr>
            <p:cNvPr id="13" name="Группа 12">
              <a:extLst>
                <a:ext uri="{FF2B5EF4-FFF2-40B4-BE49-F238E27FC236}">
                  <a16:creationId xmlns:a16="http://schemas.microsoft.com/office/drawing/2014/main" id="{D0E8070F-012E-A13E-6FFD-374080E221F8}"/>
                </a:ext>
              </a:extLst>
            </p:cNvPr>
            <p:cNvGrpSpPr/>
            <p:nvPr/>
          </p:nvGrpSpPr>
          <p:grpSpPr>
            <a:xfrm>
              <a:off x="7062378" y="1067397"/>
              <a:ext cx="1125843" cy="1192833"/>
              <a:chOff x="4183975" y="1757105"/>
              <a:chExt cx="1125843" cy="1192833"/>
            </a:xfrm>
          </p:grpSpPr>
          <p:pic>
            <p:nvPicPr>
              <p:cNvPr id="14" name="Рисунок 13">
                <a:extLst>
                  <a:ext uri="{FF2B5EF4-FFF2-40B4-BE49-F238E27FC236}">
                    <a16:creationId xmlns:a16="http://schemas.microsoft.com/office/drawing/2014/main" id="{018769AC-F2CC-CA7E-C9C0-A1B964F474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83975" y="2442690"/>
                <a:ext cx="1125843" cy="507248"/>
              </a:xfrm>
              <a:prstGeom prst="rect">
                <a:avLst/>
              </a:prstGeom>
            </p:spPr>
          </p:pic>
          <p:pic>
            <p:nvPicPr>
              <p:cNvPr id="15" name="Рисунок 14">
                <a:extLst>
                  <a:ext uri="{FF2B5EF4-FFF2-40B4-BE49-F238E27FC236}">
                    <a16:creationId xmlns:a16="http://schemas.microsoft.com/office/drawing/2014/main" id="{E5E8B24C-5119-E435-C52E-08F027A968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83975" y="1757105"/>
                <a:ext cx="1092851" cy="540240"/>
              </a:xfrm>
              <a:prstGeom prst="rect">
                <a:avLst/>
              </a:prstGeom>
            </p:spPr>
          </p:pic>
        </p:grpSp>
      </p:grpSp>
      <p:sp>
        <p:nvSpPr>
          <p:cNvPr id="10" name="Полилиния 10">
            <a:extLst>
              <a:ext uri="{FF2B5EF4-FFF2-40B4-BE49-F238E27FC236}">
                <a16:creationId xmlns:a16="http://schemas.microsoft.com/office/drawing/2014/main" id="{CA77D553-F7CF-5785-4D9A-373D3A9CAB6C}"/>
              </a:ext>
            </a:extLst>
          </p:cNvPr>
          <p:cNvSpPr/>
          <p:nvPr/>
        </p:nvSpPr>
        <p:spPr>
          <a:xfrm>
            <a:off x="8949140" y="3049766"/>
            <a:ext cx="2239456" cy="693288"/>
          </a:xfrm>
          <a:custGeom>
            <a:avLst/>
            <a:gdLst>
              <a:gd name="connsiteX0" fmla="*/ 0 w 2400310"/>
              <a:gd name="connsiteY0" fmla="*/ 0 h 2104012"/>
              <a:gd name="connsiteX1" fmla="*/ 2400310 w 2400310"/>
              <a:gd name="connsiteY1" fmla="*/ 0 h 2104012"/>
              <a:gd name="connsiteX2" fmla="*/ 2400310 w 2400310"/>
              <a:gd name="connsiteY2" fmla="*/ 2104012 h 2104012"/>
              <a:gd name="connsiteX3" fmla="*/ 0 w 2400310"/>
              <a:gd name="connsiteY3" fmla="*/ 2104012 h 2104012"/>
              <a:gd name="connsiteX4" fmla="*/ 0 w 2400310"/>
              <a:gd name="connsiteY4" fmla="*/ 0 h 2104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00310" h="2104012">
                <a:moveTo>
                  <a:pt x="0" y="0"/>
                </a:moveTo>
                <a:lnTo>
                  <a:pt x="2400310" y="0"/>
                </a:lnTo>
                <a:lnTo>
                  <a:pt x="2400310" y="2104012"/>
                </a:lnTo>
                <a:lnTo>
                  <a:pt x="0" y="21040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3350" tIns="133350" rIns="133350" bIns="133350" numCol="1" spcCol="1270" anchor="b" anchorCtr="0">
            <a:noAutofit/>
          </a:bodyPr>
          <a:lstStyle/>
          <a:p>
            <a:pPr marL="0" lvl="1" algn="l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ru-RU" sz="1600" b="0" i="0" kern="120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1943AA9-0560-89EF-1A5D-7C9D6823BD81}"/>
              </a:ext>
            </a:extLst>
          </p:cNvPr>
          <p:cNvPicPr>
            <a:picLocks/>
          </p:cNvPicPr>
          <p:nvPr/>
        </p:nvPicPr>
        <p:blipFill>
          <a:blip r:embed="rId9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4673" y="843411"/>
            <a:ext cx="769721" cy="712193"/>
          </a:xfrm>
          <a:prstGeom prst="rect">
            <a:avLst/>
          </a:prstGeom>
        </p:spPr>
      </p:pic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2EFD4DF1-5D53-277E-11CF-C8A6BE6E8300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30" name="Прямоугольник: скругленные углы 29">
              <a:extLst>
                <a:ext uri="{FF2B5EF4-FFF2-40B4-BE49-F238E27FC236}">
                  <a16:creationId xmlns:a16="http://schemas.microsoft.com/office/drawing/2014/main" id="{2A2BD67B-53B3-4218-AFFE-1704F7DB1BF0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804F7A5-8BA6-E755-70AC-39E41EF7EB8D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2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5302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5AD95-6AA3-0406-E4E1-59EC7CBD9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745E20B-9422-3076-A3EC-2F01881D26CA}"/>
              </a:ext>
            </a:extLst>
          </p:cNvPr>
          <p:cNvSpPr txBox="1"/>
          <p:nvPr/>
        </p:nvSpPr>
        <p:spPr>
          <a:xfrm>
            <a:off x="3638792" y="238690"/>
            <a:ext cx="34708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Цели и задачи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60911FE-E445-2327-821A-EB1444D91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sp>
        <p:nvSpPr>
          <p:cNvPr id="4" name="Объект 2">
            <a:extLst>
              <a:ext uri="{FF2B5EF4-FFF2-40B4-BE49-F238E27FC236}">
                <a16:creationId xmlns:a16="http://schemas.microsoft.com/office/drawing/2014/main" id="{71E376DE-B482-E7D3-2C0A-997716648108}"/>
              </a:ext>
            </a:extLst>
          </p:cNvPr>
          <p:cNvSpPr txBox="1">
            <a:spLocks/>
          </p:cNvSpPr>
          <p:nvPr/>
        </p:nvSpPr>
        <p:spPr>
          <a:xfrm>
            <a:off x="485193" y="1184989"/>
            <a:ext cx="4132527" cy="5340298"/>
          </a:xfrm>
          <a:prstGeom prst="roundRect">
            <a:avLst>
              <a:gd name="adj" fmla="val 4817"/>
            </a:avLst>
          </a:prstGeom>
          <a:ln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 исследования заключается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разработке авторской методики формирования здоровых привычек, создании прототипа на её основе и комплексной оценке технической и экономической эффективности данного решения.</a:t>
            </a:r>
          </a:p>
        </p:txBody>
      </p:sp>
      <p:pic>
        <p:nvPicPr>
          <p:cNvPr id="5" name="Рисунок 4" descr="В яблочко">
            <a:extLst>
              <a:ext uri="{FF2B5EF4-FFF2-40B4-BE49-F238E27FC236}">
                <a16:creationId xmlns:a16="http://schemas.microsoft.com/office/drawing/2014/main" id="{BD0E453C-00AC-0993-B076-D54F761C61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5192" y="1184989"/>
            <a:ext cx="542081" cy="542081"/>
          </a:xfrm>
          <a:prstGeom prst="rect">
            <a:avLst/>
          </a:prstGeom>
        </p:spPr>
      </p:pic>
      <p:graphicFrame>
        <p:nvGraphicFramePr>
          <p:cNvPr id="3" name="Объект 4">
            <a:extLst>
              <a:ext uri="{FF2B5EF4-FFF2-40B4-BE49-F238E27FC236}">
                <a16:creationId xmlns:a16="http://schemas.microsoft.com/office/drawing/2014/main" id="{2BC9AECF-D1E8-08BB-0FDF-F184B37EE9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2837509"/>
              </p:ext>
            </p:extLst>
          </p:nvPr>
        </p:nvGraphicFramePr>
        <p:xfrm>
          <a:off x="3645706" y="1012217"/>
          <a:ext cx="8703188" cy="54317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5B5F74B7-F9BC-65E4-445C-B11470F40D85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CFC532B2-E8D5-09A8-95CC-0C9736DAB079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F5F0BF7-326D-51AB-0A25-72EF6A2FAE6B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4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sp>
        <p:nvSpPr>
          <p:cNvPr id="19" name="Shape 2530">
            <a:extLst>
              <a:ext uri="{FF2B5EF4-FFF2-40B4-BE49-F238E27FC236}">
                <a16:creationId xmlns:a16="http://schemas.microsoft.com/office/drawing/2014/main" id="{E5F3C459-3F9C-4359-7595-021C77C6466C}"/>
              </a:ext>
            </a:extLst>
          </p:cNvPr>
          <p:cNvSpPr/>
          <p:nvPr/>
        </p:nvSpPr>
        <p:spPr>
          <a:xfrm>
            <a:off x="5129342" y="1184989"/>
            <a:ext cx="408769" cy="534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chemeClr val="bg1"/>
          </a:solidFill>
          <a:ln w="12700">
            <a:solidFill>
              <a:schemeClr val="bg1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4" name="Shape 2538">
            <a:extLst>
              <a:ext uri="{FF2B5EF4-FFF2-40B4-BE49-F238E27FC236}">
                <a16:creationId xmlns:a16="http://schemas.microsoft.com/office/drawing/2014/main" id="{94A2EF59-76AC-EB0E-07B0-95CACC5E1131}"/>
              </a:ext>
            </a:extLst>
          </p:cNvPr>
          <p:cNvSpPr/>
          <p:nvPr/>
        </p:nvSpPr>
        <p:spPr>
          <a:xfrm>
            <a:off x="5102427" y="3427217"/>
            <a:ext cx="429515" cy="5611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chemeClr val="bg1"/>
          </a:solidFill>
          <a:ln w="12700">
            <a:solidFill>
              <a:schemeClr val="bg1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pic>
        <p:nvPicPr>
          <p:cNvPr id="25" name="Рисунок 24" descr="Одна шестеренка">
            <a:extLst>
              <a:ext uri="{FF2B5EF4-FFF2-40B4-BE49-F238E27FC236}">
                <a16:creationId xmlns:a16="http://schemas.microsoft.com/office/drawing/2014/main" id="{B77BC6B3-FF8F-4A02-897B-F71FF0605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99656" y="4507431"/>
            <a:ext cx="657837" cy="703146"/>
          </a:xfrm>
          <a:prstGeom prst="rect">
            <a:avLst/>
          </a:prstGeom>
        </p:spPr>
      </p:pic>
      <p:pic>
        <p:nvPicPr>
          <p:cNvPr id="26" name="Рисунок 25" descr="Исследование">
            <a:extLst>
              <a:ext uri="{FF2B5EF4-FFF2-40B4-BE49-F238E27FC236}">
                <a16:creationId xmlns:a16="http://schemas.microsoft.com/office/drawing/2014/main" id="{E27A09DB-2A8D-243E-E472-EDFB5822A4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41624" y="5698345"/>
            <a:ext cx="563597" cy="602415"/>
          </a:xfrm>
          <a:prstGeom prst="rect">
            <a:avLst/>
          </a:prstGeom>
        </p:spPr>
      </p:pic>
      <p:sp>
        <p:nvSpPr>
          <p:cNvPr id="7" name="Shape 2930">
            <a:extLst>
              <a:ext uri="{FF2B5EF4-FFF2-40B4-BE49-F238E27FC236}">
                <a16:creationId xmlns:a16="http://schemas.microsoft.com/office/drawing/2014/main" id="{C7EFA93D-E658-BBB9-6CEC-A61477F43521}"/>
              </a:ext>
            </a:extLst>
          </p:cNvPr>
          <p:cNvSpPr/>
          <p:nvPr/>
        </p:nvSpPr>
        <p:spPr>
          <a:xfrm>
            <a:off x="5033648" y="2410673"/>
            <a:ext cx="589852" cy="4012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955" y="1543"/>
                </a:moveTo>
                <a:cubicBezTo>
                  <a:pt x="12837" y="1543"/>
                  <a:pt x="10309" y="5515"/>
                  <a:pt x="10309" y="10414"/>
                </a:cubicBezTo>
                <a:lnTo>
                  <a:pt x="10309" y="11186"/>
                </a:lnTo>
                <a:cubicBezTo>
                  <a:pt x="10309" y="15233"/>
                  <a:pt x="8221" y="18514"/>
                  <a:pt x="5645" y="18514"/>
                </a:cubicBezTo>
                <a:cubicBezTo>
                  <a:pt x="3070" y="18514"/>
                  <a:pt x="982" y="15233"/>
                  <a:pt x="982" y="11186"/>
                </a:cubicBezTo>
                <a:lnTo>
                  <a:pt x="982" y="10414"/>
                </a:lnTo>
                <a:cubicBezTo>
                  <a:pt x="982" y="6367"/>
                  <a:pt x="3070" y="3086"/>
                  <a:pt x="5645" y="3086"/>
                </a:cubicBezTo>
                <a:cubicBezTo>
                  <a:pt x="6670" y="3086"/>
                  <a:pt x="7575" y="3630"/>
                  <a:pt x="8321" y="4629"/>
                </a:cubicBezTo>
                <a:lnTo>
                  <a:pt x="6382" y="4629"/>
                </a:lnTo>
                <a:cubicBezTo>
                  <a:pt x="6110" y="4629"/>
                  <a:pt x="5891" y="4974"/>
                  <a:pt x="5891" y="5400"/>
                </a:cubicBezTo>
                <a:cubicBezTo>
                  <a:pt x="5891" y="5826"/>
                  <a:pt x="6110" y="6171"/>
                  <a:pt x="6382" y="6171"/>
                </a:cubicBezTo>
                <a:lnTo>
                  <a:pt x="9327" y="6171"/>
                </a:lnTo>
                <a:cubicBezTo>
                  <a:pt x="9599" y="6171"/>
                  <a:pt x="9818" y="5826"/>
                  <a:pt x="9818" y="5400"/>
                </a:cubicBezTo>
                <a:lnTo>
                  <a:pt x="9818" y="771"/>
                </a:lnTo>
                <a:cubicBezTo>
                  <a:pt x="9818" y="346"/>
                  <a:pt x="9599" y="0"/>
                  <a:pt x="9327" y="0"/>
                </a:cubicBezTo>
                <a:cubicBezTo>
                  <a:pt x="9056" y="0"/>
                  <a:pt x="8836" y="346"/>
                  <a:pt x="8836" y="771"/>
                </a:cubicBezTo>
                <a:lnTo>
                  <a:pt x="8836" y="3321"/>
                </a:lnTo>
                <a:cubicBezTo>
                  <a:pt x="7879" y="2160"/>
                  <a:pt x="6706" y="1543"/>
                  <a:pt x="5645" y="1543"/>
                </a:cubicBezTo>
                <a:cubicBezTo>
                  <a:pt x="2527" y="1543"/>
                  <a:pt x="0" y="5515"/>
                  <a:pt x="0" y="10414"/>
                </a:cubicBezTo>
                <a:lnTo>
                  <a:pt x="0" y="11186"/>
                </a:lnTo>
                <a:cubicBezTo>
                  <a:pt x="0" y="16085"/>
                  <a:pt x="2527" y="20057"/>
                  <a:pt x="5645" y="20057"/>
                </a:cubicBezTo>
                <a:cubicBezTo>
                  <a:pt x="8763" y="20057"/>
                  <a:pt x="11291" y="16085"/>
                  <a:pt x="11291" y="11186"/>
                </a:cubicBezTo>
                <a:lnTo>
                  <a:pt x="11291" y="10414"/>
                </a:lnTo>
                <a:cubicBezTo>
                  <a:pt x="11291" y="6367"/>
                  <a:pt x="13379" y="3086"/>
                  <a:pt x="15955" y="3086"/>
                </a:cubicBezTo>
                <a:cubicBezTo>
                  <a:pt x="18530" y="3086"/>
                  <a:pt x="20618" y="6367"/>
                  <a:pt x="20618" y="10414"/>
                </a:cubicBezTo>
                <a:lnTo>
                  <a:pt x="20618" y="11186"/>
                </a:lnTo>
                <a:cubicBezTo>
                  <a:pt x="20618" y="15233"/>
                  <a:pt x="18530" y="18514"/>
                  <a:pt x="15955" y="18514"/>
                </a:cubicBezTo>
                <a:cubicBezTo>
                  <a:pt x="14930" y="18514"/>
                  <a:pt x="14025" y="17970"/>
                  <a:pt x="13279" y="16971"/>
                </a:cubicBezTo>
                <a:lnTo>
                  <a:pt x="15218" y="16971"/>
                </a:lnTo>
                <a:cubicBezTo>
                  <a:pt x="15490" y="16971"/>
                  <a:pt x="15709" y="16626"/>
                  <a:pt x="15709" y="16200"/>
                </a:cubicBezTo>
                <a:cubicBezTo>
                  <a:pt x="15709" y="15774"/>
                  <a:pt x="15490" y="15429"/>
                  <a:pt x="15218" y="15429"/>
                </a:cubicBezTo>
                <a:lnTo>
                  <a:pt x="12273" y="15429"/>
                </a:lnTo>
                <a:cubicBezTo>
                  <a:pt x="12001" y="15429"/>
                  <a:pt x="11782" y="15774"/>
                  <a:pt x="11782" y="16200"/>
                </a:cubicBezTo>
                <a:lnTo>
                  <a:pt x="11782" y="20829"/>
                </a:lnTo>
                <a:cubicBezTo>
                  <a:pt x="11782" y="21255"/>
                  <a:pt x="12001" y="21600"/>
                  <a:pt x="12273" y="21600"/>
                </a:cubicBezTo>
                <a:cubicBezTo>
                  <a:pt x="12544" y="21600"/>
                  <a:pt x="12764" y="21255"/>
                  <a:pt x="12764" y="20829"/>
                </a:cubicBezTo>
                <a:lnTo>
                  <a:pt x="12764" y="18279"/>
                </a:lnTo>
                <a:cubicBezTo>
                  <a:pt x="13721" y="19441"/>
                  <a:pt x="14894" y="20057"/>
                  <a:pt x="15955" y="20057"/>
                </a:cubicBezTo>
                <a:cubicBezTo>
                  <a:pt x="19073" y="20057"/>
                  <a:pt x="21600" y="16085"/>
                  <a:pt x="21600" y="11186"/>
                </a:cubicBezTo>
                <a:lnTo>
                  <a:pt x="21600" y="10414"/>
                </a:lnTo>
                <a:cubicBezTo>
                  <a:pt x="21600" y="5515"/>
                  <a:pt x="19073" y="1543"/>
                  <a:pt x="15955" y="1543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279888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EA5B0-8FAD-45CE-9A3E-8B0044545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BFAE6CD-D5F9-85C2-5BEF-49C82F7D42B0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</a:rPr>
              <a:t>Ограничения традиционных подходов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BE74F3B-1BC8-C3D9-2E82-E68BB611F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2C099524-DE11-7082-5258-FD57CD851FCD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2EE32CE5-C8C2-281C-5299-9C428793949E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A0BE736-C424-ED3C-AAC4-EF9B0CD86DE2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5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95BDBAB-A106-F1B4-1B50-DCCD9CFADA8E}"/>
              </a:ext>
            </a:extLst>
          </p:cNvPr>
          <p:cNvSpPr txBox="1"/>
          <p:nvPr/>
        </p:nvSpPr>
        <p:spPr>
          <a:xfrm>
            <a:off x="4499958" y="1248366"/>
            <a:ext cx="38003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простые функции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Отметки о выполнении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Базовые напоминания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58086132-B181-B1C0-D5A9-BD831FD54F8D}"/>
              </a:ext>
            </a:extLst>
          </p:cNvPr>
          <p:cNvSpPr txBox="1">
            <a:spLocks/>
          </p:cNvSpPr>
          <p:nvPr/>
        </p:nvSpPr>
        <p:spPr>
          <a:xfrm>
            <a:off x="418852" y="1259899"/>
            <a:ext cx="3688370" cy="4338204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B8858543-2C17-18C5-6BBB-74205E9208E1}"/>
              </a:ext>
            </a:extLst>
          </p:cNvPr>
          <p:cNvCxnSpPr>
            <a:cxnSpLocks/>
          </p:cNvCxnSpPr>
          <p:nvPr/>
        </p:nvCxnSpPr>
        <p:spPr>
          <a:xfrm>
            <a:off x="4412900" y="1259183"/>
            <a:ext cx="0" cy="14438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97E2936-9EBC-C39C-E15F-DB1B7036CD04}"/>
              </a:ext>
            </a:extLst>
          </p:cNvPr>
          <p:cNvSpPr txBox="1"/>
          <p:nvPr/>
        </p:nvSpPr>
        <p:spPr>
          <a:xfrm>
            <a:off x="497840" y="1720840"/>
            <a:ext cx="32867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Современный человек имеет доступ к информации о здоровом образе жизни. Проблема заключается в невозможности перевести знания в устойчивое поведение.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9083DB-B9F5-7440-5C16-F4E9CAD99C19}"/>
              </a:ext>
            </a:extLst>
          </p:cNvPr>
          <p:cNvSpPr txBox="1"/>
          <p:nvPr/>
        </p:nvSpPr>
        <p:spPr>
          <a:xfrm>
            <a:off x="8572260" y="1259183"/>
            <a:ext cx="334701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высокий порог входа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Отдельные приложения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Платная подписка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ребование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создания аккаунтов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A0E321-C939-C296-E8BC-B0B04166D7F0}"/>
              </a:ext>
            </a:extLst>
          </p:cNvPr>
          <p:cNvSpPr txBox="1"/>
          <p:nvPr/>
        </p:nvSpPr>
        <p:spPr>
          <a:xfrm>
            <a:off x="4499957" y="3691704"/>
            <a:ext cx="388819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мгновенной обратной связи</a:t>
            </a: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Недостаток человеческой поддержки</a:t>
            </a: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разнообразия в сообщениях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15A2C3-6639-196C-F2B1-E6390E6D2EDF}"/>
              </a:ext>
            </a:extLst>
          </p:cNvPr>
          <p:cNvSpPr txBox="1"/>
          <p:nvPr/>
        </p:nvSpPr>
        <p:spPr>
          <a:xfrm>
            <a:off x="8572259" y="3691704"/>
            <a:ext cx="327422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персонализации</a:t>
            </a: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Универсальные рекомендации</a:t>
            </a: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Цифровая усталость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500BAC58-6097-6C85-CBF8-AB369BE82B8E}"/>
              </a:ext>
            </a:extLst>
          </p:cNvPr>
          <p:cNvCxnSpPr>
            <a:cxnSpLocks/>
          </p:cNvCxnSpPr>
          <p:nvPr/>
        </p:nvCxnSpPr>
        <p:spPr>
          <a:xfrm>
            <a:off x="8485202" y="1259183"/>
            <a:ext cx="0" cy="14438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E2F05F64-9669-56C5-478B-BC0E5437AB6E}"/>
              </a:ext>
            </a:extLst>
          </p:cNvPr>
          <p:cNvCxnSpPr>
            <a:cxnSpLocks/>
          </p:cNvCxnSpPr>
          <p:nvPr/>
        </p:nvCxnSpPr>
        <p:spPr>
          <a:xfrm>
            <a:off x="4417662" y="3691704"/>
            <a:ext cx="0" cy="14351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2D0848E9-C705-8F0C-DAD8-999FDD6D1DD1}"/>
              </a:ext>
            </a:extLst>
          </p:cNvPr>
          <p:cNvCxnSpPr>
            <a:cxnSpLocks/>
          </p:cNvCxnSpPr>
          <p:nvPr/>
        </p:nvCxnSpPr>
        <p:spPr>
          <a:xfrm>
            <a:off x="8487241" y="3691704"/>
            <a:ext cx="0" cy="14351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4285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DF3A9-89F0-C507-2228-C39F8AC8C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E0C2DEE-F6FF-173F-809E-C44A9FFA9E06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Архитектура авторской методики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86AB62A-348F-9827-EB9C-ECBE0E2A0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5C89114B-91A8-5CB8-1621-84455384AC07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A625FBA2-57D2-1DD0-663A-46838EF01CD1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19F281B-300F-E545-8A5E-991DD30C5D6B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5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64648A3-B21E-1539-D918-7C9A88BFBA83}"/>
              </a:ext>
            </a:extLst>
          </p:cNvPr>
          <p:cNvSpPr txBox="1"/>
          <p:nvPr/>
        </p:nvSpPr>
        <p:spPr>
          <a:xfrm>
            <a:off x="4499958" y="1248366"/>
            <a:ext cx="314070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игровая механика мотивации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Прогресс опыта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достижений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6ACCBC09-E132-50B1-9E33-B5C720C9B983}"/>
              </a:ext>
            </a:extLst>
          </p:cNvPr>
          <p:cNvSpPr txBox="1">
            <a:spLocks/>
          </p:cNvSpPr>
          <p:nvPr/>
        </p:nvSpPr>
        <p:spPr>
          <a:xfrm>
            <a:off x="418852" y="1259899"/>
            <a:ext cx="3688370" cy="4338204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95A8C5A7-EF5E-7D21-A826-9FD7CD988654}"/>
              </a:ext>
            </a:extLst>
          </p:cNvPr>
          <p:cNvCxnSpPr>
            <a:cxnSpLocks/>
          </p:cNvCxnSpPr>
          <p:nvPr/>
        </p:nvCxnSpPr>
        <p:spPr>
          <a:xfrm>
            <a:off x="4412900" y="1259183"/>
            <a:ext cx="0" cy="14438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3BE9ADE-8FCB-07E9-7693-A90600D595DB}"/>
              </a:ext>
            </a:extLst>
          </p:cNvPr>
          <p:cNvSpPr txBox="1"/>
          <p:nvPr/>
        </p:nvSpPr>
        <p:spPr>
          <a:xfrm>
            <a:off x="611206" y="2090172"/>
            <a:ext cx="328676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методики включает четыре ключевых компонента, каждый из которых имеет четкий функционал и механизмы реализации: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26B2C5-15FF-835C-1F25-1CE2B9BBE976}"/>
              </a:ext>
            </a:extLst>
          </p:cNvPr>
          <p:cNvSpPr txBox="1"/>
          <p:nvPr/>
        </p:nvSpPr>
        <p:spPr>
          <a:xfrm>
            <a:off x="8233776" y="1259183"/>
            <a:ext cx="334701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автоматизированного наставничества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собеседника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жалоб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715700-4928-9F2E-5721-B24F5061766A}"/>
              </a:ext>
            </a:extLst>
          </p:cNvPr>
          <p:cNvSpPr txBox="1"/>
          <p:nvPr/>
        </p:nvSpPr>
        <p:spPr>
          <a:xfrm>
            <a:off x="4499958" y="3429000"/>
            <a:ext cx="343196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адаптивная программа формирования привычек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Минималистичный дизайн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Персонализированная коммуникация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41E459-65BF-BE20-BC9B-8340289BD608}"/>
              </a:ext>
            </a:extLst>
          </p:cNvPr>
          <p:cNvSpPr txBox="1"/>
          <p:nvPr/>
        </p:nvSpPr>
        <p:spPr>
          <a:xfrm>
            <a:off x="8233775" y="3429000"/>
            <a:ext cx="327422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сбора данных и аналитики прогресса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Прогресс в личном кабинете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Статистика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Отчеты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3A7F7889-E289-4E2D-2474-566CD3191DB7}"/>
              </a:ext>
            </a:extLst>
          </p:cNvPr>
          <p:cNvCxnSpPr>
            <a:cxnSpLocks/>
          </p:cNvCxnSpPr>
          <p:nvPr/>
        </p:nvCxnSpPr>
        <p:spPr>
          <a:xfrm>
            <a:off x="8146718" y="1259183"/>
            <a:ext cx="0" cy="14438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5D83F036-57E0-3DCC-5B5F-37F6A6E5DD2C}"/>
              </a:ext>
            </a:extLst>
          </p:cNvPr>
          <p:cNvCxnSpPr>
            <a:cxnSpLocks/>
          </p:cNvCxnSpPr>
          <p:nvPr/>
        </p:nvCxnSpPr>
        <p:spPr>
          <a:xfrm>
            <a:off x="4417662" y="3429000"/>
            <a:ext cx="0" cy="14351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93544180-32ED-A74E-1DA1-FE8AF2984B6D}"/>
              </a:ext>
            </a:extLst>
          </p:cNvPr>
          <p:cNvCxnSpPr>
            <a:cxnSpLocks/>
          </p:cNvCxnSpPr>
          <p:nvPr/>
        </p:nvCxnSpPr>
        <p:spPr>
          <a:xfrm>
            <a:off x="8148757" y="3429000"/>
            <a:ext cx="0" cy="14351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8330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03D84-5393-0BEC-27FF-AC1488118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9119832-1916-BAA2-C1DB-864AE227846C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Методы геймификации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05A0A39-A97C-4C9E-0E68-2FC53C490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0132DFB6-F8CF-6157-A8FF-98677646CFD9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A3E8565E-0516-EC6D-13A3-675475319155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D3D67FC-8294-9E90-50E8-4E4F28FE0544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5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052DBB2-280D-D3F6-24F4-86BC8210F7AE}"/>
              </a:ext>
            </a:extLst>
          </p:cNvPr>
          <p:cNvSpPr txBox="1"/>
          <p:nvPr/>
        </p:nvSpPr>
        <p:spPr>
          <a:xfrm>
            <a:off x="4499958" y="1965739"/>
            <a:ext cx="304257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уровней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прогресс конвертируется в очки опыта, в зависимости от сложности выполненного задания начисляется различное количество очков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7830C2F8-3A8F-5051-8273-39121780F2DF}"/>
              </a:ext>
            </a:extLst>
          </p:cNvPr>
          <p:cNvSpPr txBox="1">
            <a:spLocks/>
          </p:cNvSpPr>
          <p:nvPr/>
        </p:nvSpPr>
        <p:spPr>
          <a:xfrm>
            <a:off x="418852" y="1259899"/>
            <a:ext cx="3688370" cy="4338204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E4DD9E71-56B5-B63F-6812-A67C816056BD}"/>
              </a:ext>
            </a:extLst>
          </p:cNvPr>
          <p:cNvCxnSpPr>
            <a:cxnSpLocks/>
          </p:cNvCxnSpPr>
          <p:nvPr/>
        </p:nvCxnSpPr>
        <p:spPr>
          <a:xfrm>
            <a:off x="4412900" y="1976556"/>
            <a:ext cx="0" cy="14438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11F40C9-5EAC-D6BF-BB95-A270D5470983}"/>
              </a:ext>
            </a:extLst>
          </p:cNvPr>
          <p:cNvSpPr txBox="1"/>
          <p:nvPr/>
        </p:nvSpPr>
        <p:spPr>
          <a:xfrm>
            <a:off x="611206" y="1720840"/>
            <a:ext cx="352625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Используются методы геймификации для повышения уровня вовлеченности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работает синхронно с уровнем, создавая непрерывный цикл положительного подкрепления.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9CA5FA-F93C-5CF2-4C8A-8B119E687E6D}"/>
              </a:ext>
            </a:extLst>
          </p:cNvPr>
          <p:cNvSpPr txBox="1"/>
          <p:nvPr/>
        </p:nvSpPr>
        <p:spPr>
          <a:xfrm>
            <a:off x="7546707" y="1976556"/>
            <a:ext cx="428492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достижений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коллекционные (бейджи): присуждаются за качественные или ситуативные успехи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прогрессивные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майлстоуны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присуждаются за количественные показатели 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53938FB7-ED46-1DFC-E791-A15863D201C8}"/>
              </a:ext>
            </a:extLst>
          </p:cNvPr>
          <p:cNvCxnSpPr>
            <a:cxnSpLocks/>
          </p:cNvCxnSpPr>
          <p:nvPr/>
        </p:nvCxnSpPr>
        <p:spPr>
          <a:xfrm>
            <a:off x="7459650" y="1976556"/>
            <a:ext cx="0" cy="14438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240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8DC1E-EF8A-B041-36DE-B468FC4E5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50092A8-EF90-92CC-6007-FD2B2E39C707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Анонимное наставничество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7E96327-EB72-73F1-0E91-A65491B2C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06BBF59-0B29-EC0D-385F-AD7C5F4E9692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52747888-2F36-FAD5-EA9A-2B15CF066A31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6196115-A8CD-C6D4-ADD8-A756E9586446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5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sp>
        <p:nvSpPr>
          <p:cNvPr id="10" name="Объект 2">
            <a:extLst>
              <a:ext uri="{FF2B5EF4-FFF2-40B4-BE49-F238E27FC236}">
                <a16:creationId xmlns:a16="http://schemas.microsoft.com/office/drawing/2014/main" id="{655B79BA-F3FF-1C39-9831-C68373B38100}"/>
              </a:ext>
            </a:extLst>
          </p:cNvPr>
          <p:cNvSpPr txBox="1">
            <a:spLocks/>
          </p:cNvSpPr>
          <p:nvPr/>
        </p:nvSpPr>
        <p:spPr>
          <a:xfrm>
            <a:off x="418851" y="1259899"/>
            <a:ext cx="4140707" cy="4338204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6E0F46AB-8CA3-8AFE-8942-B2CA3BAD1CA3}"/>
              </a:ext>
            </a:extLst>
          </p:cNvPr>
          <p:cNvCxnSpPr>
            <a:cxnSpLocks/>
          </p:cNvCxnSpPr>
          <p:nvPr/>
        </p:nvCxnSpPr>
        <p:spPr>
          <a:xfrm>
            <a:off x="4761486" y="1259899"/>
            <a:ext cx="0" cy="1220193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D19700C-4DD9-181B-EB70-AAB13CD2A72A}"/>
              </a:ext>
            </a:extLst>
          </p:cNvPr>
          <p:cNvSpPr txBox="1"/>
          <p:nvPr/>
        </p:nvSpPr>
        <p:spPr>
          <a:xfrm>
            <a:off x="613567" y="1505828"/>
            <a:ext cx="385572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анонимного наставничества.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преодоления изоляции пользователя в процессе саморазвития реализован модуль социальной поддержки, основанный на принципах анонимности и случайного взаимодействия.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A882E434-8B83-2C21-20F8-8BB78E67FB88}"/>
              </a:ext>
            </a:extLst>
          </p:cNvPr>
          <p:cNvCxnSpPr>
            <a:cxnSpLocks/>
          </p:cNvCxnSpPr>
          <p:nvPr/>
        </p:nvCxnSpPr>
        <p:spPr>
          <a:xfrm>
            <a:off x="8400474" y="1183321"/>
            <a:ext cx="0" cy="1220193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23424AC-50C5-ED54-0520-BA14B703C547}"/>
              </a:ext>
            </a:extLst>
          </p:cNvPr>
          <p:cNvSpPr txBox="1"/>
          <p:nvPr/>
        </p:nvSpPr>
        <p:spPr>
          <a:xfrm>
            <a:off x="4860574" y="1259899"/>
            <a:ext cx="369227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Механика идентификации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каждому пользователю присваивается уникальный случайный идентификатор.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исключает когнитивные искажения, связанные с социальным статусом или полом.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DD03FF-20DC-5BA5-CAF0-E10F10BE6089}"/>
              </a:ext>
            </a:extLst>
          </p:cNvPr>
          <p:cNvSpPr txBox="1"/>
          <p:nvPr/>
        </p:nvSpPr>
        <p:spPr>
          <a:xfrm>
            <a:off x="8509558" y="1259899"/>
            <a:ext cx="313157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 имеет возможность сменить идентификатор в личном кабинете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подать жалобу на собеседника</a:t>
            </a:r>
          </a:p>
        </p:txBody>
      </p:sp>
    </p:spTree>
    <p:extLst>
      <p:ext uri="{BB962C8B-B14F-4D97-AF65-F5344CB8AC3E}">
        <p14:creationId xmlns:p14="http://schemas.microsoft.com/office/powerpoint/2010/main" val="128349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FBC20-965B-864B-03AD-4AC561AF0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A78C194-1F40-B6AC-5C57-348F7496BCEE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Шаблон слайда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A9B3423-5361-A58F-3312-DB44C9D32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5CCAFD45-09AC-7B0C-5CED-BA3933F524EF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85451DD0-9625-0D25-5526-9677785D89D4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C9E9DFF-4E5D-9417-FE41-47879482FFAE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5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pic>
        <p:nvPicPr>
          <p:cNvPr id="3" name="Изображение1">
            <a:extLst>
              <a:ext uri="{FF2B5EF4-FFF2-40B4-BE49-F238E27FC236}">
                <a16:creationId xmlns:a16="http://schemas.microsoft.com/office/drawing/2014/main" id="{FBBCA8E2-FDAA-8965-B0AD-2E60BD8D3C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4235422" y="1259899"/>
            <a:ext cx="7405706" cy="4320000"/>
          </a:xfrm>
          <a:prstGeom prst="rect">
            <a:avLst/>
          </a:prstGeom>
          <a:noFill/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C03053D3-3493-80E7-7552-0998A89684E6}"/>
              </a:ext>
            </a:extLst>
          </p:cNvPr>
          <p:cNvSpPr txBox="1">
            <a:spLocks/>
          </p:cNvSpPr>
          <p:nvPr/>
        </p:nvSpPr>
        <p:spPr>
          <a:xfrm>
            <a:off x="418851" y="1259899"/>
            <a:ext cx="3673215" cy="4338204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2773669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EB772-634C-DE5A-785D-567ED8488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0CCF800-C160-2A38-BE10-656DBD5D86EA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Шаблон слайда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0D93022-032D-DC41-346C-0A11950EF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DC035758-A94E-BEAC-5C59-13895D2062E9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25CC9335-6737-0349-02A9-316FEF5F452C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F271FF-0932-715F-B328-1827234D75B6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5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pic>
        <p:nvPicPr>
          <p:cNvPr id="5" name="Изображение4">
            <a:extLst>
              <a:ext uri="{FF2B5EF4-FFF2-40B4-BE49-F238E27FC236}">
                <a16:creationId xmlns:a16="http://schemas.microsoft.com/office/drawing/2014/main" id="{CBE9BA77-5F14-6E3E-5FDC-5275C21845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4235046" y="1259899"/>
            <a:ext cx="7406082" cy="4320000"/>
          </a:xfrm>
          <a:prstGeom prst="rect">
            <a:avLst/>
          </a:prstGeom>
          <a:noFill/>
        </p:spPr>
      </p:pic>
      <p:sp>
        <p:nvSpPr>
          <p:cNvPr id="4" name="Объект 2">
            <a:extLst>
              <a:ext uri="{FF2B5EF4-FFF2-40B4-BE49-F238E27FC236}">
                <a16:creationId xmlns:a16="http://schemas.microsoft.com/office/drawing/2014/main" id="{534D6268-6D27-8AD8-89DC-052C5038D3C8}"/>
              </a:ext>
            </a:extLst>
          </p:cNvPr>
          <p:cNvSpPr txBox="1">
            <a:spLocks/>
          </p:cNvSpPr>
          <p:nvPr/>
        </p:nvSpPr>
        <p:spPr>
          <a:xfrm>
            <a:off x="418851" y="1259899"/>
            <a:ext cx="3673215" cy="4338204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575215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5F3B3-9B10-812E-6471-F36798062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887BAA-23F4-A993-EEB8-7BCD8205EBD1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Шаблон слайда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3775DF1-A5F2-E927-8862-239540BDD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915D1DBF-FFE2-D475-9F8A-49FD9EF33A7C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3E97A915-BBE7-12B9-90C6-140BED93A900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0476A2C-6CE4-D6E1-F77A-D30BB3B4BDA9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5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pic>
        <p:nvPicPr>
          <p:cNvPr id="4" name="Изображение5">
            <a:extLst>
              <a:ext uri="{FF2B5EF4-FFF2-40B4-BE49-F238E27FC236}">
                <a16:creationId xmlns:a16="http://schemas.microsoft.com/office/drawing/2014/main" id="{2EDBA5E6-C059-7E77-EAEC-F0F455A9B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4235549" y="1259899"/>
            <a:ext cx="7405579" cy="4320000"/>
          </a:xfrm>
          <a:prstGeom prst="rect">
            <a:avLst/>
          </a:prstGeom>
          <a:noFill/>
        </p:spPr>
      </p:pic>
      <p:sp>
        <p:nvSpPr>
          <p:cNvPr id="5" name="Объект 2">
            <a:extLst>
              <a:ext uri="{FF2B5EF4-FFF2-40B4-BE49-F238E27FC236}">
                <a16:creationId xmlns:a16="http://schemas.microsoft.com/office/drawing/2014/main" id="{7D8E011D-E31C-1487-49CC-2BC759DFC235}"/>
              </a:ext>
            </a:extLst>
          </p:cNvPr>
          <p:cNvSpPr txBox="1">
            <a:spLocks/>
          </p:cNvSpPr>
          <p:nvPr/>
        </p:nvSpPr>
        <p:spPr>
          <a:xfrm>
            <a:off x="418851" y="1259899"/>
            <a:ext cx="3673215" cy="4338204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32210818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5AC08-44C7-CFC3-9957-E7D744644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81A744E-7E3D-E4DD-6C4B-417A56DD8BF6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Шаблон слайда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606C72B-0799-E765-672C-4E1F0496D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6BC903A-51A6-B796-C1FB-CD418C0423D9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BADBF805-D01A-E88C-DA64-9394E96783EF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028E91F-ABA0-0A7F-8F88-95D868E31D0A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5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0246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F64B1-CFDE-5903-3AEF-FC6A52774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12784AD-F57A-4DF0-F7BB-D6DF69DD27F4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Пользовательский путь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B633CF3-FBC5-5827-043C-62BF04D31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398EC4E1-F01B-D0C8-B87B-4303F7DEB6F0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A9EE35CB-815B-D5EA-3EAA-A4A2E69BF9F3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70F926F-0E23-0407-765F-0D0E35931168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5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pic>
        <p:nvPicPr>
          <p:cNvPr id="3" name="Изображение3">
            <a:extLst>
              <a:ext uri="{FF2B5EF4-FFF2-40B4-BE49-F238E27FC236}">
                <a16:creationId xmlns:a16="http://schemas.microsoft.com/office/drawing/2014/main" id="{A581F306-065C-102E-36C2-6A51D76D46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523398" y="5798820"/>
            <a:ext cx="10586403" cy="2388635"/>
          </a:xfrm>
          <a:prstGeom prst="rect">
            <a:avLst/>
          </a:prstGeom>
          <a:noFill/>
        </p:spPr>
      </p:pic>
      <p:sp useBgFill="1"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136B802B-ED97-0C20-0594-F231A3315B2E}"/>
              </a:ext>
            </a:extLst>
          </p:cNvPr>
          <p:cNvSpPr/>
          <p:nvPr/>
        </p:nvSpPr>
        <p:spPr>
          <a:xfrm>
            <a:off x="2387600" y="1137920"/>
            <a:ext cx="2189480" cy="646331"/>
          </a:xfrm>
          <a:prstGeom prst="roundRect">
            <a:avLst/>
          </a:prstGeom>
          <a:ln w="9525" cap="flat" cmpd="sng" algn="ctr">
            <a:solidFill>
              <a:srgbClr val="274E9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274E9C"/>
                </a:solidFill>
              </a:rPr>
              <a:t>Выполнение привычки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C76BD47-F376-BA4B-0980-95875A09CDC2}"/>
              </a:ext>
            </a:extLst>
          </p:cNvPr>
          <p:cNvSpPr/>
          <p:nvPr/>
        </p:nvSpPr>
        <p:spPr>
          <a:xfrm>
            <a:off x="2387600" y="1963766"/>
            <a:ext cx="2189480" cy="640542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274E9C"/>
                </a:solidFill>
              </a:rPr>
              <a:t>Положительное подкрепление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04441B19-E09A-47A4-91C4-0606796B0352}"/>
              </a:ext>
            </a:extLst>
          </p:cNvPr>
          <p:cNvSpPr/>
          <p:nvPr/>
        </p:nvSpPr>
        <p:spPr>
          <a:xfrm>
            <a:off x="7614920" y="1137920"/>
            <a:ext cx="2189480" cy="646331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dirty="0"/>
              <a:t>Получение ХР / достижения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39AE1005-1938-469A-1251-480F94930F50}"/>
              </a:ext>
            </a:extLst>
          </p:cNvPr>
          <p:cNvSpPr/>
          <p:nvPr/>
        </p:nvSpPr>
        <p:spPr>
          <a:xfrm>
            <a:off x="4721859" y="1134505"/>
            <a:ext cx="2189480" cy="640543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dirty="0"/>
              <a:t>Эмоциональное удовлетворение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00ABFC66-1F9A-4AA4-DDF3-9781CC1FFEBB}"/>
              </a:ext>
            </a:extLst>
          </p:cNvPr>
          <p:cNvSpPr/>
          <p:nvPr/>
        </p:nvSpPr>
        <p:spPr>
          <a:xfrm>
            <a:off x="4721859" y="1963766"/>
            <a:ext cx="2189480" cy="640542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dirty="0"/>
              <a:t>Анонимная поддержка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63221FE8-2C81-0CE8-E9F2-EFA452DF440C}"/>
              </a:ext>
            </a:extLst>
          </p:cNvPr>
          <p:cNvSpPr/>
          <p:nvPr/>
        </p:nvSpPr>
        <p:spPr>
          <a:xfrm>
            <a:off x="7056118" y="1963766"/>
            <a:ext cx="2189480" cy="640542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dirty="0"/>
              <a:t>Увеличение мотивации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B5A3DF5A-FC1D-6745-3482-E2D73237E937}"/>
              </a:ext>
            </a:extLst>
          </p:cNvPr>
          <p:cNvSpPr/>
          <p:nvPr/>
        </p:nvSpPr>
        <p:spPr>
          <a:xfrm>
            <a:off x="9491978" y="1963766"/>
            <a:ext cx="2189480" cy="640542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dirty="0"/>
              <a:t>Повторение действия</a:t>
            </a:r>
          </a:p>
        </p:txBody>
      </p:sp>
    </p:spTree>
    <p:extLst>
      <p:ext uri="{BB962C8B-B14F-4D97-AF65-F5344CB8AC3E}">
        <p14:creationId xmlns:p14="http://schemas.microsoft.com/office/powerpoint/2010/main" val="39282761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C2A5A-FC23-BFB4-9A75-51AC31155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5B93CD8-9F62-A5A8-D0DB-AEC4AD446D4A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Оценка экономической эффективности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A1D8B1C-EDC3-C57C-02AC-BA8E2EB3F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301CCFD-BF93-4227-7BBF-BC4784036FA5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2C315F7F-F415-1B84-0A62-63222AB24B7E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5DE0D3D-9392-17DE-1218-7B5F761C5790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5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168EE77-BAB9-B370-9C58-1BAE512BD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188713"/>
              </p:ext>
            </p:extLst>
          </p:nvPr>
        </p:nvGraphicFramePr>
        <p:xfrm>
          <a:off x="300037" y="1136649"/>
          <a:ext cx="11591926" cy="4959349"/>
        </p:xfrm>
        <a:graphic>
          <a:graphicData uri="http://schemas.openxmlformats.org/drawingml/2006/table">
            <a:tbl>
              <a:tblPr firstRow="1" firstCol="1" bandRow="1">
                <a:tableStyleId>{FABFCF23-3B69-468F-B69F-88F6DE6A72F2}</a:tableStyleId>
              </a:tblPr>
              <a:tblGrid>
                <a:gridCol w="5731016">
                  <a:extLst>
                    <a:ext uri="{9D8B030D-6E8A-4147-A177-3AD203B41FA5}">
                      <a16:colId xmlns:a16="http://schemas.microsoft.com/office/drawing/2014/main" val="1738581461"/>
                    </a:ext>
                  </a:extLst>
                </a:gridCol>
                <a:gridCol w="2529343">
                  <a:extLst>
                    <a:ext uri="{9D8B030D-6E8A-4147-A177-3AD203B41FA5}">
                      <a16:colId xmlns:a16="http://schemas.microsoft.com/office/drawing/2014/main" val="3626096163"/>
                    </a:ext>
                  </a:extLst>
                </a:gridCol>
                <a:gridCol w="1347059">
                  <a:extLst>
                    <a:ext uri="{9D8B030D-6E8A-4147-A177-3AD203B41FA5}">
                      <a16:colId xmlns:a16="http://schemas.microsoft.com/office/drawing/2014/main" val="2091020232"/>
                    </a:ext>
                  </a:extLst>
                </a:gridCol>
                <a:gridCol w="1984508">
                  <a:extLst>
                    <a:ext uri="{9D8B030D-6E8A-4147-A177-3AD203B41FA5}">
                      <a16:colId xmlns:a16="http://schemas.microsoft.com/office/drawing/2014/main" val="532211291"/>
                    </a:ext>
                  </a:extLst>
                </a:gridCol>
              </a:tblGrid>
              <a:tr h="8915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Наименование показателя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Обозначение</a:t>
                      </a:r>
                      <a:endParaRPr lang="ru-RU" sz="20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Ед. изм.</a:t>
                      </a:r>
                      <a:endParaRPr lang="ru-RU" sz="20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Величина показателя</a:t>
                      </a:r>
                      <a:endParaRPr lang="ru-RU" sz="20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3730648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 инвестиций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 проект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руб.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966 528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91818599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Ставка дисконтирования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15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2555450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Чистая приведенная стоимость проекта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NPV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руб.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1 742 467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19085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Внутренняя ставка доходности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IRR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41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20899962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Простой срок окупаемости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PPs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лет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3,93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5463349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Дисконтированный срок окупаемости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PPd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лет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4,17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01069098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Индекс доходности инвестиций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индекс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2,80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68786056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Чистая конечная стоимость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NTV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руб.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3 015 910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0512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44868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A84BE-5C2C-BF51-2DE4-934B8A0D9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24B5CBD-2C58-E43B-092F-BB4DD602FE0F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Шаблон слайда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73402AD-554B-94EA-0DD3-82148EB2F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BDDF1669-7D75-4B65-C706-EB05D20392C8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48B5057B-DC8B-9E47-CAA0-5AE85FBE78DC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2CCEBAE-01C2-0A53-0BF8-4D298B3D6B31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5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06414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4517F-3909-911D-8678-F3FD6C176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EB9C5A-692A-57FF-44D6-4409F5BD7BC1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Шаблон слайда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A63ADB0-3050-939E-2516-253D95637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1826D88D-3848-5CCE-3661-2F5D8ED8C564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13B47A95-3DAA-0B48-6706-D7A06299337C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2EA12E3-E6C2-C3E9-29BB-EDAD014DCABE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5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16092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18A56-0B1A-49A6-F790-7003A34AA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565F06E-E402-6E0B-56F8-5CD5B8DBCD70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Шаблон слайда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70ABC08-5401-5213-EE18-421A42F1D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86B34C4A-24FF-790C-4684-8308721C20A0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C9653603-546B-BF13-658D-828BE770108F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6F8ECAC-2FD1-8B68-A08C-9B122DB618B7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5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997919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</TotalTime>
  <Words>936</Words>
  <Application>Microsoft Office PowerPoint</Application>
  <PresentationFormat>Широкоэкранный</PresentationFormat>
  <Paragraphs>234</Paragraphs>
  <Slides>25</Slides>
  <Notes>19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3" baseType="lpstr">
      <vt:lpstr>Arial</vt:lpstr>
      <vt:lpstr>Calibri</vt:lpstr>
      <vt:lpstr>Calibri Light</vt:lpstr>
      <vt:lpstr>Gill Sans</vt:lpstr>
      <vt:lpstr>Inter Variable Text</vt:lpstr>
      <vt:lpstr>Inter Variable Text Medium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Егор Жучков</dc:creator>
  <cp:lastModifiedBy>Павел Гамов</cp:lastModifiedBy>
  <cp:revision>27</cp:revision>
  <dcterms:created xsi:type="dcterms:W3CDTF">2024-10-09T13:54:56Z</dcterms:created>
  <dcterms:modified xsi:type="dcterms:W3CDTF">2026-05-14T20:16:29Z</dcterms:modified>
</cp:coreProperties>
</file>