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3" r:id="rId3"/>
    <p:sldId id="261" r:id="rId4"/>
    <p:sldId id="262" r:id="rId5"/>
    <p:sldId id="295" r:id="rId6"/>
    <p:sldId id="297" r:id="rId7"/>
    <p:sldId id="296" r:id="rId8"/>
    <p:sldId id="298" r:id="rId9"/>
    <p:sldId id="302" r:id="rId10"/>
    <p:sldId id="301" r:id="rId11"/>
    <p:sldId id="264" r:id="rId12"/>
    <p:sldId id="300" r:id="rId13"/>
    <p:sldId id="30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2" pos="2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9" autoAdjust="0"/>
    <p:restoredTop sz="94657"/>
  </p:normalViewPr>
  <p:slideViewPr>
    <p:cSldViewPr snapToGrid="0" showGuides="1">
      <p:cViewPr varScale="1">
        <p:scale>
          <a:sx n="158" d="100"/>
          <a:sy n="158" d="100"/>
        </p:scale>
        <p:origin x="424" y="96"/>
      </p:cViewPr>
      <p:guideLst>
        <p:guide orient="horz" pos="142"/>
        <p:guide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Обзор понятия «профессиональное выгорание»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Описание характеристики ПАО СК «Росгосстрах»</a:t>
          </a: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Формулирование требований</a:t>
          </a: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Расчет экономической эффективности</a:t>
          </a: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Реализация</a:t>
          </a:r>
          <a:r>
            <a:rPr lang="ru-RU" sz="2400" baseline="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 прототипа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Собрана информация о методиках диагностики уровня выгорания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Выявление слабых мест текущих решений компании</a:t>
          </a: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Определен технологический стек </a:t>
          </a: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Сделан расчет затрат и анализ экономической эффективности</a:t>
          </a: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Спроектирован и реализован автоматизированный модуль</a:t>
          </a: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672305" y="3789"/>
          <a:ext cx="5770121" cy="8757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1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Обзор понятия «профессиональное выгорание»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1234" y="3789"/>
        <a:ext cx="5551192" cy="875716"/>
      </dsp:txXfrm>
    </dsp:sp>
    <dsp:sp modelId="{461663A7-095E-5349-A58D-186EEEBCE797}">
      <dsp:nvSpPr>
        <dsp:cNvPr id="0" name=""/>
        <dsp:cNvSpPr/>
      </dsp:nvSpPr>
      <dsp:spPr>
        <a:xfrm>
          <a:off x="1234447" y="3789"/>
          <a:ext cx="875716" cy="875716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672305" y="1140912"/>
          <a:ext cx="5770121" cy="8757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1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Описание характеристики ПАО СК «Росгосстрах»</a:t>
          </a:r>
        </a:p>
      </dsp:txBody>
      <dsp:txXfrm rot="10800000">
        <a:off x="1891234" y="1140912"/>
        <a:ext cx="5551192" cy="875716"/>
      </dsp:txXfrm>
    </dsp:sp>
    <dsp:sp modelId="{91C536B7-3FF0-7540-A9E6-94ED27AD4BFD}">
      <dsp:nvSpPr>
        <dsp:cNvPr id="0" name=""/>
        <dsp:cNvSpPr/>
      </dsp:nvSpPr>
      <dsp:spPr>
        <a:xfrm>
          <a:off x="1234447" y="1140912"/>
          <a:ext cx="875716" cy="875716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672305" y="2278036"/>
          <a:ext cx="5770121" cy="8757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1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Формулирование требований</a:t>
          </a:r>
        </a:p>
      </dsp:txBody>
      <dsp:txXfrm rot="10800000">
        <a:off x="1891234" y="2278036"/>
        <a:ext cx="5551192" cy="875716"/>
      </dsp:txXfrm>
    </dsp:sp>
    <dsp:sp modelId="{D40C6A89-69F2-4547-B292-3B110D581711}">
      <dsp:nvSpPr>
        <dsp:cNvPr id="0" name=""/>
        <dsp:cNvSpPr/>
      </dsp:nvSpPr>
      <dsp:spPr>
        <a:xfrm>
          <a:off x="1234447" y="2278036"/>
          <a:ext cx="875716" cy="875716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672305" y="3415160"/>
          <a:ext cx="5770121" cy="8757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1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Реализация</a:t>
          </a:r>
          <a:r>
            <a:rPr lang="ru-RU" sz="2400" kern="1200" baseline="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 прототипа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1234" y="3415160"/>
        <a:ext cx="5551192" cy="875716"/>
      </dsp:txXfrm>
    </dsp:sp>
    <dsp:sp modelId="{BD4E3E7B-E244-FD4B-95F0-3CD7EAD42C42}">
      <dsp:nvSpPr>
        <dsp:cNvPr id="0" name=""/>
        <dsp:cNvSpPr/>
      </dsp:nvSpPr>
      <dsp:spPr>
        <a:xfrm>
          <a:off x="1234447" y="3415160"/>
          <a:ext cx="875716" cy="875716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672305" y="4552284"/>
          <a:ext cx="5770121" cy="8757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1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Расчет экономической эффективности</a:t>
          </a:r>
        </a:p>
      </dsp:txBody>
      <dsp:txXfrm rot="10800000">
        <a:off x="1891234" y="4552284"/>
        <a:ext cx="5551192" cy="875716"/>
      </dsp:txXfrm>
    </dsp:sp>
    <dsp:sp modelId="{7CD4DBAE-3334-D541-8C7D-FC4CB0F79389}">
      <dsp:nvSpPr>
        <dsp:cNvPr id="0" name=""/>
        <dsp:cNvSpPr/>
      </dsp:nvSpPr>
      <dsp:spPr>
        <a:xfrm>
          <a:off x="1234447" y="4552284"/>
          <a:ext cx="875716" cy="875716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777309" y="1419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Собрана информация о методиках диагностики уровня выгорания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96429" y="1419"/>
        <a:ext cx="5967122" cy="876481"/>
      </dsp:txXfrm>
    </dsp:sp>
    <dsp:sp modelId="{461663A7-095E-5349-A58D-186EEEBCE797}">
      <dsp:nvSpPr>
        <dsp:cNvPr id="0" name=""/>
        <dsp:cNvSpPr/>
      </dsp:nvSpPr>
      <dsp:spPr>
        <a:xfrm>
          <a:off x="1339068" y="1419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777309" y="1139536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Выявление слабых мест текущих решений компании</a:t>
          </a:r>
        </a:p>
      </dsp:txBody>
      <dsp:txXfrm rot="10800000">
        <a:off x="1996429" y="1139536"/>
        <a:ext cx="5967122" cy="876481"/>
      </dsp:txXfrm>
    </dsp:sp>
    <dsp:sp modelId="{91C536B7-3FF0-7540-A9E6-94ED27AD4BFD}">
      <dsp:nvSpPr>
        <dsp:cNvPr id="0" name=""/>
        <dsp:cNvSpPr/>
      </dsp:nvSpPr>
      <dsp:spPr>
        <a:xfrm>
          <a:off x="1339068" y="1139536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777309" y="2277654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Определен технологический стек </a:t>
          </a:r>
        </a:p>
      </dsp:txBody>
      <dsp:txXfrm rot="10800000">
        <a:off x="1996429" y="2277654"/>
        <a:ext cx="5967122" cy="876481"/>
      </dsp:txXfrm>
    </dsp:sp>
    <dsp:sp modelId="{D40C6A89-69F2-4547-B292-3B110D581711}">
      <dsp:nvSpPr>
        <dsp:cNvPr id="0" name=""/>
        <dsp:cNvSpPr/>
      </dsp:nvSpPr>
      <dsp:spPr>
        <a:xfrm>
          <a:off x="1339068" y="2277654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777309" y="3415771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Спроектирован и реализован автоматизированный модуль</a:t>
          </a:r>
        </a:p>
      </dsp:txBody>
      <dsp:txXfrm rot="10800000">
        <a:off x="1996429" y="3415771"/>
        <a:ext cx="5967122" cy="876481"/>
      </dsp:txXfrm>
    </dsp:sp>
    <dsp:sp modelId="{BD4E3E7B-E244-FD4B-95F0-3CD7EAD42C42}">
      <dsp:nvSpPr>
        <dsp:cNvPr id="0" name=""/>
        <dsp:cNvSpPr/>
      </dsp:nvSpPr>
      <dsp:spPr>
        <a:xfrm>
          <a:off x="1339068" y="3415771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777309" y="4553889"/>
          <a:ext cx="6186242" cy="8764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50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Сделан расчет затрат и анализ экономической эффективности</a:t>
          </a:r>
        </a:p>
      </dsp:txBody>
      <dsp:txXfrm rot="10800000">
        <a:off x="1996429" y="4553889"/>
        <a:ext cx="5967122" cy="876481"/>
      </dsp:txXfrm>
    </dsp:sp>
    <dsp:sp modelId="{7CD4DBAE-3334-D541-8C7D-FC4CB0F79389}">
      <dsp:nvSpPr>
        <dsp:cNvPr id="0" name=""/>
        <dsp:cNvSpPr/>
      </dsp:nvSpPr>
      <dsp:spPr>
        <a:xfrm>
          <a:off x="1339068" y="4553889"/>
          <a:ext cx="876481" cy="87648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30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58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50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25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31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svg"/><Relationship Id="rId4" Type="http://schemas.openxmlformats.org/officeDocument/2006/relationships/diagramData" Target="../diagrams/data1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1797169"/>
            <a:ext cx="8606220" cy="28007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4400" b="1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Разработка автоматизированного модуля для анализа степени выгорания сотрудников на предприятии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00037" y="5213521"/>
            <a:ext cx="7086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Студент группы ЭМС-271: Горбачева С.З.</a:t>
            </a:r>
          </a:p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Научный руководитель: доц., к.т.н., </a:t>
            </a:r>
            <a:r>
              <a:rPr lang="ru-RU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Медникова</a:t>
            </a:r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О.В.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1D31-E70B-52A8-9DB2-8A60E366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2E1B8-AFDF-9C5C-0A9E-BC9B07972774}"/>
              </a:ext>
            </a:extLst>
          </p:cNvPr>
          <p:cNvSpPr txBox="1"/>
          <p:nvPr/>
        </p:nvSpPr>
        <p:spPr>
          <a:xfrm>
            <a:off x="3467100" y="232680"/>
            <a:ext cx="2970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Цель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272114-7B88-41BD-7F92-C6A7B61C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FD059847-A5AF-5241-F4D5-7D58F1B6A7FC}"/>
              </a:ext>
            </a:extLst>
          </p:cNvPr>
          <p:cNvSpPr txBox="1">
            <a:spLocks/>
          </p:cNvSpPr>
          <p:nvPr/>
        </p:nvSpPr>
        <p:spPr>
          <a:xfrm>
            <a:off x="485193" y="1184989"/>
            <a:ext cx="4301412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Создание автоматизированного модуля для анализа степени выгорания сотрудников ПАО СК «Росгосстрах», основанного на методах обработки естественного языка и машинного обучения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17856A50-E635-A095-E4A3-F88B999E9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52473C9A-6E45-374C-D55E-72AE5DF88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410174"/>
              </p:ext>
            </p:extLst>
          </p:nvPr>
        </p:nvGraphicFramePr>
        <p:xfrm>
          <a:off x="3998264" y="1093497"/>
          <a:ext cx="8676875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C395A31-2EC6-C922-9931-5DFB798A8C1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FDA0D01-2D17-96C7-F9DC-D2B1F1E78B28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7E8B3B-20C1-7963-61D4-09C9F1D40B5F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9" name="Shape 2530">
            <a:extLst>
              <a:ext uri="{FF2B5EF4-FFF2-40B4-BE49-F238E27FC236}">
                <a16:creationId xmlns:a16="http://schemas.microsoft.com/office/drawing/2014/main" id="{EB47C5BD-F028-B747-B516-8F8B5713C8B8}"/>
              </a:ext>
            </a:extLst>
          </p:cNvPr>
          <p:cNvSpPr/>
          <p:nvPr/>
        </p:nvSpPr>
        <p:spPr>
          <a:xfrm>
            <a:off x="5444349" y="1272648"/>
            <a:ext cx="436923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64">
            <a:extLst>
              <a:ext uri="{FF2B5EF4-FFF2-40B4-BE49-F238E27FC236}">
                <a16:creationId xmlns:a16="http://schemas.microsoft.com/office/drawing/2014/main" id="{7EB884E8-FEBF-D646-8D65-B0B2FE26DE73}"/>
              </a:ext>
            </a:extLst>
          </p:cNvPr>
          <p:cNvSpPr/>
          <p:nvPr/>
        </p:nvSpPr>
        <p:spPr>
          <a:xfrm>
            <a:off x="5407254" y="2396681"/>
            <a:ext cx="511112" cy="5111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07449BE2-A8F2-B643-B996-5CEDCB103ADB}"/>
              </a:ext>
            </a:extLst>
          </p:cNvPr>
          <p:cNvSpPr/>
          <p:nvPr/>
        </p:nvSpPr>
        <p:spPr>
          <a:xfrm>
            <a:off x="5436885" y="3497809"/>
            <a:ext cx="459098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DF75B43F-A76E-6C9D-0817-C5EA2850E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7674" y="4617800"/>
            <a:ext cx="658287" cy="658287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2F21505A-EA7E-71AC-8EEA-98E8247DD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83546" y="5768936"/>
            <a:ext cx="602415" cy="6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2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B0377-8134-0B01-D0EA-ED83F1C94CC1}"/>
              </a:ext>
            </a:extLst>
          </p:cNvPr>
          <p:cNvSpPr txBox="1"/>
          <p:nvPr/>
        </p:nvSpPr>
        <p:spPr>
          <a:xfrm>
            <a:off x="3467100" y="225425"/>
            <a:ext cx="449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Основные парадигмы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155BF4-6281-13E9-3D46-2E1499F8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A566630-8C45-161E-7ABE-2D9140BA00BA}"/>
              </a:ext>
            </a:extLst>
          </p:cNvPr>
          <p:cNvGrpSpPr/>
          <p:nvPr/>
        </p:nvGrpSpPr>
        <p:grpSpPr>
          <a:xfrm>
            <a:off x="300037" y="1265645"/>
            <a:ext cx="10647983" cy="5537592"/>
            <a:chOff x="417565" y="752694"/>
            <a:chExt cx="11412806" cy="5935343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2E6CF149-D3D6-F24D-FD79-266A4B8BBBE9}"/>
                </a:ext>
              </a:extLst>
            </p:cNvPr>
            <p:cNvGrpSpPr/>
            <p:nvPr/>
          </p:nvGrpSpPr>
          <p:grpSpPr>
            <a:xfrm>
              <a:off x="417565" y="1892114"/>
              <a:ext cx="10670975" cy="4795923"/>
              <a:chOff x="435821" y="2297353"/>
              <a:chExt cx="10670975" cy="4795923"/>
            </a:xfrm>
          </p:grpSpPr>
          <p:sp>
            <p:nvSpPr>
              <p:cNvPr id="19" name="Фигура, имеющая форму буквы L 18">
                <a:extLst>
                  <a:ext uri="{FF2B5EF4-FFF2-40B4-BE49-F238E27FC236}">
                    <a16:creationId xmlns:a16="http://schemas.microsoft.com/office/drawing/2014/main" id="{21E103C3-437E-D9EE-014F-CB46829EBB82}"/>
                  </a:ext>
                </a:extLst>
              </p:cNvPr>
              <p:cNvSpPr/>
              <p:nvPr/>
            </p:nvSpPr>
            <p:spPr>
              <a:xfrm rot="5400000">
                <a:off x="945741" y="3968786"/>
                <a:ext cx="1597812" cy="2617651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Полилиния 21">
                <a:extLst>
                  <a:ext uri="{FF2B5EF4-FFF2-40B4-BE49-F238E27FC236}">
                    <a16:creationId xmlns:a16="http://schemas.microsoft.com/office/drawing/2014/main" id="{A8F01F63-7F7E-9A0F-BB42-5B5DBA073AF1}"/>
                  </a:ext>
                </a:extLst>
              </p:cNvPr>
              <p:cNvSpPr/>
              <p:nvPr/>
            </p:nvSpPr>
            <p:spPr>
              <a:xfrm>
                <a:off x="699547" y="4742641"/>
                <a:ext cx="2658725" cy="2350635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Актуальность:</a:t>
                </a:r>
              </a:p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широкое распространение проблемы профессионального выгорания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20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  <p:sp>
            <p:nvSpPr>
              <p:cNvPr id="21" name="Треугольник 22">
                <a:extLst>
                  <a:ext uri="{FF2B5EF4-FFF2-40B4-BE49-F238E27FC236}">
                    <a16:creationId xmlns:a16="http://schemas.microsoft.com/office/drawing/2014/main" id="{D90B0ECD-B8F5-8CA9-E1FE-B49CCA67D774}"/>
                  </a:ext>
                </a:extLst>
              </p:cNvPr>
              <p:cNvSpPr/>
              <p:nvPr/>
            </p:nvSpPr>
            <p:spPr>
              <a:xfrm>
                <a:off x="2613953" y="3931345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2" name="Фигура, имеющая форму буквы L 21">
                <a:extLst>
                  <a:ext uri="{FF2B5EF4-FFF2-40B4-BE49-F238E27FC236}">
                    <a16:creationId xmlns:a16="http://schemas.microsoft.com/office/drawing/2014/main" id="{B8508353-FBCF-0932-B199-34001357130E}"/>
                  </a:ext>
                </a:extLst>
              </p:cNvPr>
              <p:cNvSpPr/>
              <p:nvPr/>
            </p:nvSpPr>
            <p:spPr>
              <a:xfrm rot="5400000">
                <a:off x="3521165" y="3420924"/>
                <a:ext cx="1597812" cy="2259140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Полилиния 24">
                <a:extLst>
                  <a:ext uri="{FF2B5EF4-FFF2-40B4-BE49-F238E27FC236}">
                    <a16:creationId xmlns:a16="http://schemas.microsoft.com/office/drawing/2014/main" id="{C26BABC5-5D6A-C29D-4E37-743384D1B6FA}"/>
                  </a:ext>
                </a:extLst>
              </p:cNvPr>
              <p:cNvSpPr/>
              <p:nvPr/>
            </p:nvSpPr>
            <p:spPr>
              <a:xfrm>
                <a:off x="3454242" y="4015520"/>
                <a:ext cx="2268196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Объект исследования: </a:t>
                </a:r>
              </a:p>
              <a:p>
                <a:pPr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система управления выгоранием сотрудников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20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  <p:sp>
            <p:nvSpPr>
              <p:cNvPr id="24" name="Треугольник 25">
                <a:extLst>
                  <a:ext uri="{FF2B5EF4-FFF2-40B4-BE49-F238E27FC236}">
                    <a16:creationId xmlns:a16="http://schemas.microsoft.com/office/drawing/2014/main" id="{9479958B-A341-2FDA-BFB6-0654191CD743}"/>
                  </a:ext>
                </a:extLst>
              </p:cNvPr>
              <p:cNvSpPr/>
              <p:nvPr/>
            </p:nvSpPr>
            <p:spPr>
              <a:xfrm>
                <a:off x="4991289" y="3201766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Фигура, имеющая форму буквы L 24">
                <a:extLst>
                  <a:ext uri="{FF2B5EF4-FFF2-40B4-BE49-F238E27FC236}">
                    <a16:creationId xmlns:a16="http://schemas.microsoft.com/office/drawing/2014/main" id="{76410140-043E-F3AB-FC61-5C5BC13A56A0}"/>
                  </a:ext>
                </a:extLst>
              </p:cNvPr>
              <p:cNvSpPr/>
              <p:nvPr/>
            </p:nvSpPr>
            <p:spPr>
              <a:xfrm rot="5400000">
                <a:off x="6112498" y="2494009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Полилиния 27">
                <a:extLst>
                  <a:ext uri="{FF2B5EF4-FFF2-40B4-BE49-F238E27FC236}">
                    <a16:creationId xmlns:a16="http://schemas.microsoft.com/office/drawing/2014/main" id="{A7C8EA83-A7E7-642D-3DF9-54452D6D16FC}"/>
                  </a:ext>
                </a:extLst>
              </p:cNvPr>
              <p:cNvSpPr/>
              <p:nvPr/>
            </p:nvSpPr>
            <p:spPr>
              <a:xfrm>
                <a:off x="5848442" y="3309738"/>
                <a:ext cx="2854125" cy="2946100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Предмет исследования: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автоматизированный модуль для анализа степени выгорания сотрудников ПАО СК «Росгосстрах» по текстовым коммуникациям</a:t>
                </a:r>
              </a:p>
            </p:txBody>
          </p:sp>
          <p:sp>
            <p:nvSpPr>
              <p:cNvPr id="27" name="Треугольник 28">
                <a:extLst>
                  <a:ext uri="{FF2B5EF4-FFF2-40B4-BE49-F238E27FC236}">
                    <a16:creationId xmlns:a16="http://schemas.microsoft.com/office/drawing/2014/main" id="{BA81189A-FE14-74FA-995C-03DC2D7C685E}"/>
                  </a:ext>
                </a:extLst>
              </p:cNvPr>
              <p:cNvSpPr/>
              <p:nvPr/>
            </p:nvSpPr>
            <p:spPr>
              <a:xfrm>
                <a:off x="7787875" y="2484323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8" name="Фигура, имеющая форму буквы L 27">
                <a:extLst>
                  <a:ext uri="{FF2B5EF4-FFF2-40B4-BE49-F238E27FC236}">
                    <a16:creationId xmlns:a16="http://schemas.microsoft.com/office/drawing/2014/main" id="{CFDE1D58-EE6C-FDF5-2EC3-F8C0500AAC33}"/>
                  </a:ext>
                </a:extLst>
              </p:cNvPr>
              <p:cNvSpPr/>
              <p:nvPr/>
            </p:nvSpPr>
            <p:spPr>
              <a:xfrm rot="5400000">
                <a:off x="8690436" y="1978644"/>
                <a:ext cx="1597812" cy="2235229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9" name="Полилиния 30">
                <a:extLst>
                  <a:ext uri="{FF2B5EF4-FFF2-40B4-BE49-F238E27FC236}">
                    <a16:creationId xmlns:a16="http://schemas.microsoft.com/office/drawing/2014/main" id="{6B3DD64D-7113-D562-0438-D53FA96B3DD9}"/>
                  </a:ext>
                </a:extLst>
              </p:cNvPr>
              <p:cNvSpPr/>
              <p:nvPr/>
            </p:nvSpPr>
            <p:spPr>
              <a:xfrm>
                <a:off x="8635481" y="2561273"/>
                <a:ext cx="2471315" cy="2181366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Практическая значимость: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переход от реактивного решения проблемы к проактивному мониторингу состояния персонала</a:t>
                </a:r>
                <a:endParaRPr lang="ru-RU" sz="2000" i="0" kern="12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</p:grp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C9C9B27-F4B1-D53F-E312-F80AFA1B2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3982" y="2825519"/>
              <a:ext cx="728500" cy="1130986"/>
            </a:xfrm>
            <a:prstGeom prst="rect">
              <a:avLst/>
            </a:prstGeom>
          </p:spPr>
        </p:pic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4B1A5E7-B8C0-38C8-03E0-380D6EB33D44}"/>
                </a:ext>
              </a:extLst>
            </p:cNvPr>
            <p:cNvGrpSpPr/>
            <p:nvPr/>
          </p:nvGrpSpPr>
          <p:grpSpPr>
            <a:xfrm>
              <a:off x="3933265" y="2118983"/>
              <a:ext cx="709715" cy="1186667"/>
              <a:chOff x="3739751" y="1757105"/>
              <a:chExt cx="1125925" cy="1882541"/>
            </a:xfrm>
          </p:grpSpPr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9933FCCF-BF2F-9133-7667-81AFF43D4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9751" y="3095283"/>
                <a:ext cx="1105231" cy="544363"/>
              </a:xfrm>
              <a:prstGeom prst="rect">
                <a:avLst/>
              </a:prstGeom>
            </p:spPr>
          </p:pic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A8A3BF7F-2D07-B7DA-F030-439C5F9759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9828" y="2442689"/>
                <a:ext cx="1125848" cy="507247"/>
              </a:xfrm>
              <a:prstGeom prst="rect">
                <a:avLst/>
              </a:prstGeom>
            </p:spPr>
          </p:pic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94B679AD-E536-5800-9F48-2D562B534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9826" y="1757105"/>
                <a:ext cx="1092852" cy="540239"/>
              </a:xfrm>
              <a:prstGeom prst="rect">
                <a:avLst/>
              </a:prstGeom>
            </p:spPr>
          </p:pic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B554231-1DAA-4025-5B55-6C7A4AA604A1}"/>
                </a:ext>
              </a:extLst>
            </p:cNvPr>
            <p:cNvGrpSpPr/>
            <p:nvPr/>
          </p:nvGrpSpPr>
          <p:grpSpPr>
            <a:xfrm>
              <a:off x="6406472" y="1408886"/>
              <a:ext cx="719690" cy="1188708"/>
              <a:chOff x="5984612" y="1033152"/>
              <a:chExt cx="1141737" cy="1885778"/>
            </a:xfrm>
          </p:grpSpPr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3A9B363C-0B78-B8D6-E2EB-577910D4E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84612" y="2364411"/>
                <a:ext cx="1125849" cy="554519"/>
              </a:xfrm>
              <a:prstGeom prst="rect">
                <a:avLst/>
              </a:prstGeom>
            </p:spPr>
          </p:pic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9F52E7F1-1E92-8CD7-FC26-E3EF2814867C}"/>
                  </a:ext>
                </a:extLst>
              </p:cNvPr>
              <p:cNvGrpSpPr/>
              <p:nvPr/>
            </p:nvGrpSpPr>
            <p:grpSpPr>
              <a:xfrm>
                <a:off x="6000503" y="1033152"/>
                <a:ext cx="1125846" cy="1192833"/>
                <a:chOff x="3122100" y="1722860"/>
                <a:chExt cx="1125846" cy="1192833"/>
              </a:xfrm>
            </p:grpSpPr>
            <p:pic>
              <p:nvPicPr>
                <p:cNvPr id="14" name="Рисунок 13">
                  <a:extLst>
                    <a:ext uri="{FF2B5EF4-FFF2-40B4-BE49-F238E27FC236}">
                      <a16:creationId xmlns:a16="http://schemas.microsoft.com/office/drawing/2014/main" id="{8BE0B294-0531-B15C-9D1F-797F2220FE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2103" y="2408446"/>
                  <a:ext cx="1125843" cy="507247"/>
                </a:xfrm>
                <a:prstGeom prst="rect">
                  <a:avLst/>
                </a:prstGeom>
              </p:spPr>
            </p:pic>
            <p:pic>
              <p:nvPicPr>
                <p:cNvPr id="15" name="Рисунок 14">
                  <a:extLst>
                    <a:ext uri="{FF2B5EF4-FFF2-40B4-BE49-F238E27FC236}">
                      <a16:creationId xmlns:a16="http://schemas.microsoft.com/office/drawing/2014/main" id="{7A382997-EEAA-7570-024F-A1689287CF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2100" y="1722860"/>
                  <a:ext cx="1092851" cy="540239"/>
                </a:xfrm>
                <a:prstGeom prst="rect">
                  <a:avLst/>
                </a:prstGeom>
              </p:spPr>
            </p:pic>
          </p:grpSp>
        </p:grpSp>
        <p:sp>
          <p:nvSpPr>
            <p:cNvPr id="10" name="Полилиния 10">
              <a:extLst>
                <a:ext uri="{FF2B5EF4-FFF2-40B4-BE49-F238E27FC236}">
                  <a16:creationId xmlns:a16="http://schemas.microsoft.com/office/drawing/2014/main" id="{DC676B8D-D31B-C44D-E098-28B7DFCC1ED7}"/>
                </a:ext>
              </a:extLst>
            </p:cNvPr>
            <p:cNvSpPr/>
            <p:nvPr/>
          </p:nvSpPr>
          <p:spPr>
            <a:xfrm>
              <a:off x="9430060" y="2846288"/>
              <a:ext cx="2400311" cy="74308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b" anchorCtr="0">
              <a:noAutofit/>
            </a:bodyPr>
            <a:lstStyle/>
            <a:p>
              <a:pPr marL="0" lvl="1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ru-RU" sz="1600" b="0" i="0" kern="12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4C71AA96-484D-5196-0647-DAE241F86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8182" y="752694"/>
              <a:ext cx="1121821" cy="1011756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CF78C864-B779-FBF1-CDA0-3D8B7033361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34453806-0341-C208-45DA-F12084CB2987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046D73-9EBC-F981-144F-CEF31D7F5E6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Фигура, имеющая форму буквы L 6">
            <a:extLst>
              <a:ext uri="{FF2B5EF4-FFF2-40B4-BE49-F238E27FC236}">
                <a16:creationId xmlns:a16="http://schemas.microsoft.com/office/drawing/2014/main" id="{E96B5986-AC91-7FC1-E11E-BB03DD89ABF7}"/>
              </a:ext>
            </a:extLst>
          </p:cNvPr>
          <p:cNvSpPr/>
          <p:nvPr/>
        </p:nvSpPr>
        <p:spPr>
          <a:xfrm rot="5400000">
            <a:off x="10162190" y="1587133"/>
            <a:ext cx="1490736" cy="1975619"/>
          </a:xfrm>
          <a:prstGeom prst="corner">
            <a:avLst>
              <a:gd name="adj1" fmla="val 16120"/>
              <a:gd name="adj2" fmla="val 16110"/>
            </a:avLst>
          </a:prstGeom>
          <a:noFill/>
          <a:ln>
            <a:solidFill>
              <a:srgbClr val="1A3773"/>
            </a:solidFill>
            <a:prstDash val="dash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3" name="Полилиния 30">
            <a:extLst>
              <a:ext uri="{FF2B5EF4-FFF2-40B4-BE49-F238E27FC236}">
                <a16:creationId xmlns:a16="http://schemas.microsoft.com/office/drawing/2014/main" id="{879CA05A-E7C4-1AC4-9FAC-E33836A545B0}"/>
              </a:ext>
            </a:extLst>
          </p:cNvPr>
          <p:cNvSpPr/>
          <p:nvPr/>
        </p:nvSpPr>
        <p:spPr>
          <a:xfrm>
            <a:off x="10165815" y="2075817"/>
            <a:ext cx="1901013" cy="2035184"/>
          </a:xfrm>
          <a:custGeom>
            <a:avLst/>
            <a:gdLst>
              <a:gd name="connsiteX0" fmla="*/ 0 w 2400310"/>
              <a:gd name="connsiteY0" fmla="*/ 0 h 2104012"/>
              <a:gd name="connsiteX1" fmla="*/ 2400310 w 2400310"/>
              <a:gd name="connsiteY1" fmla="*/ 0 h 2104012"/>
              <a:gd name="connsiteX2" fmla="*/ 2400310 w 2400310"/>
              <a:gd name="connsiteY2" fmla="*/ 2104012 h 2104012"/>
              <a:gd name="connsiteX3" fmla="*/ 0 w 2400310"/>
              <a:gd name="connsiteY3" fmla="*/ 2104012 h 2104012"/>
              <a:gd name="connsiteX4" fmla="*/ 0 w 2400310"/>
              <a:gd name="connsiteY4" fmla="*/ 0 h 210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0310" h="2104012">
                <a:moveTo>
                  <a:pt x="0" y="0"/>
                </a:moveTo>
                <a:lnTo>
                  <a:pt x="2400310" y="0"/>
                </a:lnTo>
                <a:lnTo>
                  <a:pt x="2400310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350" tIns="133350" rIns="133350" bIns="133350" numCol="1" spcCol="1270" anchor="t" anchorCtr="0">
            <a:noAutofit/>
          </a:bodyPr>
          <a:lstStyle/>
          <a:p>
            <a:pPr lvl="0" algn="l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b="1" i="0" kern="1200" dirty="0"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Научная новизна:</a:t>
            </a:r>
          </a:p>
          <a:p>
            <a:pPr lvl="0" algn="l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оригинальная концепция мониторинга выгорания, основанная на анализе естественного языка </a:t>
            </a:r>
            <a:endParaRPr lang="ru-RU" sz="2000" i="0" kern="1200" dirty="0"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71EE71B-FD24-348B-56B5-F383B1CACAA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455" y="766519"/>
            <a:ext cx="1046643" cy="943954"/>
          </a:xfrm>
          <a:prstGeom prst="rect">
            <a:avLst/>
          </a:prstGeom>
        </p:spPr>
      </p:pic>
      <p:sp>
        <p:nvSpPr>
          <p:cNvPr id="35" name="Треугольник 22">
            <a:extLst>
              <a:ext uri="{FF2B5EF4-FFF2-40B4-BE49-F238E27FC236}">
                <a16:creationId xmlns:a16="http://schemas.microsoft.com/office/drawing/2014/main" id="{6F668FEF-5DEE-08E0-CEFE-247782727527}"/>
              </a:ext>
            </a:extLst>
          </p:cNvPr>
          <p:cNvSpPr/>
          <p:nvPr/>
        </p:nvSpPr>
        <p:spPr>
          <a:xfrm>
            <a:off x="11477174" y="1346850"/>
            <a:ext cx="422538" cy="422538"/>
          </a:xfrm>
          <a:prstGeom prst="triangle">
            <a:avLst>
              <a:gd name="adj" fmla="val 100000"/>
            </a:avLst>
          </a:prstGeom>
          <a:solidFill>
            <a:srgbClr val="274E9C"/>
          </a:solidFill>
          <a:ln>
            <a:solidFill>
              <a:srgbClr val="274E9C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661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3467100" y="225425"/>
            <a:ext cx="2568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 компании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830928" y="1578165"/>
            <a:ext cx="11361072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>
              <a:lnSpc>
                <a:spcPct val="110000"/>
              </a:lnSpc>
            </a:pP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ПАО СК «Росгосстрах» является системообразующей страховой компанией Российской Федерации, обладающей титулом одного из крупнейших страховщиков страны. </a:t>
            </a:r>
          </a:p>
          <a:p>
            <a:pPr indent="447675">
              <a:lnSpc>
                <a:spcPct val="110000"/>
              </a:lnSpc>
            </a:pPr>
            <a:endParaRPr lang="ru-RU" sz="2800" dirty="0">
              <a:solidFill>
                <a:schemeClr val="tx1">
                  <a:lumMod val="85000"/>
                  <a:lumOff val="1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8" name="Picture 2" descr="https://a.d-cd.net/4e7952es-19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" t="-205" r="-334" b="1"/>
          <a:stretch/>
        </p:blipFill>
        <p:spPr bwMode="auto">
          <a:xfrm>
            <a:off x="7086742" y="3732293"/>
            <a:ext cx="4984363" cy="220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hape 2617">
            <a:extLst>
              <a:ext uri="{FF2B5EF4-FFF2-40B4-BE49-F238E27FC236}">
                <a16:creationId xmlns:a16="http://schemas.microsoft.com/office/drawing/2014/main" id="{321EBBF0-1155-3245-9F27-E537209F5D0A}"/>
              </a:ext>
            </a:extLst>
          </p:cNvPr>
          <p:cNvSpPr/>
          <p:nvPr/>
        </p:nvSpPr>
        <p:spPr>
          <a:xfrm>
            <a:off x="540367" y="5075355"/>
            <a:ext cx="805991" cy="6594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64">
            <a:extLst>
              <a:ext uri="{FF2B5EF4-FFF2-40B4-BE49-F238E27FC236}">
                <a16:creationId xmlns:a16="http://schemas.microsoft.com/office/drawing/2014/main" id="{7EB884E8-FEBF-D646-8D65-B0B2FE26DE73}"/>
              </a:ext>
            </a:extLst>
          </p:cNvPr>
          <p:cNvSpPr/>
          <p:nvPr/>
        </p:nvSpPr>
        <p:spPr>
          <a:xfrm>
            <a:off x="525802" y="3905188"/>
            <a:ext cx="716252" cy="6785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1017834" y="3999000"/>
            <a:ext cx="7977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320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1,5 тыс. офисов по всей стране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1017834" y="5197170"/>
            <a:ext cx="7977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320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Более 40 тыс. специалистов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1A9A6-80D7-FB7E-3E39-573C25322701}"/>
              </a:ext>
            </a:extLst>
          </p:cNvPr>
          <p:cNvSpPr txBox="1"/>
          <p:nvPr/>
        </p:nvSpPr>
        <p:spPr>
          <a:xfrm>
            <a:off x="8569416" y="3350685"/>
            <a:ext cx="20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Логотип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424005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3467100" y="225425"/>
            <a:ext cx="7431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Текущие решения в компании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</a:p>
          </p:txBody>
        </p:sp>
      </p:grpSp>
      <p:sp>
        <p:nvSpPr>
          <p:cNvPr id="14" name="Shape 2539">
            <a:extLst>
              <a:ext uri="{FF2B5EF4-FFF2-40B4-BE49-F238E27FC236}">
                <a16:creationId xmlns:a16="http://schemas.microsoft.com/office/drawing/2014/main" id="{387D2D9B-9D8F-624D-98EB-19997A8C7FEC}"/>
              </a:ext>
            </a:extLst>
          </p:cNvPr>
          <p:cNvSpPr/>
          <p:nvPr/>
        </p:nvSpPr>
        <p:spPr>
          <a:xfrm>
            <a:off x="2342711" y="1191452"/>
            <a:ext cx="948187" cy="646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92D050"/>
          </a:solidFill>
          <a:ln w="57150">
            <a:solidFill>
              <a:srgbClr val="92D050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b="1" dirty="0">
              <a:solidFill>
                <a:srgbClr val="92D05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41">
            <a:extLst>
              <a:ext uri="{FF2B5EF4-FFF2-40B4-BE49-F238E27FC236}">
                <a16:creationId xmlns:a16="http://schemas.microsoft.com/office/drawing/2014/main" id="{CDEE6DB3-63ED-164B-9A02-F2AB66F0C5E8}"/>
              </a:ext>
            </a:extLst>
          </p:cNvPr>
          <p:cNvSpPr/>
          <p:nvPr/>
        </p:nvSpPr>
        <p:spPr>
          <a:xfrm>
            <a:off x="8676996" y="1171981"/>
            <a:ext cx="648853" cy="64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C00000"/>
          </a:solidFill>
          <a:ln w="57150">
            <a:solidFill>
              <a:srgbClr val="C00000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432337" y="2507422"/>
            <a:ext cx="4768929" cy="919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Ежегодный опрос удовлетворенности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432337" y="3890665"/>
            <a:ext cx="4768929" cy="173664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Поддерживающие мероприятия:</a:t>
            </a:r>
          </a:p>
          <a:p>
            <a:pPr marL="342900" indent="-342900" algn="ctr">
              <a:buFontTx/>
              <a:buChar char="-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спортивные секции</a:t>
            </a:r>
          </a:p>
          <a:p>
            <a:pPr marL="342900" indent="-342900" algn="ctr">
              <a:buFontTx/>
              <a:buChar char="-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кружки по интересам</a:t>
            </a:r>
          </a:p>
          <a:p>
            <a:pPr marL="342900" indent="-342900" algn="ctr">
              <a:buFontTx/>
              <a:buChar char="-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обучения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6116339" y="2209418"/>
            <a:ext cx="5770169" cy="919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dirty="0"/>
              <a:t>Отсутствие специализированного инструмента диагностики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6745067" y="3811266"/>
            <a:ext cx="4768929" cy="5107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Низкая частота измерений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6250546" y="5004492"/>
            <a:ext cx="5593726" cy="919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Отсутствие анализа косвенных индикаторов выгорания</a:t>
            </a:r>
          </a:p>
        </p:txBody>
      </p:sp>
    </p:spTree>
    <p:extLst>
      <p:ext uri="{BB962C8B-B14F-4D97-AF65-F5344CB8AC3E}">
        <p14:creationId xmlns:p14="http://schemas.microsoft.com/office/powerpoint/2010/main" val="413872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3467100" y="225425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4511032" y="1613118"/>
            <a:ext cx="7771413" cy="181588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indent="447675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Python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высокоуровневый язык программирования общего назначения с динамической строгой типизацией и автоматическим управлением памятью.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705" y="1537278"/>
            <a:ext cx="2098935" cy="209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04A792-A2AF-E0CD-8B3F-117ECD3E1F31}"/>
              </a:ext>
            </a:extLst>
          </p:cNvPr>
          <p:cNvSpPr txBox="1"/>
          <p:nvPr/>
        </p:nvSpPr>
        <p:spPr>
          <a:xfrm>
            <a:off x="1622948" y="1352612"/>
            <a:ext cx="160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Логотип языка</a:t>
            </a:r>
          </a:p>
        </p:txBody>
      </p:sp>
      <p:sp>
        <p:nvSpPr>
          <p:cNvPr id="8" name="Shape 2554">
            <a:extLst>
              <a:ext uri="{FF2B5EF4-FFF2-40B4-BE49-F238E27FC236}">
                <a16:creationId xmlns:a16="http://schemas.microsoft.com/office/drawing/2014/main" id="{9D5A1370-D948-FCFA-CB5C-90CC616B8C33}"/>
              </a:ext>
            </a:extLst>
          </p:cNvPr>
          <p:cNvSpPr/>
          <p:nvPr/>
        </p:nvSpPr>
        <p:spPr>
          <a:xfrm>
            <a:off x="9901104" y="4116975"/>
            <a:ext cx="1418234" cy="1289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5F4007-9E70-E4A4-9114-8DC0BBAEF1E5}"/>
              </a:ext>
            </a:extLst>
          </p:cNvPr>
          <p:cNvSpPr/>
          <p:nvPr/>
        </p:nvSpPr>
        <p:spPr>
          <a:xfrm>
            <a:off x="468197" y="3820879"/>
            <a:ext cx="8970264" cy="224676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indent="447675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Для задачи анализа корпоративных коммуникаций используется </a:t>
            </a:r>
            <a:r>
              <a:rPr lang="ru-RU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Conversational</a:t>
            </a:r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RuBERT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. Эта модель специально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предобучена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на диалогах и неформальных текстах, что соответствует специфике сообщений в корпоративных чатах.</a:t>
            </a:r>
          </a:p>
        </p:txBody>
      </p:sp>
    </p:spTree>
    <p:extLst>
      <p:ext uri="{BB962C8B-B14F-4D97-AF65-F5344CB8AC3E}">
        <p14:creationId xmlns:p14="http://schemas.microsoft.com/office/powerpoint/2010/main" val="199166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29" y="4723426"/>
            <a:ext cx="2852873" cy="64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312137" y="4239144"/>
            <a:ext cx="7771413" cy="181588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indent="447675"/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Для обеспечения изолированного развертывания компонентов системы внутри корпоративного контура используется контейнеризация с помощью</a:t>
            </a:r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Docker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FD851-2D10-B558-8952-5FE8A56782A5}"/>
              </a:ext>
            </a:extLst>
          </p:cNvPr>
          <p:cNvSpPr txBox="1"/>
          <p:nvPr/>
        </p:nvSpPr>
        <p:spPr>
          <a:xfrm>
            <a:off x="1452565" y="4239144"/>
            <a:ext cx="2165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Логотип платформы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C0C3F6-8F38-D7AD-85C7-05E998A2AB89}"/>
              </a:ext>
            </a:extLst>
          </p:cNvPr>
          <p:cNvSpPr/>
          <p:nvPr/>
        </p:nvSpPr>
        <p:spPr>
          <a:xfrm>
            <a:off x="399414" y="1485447"/>
            <a:ext cx="8970264" cy="181588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indent="447675"/>
            <a:r>
              <a:rPr lang="ru-RU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PostgreSQL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оптимально сочетает в себе надежность, производительность, поддержку сложных запросов.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PostgreSQL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хорошо подходит для развертывания в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Docker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и широко используется в корпоративной среде.</a:t>
            </a:r>
          </a:p>
        </p:txBody>
      </p:sp>
      <p:pic>
        <p:nvPicPr>
          <p:cNvPr id="8" name="Picture 4" descr="Picture background">
            <a:extLst>
              <a:ext uri="{FF2B5EF4-FFF2-40B4-BE49-F238E27FC236}">
                <a16:creationId xmlns:a16="http://schemas.microsoft.com/office/drawing/2014/main" id="{00C00D00-1852-CB73-F040-009909F01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166" y="1750693"/>
            <a:ext cx="1768252" cy="182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AB77C4-CE57-3948-27E3-487D22892084}"/>
              </a:ext>
            </a:extLst>
          </p:cNvPr>
          <p:cNvSpPr txBox="1"/>
          <p:nvPr/>
        </p:nvSpPr>
        <p:spPr>
          <a:xfrm>
            <a:off x="9930282" y="1253666"/>
            <a:ext cx="155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Логотип СУБД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513C7-AF51-73FE-EDF6-356408FABE72}"/>
              </a:ext>
            </a:extLst>
          </p:cNvPr>
          <p:cNvSpPr txBox="1"/>
          <p:nvPr/>
        </p:nvSpPr>
        <p:spPr>
          <a:xfrm>
            <a:off x="3467100" y="225425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</p:spTree>
    <p:extLst>
      <p:ext uri="{BB962C8B-B14F-4D97-AF65-F5344CB8AC3E}">
        <p14:creationId xmlns:p14="http://schemas.microsoft.com/office/powerpoint/2010/main" val="36225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C179-76DA-B83C-0A7B-A4398096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EEE28F-DABF-5999-EB7A-C718999705A4}"/>
              </a:ext>
            </a:extLst>
          </p:cNvPr>
          <p:cNvSpPr txBox="1"/>
          <p:nvPr/>
        </p:nvSpPr>
        <p:spPr>
          <a:xfrm>
            <a:off x="3467100" y="229327"/>
            <a:ext cx="5042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Принцип работы модуля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21B371-7130-8F13-5ECA-7F5128D1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8" name="Shape 2617">
            <a:extLst>
              <a:ext uri="{FF2B5EF4-FFF2-40B4-BE49-F238E27FC236}">
                <a16:creationId xmlns:a16="http://schemas.microsoft.com/office/drawing/2014/main" id="{B0A96011-53A0-AA33-F47B-76254F150D89}"/>
              </a:ext>
            </a:extLst>
          </p:cNvPr>
          <p:cNvSpPr/>
          <p:nvPr/>
        </p:nvSpPr>
        <p:spPr>
          <a:xfrm>
            <a:off x="1508807" y="3305896"/>
            <a:ext cx="684000" cy="61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DF47A-750A-B735-EA70-D93BF533B807}"/>
              </a:ext>
            </a:extLst>
          </p:cNvPr>
          <p:cNvSpPr txBox="1"/>
          <p:nvPr/>
        </p:nvSpPr>
        <p:spPr>
          <a:xfrm>
            <a:off x="1224021" y="2644663"/>
            <a:ext cx="1270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Сотрудник </a:t>
            </a:r>
          </a:p>
          <a:p>
            <a:pPr algn="ctr"/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отдела</a:t>
            </a:r>
          </a:p>
        </p:txBody>
      </p:sp>
      <p:sp>
        <p:nvSpPr>
          <p:cNvPr id="11" name="Shape 2706">
            <a:extLst>
              <a:ext uri="{FF2B5EF4-FFF2-40B4-BE49-F238E27FC236}">
                <a16:creationId xmlns:a16="http://schemas.microsoft.com/office/drawing/2014/main" id="{9C092C35-167B-0469-9A4D-5BFBB7A0CDCE}"/>
              </a:ext>
            </a:extLst>
          </p:cNvPr>
          <p:cNvSpPr/>
          <p:nvPr/>
        </p:nvSpPr>
        <p:spPr>
          <a:xfrm>
            <a:off x="5847819" y="1897904"/>
            <a:ext cx="496361" cy="607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274E9C"/>
          </a:solidFill>
          <a:ln w="12700">
            <a:noFill/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BEE0F-6A88-F32A-3429-1B2C47FF1997}"/>
              </a:ext>
            </a:extLst>
          </p:cNvPr>
          <p:cNvSpPr txBox="1"/>
          <p:nvPr/>
        </p:nvSpPr>
        <p:spPr>
          <a:xfrm>
            <a:off x="5826153" y="1504404"/>
            <a:ext cx="51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Бот</a:t>
            </a:r>
          </a:p>
        </p:txBody>
      </p:sp>
      <p:sp>
        <p:nvSpPr>
          <p:cNvPr id="13" name="Shape 2554">
            <a:extLst>
              <a:ext uri="{FF2B5EF4-FFF2-40B4-BE49-F238E27FC236}">
                <a16:creationId xmlns:a16="http://schemas.microsoft.com/office/drawing/2014/main" id="{8060BF4E-A541-16BA-7734-3F8258C3CE43}"/>
              </a:ext>
            </a:extLst>
          </p:cNvPr>
          <p:cNvSpPr/>
          <p:nvPr/>
        </p:nvSpPr>
        <p:spPr>
          <a:xfrm>
            <a:off x="3166029" y="1897904"/>
            <a:ext cx="682833" cy="50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9B326-E6E9-3144-4B75-B3A02A9BFFB0}"/>
              </a:ext>
            </a:extLst>
          </p:cNvPr>
          <p:cNvSpPr txBox="1"/>
          <p:nvPr/>
        </p:nvSpPr>
        <p:spPr>
          <a:xfrm>
            <a:off x="2892566" y="1504404"/>
            <a:ext cx="122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Чат отдела</a:t>
            </a:r>
          </a:p>
        </p:txBody>
      </p:sp>
      <p:sp>
        <p:nvSpPr>
          <p:cNvPr id="15" name="Shape 2858">
            <a:extLst>
              <a:ext uri="{FF2B5EF4-FFF2-40B4-BE49-F238E27FC236}">
                <a16:creationId xmlns:a16="http://schemas.microsoft.com/office/drawing/2014/main" id="{0E04E812-EAB8-C6FC-D002-3776B14EEEBC}"/>
              </a:ext>
            </a:extLst>
          </p:cNvPr>
          <p:cNvSpPr/>
          <p:nvPr/>
        </p:nvSpPr>
        <p:spPr>
          <a:xfrm>
            <a:off x="5826153" y="5411270"/>
            <a:ext cx="555683" cy="687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274E9C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6" name="Рисунок 15" descr="Мозг – Бесплатные иконки:">
            <a:extLst>
              <a:ext uri="{FF2B5EF4-FFF2-40B4-BE49-F238E27FC236}">
                <a16:creationId xmlns:a16="http://schemas.microsoft.com/office/drawing/2014/main" id="{ED726AE6-5420-3FD1-B821-48A89603D5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76800" y="3698418"/>
            <a:ext cx="646331" cy="6463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EF6C9C-4551-9896-FAD1-3A80F079797E}"/>
              </a:ext>
            </a:extLst>
          </p:cNvPr>
          <p:cNvSpPr txBox="1"/>
          <p:nvPr/>
        </p:nvSpPr>
        <p:spPr>
          <a:xfrm>
            <a:off x="5626790" y="3316913"/>
            <a:ext cx="94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Модуль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F18AB-A72A-0E4A-AD4B-D09E32567F3A}"/>
              </a:ext>
            </a:extLst>
          </p:cNvPr>
          <p:cNvSpPr txBox="1"/>
          <p:nvPr/>
        </p:nvSpPr>
        <p:spPr>
          <a:xfrm>
            <a:off x="5752774" y="5041938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СУБД</a:t>
            </a:r>
          </a:p>
        </p:txBody>
      </p:sp>
      <p:sp>
        <p:nvSpPr>
          <p:cNvPr id="19" name="Shape 2615">
            <a:extLst>
              <a:ext uri="{FF2B5EF4-FFF2-40B4-BE49-F238E27FC236}">
                <a16:creationId xmlns:a16="http://schemas.microsoft.com/office/drawing/2014/main" id="{324AE180-77C4-EC31-FB94-DF5FEA90DA5E}"/>
              </a:ext>
            </a:extLst>
          </p:cNvPr>
          <p:cNvSpPr/>
          <p:nvPr/>
        </p:nvSpPr>
        <p:spPr>
          <a:xfrm>
            <a:off x="9944949" y="3305896"/>
            <a:ext cx="612000" cy="61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9BC19-3F3E-1C4F-BC73-8879B976760B}"/>
              </a:ext>
            </a:extLst>
          </p:cNvPr>
          <p:cNvSpPr txBox="1"/>
          <p:nvPr/>
        </p:nvSpPr>
        <p:spPr>
          <a:xfrm>
            <a:off x="10023964" y="293656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HR</a:t>
            </a:r>
            <a:endParaRPr lang="ru-RU" dirty="0">
              <a:solidFill>
                <a:srgbClr val="1A3773"/>
              </a:solidFill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endParaRPr>
          </a:p>
        </p:txBody>
      </p:sp>
      <p:sp>
        <p:nvSpPr>
          <p:cNvPr id="21" name="Shape 2553">
            <a:extLst>
              <a:ext uri="{FF2B5EF4-FFF2-40B4-BE49-F238E27FC236}">
                <a16:creationId xmlns:a16="http://schemas.microsoft.com/office/drawing/2014/main" id="{BF32C322-16EC-987E-8B94-0F803F6EFEE3}"/>
              </a:ext>
            </a:extLst>
          </p:cNvPr>
          <p:cNvSpPr/>
          <p:nvPr/>
        </p:nvSpPr>
        <p:spPr>
          <a:xfrm>
            <a:off x="8266359" y="1897904"/>
            <a:ext cx="612000" cy="4827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E659F3-25C7-A003-3736-86B73F44490E}"/>
              </a:ext>
            </a:extLst>
          </p:cNvPr>
          <p:cNvSpPr txBox="1"/>
          <p:nvPr/>
        </p:nvSpPr>
        <p:spPr>
          <a:xfrm>
            <a:off x="7870742" y="1504404"/>
            <a:ext cx="1377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Чат</a:t>
            </a:r>
            <a:r>
              <a:rPr lang="en-US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 </a:t>
            </a:r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 ботом 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D9CB9EB0-2151-8DFC-61CA-40ED6BA69BE9}"/>
              </a:ext>
            </a:extLst>
          </p:cNvPr>
          <p:cNvCxnSpPr>
            <a:cxnSpLocks/>
          </p:cNvCxnSpPr>
          <p:nvPr/>
        </p:nvCxnSpPr>
        <p:spPr>
          <a:xfrm rot="16200000">
            <a:off x="2417964" y="2651824"/>
            <a:ext cx="936000" cy="75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D5A14734-FD89-4519-2F55-19C1C1FD1497}"/>
              </a:ext>
            </a:extLst>
          </p:cNvPr>
          <p:cNvCxnSpPr>
            <a:cxnSpLocks/>
          </p:cNvCxnSpPr>
          <p:nvPr/>
        </p:nvCxnSpPr>
        <p:spPr>
          <a:xfrm>
            <a:off x="4241017" y="2185751"/>
            <a:ext cx="12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28628376-C3ED-122C-5521-673E3CB92443}"/>
              </a:ext>
            </a:extLst>
          </p:cNvPr>
          <p:cNvCxnSpPr>
            <a:cxnSpLocks/>
          </p:cNvCxnSpPr>
          <p:nvPr/>
        </p:nvCxnSpPr>
        <p:spPr>
          <a:xfrm flipH="1">
            <a:off x="6645177" y="2185751"/>
            <a:ext cx="12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Дуга 40">
            <a:extLst>
              <a:ext uri="{FF2B5EF4-FFF2-40B4-BE49-F238E27FC236}">
                <a16:creationId xmlns:a16="http://schemas.microsoft.com/office/drawing/2014/main" id="{77ED8B4C-D57A-3B06-6553-39C49B7C9A20}"/>
              </a:ext>
            </a:extLst>
          </p:cNvPr>
          <p:cNvSpPr/>
          <p:nvPr/>
        </p:nvSpPr>
        <p:spPr>
          <a:xfrm rot="13828578">
            <a:off x="4743623" y="2242024"/>
            <a:ext cx="4532294" cy="39475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Равнобедренный треугольник 41">
            <a:extLst>
              <a:ext uri="{FF2B5EF4-FFF2-40B4-BE49-F238E27FC236}">
                <a16:creationId xmlns:a16="http://schemas.microsoft.com/office/drawing/2014/main" id="{F57E133B-403F-5977-44F5-697082B1B5F8}"/>
              </a:ext>
            </a:extLst>
          </p:cNvPr>
          <p:cNvSpPr/>
          <p:nvPr/>
        </p:nvSpPr>
        <p:spPr>
          <a:xfrm rot="7991119">
            <a:off x="5472488" y="5442590"/>
            <a:ext cx="85704" cy="9835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Дуга 42">
            <a:extLst>
              <a:ext uri="{FF2B5EF4-FFF2-40B4-BE49-F238E27FC236}">
                <a16:creationId xmlns:a16="http://schemas.microsoft.com/office/drawing/2014/main" id="{26072FD8-4F9A-854C-4EEE-A7BDEDFA98E7}"/>
              </a:ext>
            </a:extLst>
          </p:cNvPr>
          <p:cNvSpPr/>
          <p:nvPr/>
        </p:nvSpPr>
        <p:spPr>
          <a:xfrm rot="7771422" flipH="1">
            <a:off x="2916082" y="2242024"/>
            <a:ext cx="4532294" cy="39475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Равнобедренный треугольник 43">
            <a:extLst>
              <a:ext uri="{FF2B5EF4-FFF2-40B4-BE49-F238E27FC236}">
                <a16:creationId xmlns:a16="http://schemas.microsoft.com/office/drawing/2014/main" id="{E8476761-D302-6455-D7BE-65FA72D48E32}"/>
              </a:ext>
            </a:extLst>
          </p:cNvPr>
          <p:cNvSpPr/>
          <p:nvPr/>
        </p:nvSpPr>
        <p:spPr>
          <a:xfrm rot="13608881" flipH="1">
            <a:off x="6626124" y="5467616"/>
            <a:ext cx="85704" cy="9835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2E1805BF-081C-F4E5-35CD-46934E85304E}"/>
              </a:ext>
            </a:extLst>
          </p:cNvPr>
          <p:cNvCxnSpPr>
            <a:cxnSpLocks/>
          </p:cNvCxnSpPr>
          <p:nvPr/>
        </p:nvCxnSpPr>
        <p:spPr>
          <a:xfrm>
            <a:off x="5900188" y="2679224"/>
            <a:ext cx="0" cy="61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27715BD-1804-9B44-344D-645BBBC66ABD}"/>
              </a:ext>
            </a:extLst>
          </p:cNvPr>
          <p:cNvCxnSpPr>
            <a:cxnSpLocks/>
          </p:cNvCxnSpPr>
          <p:nvPr/>
        </p:nvCxnSpPr>
        <p:spPr>
          <a:xfrm>
            <a:off x="6237882" y="2679224"/>
            <a:ext cx="0" cy="61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574056C4-1D18-05F3-B70A-0925FCDEC31D}"/>
              </a:ext>
            </a:extLst>
          </p:cNvPr>
          <p:cNvCxnSpPr>
            <a:cxnSpLocks/>
          </p:cNvCxnSpPr>
          <p:nvPr/>
        </p:nvCxnSpPr>
        <p:spPr>
          <a:xfrm flipV="1">
            <a:off x="6344629" y="2679224"/>
            <a:ext cx="0" cy="61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7476065-D60F-E4BC-40E0-63D46450D23A}"/>
              </a:ext>
            </a:extLst>
          </p:cNvPr>
          <p:cNvCxnSpPr>
            <a:cxnSpLocks/>
          </p:cNvCxnSpPr>
          <p:nvPr/>
        </p:nvCxnSpPr>
        <p:spPr>
          <a:xfrm>
            <a:off x="5878257" y="4429182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81A87971-ADF1-5BC6-E434-B463E83DDD3E}"/>
              </a:ext>
            </a:extLst>
          </p:cNvPr>
          <p:cNvCxnSpPr>
            <a:cxnSpLocks/>
          </p:cNvCxnSpPr>
          <p:nvPr/>
        </p:nvCxnSpPr>
        <p:spPr>
          <a:xfrm>
            <a:off x="6215951" y="4429182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0DB628C5-9268-B07B-33B4-9E0D3EA44A3B}"/>
              </a:ext>
            </a:extLst>
          </p:cNvPr>
          <p:cNvCxnSpPr>
            <a:cxnSpLocks/>
          </p:cNvCxnSpPr>
          <p:nvPr/>
        </p:nvCxnSpPr>
        <p:spPr>
          <a:xfrm flipV="1">
            <a:off x="6322698" y="4429182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EA5143E1-64E4-8F78-8284-6AD0CB7C3B75}"/>
              </a:ext>
            </a:extLst>
          </p:cNvPr>
          <p:cNvGrpSpPr/>
          <p:nvPr/>
        </p:nvGrpSpPr>
        <p:grpSpPr>
          <a:xfrm>
            <a:off x="5170687" y="1949635"/>
            <a:ext cx="3947513" cy="4532294"/>
            <a:chOff x="5170687" y="2412874"/>
            <a:chExt cx="3947513" cy="4532294"/>
          </a:xfrm>
        </p:grpSpPr>
        <p:sp>
          <p:nvSpPr>
            <p:cNvPr id="53" name="Дуга 52">
              <a:extLst>
                <a:ext uri="{FF2B5EF4-FFF2-40B4-BE49-F238E27FC236}">
                  <a16:creationId xmlns:a16="http://schemas.microsoft.com/office/drawing/2014/main" id="{A342E010-DBAF-0068-D50D-E8AC671EC94C}"/>
                </a:ext>
              </a:extLst>
            </p:cNvPr>
            <p:cNvSpPr/>
            <p:nvPr/>
          </p:nvSpPr>
          <p:spPr>
            <a:xfrm rot="13828578">
              <a:off x="4878297" y="2705264"/>
              <a:ext cx="4532294" cy="394751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Равнобедренный треугольник 53">
              <a:extLst>
                <a:ext uri="{FF2B5EF4-FFF2-40B4-BE49-F238E27FC236}">
                  <a16:creationId xmlns:a16="http://schemas.microsoft.com/office/drawing/2014/main" id="{2AF50DBE-C2D3-5031-8A26-F2DC526F66F4}"/>
                </a:ext>
              </a:extLst>
            </p:cNvPr>
            <p:cNvSpPr/>
            <p:nvPr/>
          </p:nvSpPr>
          <p:spPr>
            <a:xfrm rot="13608881" flipV="1">
              <a:off x="5690240" y="2859437"/>
              <a:ext cx="85704" cy="9835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03B4DE85-A9EA-D307-0DC5-8BE7F39F06D5}"/>
              </a:ext>
            </a:extLst>
          </p:cNvPr>
          <p:cNvGrpSpPr/>
          <p:nvPr/>
        </p:nvGrpSpPr>
        <p:grpSpPr>
          <a:xfrm flipH="1">
            <a:off x="3078054" y="1961782"/>
            <a:ext cx="3947513" cy="4532294"/>
            <a:chOff x="5170687" y="2412874"/>
            <a:chExt cx="3947513" cy="4532294"/>
          </a:xfrm>
        </p:grpSpPr>
        <p:sp>
          <p:nvSpPr>
            <p:cNvPr id="57" name="Дуга 56">
              <a:extLst>
                <a:ext uri="{FF2B5EF4-FFF2-40B4-BE49-F238E27FC236}">
                  <a16:creationId xmlns:a16="http://schemas.microsoft.com/office/drawing/2014/main" id="{7B2CADF4-6EC4-004A-E67D-A6AB26236B14}"/>
                </a:ext>
              </a:extLst>
            </p:cNvPr>
            <p:cNvSpPr/>
            <p:nvPr/>
          </p:nvSpPr>
          <p:spPr>
            <a:xfrm rot="13828578">
              <a:off x="4878297" y="2705264"/>
              <a:ext cx="4532294" cy="394751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Равнобедренный треугольник 57">
              <a:extLst>
                <a:ext uri="{FF2B5EF4-FFF2-40B4-BE49-F238E27FC236}">
                  <a16:creationId xmlns:a16="http://schemas.microsoft.com/office/drawing/2014/main" id="{B6F303B6-7BDD-3ACD-D869-44C7331D4BC5}"/>
                </a:ext>
              </a:extLst>
            </p:cNvPr>
            <p:cNvSpPr/>
            <p:nvPr/>
          </p:nvSpPr>
          <p:spPr>
            <a:xfrm rot="13608881" flipV="1">
              <a:off x="5690240" y="2859437"/>
              <a:ext cx="85704" cy="9835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DF7A9518-E696-B9A7-C23A-C12790D4326E}"/>
              </a:ext>
            </a:extLst>
          </p:cNvPr>
          <p:cNvCxnSpPr>
            <a:cxnSpLocks/>
          </p:cNvCxnSpPr>
          <p:nvPr/>
        </p:nvCxnSpPr>
        <p:spPr>
          <a:xfrm>
            <a:off x="6645177" y="2309953"/>
            <a:ext cx="12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>
            <a:extLst>
              <a:ext uri="{FF2B5EF4-FFF2-40B4-BE49-F238E27FC236}">
                <a16:creationId xmlns:a16="http://schemas.microsoft.com/office/drawing/2014/main" id="{CCFE0711-DED5-1C90-ED78-7CC52B4724F6}"/>
              </a:ext>
            </a:extLst>
          </p:cNvPr>
          <p:cNvSpPr/>
          <p:nvPr/>
        </p:nvSpPr>
        <p:spPr>
          <a:xfrm>
            <a:off x="2603337" y="2831386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48" name="Овал 2047">
            <a:extLst>
              <a:ext uri="{FF2B5EF4-FFF2-40B4-BE49-F238E27FC236}">
                <a16:creationId xmlns:a16="http://schemas.microsoft.com/office/drawing/2014/main" id="{11027F21-6026-3F9B-2774-0B7FA3B717C4}"/>
              </a:ext>
            </a:extLst>
          </p:cNvPr>
          <p:cNvSpPr/>
          <p:nvPr/>
        </p:nvSpPr>
        <p:spPr>
          <a:xfrm>
            <a:off x="4775939" y="1970144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9" name="Овал 2048">
            <a:extLst>
              <a:ext uri="{FF2B5EF4-FFF2-40B4-BE49-F238E27FC236}">
                <a16:creationId xmlns:a16="http://schemas.microsoft.com/office/drawing/2014/main" id="{606026CF-FBD4-86A0-DAF6-AD72E505F47A}"/>
              </a:ext>
            </a:extLst>
          </p:cNvPr>
          <p:cNvSpPr/>
          <p:nvPr/>
        </p:nvSpPr>
        <p:spPr>
          <a:xfrm>
            <a:off x="4685166" y="4094087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51" name="Овал 2050">
            <a:extLst>
              <a:ext uri="{FF2B5EF4-FFF2-40B4-BE49-F238E27FC236}">
                <a16:creationId xmlns:a16="http://schemas.microsoft.com/office/drawing/2014/main" id="{3FC399BF-5AFB-0603-5CDD-C5B3B35DB686}"/>
              </a:ext>
            </a:extLst>
          </p:cNvPr>
          <p:cNvSpPr/>
          <p:nvPr/>
        </p:nvSpPr>
        <p:spPr>
          <a:xfrm>
            <a:off x="5082220" y="4094087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53" name="Овал 2052">
            <a:extLst>
              <a:ext uri="{FF2B5EF4-FFF2-40B4-BE49-F238E27FC236}">
                <a16:creationId xmlns:a16="http://schemas.microsoft.com/office/drawing/2014/main" id="{E73A4838-EE46-7899-FCEA-8AD412D50247}"/>
              </a:ext>
            </a:extLst>
          </p:cNvPr>
          <p:cNvSpPr/>
          <p:nvPr/>
        </p:nvSpPr>
        <p:spPr>
          <a:xfrm>
            <a:off x="5652644" y="2923003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54" name="Овал 2053">
            <a:extLst>
              <a:ext uri="{FF2B5EF4-FFF2-40B4-BE49-F238E27FC236}">
                <a16:creationId xmlns:a16="http://schemas.microsoft.com/office/drawing/2014/main" id="{A6DD38B7-CF9F-8FB8-84A1-5F60451129B1}"/>
              </a:ext>
            </a:extLst>
          </p:cNvPr>
          <p:cNvSpPr/>
          <p:nvPr/>
        </p:nvSpPr>
        <p:spPr>
          <a:xfrm>
            <a:off x="5665681" y="4621767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55" name="Овал 2054">
            <a:extLst>
              <a:ext uri="{FF2B5EF4-FFF2-40B4-BE49-F238E27FC236}">
                <a16:creationId xmlns:a16="http://schemas.microsoft.com/office/drawing/2014/main" id="{CB165278-254E-1CBA-6539-14AAEBCC1106}"/>
              </a:ext>
            </a:extLst>
          </p:cNvPr>
          <p:cNvSpPr/>
          <p:nvPr/>
        </p:nvSpPr>
        <p:spPr>
          <a:xfrm>
            <a:off x="9539978" y="2628758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56" name="Овал 2055">
            <a:extLst>
              <a:ext uri="{FF2B5EF4-FFF2-40B4-BE49-F238E27FC236}">
                <a16:creationId xmlns:a16="http://schemas.microsoft.com/office/drawing/2014/main" id="{9C81222D-9B19-0CA0-28DE-829FAB095EA4}"/>
              </a:ext>
            </a:extLst>
          </p:cNvPr>
          <p:cNvSpPr/>
          <p:nvPr/>
        </p:nvSpPr>
        <p:spPr>
          <a:xfrm>
            <a:off x="7113208" y="1980494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57" name="Овал 2056">
            <a:extLst>
              <a:ext uri="{FF2B5EF4-FFF2-40B4-BE49-F238E27FC236}">
                <a16:creationId xmlns:a16="http://schemas.microsoft.com/office/drawing/2014/main" id="{E0201A37-0408-B3EF-CE92-90B06451FC52}"/>
              </a:ext>
            </a:extLst>
          </p:cNvPr>
          <p:cNvSpPr/>
          <p:nvPr/>
        </p:nvSpPr>
        <p:spPr>
          <a:xfrm>
            <a:off x="7333220" y="409408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58" name="Овал 2057">
            <a:extLst>
              <a:ext uri="{FF2B5EF4-FFF2-40B4-BE49-F238E27FC236}">
                <a16:creationId xmlns:a16="http://schemas.microsoft.com/office/drawing/2014/main" id="{71025241-5823-C623-30A2-DC88FB8E3649}"/>
              </a:ext>
            </a:extLst>
          </p:cNvPr>
          <p:cNvSpPr/>
          <p:nvPr/>
        </p:nvSpPr>
        <p:spPr>
          <a:xfrm>
            <a:off x="6916830" y="409408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59" name="Овал 2058">
            <a:extLst>
              <a:ext uri="{FF2B5EF4-FFF2-40B4-BE49-F238E27FC236}">
                <a16:creationId xmlns:a16="http://schemas.microsoft.com/office/drawing/2014/main" id="{4725675D-30F4-8A41-139F-2D198DD77F61}"/>
              </a:ext>
            </a:extLst>
          </p:cNvPr>
          <p:cNvSpPr/>
          <p:nvPr/>
        </p:nvSpPr>
        <p:spPr>
          <a:xfrm>
            <a:off x="6029403" y="2923003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60" name="Овал 2059">
            <a:extLst>
              <a:ext uri="{FF2B5EF4-FFF2-40B4-BE49-F238E27FC236}">
                <a16:creationId xmlns:a16="http://schemas.microsoft.com/office/drawing/2014/main" id="{ACA30832-9127-35C6-0D05-0F7206AB2777}"/>
              </a:ext>
            </a:extLst>
          </p:cNvPr>
          <p:cNvSpPr/>
          <p:nvPr/>
        </p:nvSpPr>
        <p:spPr>
          <a:xfrm>
            <a:off x="6009890" y="462176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61" name="Овал 2060">
            <a:extLst>
              <a:ext uri="{FF2B5EF4-FFF2-40B4-BE49-F238E27FC236}">
                <a16:creationId xmlns:a16="http://schemas.microsoft.com/office/drawing/2014/main" id="{F62ACBCC-F148-3088-2549-8D4E9A19373D}"/>
              </a:ext>
            </a:extLst>
          </p:cNvPr>
          <p:cNvSpPr/>
          <p:nvPr/>
        </p:nvSpPr>
        <p:spPr>
          <a:xfrm>
            <a:off x="6350927" y="462176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62" name="Овал 2061">
            <a:extLst>
              <a:ext uri="{FF2B5EF4-FFF2-40B4-BE49-F238E27FC236}">
                <a16:creationId xmlns:a16="http://schemas.microsoft.com/office/drawing/2014/main" id="{C02A2EFC-4D4D-4FBF-8F07-28F1495A18A0}"/>
              </a:ext>
            </a:extLst>
          </p:cNvPr>
          <p:cNvSpPr/>
          <p:nvPr/>
        </p:nvSpPr>
        <p:spPr>
          <a:xfrm>
            <a:off x="6397979" y="2923003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063" name="Овал 2062">
            <a:extLst>
              <a:ext uri="{FF2B5EF4-FFF2-40B4-BE49-F238E27FC236}">
                <a16:creationId xmlns:a16="http://schemas.microsoft.com/office/drawing/2014/main" id="{9C975A37-CC8E-36AD-5370-BBF2446618C1}"/>
              </a:ext>
            </a:extLst>
          </p:cNvPr>
          <p:cNvSpPr/>
          <p:nvPr/>
        </p:nvSpPr>
        <p:spPr>
          <a:xfrm>
            <a:off x="7131128" y="235304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065" name="Овал 2064">
            <a:extLst>
              <a:ext uri="{FF2B5EF4-FFF2-40B4-BE49-F238E27FC236}">
                <a16:creationId xmlns:a16="http://schemas.microsoft.com/office/drawing/2014/main" id="{2ADC8886-99B9-A513-FC4D-C589ACB6A595}"/>
              </a:ext>
            </a:extLst>
          </p:cNvPr>
          <p:cNvSpPr/>
          <p:nvPr/>
        </p:nvSpPr>
        <p:spPr>
          <a:xfrm>
            <a:off x="9040335" y="3014263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60D1AD57-E20B-B57A-6F27-A958C34AFA09}"/>
              </a:ext>
            </a:extLst>
          </p:cNvPr>
          <p:cNvSpPr txBox="1"/>
          <p:nvPr/>
        </p:nvSpPr>
        <p:spPr>
          <a:xfrm>
            <a:off x="8970624" y="2981053"/>
            <a:ext cx="464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10</a:t>
            </a:r>
          </a:p>
        </p:txBody>
      </p:sp>
      <p:cxnSp>
        <p:nvCxnSpPr>
          <p:cNvPr id="2067" name="Прямая со стрелкой 2066">
            <a:extLst>
              <a:ext uri="{FF2B5EF4-FFF2-40B4-BE49-F238E27FC236}">
                <a16:creationId xmlns:a16="http://schemas.microsoft.com/office/drawing/2014/main" id="{0FE54143-9696-E90A-925B-A041F6BA0B6B}"/>
              </a:ext>
            </a:extLst>
          </p:cNvPr>
          <p:cNvCxnSpPr>
            <a:cxnSpLocks/>
          </p:cNvCxnSpPr>
          <p:nvPr/>
        </p:nvCxnSpPr>
        <p:spPr>
          <a:xfrm rot="10800000">
            <a:off x="8970624" y="2474634"/>
            <a:ext cx="936000" cy="79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Прямая со стрелкой 2067">
            <a:extLst>
              <a:ext uri="{FF2B5EF4-FFF2-40B4-BE49-F238E27FC236}">
                <a16:creationId xmlns:a16="http://schemas.microsoft.com/office/drawing/2014/main" id="{DCC900D8-6F19-EEC8-A95C-AA17B26D4E7C}"/>
              </a:ext>
            </a:extLst>
          </p:cNvPr>
          <p:cNvCxnSpPr>
            <a:cxnSpLocks/>
          </p:cNvCxnSpPr>
          <p:nvPr/>
        </p:nvCxnSpPr>
        <p:spPr>
          <a:xfrm rot="10800000">
            <a:off x="8851523" y="2592365"/>
            <a:ext cx="936000" cy="792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9" name="TextBox 2068">
            <a:extLst>
              <a:ext uri="{FF2B5EF4-FFF2-40B4-BE49-F238E27FC236}">
                <a16:creationId xmlns:a16="http://schemas.microsoft.com/office/drawing/2014/main" id="{0FE6999D-5C2D-D2F5-D991-CC24F71A6D1E}"/>
              </a:ext>
            </a:extLst>
          </p:cNvPr>
          <p:cNvSpPr txBox="1"/>
          <p:nvPr/>
        </p:nvSpPr>
        <p:spPr>
          <a:xfrm>
            <a:off x="426950" y="4560136"/>
            <a:ext cx="3299703" cy="10215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indent="88900"/>
            <a:r>
              <a:rPr lang="ru-RU" dirty="0">
                <a:solidFill>
                  <a:srgbClr val="92D050"/>
                </a:solidFill>
              </a:rPr>
              <a:t>Зеленым</a:t>
            </a:r>
            <a:r>
              <a:rPr lang="ru-RU" dirty="0"/>
              <a:t> цветом отмечен путь взаимодействия модуля и работника подразделения.</a:t>
            </a: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BD1C10A6-F69D-D4C6-2444-7CBE87EBEAA3}"/>
              </a:ext>
            </a:extLst>
          </p:cNvPr>
          <p:cNvSpPr txBox="1"/>
          <p:nvPr/>
        </p:nvSpPr>
        <p:spPr>
          <a:xfrm>
            <a:off x="8137671" y="4429182"/>
            <a:ext cx="3299703" cy="163449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indent="88900"/>
            <a:r>
              <a:rPr lang="ru-RU" dirty="0">
                <a:solidFill>
                  <a:srgbClr val="FFC000"/>
                </a:solidFill>
              </a:rPr>
              <a:t>Оранжевым</a:t>
            </a:r>
            <a:r>
              <a:rPr lang="ru-RU" dirty="0"/>
              <a:t> цветом отмечен путь взаимодействия модуля и</a:t>
            </a:r>
            <a:r>
              <a:rPr lang="en-US" dirty="0"/>
              <a:t> HR-</a:t>
            </a:r>
            <a:r>
              <a:rPr lang="ru-RU" dirty="0"/>
              <a:t>сотрудника, имеющего доступ к аналитическим данным.</a:t>
            </a: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CF78C864-B779-FBF1-CDA0-3D8B7033361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64" name="Прямоугольник: скругленные углы 29">
              <a:extLst>
                <a:ext uri="{FF2B5EF4-FFF2-40B4-BE49-F238E27FC236}">
                  <a16:creationId xmlns:a16="http://schemas.microsoft.com/office/drawing/2014/main" id="{34453806-0341-C208-45DA-F12084CB2987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B046D73-9EBC-F981-144F-CEF31D7F5E6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400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C179-76DA-B83C-0A7B-A4398096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21B371-7130-8F13-5ECA-7F5128D1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8" name="Shape 2617">
            <a:extLst>
              <a:ext uri="{FF2B5EF4-FFF2-40B4-BE49-F238E27FC236}">
                <a16:creationId xmlns:a16="http://schemas.microsoft.com/office/drawing/2014/main" id="{B0A96011-53A0-AA33-F47B-76254F150D89}"/>
              </a:ext>
            </a:extLst>
          </p:cNvPr>
          <p:cNvSpPr/>
          <p:nvPr/>
        </p:nvSpPr>
        <p:spPr>
          <a:xfrm>
            <a:off x="730777" y="4200813"/>
            <a:ext cx="684000" cy="61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DF47A-750A-B735-EA70-D93BF533B807}"/>
              </a:ext>
            </a:extLst>
          </p:cNvPr>
          <p:cNvSpPr txBox="1"/>
          <p:nvPr/>
        </p:nvSpPr>
        <p:spPr>
          <a:xfrm>
            <a:off x="445991" y="3539580"/>
            <a:ext cx="1270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Сотрудник </a:t>
            </a:r>
          </a:p>
          <a:p>
            <a:pPr algn="ctr"/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отдела</a:t>
            </a:r>
          </a:p>
        </p:txBody>
      </p:sp>
      <p:sp>
        <p:nvSpPr>
          <p:cNvPr id="11" name="Shape 2706">
            <a:extLst>
              <a:ext uri="{FF2B5EF4-FFF2-40B4-BE49-F238E27FC236}">
                <a16:creationId xmlns:a16="http://schemas.microsoft.com/office/drawing/2014/main" id="{9C092C35-167B-0469-9A4D-5BFBB7A0CDCE}"/>
              </a:ext>
            </a:extLst>
          </p:cNvPr>
          <p:cNvSpPr/>
          <p:nvPr/>
        </p:nvSpPr>
        <p:spPr>
          <a:xfrm>
            <a:off x="4403067" y="1897904"/>
            <a:ext cx="496361" cy="607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274E9C"/>
          </a:solidFill>
          <a:ln w="12700">
            <a:noFill/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BEE0F-6A88-F32A-3429-1B2C47FF1997}"/>
              </a:ext>
            </a:extLst>
          </p:cNvPr>
          <p:cNvSpPr txBox="1"/>
          <p:nvPr/>
        </p:nvSpPr>
        <p:spPr>
          <a:xfrm>
            <a:off x="4381401" y="1504404"/>
            <a:ext cx="51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Бот</a:t>
            </a:r>
          </a:p>
        </p:txBody>
      </p:sp>
      <p:sp>
        <p:nvSpPr>
          <p:cNvPr id="13" name="Shape 2554">
            <a:extLst>
              <a:ext uri="{FF2B5EF4-FFF2-40B4-BE49-F238E27FC236}">
                <a16:creationId xmlns:a16="http://schemas.microsoft.com/office/drawing/2014/main" id="{8060BF4E-A541-16BA-7734-3F8258C3CE43}"/>
              </a:ext>
            </a:extLst>
          </p:cNvPr>
          <p:cNvSpPr/>
          <p:nvPr/>
        </p:nvSpPr>
        <p:spPr>
          <a:xfrm>
            <a:off x="1721277" y="1897904"/>
            <a:ext cx="682833" cy="50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9B326-E6E9-3144-4B75-B3A02A9BFFB0}"/>
              </a:ext>
            </a:extLst>
          </p:cNvPr>
          <p:cNvSpPr txBox="1"/>
          <p:nvPr/>
        </p:nvSpPr>
        <p:spPr>
          <a:xfrm>
            <a:off x="1447814" y="1504404"/>
            <a:ext cx="122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Чат отдела</a:t>
            </a:r>
          </a:p>
        </p:txBody>
      </p:sp>
      <p:sp>
        <p:nvSpPr>
          <p:cNvPr id="15" name="Shape 2858">
            <a:extLst>
              <a:ext uri="{FF2B5EF4-FFF2-40B4-BE49-F238E27FC236}">
                <a16:creationId xmlns:a16="http://schemas.microsoft.com/office/drawing/2014/main" id="{0E04E812-EAB8-C6FC-D002-3776B14EEEBC}"/>
              </a:ext>
            </a:extLst>
          </p:cNvPr>
          <p:cNvSpPr/>
          <p:nvPr/>
        </p:nvSpPr>
        <p:spPr>
          <a:xfrm>
            <a:off x="4381401" y="5411270"/>
            <a:ext cx="555683" cy="687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274E9C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6" name="Рисунок 15" descr="Мозг – Бесплатные иконки:">
            <a:extLst>
              <a:ext uri="{FF2B5EF4-FFF2-40B4-BE49-F238E27FC236}">
                <a16:creationId xmlns:a16="http://schemas.microsoft.com/office/drawing/2014/main" id="{ED726AE6-5420-3FD1-B821-48A89603D5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2048" y="3698418"/>
            <a:ext cx="646331" cy="6463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EF6C9C-4551-9896-FAD1-3A80F079797E}"/>
              </a:ext>
            </a:extLst>
          </p:cNvPr>
          <p:cNvSpPr txBox="1"/>
          <p:nvPr/>
        </p:nvSpPr>
        <p:spPr>
          <a:xfrm>
            <a:off x="4182038" y="3316913"/>
            <a:ext cx="94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Модуль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F18AB-A72A-0E4A-AD4B-D09E32567F3A}"/>
              </a:ext>
            </a:extLst>
          </p:cNvPr>
          <p:cNvSpPr txBox="1"/>
          <p:nvPr/>
        </p:nvSpPr>
        <p:spPr>
          <a:xfrm>
            <a:off x="4308022" y="5041938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СУБД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D9CB9EB0-2151-8DFC-61CA-40ED6BA69BE9}"/>
              </a:ext>
            </a:extLst>
          </p:cNvPr>
          <p:cNvCxnSpPr>
            <a:cxnSpLocks/>
          </p:cNvCxnSpPr>
          <p:nvPr/>
        </p:nvCxnSpPr>
        <p:spPr>
          <a:xfrm rot="16200000">
            <a:off x="973212" y="2651824"/>
            <a:ext cx="936000" cy="75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D5A14734-FD89-4519-2F55-19C1C1FD1497}"/>
              </a:ext>
            </a:extLst>
          </p:cNvPr>
          <p:cNvCxnSpPr>
            <a:cxnSpLocks/>
          </p:cNvCxnSpPr>
          <p:nvPr/>
        </p:nvCxnSpPr>
        <p:spPr>
          <a:xfrm>
            <a:off x="2796265" y="2185751"/>
            <a:ext cx="12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Дуга 40">
            <a:extLst>
              <a:ext uri="{FF2B5EF4-FFF2-40B4-BE49-F238E27FC236}">
                <a16:creationId xmlns:a16="http://schemas.microsoft.com/office/drawing/2014/main" id="{77ED8B4C-D57A-3B06-6553-39C49B7C9A20}"/>
              </a:ext>
            </a:extLst>
          </p:cNvPr>
          <p:cNvSpPr/>
          <p:nvPr/>
        </p:nvSpPr>
        <p:spPr>
          <a:xfrm rot="13828578">
            <a:off x="3298871" y="2242024"/>
            <a:ext cx="4532294" cy="39475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Равнобедренный треугольник 41">
            <a:extLst>
              <a:ext uri="{FF2B5EF4-FFF2-40B4-BE49-F238E27FC236}">
                <a16:creationId xmlns:a16="http://schemas.microsoft.com/office/drawing/2014/main" id="{F57E133B-403F-5977-44F5-697082B1B5F8}"/>
              </a:ext>
            </a:extLst>
          </p:cNvPr>
          <p:cNvSpPr/>
          <p:nvPr/>
        </p:nvSpPr>
        <p:spPr>
          <a:xfrm rot="7991119">
            <a:off x="4027736" y="5442590"/>
            <a:ext cx="85704" cy="9835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2E1805BF-081C-F4E5-35CD-46934E85304E}"/>
              </a:ext>
            </a:extLst>
          </p:cNvPr>
          <p:cNvCxnSpPr>
            <a:cxnSpLocks/>
          </p:cNvCxnSpPr>
          <p:nvPr/>
        </p:nvCxnSpPr>
        <p:spPr>
          <a:xfrm>
            <a:off x="4684036" y="2679224"/>
            <a:ext cx="0" cy="61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7476065-D60F-E4BC-40E0-63D46450D23A}"/>
              </a:ext>
            </a:extLst>
          </p:cNvPr>
          <p:cNvCxnSpPr>
            <a:cxnSpLocks/>
          </p:cNvCxnSpPr>
          <p:nvPr/>
        </p:nvCxnSpPr>
        <p:spPr>
          <a:xfrm>
            <a:off x="4662105" y="4429182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EA5143E1-64E4-8F78-8284-6AD0CB7C3B75}"/>
              </a:ext>
            </a:extLst>
          </p:cNvPr>
          <p:cNvGrpSpPr/>
          <p:nvPr/>
        </p:nvGrpSpPr>
        <p:grpSpPr>
          <a:xfrm>
            <a:off x="3725935" y="1949635"/>
            <a:ext cx="3947513" cy="4532294"/>
            <a:chOff x="5170687" y="2412874"/>
            <a:chExt cx="3947513" cy="4532294"/>
          </a:xfrm>
        </p:grpSpPr>
        <p:sp>
          <p:nvSpPr>
            <p:cNvPr id="53" name="Дуга 52">
              <a:extLst>
                <a:ext uri="{FF2B5EF4-FFF2-40B4-BE49-F238E27FC236}">
                  <a16:creationId xmlns:a16="http://schemas.microsoft.com/office/drawing/2014/main" id="{A342E010-DBAF-0068-D50D-E8AC671EC94C}"/>
                </a:ext>
              </a:extLst>
            </p:cNvPr>
            <p:cNvSpPr/>
            <p:nvPr/>
          </p:nvSpPr>
          <p:spPr>
            <a:xfrm rot="13828578">
              <a:off x="4878297" y="2705264"/>
              <a:ext cx="4532294" cy="394751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Равнобедренный треугольник 53">
              <a:extLst>
                <a:ext uri="{FF2B5EF4-FFF2-40B4-BE49-F238E27FC236}">
                  <a16:creationId xmlns:a16="http://schemas.microsoft.com/office/drawing/2014/main" id="{2AF50DBE-C2D3-5031-8A26-F2DC526F66F4}"/>
                </a:ext>
              </a:extLst>
            </p:cNvPr>
            <p:cNvSpPr/>
            <p:nvPr/>
          </p:nvSpPr>
          <p:spPr>
            <a:xfrm rot="13608881" flipV="1">
              <a:off x="5690240" y="2859437"/>
              <a:ext cx="85704" cy="9835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3" name="Овал 62">
            <a:extLst>
              <a:ext uri="{FF2B5EF4-FFF2-40B4-BE49-F238E27FC236}">
                <a16:creationId xmlns:a16="http://schemas.microsoft.com/office/drawing/2014/main" id="{CCFE0711-DED5-1C90-ED78-7CC52B4724F6}"/>
              </a:ext>
            </a:extLst>
          </p:cNvPr>
          <p:cNvSpPr/>
          <p:nvPr/>
        </p:nvSpPr>
        <p:spPr>
          <a:xfrm>
            <a:off x="1158585" y="2831386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48" name="Овал 2047">
            <a:extLst>
              <a:ext uri="{FF2B5EF4-FFF2-40B4-BE49-F238E27FC236}">
                <a16:creationId xmlns:a16="http://schemas.microsoft.com/office/drawing/2014/main" id="{11027F21-6026-3F9B-2774-0B7FA3B717C4}"/>
              </a:ext>
            </a:extLst>
          </p:cNvPr>
          <p:cNvSpPr/>
          <p:nvPr/>
        </p:nvSpPr>
        <p:spPr>
          <a:xfrm>
            <a:off x="3331187" y="1970144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9" name="Овал 2048">
            <a:extLst>
              <a:ext uri="{FF2B5EF4-FFF2-40B4-BE49-F238E27FC236}">
                <a16:creationId xmlns:a16="http://schemas.microsoft.com/office/drawing/2014/main" id="{606026CF-FBD4-86A0-DAF6-AD72E505F47A}"/>
              </a:ext>
            </a:extLst>
          </p:cNvPr>
          <p:cNvSpPr/>
          <p:nvPr/>
        </p:nvSpPr>
        <p:spPr>
          <a:xfrm>
            <a:off x="3240414" y="4094087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51" name="Овал 2050">
            <a:extLst>
              <a:ext uri="{FF2B5EF4-FFF2-40B4-BE49-F238E27FC236}">
                <a16:creationId xmlns:a16="http://schemas.microsoft.com/office/drawing/2014/main" id="{3FC399BF-5AFB-0603-5CDD-C5B3B35DB686}"/>
              </a:ext>
            </a:extLst>
          </p:cNvPr>
          <p:cNvSpPr/>
          <p:nvPr/>
        </p:nvSpPr>
        <p:spPr>
          <a:xfrm>
            <a:off x="3637468" y="4094087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53" name="Овал 2052">
            <a:extLst>
              <a:ext uri="{FF2B5EF4-FFF2-40B4-BE49-F238E27FC236}">
                <a16:creationId xmlns:a16="http://schemas.microsoft.com/office/drawing/2014/main" id="{E73A4838-EE46-7899-FCEA-8AD412D50247}"/>
              </a:ext>
            </a:extLst>
          </p:cNvPr>
          <p:cNvSpPr/>
          <p:nvPr/>
        </p:nvSpPr>
        <p:spPr>
          <a:xfrm>
            <a:off x="4436492" y="2923003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54" name="Овал 2053">
            <a:extLst>
              <a:ext uri="{FF2B5EF4-FFF2-40B4-BE49-F238E27FC236}">
                <a16:creationId xmlns:a16="http://schemas.microsoft.com/office/drawing/2014/main" id="{A6DD38B7-CF9F-8FB8-84A1-5F60451129B1}"/>
              </a:ext>
            </a:extLst>
          </p:cNvPr>
          <p:cNvSpPr/>
          <p:nvPr/>
        </p:nvSpPr>
        <p:spPr>
          <a:xfrm>
            <a:off x="4449529" y="4621767"/>
            <a:ext cx="181545" cy="18281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CF78C864-B779-FBF1-CDA0-3D8B7033361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64" name="Прямоугольник: скругленные углы 29">
              <a:extLst>
                <a:ext uri="{FF2B5EF4-FFF2-40B4-BE49-F238E27FC236}">
                  <a16:creationId xmlns:a16="http://schemas.microsoft.com/office/drawing/2014/main" id="{34453806-0341-C208-45DA-F12084CB2987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B046D73-9EBC-F981-144F-CEF31D7F5E6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232143" y="2167024"/>
            <a:ext cx="56543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Сотрудник пишет сообщение в чат с коллегами.</a:t>
            </a: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Бот получает сообщение.</a:t>
            </a: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Запрос в СУБД для определения пользователя.</a:t>
            </a: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Ответ из СУБД о наличии согласия.</a:t>
            </a: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Перенаправление сообщения в модуль для его первичной оценки.</a:t>
            </a: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Запись данных в СУБД</a:t>
            </a:r>
          </a:p>
          <a:p>
            <a:pPr marL="457200" indent="-457200">
              <a:buAutoNum type="arabicPeriod"/>
            </a:pP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74442-EFE2-C557-5032-B9EF97B90B06}"/>
              </a:ext>
            </a:extLst>
          </p:cNvPr>
          <p:cNvSpPr txBox="1"/>
          <p:nvPr/>
        </p:nvSpPr>
        <p:spPr>
          <a:xfrm>
            <a:off x="3467100" y="229327"/>
            <a:ext cx="8237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Принцип работы модуля</a:t>
            </a:r>
            <a:r>
              <a:rPr lang="en-US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 </a:t>
            </a:r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 сотрудниками</a:t>
            </a:r>
          </a:p>
        </p:txBody>
      </p:sp>
    </p:spTree>
    <p:extLst>
      <p:ext uri="{BB962C8B-B14F-4D97-AF65-F5344CB8AC3E}">
        <p14:creationId xmlns:p14="http://schemas.microsoft.com/office/powerpoint/2010/main" val="292575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C179-76DA-B83C-0A7B-A4398096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21B371-7130-8F13-5ECA-7F5128D1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11" name="Shape 2706">
            <a:extLst>
              <a:ext uri="{FF2B5EF4-FFF2-40B4-BE49-F238E27FC236}">
                <a16:creationId xmlns:a16="http://schemas.microsoft.com/office/drawing/2014/main" id="{9C092C35-167B-0469-9A4D-5BFBB7A0CDCE}"/>
              </a:ext>
            </a:extLst>
          </p:cNvPr>
          <p:cNvSpPr/>
          <p:nvPr/>
        </p:nvSpPr>
        <p:spPr>
          <a:xfrm>
            <a:off x="7475451" y="1897904"/>
            <a:ext cx="496361" cy="607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274E9C"/>
          </a:solidFill>
          <a:ln w="12700">
            <a:noFill/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BEE0F-6A88-F32A-3429-1B2C47FF1997}"/>
              </a:ext>
            </a:extLst>
          </p:cNvPr>
          <p:cNvSpPr txBox="1"/>
          <p:nvPr/>
        </p:nvSpPr>
        <p:spPr>
          <a:xfrm>
            <a:off x="7453785" y="1504404"/>
            <a:ext cx="51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Бот</a:t>
            </a:r>
          </a:p>
        </p:txBody>
      </p:sp>
      <p:sp>
        <p:nvSpPr>
          <p:cNvPr id="15" name="Shape 2858">
            <a:extLst>
              <a:ext uri="{FF2B5EF4-FFF2-40B4-BE49-F238E27FC236}">
                <a16:creationId xmlns:a16="http://schemas.microsoft.com/office/drawing/2014/main" id="{0E04E812-EAB8-C6FC-D002-3776B14EEEBC}"/>
              </a:ext>
            </a:extLst>
          </p:cNvPr>
          <p:cNvSpPr/>
          <p:nvPr/>
        </p:nvSpPr>
        <p:spPr>
          <a:xfrm>
            <a:off x="7453785" y="5411270"/>
            <a:ext cx="555683" cy="687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274E9C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6" name="Рисунок 15" descr="Мозг – Бесплатные иконки:">
            <a:extLst>
              <a:ext uri="{FF2B5EF4-FFF2-40B4-BE49-F238E27FC236}">
                <a16:creationId xmlns:a16="http://schemas.microsoft.com/office/drawing/2014/main" id="{ED726AE6-5420-3FD1-B821-48A89603D5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04432" y="3698418"/>
            <a:ext cx="646331" cy="6463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EF6C9C-4551-9896-FAD1-3A80F079797E}"/>
              </a:ext>
            </a:extLst>
          </p:cNvPr>
          <p:cNvSpPr txBox="1"/>
          <p:nvPr/>
        </p:nvSpPr>
        <p:spPr>
          <a:xfrm>
            <a:off x="7254422" y="3316913"/>
            <a:ext cx="94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Модуль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F18AB-A72A-0E4A-AD4B-D09E32567F3A}"/>
              </a:ext>
            </a:extLst>
          </p:cNvPr>
          <p:cNvSpPr txBox="1"/>
          <p:nvPr/>
        </p:nvSpPr>
        <p:spPr>
          <a:xfrm>
            <a:off x="7380406" y="5041938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СУБД</a:t>
            </a:r>
          </a:p>
        </p:txBody>
      </p:sp>
      <p:sp>
        <p:nvSpPr>
          <p:cNvPr id="19" name="Shape 2615">
            <a:extLst>
              <a:ext uri="{FF2B5EF4-FFF2-40B4-BE49-F238E27FC236}">
                <a16:creationId xmlns:a16="http://schemas.microsoft.com/office/drawing/2014/main" id="{324AE180-77C4-EC31-FB94-DF5FEA90DA5E}"/>
              </a:ext>
            </a:extLst>
          </p:cNvPr>
          <p:cNvSpPr/>
          <p:nvPr/>
        </p:nvSpPr>
        <p:spPr>
          <a:xfrm>
            <a:off x="11215635" y="3796995"/>
            <a:ext cx="612000" cy="61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9BC19-3F3E-1C4F-BC73-8879B976760B}"/>
              </a:ext>
            </a:extLst>
          </p:cNvPr>
          <p:cNvSpPr txBox="1"/>
          <p:nvPr/>
        </p:nvSpPr>
        <p:spPr>
          <a:xfrm>
            <a:off x="11294650" y="342766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HR</a:t>
            </a:r>
            <a:endParaRPr lang="ru-RU" dirty="0">
              <a:solidFill>
                <a:srgbClr val="1A3773"/>
              </a:solidFill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endParaRPr>
          </a:p>
        </p:txBody>
      </p:sp>
      <p:sp>
        <p:nvSpPr>
          <p:cNvPr id="21" name="Shape 2553">
            <a:extLst>
              <a:ext uri="{FF2B5EF4-FFF2-40B4-BE49-F238E27FC236}">
                <a16:creationId xmlns:a16="http://schemas.microsoft.com/office/drawing/2014/main" id="{BF32C322-16EC-987E-8B94-0F803F6EFEE3}"/>
              </a:ext>
            </a:extLst>
          </p:cNvPr>
          <p:cNvSpPr/>
          <p:nvPr/>
        </p:nvSpPr>
        <p:spPr>
          <a:xfrm>
            <a:off x="9893991" y="1897904"/>
            <a:ext cx="612000" cy="4827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E659F3-25C7-A003-3736-86B73F44490E}"/>
              </a:ext>
            </a:extLst>
          </p:cNvPr>
          <p:cNvSpPr txBox="1"/>
          <p:nvPr/>
        </p:nvSpPr>
        <p:spPr>
          <a:xfrm>
            <a:off x="9498374" y="1504404"/>
            <a:ext cx="1377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Чат</a:t>
            </a:r>
            <a:r>
              <a:rPr lang="en-US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 </a:t>
            </a:r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 ботом 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28628376-C3ED-122C-5521-673E3CB92443}"/>
              </a:ext>
            </a:extLst>
          </p:cNvPr>
          <p:cNvCxnSpPr>
            <a:cxnSpLocks/>
          </p:cNvCxnSpPr>
          <p:nvPr/>
        </p:nvCxnSpPr>
        <p:spPr>
          <a:xfrm flipH="1">
            <a:off x="8272809" y="2185751"/>
            <a:ext cx="12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Дуга 42">
            <a:extLst>
              <a:ext uri="{FF2B5EF4-FFF2-40B4-BE49-F238E27FC236}">
                <a16:creationId xmlns:a16="http://schemas.microsoft.com/office/drawing/2014/main" id="{26072FD8-4F9A-854C-4EEE-A7BDEDFA98E7}"/>
              </a:ext>
            </a:extLst>
          </p:cNvPr>
          <p:cNvSpPr/>
          <p:nvPr/>
        </p:nvSpPr>
        <p:spPr>
          <a:xfrm rot="7771422" flipH="1">
            <a:off x="4543714" y="2242024"/>
            <a:ext cx="4532294" cy="39475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Равнобедренный треугольник 43">
            <a:extLst>
              <a:ext uri="{FF2B5EF4-FFF2-40B4-BE49-F238E27FC236}">
                <a16:creationId xmlns:a16="http://schemas.microsoft.com/office/drawing/2014/main" id="{E8476761-D302-6455-D7BE-65FA72D48E32}"/>
              </a:ext>
            </a:extLst>
          </p:cNvPr>
          <p:cNvSpPr/>
          <p:nvPr/>
        </p:nvSpPr>
        <p:spPr>
          <a:xfrm rot="13608881" flipH="1">
            <a:off x="8253756" y="5467616"/>
            <a:ext cx="85704" cy="9835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27715BD-1804-9B44-344D-645BBBC66ABD}"/>
              </a:ext>
            </a:extLst>
          </p:cNvPr>
          <p:cNvCxnSpPr>
            <a:cxnSpLocks/>
          </p:cNvCxnSpPr>
          <p:nvPr/>
        </p:nvCxnSpPr>
        <p:spPr>
          <a:xfrm>
            <a:off x="7655202" y="2679224"/>
            <a:ext cx="0" cy="61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574056C4-1D18-05F3-B70A-0925FCDEC31D}"/>
              </a:ext>
            </a:extLst>
          </p:cNvPr>
          <p:cNvCxnSpPr>
            <a:cxnSpLocks/>
          </p:cNvCxnSpPr>
          <p:nvPr/>
        </p:nvCxnSpPr>
        <p:spPr>
          <a:xfrm flipV="1">
            <a:off x="7761949" y="2679224"/>
            <a:ext cx="0" cy="61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81A87971-ADF1-5BC6-E434-B463E83DDD3E}"/>
              </a:ext>
            </a:extLst>
          </p:cNvPr>
          <p:cNvCxnSpPr>
            <a:cxnSpLocks/>
          </p:cNvCxnSpPr>
          <p:nvPr/>
        </p:nvCxnSpPr>
        <p:spPr>
          <a:xfrm>
            <a:off x="7633271" y="4429182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0DB628C5-9268-B07B-33B4-9E0D3EA44A3B}"/>
              </a:ext>
            </a:extLst>
          </p:cNvPr>
          <p:cNvCxnSpPr>
            <a:cxnSpLocks/>
          </p:cNvCxnSpPr>
          <p:nvPr/>
        </p:nvCxnSpPr>
        <p:spPr>
          <a:xfrm flipV="1">
            <a:off x="7740018" y="4429182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03B4DE85-A9EA-D307-0DC5-8BE7F39F06D5}"/>
              </a:ext>
            </a:extLst>
          </p:cNvPr>
          <p:cNvGrpSpPr/>
          <p:nvPr/>
        </p:nvGrpSpPr>
        <p:grpSpPr>
          <a:xfrm flipH="1">
            <a:off x="4705686" y="1961782"/>
            <a:ext cx="3947513" cy="4532294"/>
            <a:chOff x="5170687" y="2412874"/>
            <a:chExt cx="3947513" cy="4532294"/>
          </a:xfrm>
        </p:grpSpPr>
        <p:sp>
          <p:nvSpPr>
            <p:cNvPr id="57" name="Дуга 56">
              <a:extLst>
                <a:ext uri="{FF2B5EF4-FFF2-40B4-BE49-F238E27FC236}">
                  <a16:creationId xmlns:a16="http://schemas.microsoft.com/office/drawing/2014/main" id="{7B2CADF4-6EC4-004A-E67D-A6AB26236B14}"/>
                </a:ext>
              </a:extLst>
            </p:cNvPr>
            <p:cNvSpPr/>
            <p:nvPr/>
          </p:nvSpPr>
          <p:spPr>
            <a:xfrm rot="13828578">
              <a:off x="4878297" y="2705264"/>
              <a:ext cx="4532294" cy="3947513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Равнобедренный треугольник 57">
              <a:extLst>
                <a:ext uri="{FF2B5EF4-FFF2-40B4-BE49-F238E27FC236}">
                  <a16:creationId xmlns:a16="http://schemas.microsoft.com/office/drawing/2014/main" id="{B6F303B6-7BDD-3ACD-D869-44C7331D4BC5}"/>
                </a:ext>
              </a:extLst>
            </p:cNvPr>
            <p:cNvSpPr/>
            <p:nvPr/>
          </p:nvSpPr>
          <p:spPr>
            <a:xfrm rot="13608881" flipV="1">
              <a:off x="5690240" y="2859437"/>
              <a:ext cx="85704" cy="9835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DF7A9518-E696-B9A7-C23A-C12790D4326E}"/>
              </a:ext>
            </a:extLst>
          </p:cNvPr>
          <p:cNvCxnSpPr>
            <a:cxnSpLocks/>
          </p:cNvCxnSpPr>
          <p:nvPr/>
        </p:nvCxnSpPr>
        <p:spPr>
          <a:xfrm>
            <a:off x="8272809" y="2309953"/>
            <a:ext cx="12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5" name="Овал 2054">
            <a:extLst>
              <a:ext uri="{FF2B5EF4-FFF2-40B4-BE49-F238E27FC236}">
                <a16:creationId xmlns:a16="http://schemas.microsoft.com/office/drawing/2014/main" id="{CB165278-254E-1CBA-6539-14AAEBCC1106}"/>
              </a:ext>
            </a:extLst>
          </p:cNvPr>
          <p:cNvSpPr/>
          <p:nvPr/>
        </p:nvSpPr>
        <p:spPr>
          <a:xfrm>
            <a:off x="11167610" y="2628758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56" name="Овал 2055">
            <a:extLst>
              <a:ext uri="{FF2B5EF4-FFF2-40B4-BE49-F238E27FC236}">
                <a16:creationId xmlns:a16="http://schemas.microsoft.com/office/drawing/2014/main" id="{9C81222D-9B19-0CA0-28DE-829FAB095EA4}"/>
              </a:ext>
            </a:extLst>
          </p:cNvPr>
          <p:cNvSpPr/>
          <p:nvPr/>
        </p:nvSpPr>
        <p:spPr>
          <a:xfrm>
            <a:off x="8740840" y="1980494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57" name="Овал 2056">
            <a:extLst>
              <a:ext uri="{FF2B5EF4-FFF2-40B4-BE49-F238E27FC236}">
                <a16:creationId xmlns:a16="http://schemas.microsoft.com/office/drawing/2014/main" id="{E0201A37-0408-B3EF-CE92-90B06451FC52}"/>
              </a:ext>
            </a:extLst>
          </p:cNvPr>
          <p:cNvSpPr/>
          <p:nvPr/>
        </p:nvSpPr>
        <p:spPr>
          <a:xfrm>
            <a:off x="8960852" y="409408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58" name="Овал 2057">
            <a:extLst>
              <a:ext uri="{FF2B5EF4-FFF2-40B4-BE49-F238E27FC236}">
                <a16:creationId xmlns:a16="http://schemas.microsoft.com/office/drawing/2014/main" id="{71025241-5823-C623-30A2-DC88FB8E3649}"/>
              </a:ext>
            </a:extLst>
          </p:cNvPr>
          <p:cNvSpPr/>
          <p:nvPr/>
        </p:nvSpPr>
        <p:spPr>
          <a:xfrm>
            <a:off x="8544462" y="409408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59" name="Овал 2058">
            <a:extLst>
              <a:ext uri="{FF2B5EF4-FFF2-40B4-BE49-F238E27FC236}">
                <a16:creationId xmlns:a16="http://schemas.microsoft.com/office/drawing/2014/main" id="{4725675D-30F4-8A41-139F-2D198DD77F61}"/>
              </a:ext>
            </a:extLst>
          </p:cNvPr>
          <p:cNvSpPr/>
          <p:nvPr/>
        </p:nvSpPr>
        <p:spPr>
          <a:xfrm>
            <a:off x="7446723" y="2923003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60" name="Овал 2059">
            <a:extLst>
              <a:ext uri="{FF2B5EF4-FFF2-40B4-BE49-F238E27FC236}">
                <a16:creationId xmlns:a16="http://schemas.microsoft.com/office/drawing/2014/main" id="{ACA30832-9127-35C6-0D05-0F7206AB2777}"/>
              </a:ext>
            </a:extLst>
          </p:cNvPr>
          <p:cNvSpPr/>
          <p:nvPr/>
        </p:nvSpPr>
        <p:spPr>
          <a:xfrm>
            <a:off x="7427210" y="462176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61" name="Овал 2060">
            <a:extLst>
              <a:ext uri="{FF2B5EF4-FFF2-40B4-BE49-F238E27FC236}">
                <a16:creationId xmlns:a16="http://schemas.microsoft.com/office/drawing/2014/main" id="{F62ACBCC-F148-3088-2549-8D4E9A19373D}"/>
              </a:ext>
            </a:extLst>
          </p:cNvPr>
          <p:cNvSpPr/>
          <p:nvPr/>
        </p:nvSpPr>
        <p:spPr>
          <a:xfrm>
            <a:off x="7768247" y="462176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62" name="Овал 2061">
            <a:extLst>
              <a:ext uri="{FF2B5EF4-FFF2-40B4-BE49-F238E27FC236}">
                <a16:creationId xmlns:a16="http://schemas.microsoft.com/office/drawing/2014/main" id="{C02A2EFC-4D4D-4FBF-8F07-28F1495A18A0}"/>
              </a:ext>
            </a:extLst>
          </p:cNvPr>
          <p:cNvSpPr/>
          <p:nvPr/>
        </p:nvSpPr>
        <p:spPr>
          <a:xfrm>
            <a:off x="7815299" y="2923003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063" name="Овал 2062">
            <a:extLst>
              <a:ext uri="{FF2B5EF4-FFF2-40B4-BE49-F238E27FC236}">
                <a16:creationId xmlns:a16="http://schemas.microsoft.com/office/drawing/2014/main" id="{9C975A37-CC8E-36AD-5370-BBF2446618C1}"/>
              </a:ext>
            </a:extLst>
          </p:cNvPr>
          <p:cNvSpPr/>
          <p:nvPr/>
        </p:nvSpPr>
        <p:spPr>
          <a:xfrm>
            <a:off x="8758760" y="2353047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065" name="Овал 2064">
            <a:extLst>
              <a:ext uri="{FF2B5EF4-FFF2-40B4-BE49-F238E27FC236}">
                <a16:creationId xmlns:a16="http://schemas.microsoft.com/office/drawing/2014/main" id="{2ADC8886-99B9-A513-FC4D-C589ACB6A595}"/>
              </a:ext>
            </a:extLst>
          </p:cNvPr>
          <p:cNvSpPr/>
          <p:nvPr/>
        </p:nvSpPr>
        <p:spPr>
          <a:xfrm>
            <a:off x="10667967" y="3014263"/>
            <a:ext cx="181545" cy="182812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60D1AD57-E20B-B57A-6F27-A958C34AFA09}"/>
              </a:ext>
            </a:extLst>
          </p:cNvPr>
          <p:cNvSpPr txBox="1"/>
          <p:nvPr/>
        </p:nvSpPr>
        <p:spPr>
          <a:xfrm>
            <a:off x="10598256" y="2981053"/>
            <a:ext cx="464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10</a:t>
            </a:r>
          </a:p>
        </p:txBody>
      </p:sp>
      <p:cxnSp>
        <p:nvCxnSpPr>
          <p:cNvPr id="2067" name="Прямая со стрелкой 2066">
            <a:extLst>
              <a:ext uri="{FF2B5EF4-FFF2-40B4-BE49-F238E27FC236}">
                <a16:creationId xmlns:a16="http://schemas.microsoft.com/office/drawing/2014/main" id="{0FE54143-9696-E90A-925B-A041F6BA0B6B}"/>
              </a:ext>
            </a:extLst>
          </p:cNvPr>
          <p:cNvCxnSpPr>
            <a:cxnSpLocks/>
          </p:cNvCxnSpPr>
          <p:nvPr/>
        </p:nvCxnSpPr>
        <p:spPr>
          <a:xfrm rot="10800000">
            <a:off x="10598256" y="2474634"/>
            <a:ext cx="936000" cy="79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Прямая со стрелкой 2067">
            <a:extLst>
              <a:ext uri="{FF2B5EF4-FFF2-40B4-BE49-F238E27FC236}">
                <a16:creationId xmlns:a16="http://schemas.microsoft.com/office/drawing/2014/main" id="{DCC900D8-6F19-EEC8-A95C-AA17B26D4E7C}"/>
              </a:ext>
            </a:extLst>
          </p:cNvPr>
          <p:cNvCxnSpPr>
            <a:cxnSpLocks/>
          </p:cNvCxnSpPr>
          <p:nvPr/>
        </p:nvCxnSpPr>
        <p:spPr>
          <a:xfrm rot="10800000">
            <a:off x="10479155" y="2592365"/>
            <a:ext cx="936000" cy="792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CF78C864-B779-FBF1-CDA0-3D8B7033361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64" name="Прямоугольник: скругленные углы 29">
              <a:extLst>
                <a:ext uri="{FF2B5EF4-FFF2-40B4-BE49-F238E27FC236}">
                  <a16:creationId xmlns:a16="http://schemas.microsoft.com/office/drawing/2014/main" id="{34453806-0341-C208-45DA-F12084CB2987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B046D73-9EBC-F981-144F-CEF31D7F5E67}"/>
                </a:ext>
              </a:extLst>
            </p:cNvPr>
            <p:cNvSpPr txBox="1"/>
            <p:nvPr/>
          </p:nvSpPr>
          <p:spPr>
            <a:xfrm>
              <a:off x="11425856" y="6199976"/>
              <a:ext cx="533583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258940" y="1294877"/>
            <a:ext cx="656548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HR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пишет команду в личный чат с ботом.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Бот получает сообщение.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Запрос в СУБД для определения пользователя.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Ответ из СУБД о статусе пользователя 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Перенаправление команды пользователя в модуль.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Обращение модуля в СУБД для выгрузки данных.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Преобразование данных и аналитический расчет.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Получение ботом информации из модуля.</a:t>
            </a: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Отправка данных в чат с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HR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  <a:p>
            <a:pPr marL="447675" lvl="0" indent="-447675" algn="just">
              <a:spcAft>
                <a:spcPts val="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Получение ответа на запрос.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C9BEA-835E-5469-A1E8-561995949550}"/>
              </a:ext>
            </a:extLst>
          </p:cNvPr>
          <p:cNvSpPr txBox="1"/>
          <p:nvPr/>
        </p:nvSpPr>
        <p:spPr>
          <a:xfrm>
            <a:off x="3467100" y="229327"/>
            <a:ext cx="598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Принцип работы модуля с </a:t>
            </a:r>
            <a:r>
              <a:rPr lang="en-US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HR</a:t>
            </a:r>
            <a:endParaRPr lang="ru-RU" sz="3600" dirty="0">
              <a:solidFill>
                <a:srgbClr val="274E9C"/>
              </a:solidFill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12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26CE-5435-5A21-58A9-D2AAA491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2EB5D-F46C-E526-4460-5B7562D4BD08}"/>
              </a:ext>
            </a:extLst>
          </p:cNvPr>
          <p:cNvSpPr txBox="1"/>
          <p:nvPr/>
        </p:nvSpPr>
        <p:spPr>
          <a:xfrm>
            <a:off x="3467100" y="225872"/>
            <a:ext cx="8413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AA96AB-E05F-1C53-92DC-87697C618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B22CAB9-BABD-EA76-0AB5-0EF9EDCA7336}"/>
              </a:ext>
            </a:extLst>
          </p:cNvPr>
          <p:cNvGrpSpPr/>
          <p:nvPr/>
        </p:nvGrpSpPr>
        <p:grpSpPr>
          <a:xfrm>
            <a:off x="11611610" y="6312477"/>
            <a:ext cx="549805" cy="490760"/>
            <a:chOff x="11346317" y="6084717"/>
            <a:chExt cx="692643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FFC8F32-A17D-7EE1-B626-193594062BC8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9A0FA5-5E41-86B1-817E-A9A8849EA63D}"/>
                </a:ext>
              </a:extLst>
            </p:cNvPr>
            <p:cNvSpPr txBox="1"/>
            <p:nvPr/>
          </p:nvSpPr>
          <p:spPr>
            <a:xfrm>
              <a:off x="11346317" y="6199977"/>
              <a:ext cx="692643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11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CBF7AB0-CF05-0CC0-0742-99E29894C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985824"/>
              </p:ext>
            </p:extLst>
          </p:nvPr>
        </p:nvGraphicFramePr>
        <p:xfrm>
          <a:off x="620184" y="1154871"/>
          <a:ext cx="10705794" cy="537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6367">
                  <a:extLst>
                    <a:ext uri="{9D8B030D-6E8A-4147-A177-3AD203B41FA5}">
                      <a16:colId xmlns:a16="http://schemas.microsoft.com/office/drawing/2014/main" val="250697221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199941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671968417"/>
                    </a:ext>
                  </a:extLst>
                </a:gridCol>
                <a:gridCol w="2006067">
                  <a:extLst>
                    <a:ext uri="{9D8B030D-6E8A-4147-A177-3AD203B41FA5}">
                      <a16:colId xmlns:a16="http://schemas.microsoft.com/office/drawing/2014/main" val="3814319430"/>
                    </a:ext>
                  </a:extLst>
                </a:gridCol>
              </a:tblGrid>
              <a:tr h="837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Наименование показателя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Обозначение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Ед. изм.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Величина показателя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080750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1. Объем инвестиций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I проект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руб.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1 234 895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695488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2. Ставка дисконтирования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r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%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12,1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3440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3. Чистая приведенная стоимость проекта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NPV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руб.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19 127 878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476496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4. Внутренняя ставка доходности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IRR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%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27,6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05829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5. Простой срок окупаемости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PPs</a:t>
                      </a:r>
                      <a:endParaRPr lang="ru-RU" sz="1600" b="1" kern="1200" dirty="0">
                        <a:solidFill>
                          <a:schemeClr val="dk1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месяцев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5,53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9626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6. Дисконтированный срок окупаемости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PPd</a:t>
                      </a:r>
                      <a:endParaRPr lang="ru-RU" sz="1600" b="1" kern="1200" dirty="0">
                        <a:solidFill>
                          <a:schemeClr val="dk1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месяцев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5,57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59309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7. Коэффициент удельной эффективности проекта (модифицированный)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PI_мод</a:t>
                      </a:r>
                      <a:endParaRPr lang="ru-RU" sz="1600" b="1" kern="1200" dirty="0">
                        <a:solidFill>
                          <a:schemeClr val="dk1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коэф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-т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15,49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0281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8. Чистая конечная стоимость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NTV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руб.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6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30 198 205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28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37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3467100" y="225425"/>
            <a:ext cx="3137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Заключение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408069" y="6199976"/>
              <a:ext cx="569157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13" name="Рисунок 12" descr="Мозг – Бесплатные иконки:">
            <a:extLst>
              <a:ext uri="{FF2B5EF4-FFF2-40B4-BE49-F238E27FC236}">
                <a16:creationId xmlns:a16="http://schemas.microsoft.com/office/drawing/2014/main" id="{ED726AE6-5420-3FD1-B821-48A89603D5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4045" y="1851330"/>
            <a:ext cx="3705528" cy="3705528"/>
          </a:xfrm>
          <a:prstGeom prst="rect">
            <a:avLst/>
          </a:prstGeom>
        </p:spPr>
      </p:pic>
      <p:graphicFrame>
        <p:nvGraphicFramePr>
          <p:cNvPr id="14" name="Объект 4">
            <a:extLst>
              <a:ext uri="{FF2B5EF4-FFF2-40B4-BE49-F238E27FC236}">
                <a16:creationId xmlns:a16="http://schemas.microsoft.com/office/drawing/2014/main" id="{52473C9A-6E45-374C-D55E-72AE5DF88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6698857"/>
              </p:ext>
            </p:extLst>
          </p:nvPr>
        </p:nvGraphicFramePr>
        <p:xfrm>
          <a:off x="2889380" y="1126066"/>
          <a:ext cx="9302620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3962" y="1093492"/>
            <a:ext cx="9134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3962" y="2234500"/>
            <a:ext cx="9134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3962" y="3375508"/>
            <a:ext cx="9134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962" y="4516516"/>
            <a:ext cx="9134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3962" y="5657523"/>
            <a:ext cx="9134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7565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E9DAD-AA91-479D-BD25-90F4FDCB35C3}"/>
              </a:ext>
            </a:extLst>
          </p:cNvPr>
          <p:cNvSpPr txBox="1"/>
          <p:nvPr/>
        </p:nvSpPr>
        <p:spPr>
          <a:xfrm>
            <a:off x="1792890" y="2921170"/>
            <a:ext cx="86062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6000" b="1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439903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15632</TotalTime>
  <Words>643</Words>
  <Application>Microsoft Office PowerPoint</Application>
  <PresentationFormat>Широкоэкранный</PresentationFormat>
  <Paragraphs>183</Paragraphs>
  <Slides>13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Gill Sans</vt:lpstr>
      <vt:lpstr>Inter Variable Text</vt:lpstr>
      <vt:lpstr>Inter Variable Text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43</cp:revision>
  <dcterms:created xsi:type="dcterms:W3CDTF">2024-10-09T13:54:56Z</dcterms:created>
  <dcterms:modified xsi:type="dcterms:W3CDTF">2026-06-07T20:25:02Z</dcterms:modified>
</cp:coreProperties>
</file>