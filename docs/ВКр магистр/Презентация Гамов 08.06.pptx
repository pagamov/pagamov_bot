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14" r:id="rId3"/>
    <p:sldId id="315" r:id="rId4"/>
    <p:sldId id="320" r:id="rId5"/>
    <p:sldId id="304" r:id="rId6"/>
    <p:sldId id="321" r:id="rId7"/>
    <p:sldId id="309" r:id="rId8"/>
    <p:sldId id="326" r:id="rId9"/>
    <p:sldId id="328" r:id="rId10"/>
    <p:sldId id="323" r:id="rId11"/>
    <p:sldId id="324" r:id="rId12"/>
    <p:sldId id="325" r:id="rId13"/>
    <p:sldId id="310" r:id="rId14"/>
    <p:sldId id="32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емидов Андрей Викторович" initials="ДАВ" lastIdx="9" clrIdx="0">
    <p:extLst>
      <p:ext uri="{19B8F6BF-5375-455C-9EA6-DF929625EA0E}">
        <p15:presenceInfo xmlns:p15="http://schemas.microsoft.com/office/powerpoint/2012/main" userId="S-1-5-21-1972798453-1135247013-1930655864-32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000000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6" autoAdjust="0"/>
    <p:restoredTop sz="94657"/>
  </p:normalViewPr>
  <p:slideViewPr>
    <p:cSldViewPr snapToGrid="0" showGuides="1">
      <p:cViewPr>
        <p:scale>
          <a:sx n="100" d="100"/>
          <a:sy n="100" d="100"/>
        </p:scale>
        <p:origin x="1276" y="13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2:19.780" idx="1">
    <p:pos x="4182" y="1716"/>
    <p:text>Авторская методика формирования привычек реализованная в виде чат-бота.</p:text>
    <p:extLst>
      <p:ext uri="{C676402C-5697-4E1C-873F-D02D1690AC5C}">
        <p15:threadingInfo xmlns:p15="http://schemas.microsoft.com/office/powerpoint/2012/main" timeZoneBias="-180"/>
      </p:ext>
    </p:extLst>
  </p:cm>
  <p:cm authorId="1" dt="2026-06-04T11:32:34.399" idx="2">
    <p:pos x="6234" y="1140"/>
    <p:text>Разработана методика формирования привычек, основанная на синергии геймификации и анонимного социального взаимодействия.</p:text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 custScaleY="98902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59187" y="5326"/>
          <a:ext cx="6114006" cy="86714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5973" y="5326"/>
        <a:ext cx="5897220" cy="867146"/>
      </dsp:txXfrm>
    </dsp:sp>
    <dsp:sp modelId="{461663A7-095E-5349-A58D-186EEEBCE797}">
      <dsp:nvSpPr>
        <dsp:cNvPr id="0" name=""/>
        <dsp:cNvSpPr/>
      </dsp:nvSpPr>
      <dsp:spPr>
        <a:xfrm>
          <a:off x="1320800" y="513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59187" y="1139010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1139010"/>
        <a:ext cx="5894813" cy="876773"/>
      </dsp:txXfrm>
    </dsp:sp>
    <dsp:sp modelId="{91C536B7-3FF0-7540-A9E6-94ED27AD4BFD}">
      <dsp:nvSpPr>
        <dsp:cNvPr id="0" name=""/>
        <dsp:cNvSpPr/>
      </dsp:nvSpPr>
      <dsp:spPr>
        <a:xfrm>
          <a:off x="1320800" y="1139010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59187" y="2277508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2277508"/>
        <a:ext cx="5894813" cy="876773"/>
      </dsp:txXfrm>
    </dsp:sp>
    <dsp:sp modelId="{D40C6A89-69F2-4547-B292-3B110D581711}">
      <dsp:nvSpPr>
        <dsp:cNvPr id="0" name=""/>
        <dsp:cNvSpPr/>
      </dsp:nvSpPr>
      <dsp:spPr>
        <a:xfrm>
          <a:off x="1320800" y="2277508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59187" y="3416005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3416005"/>
        <a:ext cx="5894813" cy="876773"/>
      </dsp:txXfrm>
    </dsp:sp>
    <dsp:sp modelId="{BD4E3E7B-E244-FD4B-95F0-3CD7EAD42C42}">
      <dsp:nvSpPr>
        <dsp:cNvPr id="0" name=""/>
        <dsp:cNvSpPr/>
      </dsp:nvSpPr>
      <dsp:spPr>
        <a:xfrm>
          <a:off x="1320800" y="3416005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59187" y="4554503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4554503"/>
        <a:ext cx="5894813" cy="876773"/>
      </dsp:txXfrm>
    </dsp:sp>
    <dsp:sp modelId="{7CD4DBAE-3334-D541-8C7D-FC4CB0F79389}">
      <dsp:nvSpPr>
        <dsp:cNvPr id="0" name=""/>
        <dsp:cNvSpPr/>
      </dsp:nvSpPr>
      <dsp:spPr>
        <a:xfrm>
          <a:off x="1320800" y="4554503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22165" y="1944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1944"/>
        <a:ext cx="5748402" cy="876311"/>
      </dsp:txXfrm>
    </dsp:sp>
    <dsp:sp modelId="{461663A7-095E-5349-A58D-186EEEBCE797}">
      <dsp:nvSpPr>
        <dsp:cNvPr id="0" name=""/>
        <dsp:cNvSpPr/>
      </dsp:nvSpPr>
      <dsp:spPr>
        <a:xfrm>
          <a:off x="1284009" y="1944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22165" y="1139842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1139842"/>
        <a:ext cx="5748402" cy="876311"/>
      </dsp:txXfrm>
    </dsp:sp>
    <dsp:sp modelId="{91C536B7-3FF0-7540-A9E6-94ED27AD4BFD}">
      <dsp:nvSpPr>
        <dsp:cNvPr id="0" name=""/>
        <dsp:cNvSpPr/>
      </dsp:nvSpPr>
      <dsp:spPr>
        <a:xfrm>
          <a:off x="1284009" y="1139842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22165" y="2277739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2277739"/>
        <a:ext cx="5748402" cy="876311"/>
      </dsp:txXfrm>
    </dsp:sp>
    <dsp:sp modelId="{D40C6A89-69F2-4547-B292-3B110D581711}">
      <dsp:nvSpPr>
        <dsp:cNvPr id="0" name=""/>
        <dsp:cNvSpPr/>
      </dsp:nvSpPr>
      <dsp:spPr>
        <a:xfrm>
          <a:off x="1284009" y="2277739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22165" y="3415636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3415636"/>
        <a:ext cx="5748402" cy="876311"/>
      </dsp:txXfrm>
    </dsp:sp>
    <dsp:sp modelId="{BD4E3E7B-E244-FD4B-95F0-3CD7EAD42C42}">
      <dsp:nvSpPr>
        <dsp:cNvPr id="0" name=""/>
        <dsp:cNvSpPr/>
      </dsp:nvSpPr>
      <dsp:spPr>
        <a:xfrm>
          <a:off x="1284009" y="3415636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22165" y="4553533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kern="12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4553533"/>
        <a:ext cx="5748402" cy="876311"/>
      </dsp:txXfrm>
    </dsp:sp>
    <dsp:sp modelId="{7CD4DBAE-3334-D541-8C7D-FC4CB0F79389}">
      <dsp:nvSpPr>
        <dsp:cNvPr id="0" name=""/>
        <dsp:cNvSpPr/>
      </dsp:nvSpPr>
      <dsp:spPr>
        <a:xfrm>
          <a:off x="1284009" y="4553533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4C51-AD00-F301-A103-DCB52D82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69F49B-57E6-A3E4-DD46-B9984D99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E74509-91F2-7456-62CE-EB9BCFD3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840D2-F40F-3A03-BD5F-9BAC553B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5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38C-59DE-A698-E7A9-7A314AC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F60B42-0EAF-F65C-3B0E-0E55C67E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E604E6-0A7C-14D2-9BC8-D2F24E360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A552FA-ED9E-97B9-9DCE-A22486D9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E8C9-93C8-C856-140D-8F1523C3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9846FF-873C-760F-2DD4-BC1F7AE2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84C0CB-77C0-0923-26C8-31AFC4B8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7160B2-F037-2D9C-8B34-F403AF3C1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1EC2-2E36-1FF1-635A-977656D0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1B318E-FCB3-608B-7C2B-C3EAE71A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B0E46E-4360-0A37-43ED-BB1D99C12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27467E-BE9F-35F5-EC5E-6AB3D5593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0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CB8-9C92-5026-0195-7E2A0650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DD8355-8B96-9D7D-499C-749C8AC8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D5CF2F-7373-BBA5-DEF5-90C457F0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D2D70-5FB5-F10D-3515-F705B72E6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89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7261-5052-FBD2-44F5-6CF5AD88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2149A2-C5CF-7098-75B9-08405D13E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37772B-5162-1393-DA3F-D12BE77F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D1915D-B1A0-758D-771F-DA845AD8B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8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B087-7714-0C07-968F-5E39AC91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EA52C7-89B5-EFB3-EC4A-042E6817F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E40F2E9-D194-08E1-B5A4-A597C76AA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2C8316-EE41-4EDD-A47B-0BE2570B6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62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6348-08B0-9C75-E1CB-D0B25F48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B6E15E-98C8-CB7B-5827-947F360A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F3B25D-39C3-9AA9-18D6-E0195D3D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8E0C5-654B-31DB-5085-53799E4E4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2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D79C-7E88-480C-9F73-6E40E8BF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9A9BF6-4A86-EFCF-7A28-14E9E76C6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7A6197-6149-AFA9-B4A2-20D75A29F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19650-BED7-23FC-EF03-305899791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57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4BDB-C613-071B-2CB4-6528D1C4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EB3C9E-3971-4188-7EA1-E9A90E081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C6F392-0820-703A-12A5-9D9C2B3C9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F94817-53A2-2391-D276-EA7883093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570-91E3-2540-5C77-F9A1D8B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ADCB1F-2BA3-3F07-3FAA-CEFF3EA87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06C3B1-4EBF-F378-0CBE-90A9A91A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40326-B102-0E4E-399E-63FD07AC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AA34-C84D-DDE8-E5BD-128022B9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C835E-B0CD-8595-08FA-783FEAC0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D9D1B4-0C60-A6AE-883D-384E4944D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E6FC-BC64-FBDD-591E-A7789F95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comments" Target="../comments/comment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9.sv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2.svg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663799"/>
            <a:ext cx="768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методики формирования здоровых привычек средствами игровой психологии и наставнической поддержки в Телеграм-боте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00037" y="5322387"/>
            <a:ext cx="5750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Студент гр.: ЭМС-271, Гамов П.А.</a:t>
            </a:r>
          </a:p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Научный рук-ль: к.э.н. доц., Демидов А.В.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71E4-7AE6-CAB0-76A5-E69BBC6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4727B0-0353-CC7D-EB7A-0A296BA6D707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1E6521-2A73-B03C-ED25-8E7D8FDC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B4D5965-A6C3-060A-449F-EBFA5482B3CC}"/>
              </a:ext>
            </a:extLst>
          </p:cNvPr>
          <p:cNvGrpSpPr/>
          <p:nvPr/>
        </p:nvGrpSpPr>
        <p:grpSpPr>
          <a:xfrm>
            <a:off x="300037" y="1602589"/>
            <a:ext cx="11831851" cy="5109156"/>
            <a:chOff x="374555" y="2318761"/>
            <a:chExt cx="12477502" cy="4818137"/>
          </a:xfrm>
        </p:grpSpPr>
        <p:sp>
          <p:nvSpPr>
            <p:cNvPr id="19" name="Фигура, имеющая форму буквы L 18">
              <a:extLst>
                <a:ext uri="{FF2B5EF4-FFF2-40B4-BE49-F238E27FC236}">
                  <a16:creationId xmlns:a16="http://schemas.microsoft.com/office/drawing/2014/main" id="{C6EB7A23-4CDF-E412-D661-51C0A780F5AF}"/>
                </a:ext>
              </a:extLst>
            </p:cNvPr>
            <p:cNvSpPr/>
            <p:nvPr/>
          </p:nvSpPr>
          <p:spPr>
            <a:xfrm rot="5400000">
              <a:off x="1244827" y="3189743"/>
              <a:ext cx="918180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Полилиния 21">
              <a:extLst>
                <a:ext uri="{FF2B5EF4-FFF2-40B4-BE49-F238E27FC236}">
                  <a16:creationId xmlns:a16="http://schemas.microsoft.com/office/drawing/2014/main" id="{E6DFA2BF-9513-618B-F024-5733EBB48792}"/>
                </a:ext>
              </a:extLst>
            </p:cNvPr>
            <p:cNvSpPr/>
            <p:nvPr/>
          </p:nvSpPr>
          <p:spPr>
            <a:xfrm>
              <a:off x="473758" y="4105599"/>
              <a:ext cx="3023920" cy="2537777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pPr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Повышенная нагрузка на психику, рост заболеваний, вызванных нездоровыми привычками</a:t>
              </a:r>
              <a:endParaRPr lang="ru-RU" sz="2400" dirty="0"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Треугольник 22">
              <a:extLst>
                <a:ext uri="{FF2B5EF4-FFF2-40B4-BE49-F238E27FC236}">
                  <a16:creationId xmlns:a16="http://schemas.microsoft.com/office/drawing/2014/main" id="{2C953B47-50FF-01F2-B2E5-98F0AC59025B}"/>
                </a:ext>
              </a:extLst>
            </p:cNvPr>
            <p:cNvSpPr/>
            <p:nvPr/>
          </p:nvSpPr>
          <p:spPr>
            <a:xfrm>
              <a:off x="2570712" y="3525144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Фигура, имеющая форму буквы L 21">
              <a:extLst>
                <a:ext uri="{FF2B5EF4-FFF2-40B4-BE49-F238E27FC236}">
                  <a16:creationId xmlns:a16="http://schemas.microsoft.com/office/drawing/2014/main" id="{D3C551DA-F08D-A9A5-81F4-4A4E2B6D1278}"/>
                </a:ext>
              </a:extLst>
            </p:cNvPr>
            <p:cNvSpPr/>
            <p:nvPr/>
          </p:nvSpPr>
          <p:spPr>
            <a:xfrm rot="5400000">
              <a:off x="4008404" y="2960988"/>
              <a:ext cx="845931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Полилиния 24">
              <a:extLst>
                <a:ext uri="{FF2B5EF4-FFF2-40B4-BE49-F238E27FC236}">
                  <a16:creationId xmlns:a16="http://schemas.microsoft.com/office/drawing/2014/main" id="{9846FE19-4349-5B2D-775D-A4B0DBA6A9EB}"/>
                </a:ext>
              </a:extLst>
            </p:cNvPr>
            <p:cNvSpPr/>
            <p:nvPr/>
          </p:nvSpPr>
          <p:spPr>
            <a:xfrm>
              <a:off x="3203419" y="3935633"/>
              <a:ext cx="3023920" cy="320126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Процесс формирования устойчивых здоровых привычек у пользователей</a:t>
              </a:r>
            </a:p>
          </p:txBody>
        </p:sp>
        <p:sp>
          <p:nvSpPr>
            <p:cNvPr id="24" name="Треугольник 25">
              <a:extLst>
                <a:ext uri="{FF2B5EF4-FFF2-40B4-BE49-F238E27FC236}">
                  <a16:creationId xmlns:a16="http://schemas.microsoft.com/office/drawing/2014/main" id="{465F4799-71A8-D4BD-E5C8-A225C1ADD905}"/>
                </a:ext>
              </a:extLst>
            </p:cNvPr>
            <p:cNvSpPr/>
            <p:nvPr/>
          </p:nvSpPr>
          <p:spPr>
            <a:xfrm>
              <a:off x="5307108" y="3356598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Фигура, имеющая форму буквы L 24">
              <a:extLst>
                <a:ext uri="{FF2B5EF4-FFF2-40B4-BE49-F238E27FC236}">
                  <a16:creationId xmlns:a16="http://schemas.microsoft.com/office/drawing/2014/main" id="{B8A9A123-F65B-363A-5F9F-394E47BA0536}"/>
                </a:ext>
              </a:extLst>
            </p:cNvPr>
            <p:cNvSpPr/>
            <p:nvPr/>
          </p:nvSpPr>
          <p:spPr>
            <a:xfrm rot="5400000">
              <a:off x="6984526" y="2198802"/>
              <a:ext cx="845932" cy="2967664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Полилиния 27">
              <a:extLst>
                <a:ext uri="{FF2B5EF4-FFF2-40B4-BE49-F238E27FC236}">
                  <a16:creationId xmlns:a16="http://schemas.microsoft.com/office/drawing/2014/main" id="{0E16A83D-D1CC-6AB9-80CF-2D3176183D04}"/>
                </a:ext>
              </a:extLst>
            </p:cNvPr>
            <p:cNvSpPr/>
            <p:nvPr/>
          </p:nvSpPr>
          <p:spPr>
            <a:xfrm>
              <a:off x="6025505" y="3259667"/>
              <a:ext cx="3225743" cy="387723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Авторская методика формирования привычек в виде чат-бота с применением геймификации и анонимного взаимодействия</a:t>
              </a:r>
            </a:p>
          </p:txBody>
        </p:sp>
        <p:sp>
          <p:nvSpPr>
            <p:cNvPr id="27" name="Треугольник 28">
              <a:extLst>
                <a:ext uri="{FF2B5EF4-FFF2-40B4-BE49-F238E27FC236}">
                  <a16:creationId xmlns:a16="http://schemas.microsoft.com/office/drawing/2014/main" id="{2ED82B84-BEDA-FA10-252D-0EA51CC2DF26}"/>
                </a:ext>
              </a:extLst>
            </p:cNvPr>
            <p:cNvSpPr/>
            <p:nvPr/>
          </p:nvSpPr>
          <p:spPr>
            <a:xfrm>
              <a:off x="8136049" y="2722111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Фигура, имеющая форму буквы L 27">
              <a:extLst>
                <a:ext uri="{FF2B5EF4-FFF2-40B4-BE49-F238E27FC236}">
                  <a16:creationId xmlns:a16="http://schemas.microsoft.com/office/drawing/2014/main" id="{8EEB327F-F75B-89F0-77C9-9E9C77F9C4F5}"/>
                </a:ext>
              </a:extLst>
            </p:cNvPr>
            <p:cNvSpPr/>
            <p:nvPr/>
          </p:nvSpPr>
          <p:spPr>
            <a:xfrm rot="5400000">
              <a:off x="10059751" y="1247360"/>
              <a:ext cx="1100588" cy="3243390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Полилиния 30">
              <a:extLst>
                <a:ext uri="{FF2B5EF4-FFF2-40B4-BE49-F238E27FC236}">
                  <a16:creationId xmlns:a16="http://schemas.microsoft.com/office/drawing/2014/main" id="{9685821A-ED94-74F4-C3DB-1D318C1A821E}"/>
                </a:ext>
              </a:extLst>
            </p:cNvPr>
            <p:cNvSpPr/>
            <p:nvPr/>
          </p:nvSpPr>
          <p:spPr>
            <a:xfrm>
              <a:off x="9135709" y="2387027"/>
              <a:ext cx="3716348" cy="474987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Научная новизна исследования: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Предложена оригинальная концепция формирования привычек, основанная на синергии геймификации и анонимного социального взаимодействия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2EC47-09FC-0A08-E549-9BCBC0FD0B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4" y="2604096"/>
            <a:ext cx="475173" cy="7377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7A7561-CC77-2434-70D0-4190BA2C4E72}"/>
              </a:ext>
            </a:extLst>
          </p:cNvPr>
          <p:cNvGrpSpPr/>
          <p:nvPr/>
        </p:nvGrpSpPr>
        <p:grpSpPr>
          <a:xfrm>
            <a:off x="3784995" y="2160341"/>
            <a:ext cx="575090" cy="961618"/>
            <a:chOff x="4183975" y="1757105"/>
            <a:chExt cx="1125843" cy="188254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3A728C9-EB45-DF61-44E9-AE643C94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3095283"/>
              <a:ext cx="1105223" cy="54436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D69C349-5D30-5EC6-C315-07E28C077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2442690"/>
              <a:ext cx="1125843" cy="50724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A493787-8F7B-189E-79BB-EA54E493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1757105"/>
              <a:ext cx="1092851" cy="54024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B94A46B-28B0-9977-797D-BCF61A6D6BA2}"/>
              </a:ext>
            </a:extLst>
          </p:cNvPr>
          <p:cNvGrpSpPr/>
          <p:nvPr/>
        </p:nvGrpSpPr>
        <p:grpSpPr>
          <a:xfrm>
            <a:off x="6574437" y="1569790"/>
            <a:ext cx="531023" cy="940754"/>
            <a:chOff x="7046611" y="1067397"/>
            <a:chExt cx="1141610" cy="188577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1CD701B-2303-DC55-84C2-54E31F45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611" y="2398656"/>
              <a:ext cx="1125843" cy="554519"/>
            </a:xfrm>
            <a:prstGeom prst="rect">
              <a:avLst/>
            </a:prstGeom>
          </p:spPr>
        </p:pic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D0E8070F-012E-A13E-6FFD-374080E221F8}"/>
                </a:ext>
              </a:extLst>
            </p:cNvPr>
            <p:cNvGrpSpPr/>
            <p:nvPr/>
          </p:nvGrpSpPr>
          <p:grpSpPr>
            <a:xfrm>
              <a:off x="7062378" y="1067397"/>
              <a:ext cx="1125843" cy="1192833"/>
              <a:chOff x="4183975" y="1757105"/>
              <a:chExt cx="1125843" cy="1192833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018769AC-F2CC-CA7E-C9C0-A1B964F47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E5E8B24C-5119-E435-C52E-08F027A9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</p:grpSp>
      <p:sp>
        <p:nvSpPr>
          <p:cNvPr id="10" name="Полилиния 10">
            <a:extLst>
              <a:ext uri="{FF2B5EF4-FFF2-40B4-BE49-F238E27FC236}">
                <a16:creationId xmlns:a16="http://schemas.microsoft.com/office/drawing/2014/main" id="{CA77D553-F7CF-5785-4D9A-373D3A9CAB6C}"/>
              </a:ext>
            </a:extLst>
          </p:cNvPr>
          <p:cNvSpPr/>
          <p:nvPr/>
        </p:nvSpPr>
        <p:spPr>
          <a:xfrm>
            <a:off x="8949140" y="3049766"/>
            <a:ext cx="2239456" cy="693288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b" anchorCtr="0">
            <a:noAutofit/>
          </a:bodyPr>
          <a:lstStyle/>
          <a:p>
            <a:pPr marL="0" lvl="1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ru-RU" sz="16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43AA9-0560-89EF-1A5D-7C9D6823BD81}"/>
              </a:ext>
            </a:extLst>
          </p:cNvPr>
          <p:cNvPicPr>
            <a:picLocks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673" y="843411"/>
            <a:ext cx="769721" cy="71219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EFD4DF1-5D53-277E-11CF-C8A6BE6E830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2A2BD67B-53B3-4218-AFFE-1704F7DB1BF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04F7A5-8BA6-E755-70AC-39E41EF7EB8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3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AD95-6AA3-0406-E4E1-59EC7CBD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45E20B-9422-3076-A3EC-2F01881D26CA}"/>
              </a:ext>
            </a:extLst>
          </p:cNvPr>
          <p:cNvSpPr txBox="1"/>
          <p:nvPr/>
        </p:nvSpPr>
        <p:spPr>
          <a:xfrm>
            <a:off x="3638792" y="238690"/>
            <a:ext cx="297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Цель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911FE-E445-2327-821A-EB1444D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1E376DE-B482-E7D3-2C0A-997716648108}"/>
              </a:ext>
            </a:extLst>
          </p:cNvPr>
          <p:cNvSpPr txBox="1">
            <a:spLocks/>
          </p:cNvSpPr>
          <p:nvPr/>
        </p:nvSpPr>
        <p:spPr>
          <a:xfrm>
            <a:off x="485194" y="1184989"/>
            <a:ext cx="3921436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авторской методики формирования здоровых привычек и  создание сервиса на ее основе в виде чат-бота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BD0E453C-00AC-0993-B076-D54F761C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2BC9AECF-D1E8-08BB-0FDF-F184B37EE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682324"/>
              </p:ext>
            </p:extLst>
          </p:nvPr>
        </p:nvGraphicFramePr>
        <p:xfrm>
          <a:off x="3582206" y="1012217"/>
          <a:ext cx="9193994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B5F74B7-F9BC-65E4-445C-B11470F40D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FC532B2-E8D5-09A8-95CC-0C9736DAB0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5F0BF7-326D-51AB-0A25-72EF6A2FAE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5F3C459-3F9C-4359-7595-021C77C6466C}"/>
              </a:ext>
            </a:extLst>
          </p:cNvPr>
          <p:cNvSpPr/>
          <p:nvPr/>
        </p:nvSpPr>
        <p:spPr>
          <a:xfrm>
            <a:off x="5129342" y="1184989"/>
            <a:ext cx="408769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94A2EF59-76AC-EB0E-07B0-95CACC5E1131}"/>
              </a:ext>
            </a:extLst>
          </p:cNvPr>
          <p:cNvSpPr/>
          <p:nvPr/>
        </p:nvSpPr>
        <p:spPr>
          <a:xfrm>
            <a:off x="5102427" y="3427217"/>
            <a:ext cx="429515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B77BC6B3-FF8F-4A02-897B-F71FF0605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656" y="4507431"/>
            <a:ext cx="657837" cy="703146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E27A09DB-2A8D-243E-E472-EDFB5822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624" y="5698345"/>
            <a:ext cx="563597" cy="602415"/>
          </a:xfrm>
          <a:prstGeom prst="rect">
            <a:avLst/>
          </a:prstGeom>
        </p:spPr>
      </p:pic>
      <p:sp>
        <p:nvSpPr>
          <p:cNvPr id="7" name="Shape 2930">
            <a:extLst>
              <a:ext uri="{FF2B5EF4-FFF2-40B4-BE49-F238E27FC236}">
                <a16:creationId xmlns:a16="http://schemas.microsoft.com/office/drawing/2014/main" id="{C7EFA93D-E658-BBB9-6CEC-A61477F43521}"/>
              </a:ext>
            </a:extLst>
          </p:cNvPr>
          <p:cNvSpPr/>
          <p:nvPr/>
        </p:nvSpPr>
        <p:spPr>
          <a:xfrm>
            <a:off x="5033648" y="2410673"/>
            <a:ext cx="589852" cy="401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8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A5B0-8FAD-45CE-9A3E-8B0044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AE6CD-D5F9-85C2-5BEF-49C82F7D42B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</a:rPr>
              <a:t>Ограничения традиционных подходов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E74F3B-1BC8-C3D9-2E82-E68BB61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C099524-DE11-7082-5258-FD57CD851FC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EE32CE5-C8C2-281C-5299-9C428793949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0BE736-C424-ED3C-AAC4-EF9B0CD86DE2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5BDBAB-A106-F1B4-1B50-DCCD9CFADA8E}"/>
              </a:ext>
            </a:extLst>
          </p:cNvPr>
          <p:cNvSpPr txBox="1"/>
          <p:nvPr/>
        </p:nvSpPr>
        <p:spPr>
          <a:xfrm>
            <a:off x="3908081" y="3914940"/>
            <a:ext cx="3800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функции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Отметки о выполнении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напоминания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086132-B181-B1C0-D5A9-BD831FD54F8D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247333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8858543-2C17-18C5-6BBB-74205E9208E1}"/>
              </a:ext>
            </a:extLst>
          </p:cNvPr>
          <p:cNvCxnSpPr>
            <a:cxnSpLocks/>
          </p:cNvCxnSpPr>
          <p:nvPr/>
        </p:nvCxnSpPr>
        <p:spPr>
          <a:xfrm>
            <a:off x="3824759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7E2936-9EBC-C39C-E15F-DB1B7036CD04}"/>
              </a:ext>
            </a:extLst>
          </p:cNvPr>
          <p:cNvSpPr txBox="1"/>
          <p:nvPr/>
        </p:nvSpPr>
        <p:spPr>
          <a:xfrm>
            <a:off x="462747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человек имеет доступ к информации о здоровом образе жизни. Проблема заключается в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перевести знания в устойчивое поведение.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083DB-B9F5-7440-5C16-F4E9CAD99C19}"/>
              </a:ext>
            </a:extLst>
          </p:cNvPr>
          <p:cNvSpPr txBox="1"/>
          <p:nvPr/>
        </p:nvSpPr>
        <p:spPr>
          <a:xfrm>
            <a:off x="7984119" y="1259183"/>
            <a:ext cx="3745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входа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приложения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аккаунтов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0E321-C939-C296-E8BC-B0B04166D7F0}"/>
              </a:ext>
            </a:extLst>
          </p:cNvPr>
          <p:cNvSpPr txBox="1"/>
          <p:nvPr/>
        </p:nvSpPr>
        <p:spPr>
          <a:xfrm>
            <a:off x="3908081" y="1259183"/>
            <a:ext cx="39174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мгновенной обратной связи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наставнической поддержки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разнообразия в сообщениях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2C3-6639-196C-F2B1-E6390E6D2EDF}"/>
              </a:ext>
            </a:extLst>
          </p:cNvPr>
          <p:cNvSpPr txBox="1"/>
          <p:nvPr/>
        </p:nvSpPr>
        <p:spPr>
          <a:xfrm>
            <a:off x="7984118" y="3914940"/>
            <a:ext cx="35381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персонализации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рекомендации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усталость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00BAC58-6097-6C85-CBF8-AB369BE82B8E}"/>
              </a:ext>
            </a:extLst>
          </p:cNvPr>
          <p:cNvCxnSpPr>
            <a:cxnSpLocks/>
          </p:cNvCxnSpPr>
          <p:nvPr/>
        </p:nvCxnSpPr>
        <p:spPr>
          <a:xfrm>
            <a:off x="7897061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2F05F64-9669-56C5-478B-BC0E5437AB6E}"/>
              </a:ext>
            </a:extLst>
          </p:cNvPr>
          <p:cNvCxnSpPr>
            <a:cxnSpLocks/>
          </p:cNvCxnSpPr>
          <p:nvPr/>
        </p:nvCxnSpPr>
        <p:spPr>
          <a:xfrm>
            <a:off x="3829521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0848E9-C705-8F0C-DAD8-999FDD6D1DD1}"/>
              </a:ext>
            </a:extLst>
          </p:cNvPr>
          <p:cNvCxnSpPr>
            <a:cxnSpLocks/>
          </p:cNvCxnSpPr>
          <p:nvPr/>
        </p:nvCxnSpPr>
        <p:spPr>
          <a:xfrm>
            <a:off x="7899100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3A9-89F0-C507-2228-C39F8AC8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0C2DEE-F6FF-173F-809E-C44A9FFA9E0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Архитектура авторской методики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6AB62A-348F-9827-EB9C-ECBE0E2A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89114B-91A8-5CB8-1621-84455384AC0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625FBA2-57D2-1DD0-663A-46838EF01CD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9F281B-300F-E545-8A5E-991DD30C5D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4648A3-B21E-1539-D918-7C9A88BFBA83}"/>
              </a:ext>
            </a:extLst>
          </p:cNvPr>
          <p:cNvSpPr txBox="1"/>
          <p:nvPr/>
        </p:nvSpPr>
        <p:spPr>
          <a:xfrm>
            <a:off x="4066366" y="1248366"/>
            <a:ext cx="3452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механика мотивации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опыта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CCBC09-E132-50B1-9E33-B5C720C9B983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427638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A8C5A7-EF5E-7D21-A826-9FD7CD988654}"/>
              </a:ext>
            </a:extLst>
          </p:cNvPr>
          <p:cNvCxnSpPr>
            <a:cxnSpLocks/>
          </p:cNvCxnSpPr>
          <p:nvPr/>
        </p:nvCxnSpPr>
        <p:spPr>
          <a:xfrm>
            <a:off x="3979307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BE9ADE-8FCB-07E9-7693-A90600D595DB}"/>
              </a:ext>
            </a:extLst>
          </p:cNvPr>
          <p:cNvSpPr txBox="1"/>
          <p:nvPr/>
        </p:nvSpPr>
        <p:spPr>
          <a:xfrm>
            <a:off x="467951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методики включает четыре ключевых компонента, каждый из которых имеет свой функционал, механизм реализации и актуальна для пользователей до 30 лет.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6B2C5-15FF-835C-1F25-1CE2B9BBE976}"/>
              </a:ext>
            </a:extLst>
          </p:cNvPr>
          <p:cNvSpPr txBox="1"/>
          <p:nvPr/>
        </p:nvSpPr>
        <p:spPr>
          <a:xfrm>
            <a:off x="7967610" y="1259183"/>
            <a:ext cx="3558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автоматизированного наставничества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собеседника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жалоб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15700-4928-9F2E-5721-B24F5061766A}"/>
              </a:ext>
            </a:extLst>
          </p:cNvPr>
          <p:cNvSpPr txBox="1"/>
          <p:nvPr/>
        </p:nvSpPr>
        <p:spPr>
          <a:xfrm>
            <a:off x="4066364" y="3429000"/>
            <a:ext cx="37338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программа формирования привычек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дизайн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Персонализированная коммуникация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1E459-65BF-BE20-BC9B-8340289BD608}"/>
              </a:ext>
            </a:extLst>
          </p:cNvPr>
          <p:cNvSpPr txBox="1"/>
          <p:nvPr/>
        </p:nvSpPr>
        <p:spPr>
          <a:xfrm>
            <a:off x="7967608" y="3429000"/>
            <a:ext cx="3648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 и аналитики прогресса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A7F7889-E289-4E2D-2474-566CD3191DB7}"/>
              </a:ext>
            </a:extLst>
          </p:cNvPr>
          <p:cNvCxnSpPr>
            <a:cxnSpLocks/>
          </p:cNvCxnSpPr>
          <p:nvPr/>
        </p:nvCxnSpPr>
        <p:spPr>
          <a:xfrm>
            <a:off x="7880552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D83F036-57E0-3DCC-5B5F-37F6A6E5DD2C}"/>
              </a:ext>
            </a:extLst>
          </p:cNvPr>
          <p:cNvCxnSpPr>
            <a:cxnSpLocks/>
          </p:cNvCxnSpPr>
          <p:nvPr/>
        </p:nvCxnSpPr>
        <p:spPr>
          <a:xfrm>
            <a:off x="3984069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3544180-32ED-A74E-1DA1-FE8AF2984B6D}"/>
              </a:ext>
            </a:extLst>
          </p:cNvPr>
          <p:cNvCxnSpPr>
            <a:cxnSpLocks/>
          </p:cNvCxnSpPr>
          <p:nvPr/>
        </p:nvCxnSpPr>
        <p:spPr>
          <a:xfrm>
            <a:off x="7882591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8410-CDBC-CBC0-EBCF-E50C5697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51B1F-82F3-0A02-E1CA-64422849A50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34ED21-2B30-DEC3-DFED-6E196462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A0683E5-BEC3-C676-6C30-2480617A2C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DA6443F-0E4B-AC19-89C9-BF20C8E5832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C92915-18D4-DA2D-6491-DACDE02FE72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BF17A3-3DC1-EC04-1981-44459C035167}"/>
              </a:ext>
            </a:extLst>
          </p:cNvPr>
          <p:cNvCxnSpPr>
            <a:cxnSpLocks/>
          </p:cNvCxnSpPr>
          <p:nvPr/>
        </p:nvCxnSpPr>
        <p:spPr>
          <a:xfrm>
            <a:off x="345952" y="1259898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7C97DBD-8267-E50A-8781-006D55040F18}"/>
              </a:ext>
            </a:extLst>
          </p:cNvPr>
          <p:cNvCxnSpPr>
            <a:cxnSpLocks/>
          </p:cNvCxnSpPr>
          <p:nvPr/>
        </p:nvCxnSpPr>
        <p:spPr>
          <a:xfrm>
            <a:off x="5616363" y="125989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E3B0D3-1408-8A86-BAD7-3A60C8E81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3835" y="4925096"/>
            <a:ext cx="900000" cy="9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DBABC6-8283-A29C-1F92-1B485D245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09" y="1269283"/>
            <a:ext cx="900000" cy="9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09EED7-70F8-80CA-00FF-6275A6C71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23" y="4528644"/>
            <a:ext cx="900000" cy="9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14F597F-6337-A35C-396D-195244535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319" y="1269283"/>
            <a:ext cx="900000" cy="900000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68B747D-B6C4-EFFD-5098-50AEC586BB36}"/>
              </a:ext>
            </a:extLst>
          </p:cNvPr>
          <p:cNvCxnSpPr>
            <a:cxnSpLocks/>
          </p:cNvCxnSpPr>
          <p:nvPr/>
        </p:nvCxnSpPr>
        <p:spPr>
          <a:xfrm>
            <a:off x="340537" y="4498650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FCDE733-27BA-0F6E-6154-5BF8062F9096}"/>
              </a:ext>
            </a:extLst>
          </p:cNvPr>
          <p:cNvCxnSpPr>
            <a:cxnSpLocks/>
          </p:cNvCxnSpPr>
          <p:nvPr/>
        </p:nvCxnSpPr>
        <p:spPr>
          <a:xfrm>
            <a:off x="5630333" y="4909924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3EE28C-9BA4-C1BA-C7D6-BE5C9F7F8AC1}"/>
              </a:ext>
            </a:extLst>
          </p:cNvPr>
          <p:cNvSpPr txBox="1"/>
          <p:nvPr/>
        </p:nvSpPr>
        <p:spPr>
          <a:xfrm>
            <a:off x="1351864" y="4409015"/>
            <a:ext cx="4132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Telegram API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Низкий порог входа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Кроссплатформенность и бесшовная синхронизация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Мощный и гибкий API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30497-2BB0-E02B-354E-C2670EEE64DF}"/>
              </a:ext>
            </a:extLst>
          </p:cNvPr>
          <p:cNvSpPr txBox="1"/>
          <p:nvPr/>
        </p:nvSpPr>
        <p:spPr>
          <a:xfrm>
            <a:off x="1351865" y="1269283"/>
            <a:ext cx="41327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400" dirty="0">
              <a:solidFill>
                <a:srgbClr val="274E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Высокоуровневый язык с простым синтаксисом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библиотек для анализа данных и разработки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ботов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A0E92-5F63-DFA4-7E40-682CB8D98ABD}"/>
              </a:ext>
            </a:extLst>
          </p:cNvPr>
          <p:cNvSpPr txBox="1"/>
          <p:nvPr/>
        </p:nvSpPr>
        <p:spPr>
          <a:xfrm>
            <a:off x="6669264" y="4908073"/>
            <a:ext cx="49364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Легковесность и эффективность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Быстрое развертывание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Портативность и согласованность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6C4651-7811-DC37-120F-541D240B33B3}"/>
              </a:ext>
            </a:extLst>
          </p:cNvPr>
          <p:cNvSpPr txBox="1"/>
          <p:nvPr/>
        </p:nvSpPr>
        <p:spPr>
          <a:xfrm>
            <a:off x="6669264" y="1265552"/>
            <a:ext cx="4971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285750" indent="-285750">
              <a:buFontTx/>
              <a:buChar char="-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Бессерверная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легкость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37EF7B3-EE94-923D-7C3C-54DFE462A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9799" y="3027084"/>
            <a:ext cx="900000" cy="90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5D497FC-D1FF-D095-AE12-889DF3F8DD3A}"/>
              </a:ext>
            </a:extLst>
          </p:cNvPr>
          <p:cNvSpPr txBox="1"/>
          <p:nvPr/>
        </p:nvSpPr>
        <p:spPr>
          <a:xfrm>
            <a:off x="6669264" y="3027084"/>
            <a:ext cx="49718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стоимость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кастомизация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надежность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</a:t>
            </a: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A6018588-AC56-EBF1-532C-9C621C809FD4}"/>
              </a:ext>
            </a:extLst>
          </p:cNvPr>
          <p:cNvCxnSpPr>
            <a:cxnSpLocks/>
          </p:cNvCxnSpPr>
          <p:nvPr/>
        </p:nvCxnSpPr>
        <p:spPr>
          <a:xfrm>
            <a:off x="5630333" y="3032353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659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64B1-CFDE-5903-3AEF-FC6A527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784AD-F57A-4DF0-F7BB-D6DF69DD27F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Пользовательский путь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633CF3-FBC5-5827-043C-62BF04D3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8EC4E1-F01B-D0C8-B87B-4303F7DEB6F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9EE35CB-815B-D5EA-3EAA-A4A2E69BF9F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0F926F-0E23-0407-765F-0D0E35931168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6B802B-ED97-0C20-0594-F231A3315B2E}"/>
              </a:ext>
            </a:extLst>
          </p:cNvPr>
          <p:cNvSpPr/>
          <p:nvPr/>
        </p:nvSpPr>
        <p:spPr>
          <a:xfrm>
            <a:off x="6786880" y="1255366"/>
            <a:ext cx="2880000" cy="900000"/>
          </a:xfrm>
          <a:prstGeom prst="roundRect">
            <a:avLst/>
          </a:prstGeom>
          <a:ln w="9525" cap="flat" cmpd="sng" algn="ctr">
            <a:solidFill>
              <a:srgbClr val="274E9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привычки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76BD47-F376-BA4B-0980-95875A09CDC2}"/>
              </a:ext>
            </a:extLst>
          </p:cNvPr>
          <p:cNvSpPr/>
          <p:nvPr/>
        </p:nvSpPr>
        <p:spPr>
          <a:xfrm>
            <a:off x="8519203" y="3799276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Положительное подкрепление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4441B19-E09A-47A4-91C4-0606796B0352}"/>
              </a:ext>
            </a:extLst>
          </p:cNvPr>
          <p:cNvSpPr/>
          <p:nvPr/>
        </p:nvSpPr>
        <p:spPr>
          <a:xfrm>
            <a:off x="8519203" y="2528737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ХР / достижения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0ABFC66-1F9A-4AA4-DDF3-9781CC1FFEBB}"/>
              </a:ext>
            </a:extLst>
          </p:cNvPr>
          <p:cNvSpPr/>
          <p:nvPr/>
        </p:nvSpPr>
        <p:spPr>
          <a:xfrm>
            <a:off x="5130023" y="2527321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Анонимная поддержка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3221FE8-2C81-0CE8-E9F2-EFA452DF440C}"/>
              </a:ext>
            </a:extLst>
          </p:cNvPr>
          <p:cNvSpPr/>
          <p:nvPr/>
        </p:nvSpPr>
        <p:spPr>
          <a:xfrm>
            <a:off x="5130023" y="379785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мотивации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3DF5A-FC1D-6745-3482-E2D73237E937}"/>
              </a:ext>
            </a:extLst>
          </p:cNvPr>
          <p:cNvSpPr/>
          <p:nvPr/>
        </p:nvSpPr>
        <p:spPr>
          <a:xfrm>
            <a:off x="6824613" y="507729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действия</a:t>
            </a:r>
          </a:p>
        </p:txBody>
      </p:sp>
      <p:sp>
        <p:nvSpPr>
          <p:cNvPr id="94" name="Объект 2">
            <a:extLst>
              <a:ext uri="{FF2B5EF4-FFF2-40B4-BE49-F238E27FC236}">
                <a16:creationId xmlns:a16="http://schemas.microsoft.com/office/drawing/2014/main" id="{7061037D-0D91-6C8D-7C85-4190FE37C51C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717400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98" name="Соединитель: изогнутый 97">
            <a:extLst>
              <a:ext uri="{FF2B5EF4-FFF2-40B4-BE49-F238E27FC236}">
                <a16:creationId xmlns:a16="http://schemas.microsoft.com/office/drawing/2014/main" id="{A0A9A019-3175-946F-3FCA-876212650087}"/>
              </a:ext>
            </a:extLst>
          </p:cNvPr>
          <p:cNvCxnSpPr>
            <a:stCxn id="7" idx="1"/>
            <a:endCxn id="18" idx="0"/>
          </p:cNvCxnSpPr>
          <p:nvPr/>
        </p:nvCxnSpPr>
        <p:spPr>
          <a:xfrm rot="10800000" flipV="1">
            <a:off x="6570024" y="1705365"/>
            <a:ext cx="216857" cy="8219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: изогнутый 99">
            <a:extLst>
              <a:ext uri="{FF2B5EF4-FFF2-40B4-BE49-F238E27FC236}">
                <a16:creationId xmlns:a16="http://schemas.microsoft.com/office/drawing/2014/main" id="{C20D1A49-D496-A64F-1C70-19199191D7F3}"/>
              </a:ext>
            </a:extLst>
          </p:cNvPr>
          <p:cNvCxnSpPr>
            <a:stCxn id="7" idx="3"/>
            <a:endCxn id="13" idx="0"/>
          </p:cNvCxnSpPr>
          <p:nvPr/>
        </p:nvCxnSpPr>
        <p:spPr>
          <a:xfrm>
            <a:off x="9666880" y="1705366"/>
            <a:ext cx="292323" cy="8233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Соединитель: изогнутый 107">
            <a:extLst>
              <a:ext uri="{FF2B5EF4-FFF2-40B4-BE49-F238E27FC236}">
                <a16:creationId xmlns:a16="http://schemas.microsoft.com/office/drawing/2014/main" id="{02DB8682-9356-192F-536B-F8B0318EFB3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5400000">
            <a:off x="6384754" y="3612590"/>
            <a:ext cx="370538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: изогнутый 109">
            <a:extLst>
              <a:ext uri="{FF2B5EF4-FFF2-40B4-BE49-F238E27FC236}">
                <a16:creationId xmlns:a16="http://schemas.microsoft.com/office/drawing/2014/main" id="{CDE4E85D-827B-B135-83BF-FEC441F344D1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9773934" y="3614006"/>
            <a:ext cx="37053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: изогнутый 113">
            <a:extLst>
              <a:ext uri="{FF2B5EF4-FFF2-40B4-BE49-F238E27FC236}">
                <a16:creationId xmlns:a16="http://schemas.microsoft.com/office/drawing/2014/main" id="{E1959F05-1846-66CF-B6CC-56204C4BF59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rot="16200000" flipH="1">
            <a:off x="7227598" y="4040284"/>
            <a:ext cx="379440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: изогнутый 115">
            <a:extLst>
              <a:ext uri="{FF2B5EF4-FFF2-40B4-BE49-F238E27FC236}">
                <a16:creationId xmlns:a16="http://schemas.microsoft.com/office/drawing/2014/main" id="{BE68F898-8CCA-D0A2-54B6-2C92B19D8A86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8922897" y="4040992"/>
            <a:ext cx="378023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4250E4D-10B7-7A94-1C9D-AAEE33EF5893}"/>
              </a:ext>
            </a:extLst>
          </p:cNvPr>
          <p:cNvSpPr txBox="1"/>
          <p:nvPr/>
        </p:nvSpPr>
        <p:spPr>
          <a:xfrm>
            <a:off x="583126" y="2030311"/>
            <a:ext cx="38011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традиционных трекеров, фокус методики смещен с пассивной фиксации действий на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конструирование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устойчивой мотивационной среды.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ACFB206-2129-1E31-916B-B498707E676B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 flipV="1">
            <a:off x="8010023" y="2977321"/>
            <a:ext cx="509180" cy="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27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3CA-3523-1A18-2D55-0B30DE14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0F1ACB-0218-438B-5D99-C5FD4784722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Пример работы модуля привычек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E0BCAC-BE42-E97D-C25C-248A840D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459F97F-93EE-9443-C11D-A887C92C78A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CF11389-EF33-5EC9-97E9-EE1816D928F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4285FE-B8C9-586B-2D20-42FA80501AC5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3EB076-0723-D7FB-9FB3-905E5AC5E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961643" y="1194694"/>
            <a:ext cx="4222607" cy="3536681"/>
          </a:xfrm>
          <a:prstGeom prst="rect">
            <a:avLst/>
          </a:prstGeom>
          <a:noFill/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21D49F-B2C1-0846-FD3C-A94F60560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961642" y="5003321"/>
            <a:ext cx="4222607" cy="1287837"/>
          </a:xfrm>
          <a:prstGeom prst="rect">
            <a:avLst/>
          </a:prstGeom>
          <a:noFill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87F770-1860-74EA-780C-228C0150D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278988" y="1229037"/>
            <a:ext cx="4215684" cy="2243268"/>
          </a:xfrm>
          <a:prstGeom prst="rect">
            <a:avLst/>
          </a:prstGeom>
          <a:noFill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CD8D3B-47B9-5847-46B2-C4E648547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5970642" y="4096542"/>
            <a:ext cx="5042452" cy="1970467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1BEFB24A-7741-9A8A-0F47-AD3B4924EF7D}"/>
              </a:ext>
            </a:extLst>
          </p:cNvPr>
          <p:cNvSpPr txBox="1">
            <a:spLocks/>
          </p:cNvSpPr>
          <p:nvPr/>
        </p:nvSpPr>
        <p:spPr>
          <a:xfrm>
            <a:off x="719137" y="1106331"/>
            <a:ext cx="4707093" cy="36666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12B4D52-8AF2-94BD-2889-8C01ADE03492}"/>
              </a:ext>
            </a:extLst>
          </p:cNvPr>
          <p:cNvSpPr txBox="1">
            <a:spLocks/>
          </p:cNvSpPr>
          <p:nvPr/>
        </p:nvSpPr>
        <p:spPr>
          <a:xfrm>
            <a:off x="719138" y="4883156"/>
            <a:ext cx="4722724" cy="1518222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49682E0-59A3-B62E-1DF7-358D9478BC0C}"/>
              </a:ext>
            </a:extLst>
          </p:cNvPr>
          <p:cNvSpPr txBox="1">
            <a:spLocks/>
          </p:cNvSpPr>
          <p:nvPr/>
        </p:nvSpPr>
        <p:spPr>
          <a:xfrm>
            <a:off x="5866585" y="1106331"/>
            <a:ext cx="5250567" cy="2558603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368DE392-02FE-3E59-7DB4-E9D2B20B8569}"/>
              </a:ext>
            </a:extLst>
          </p:cNvPr>
          <p:cNvSpPr txBox="1">
            <a:spLocks/>
          </p:cNvSpPr>
          <p:nvPr/>
        </p:nvSpPr>
        <p:spPr>
          <a:xfrm>
            <a:off x="5866584" y="3762176"/>
            <a:ext cx="5250568" cy="2639201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23860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C82B-38BA-2992-D4DF-3491A6B2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467FC4-B2FC-F2B4-A09E-0813137324A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 поддержки и премиум функции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C260E8-4A4D-5FE2-6F01-B69EAD9C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D436DBA-7CC6-5EA0-85EB-4EB5D17C521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E3B94B1D-C917-E218-4E16-54E8239DBFE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74F850-AC07-6A46-66F1-559C1E1435D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0B5D89-BB96-BD11-3F2A-700B99F15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941974" y="3651538"/>
            <a:ext cx="4142668" cy="2812532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F514C-711F-766C-2086-E6571F058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994613" y="1225929"/>
            <a:ext cx="4008292" cy="2078813"/>
          </a:xfrm>
          <a:prstGeom prst="rect">
            <a:avLst/>
          </a:prstGeom>
          <a:noFill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B31445-3F3B-D895-D3FC-B8E967D40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705592" y="1145109"/>
            <a:ext cx="3474488" cy="2968114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C09B80-64A6-096C-8005-C62508341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6449701" y="4393327"/>
            <a:ext cx="4116878" cy="2070743"/>
          </a:xfrm>
          <a:prstGeom prst="rect">
            <a:avLst/>
          </a:prstGeom>
          <a:noFill/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F283E3C-D131-8CA9-19B7-3B94665C1F16}"/>
              </a:ext>
            </a:extLst>
          </p:cNvPr>
          <p:cNvSpPr txBox="1">
            <a:spLocks/>
          </p:cNvSpPr>
          <p:nvPr/>
        </p:nvSpPr>
        <p:spPr>
          <a:xfrm>
            <a:off x="490537" y="1045113"/>
            <a:ext cx="5036109" cy="2383887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8773269-FD44-8D4C-3BD3-5D003D46E930}"/>
              </a:ext>
            </a:extLst>
          </p:cNvPr>
          <p:cNvSpPr txBox="1">
            <a:spLocks/>
          </p:cNvSpPr>
          <p:nvPr/>
        </p:nvSpPr>
        <p:spPr>
          <a:xfrm>
            <a:off x="501417" y="3553924"/>
            <a:ext cx="5025230" cy="296811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4C36D96-A3CC-646E-7F18-B55605A90EAC}"/>
              </a:ext>
            </a:extLst>
          </p:cNvPr>
          <p:cNvSpPr txBox="1">
            <a:spLocks/>
          </p:cNvSpPr>
          <p:nvPr/>
        </p:nvSpPr>
        <p:spPr>
          <a:xfrm>
            <a:off x="5764436" y="1045113"/>
            <a:ext cx="5536239" cy="31681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E96BD3A3-87C3-D0E4-81C7-DCA2ACAFFF9E}"/>
              </a:ext>
            </a:extLst>
          </p:cNvPr>
          <p:cNvSpPr txBox="1">
            <a:spLocks/>
          </p:cNvSpPr>
          <p:nvPr/>
        </p:nvSpPr>
        <p:spPr>
          <a:xfrm>
            <a:off x="5764436" y="4313214"/>
            <a:ext cx="5536238" cy="220882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95939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1E98-7F3B-C356-C5F9-945E2027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7A54DF-6129-D3D9-3F4D-45065BF248E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23ABB9-B77B-9FEC-0975-6BB2D63C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145BCBA-734A-17D4-9717-7EF38B1D197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744FD80-B5AF-13C8-461F-3C4C02BC91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0A95AC-2758-2CC2-1DD7-745482DD3A85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473B3E38-5FE7-5767-C7AC-D61E23D5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467434" y="1157856"/>
            <a:ext cx="9257131" cy="54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893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27CB-FFD0-DE34-33AD-D75C0CF6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4FEB62-66D1-4AC7-7DF2-02CFB471C06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1608FB-4054-DFA6-BE0C-7715BE4E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F24E7128-4616-634B-7371-DE82D11BF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613745" y="1157856"/>
            <a:ext cx="9257592" cy="5400000"/>
          </a:xfrm>
          <a:prstGeom prst="rect">
            <a:avLst/>
          </a:prstGeom>
          <a:noFill/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AFE8E3F-4C8A-9BD7-C34D-514C19860B58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126392F-54F9-FA56-7D01-AF07E3AF00AD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EC0E48-59F7-4891-DDA5-52E07F973C1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194F-A28F-0392-8D27-BAE96137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04FC84-7450-64EA-7AAA-CCE8751DAC9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DF6234-68CE-A0B2-217B-4001B5FD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F23E676C-33C6-B5A7-4A08-F05E6F440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08546" y="1157856"/>
            <a:ext cx="9256969" cy="5400000"/>
          </a:xfrm>
          <a:prstGeom prst="rect">
            <a:avLst/>
          </a:prstGeom>
          <a:noFill/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C67186E-4D32-50AE-AC22-0649B10CB98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0DBE2309-6265-1B50-E35F-F3BF15152F1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B7B761-CD75-5F57-F27B-D1A297A2A1D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93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2A5A-FC23-BFB4-9A75-51AC3115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B93CD8-9F62-A5A8-D0DB-AEC4AD446D4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1D8B1C-EDC3-C57C-02AC-BA8E2EB3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168EE77-BAB9-B370-9C58-1BAE512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19797"/>
              </p:ext>
            </p:extLst>
          </p:nvPr>
        </p:nvGraphicFramePr>
        <p:xfrm>
          <a:off x="300037" y="1136649"/>
          <a:ext cx="11591926" cy="495934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802699">
                  <a:extLst>
                    <a:ext uri="{9D8B030D-6E8A-4147-A177-3AD203B41FA5}">
                      <a16:colId xmlns:a16="http://schemas.microsoft.com/office/drawing/2014/main" val="1738581461"/>
                    </a:ext>
                  </a:extLst>
                </a:gridCol>
                <a:gridCol w="1849008">
                  <a:extLst>
                    <a:ext uri="{9D8B030D-6E8A-4147-A177-3AD203B41FA5}">
                      <a16:colId xmlns:a16="http://schemas.microsoft.com/office/drawing/2014/main" val="3626096163"/>
                    </a:ext>
                  </a:extLst>
                </a:gridCol>
                <a:gridCol w="1136685">
                  <a:extLst>
                    <a:ext uri="{9D8B030D-6E8A-4147-A177-3AD203B41FA5}">
                      <a16:colId xmlns:a16="http://schemas.microsoft.com/office/drawing/2014/main" val="2091020232"/>
                    </a:ext>
                  </a:extLst>
                </a:gridCol>
                <a:gridCol w="2803534">
                  <a:extLst>
                    <a:ext uri="{9D8B030D-6E8A-4147-A177-3AD203B41FA5}">
                      <a16:colId xmlns:a16="http://schemas.microsoft.com/office/drawing/2014/main" val="532211291"/>
                    </a:ext>
                  </a:extLst>
                </a:gridCol>
              </a:tblGrid>
              <a:tr h="891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Наименование показателя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Обозначение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Ед. изм.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Величина показателя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67373064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1. Объем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 проект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966 528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9181859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2. Ставка дисконтирования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55450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3. Чистая приведенная стоимость проекта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NPV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1 742 467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219085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4. Внутренняя ставка доходности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IRR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99962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5. Простой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PPs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3,93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0546334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6. Дисконтированный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PPd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4,17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6909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7. Индекс доходности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PI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индекс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2,80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68786056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8. Чистая конечная стоимость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NTV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3 015 910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2159"/>
                  </a:ext>
                </a:extLst>
              </a:tr>
            </a:tbl>
          </a:graphicData>
        </a:graphic>
      </p:graphicFrame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4738A0F-BEC7-0970-E9EF-32E9B19F9AE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8075276-3E03-C09B-232A-4E35CADBF9B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44D77F-365B-6064-0D7B-87FC4AFA1086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48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B06E-50B8-EBA4-8EC1-1B72A4E9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C69027-D9AC-6F79-299B-3B61416E67DF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Заключение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1F9291-3ACD-B417-4774-A0A37A66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53D40A9-AD79-4333-8A8E-1BEE92A7B2C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B00132B-FE74-7B25-A005-20B9308E801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C6DAA5-6F60-5697-3393-B199D7A413DF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8CB7ACB-0237-3143-4D57-EB6AE1297A4C}"/>
              </a:ext>
            </a:extLst>
          </p:cNvPr>
          <p:cNvGrpSpPr/>
          <p:nvPr/>
        </p:nvGrpSpPr>
        <p:grpSpPr>
          <a:xfrm>
            <a:off x="3218345" y="1005892"/>
            <a:ext cx="8973655" cy="5431790"/>
            <a:chOff x="3645706" y="1012217"/>
            <a:chExt cx="8703188" cy="5431790"/>
          </a:xfrm>
        </p:grpSpPr>
        <p:graphicFrame>
          <p:nvGraphicFramePr>
            <p:cNvPr id="13" name="Объект 4">
              <a:extLst>
                <a:ext uri="{FF2B5EF4-FFF2-40B4-BE49-F238E27FC236}">
                  <a16:creationId xmlns:a16="http://schemas.microsoft.com/office/drawing/2014/main" id="{7802C9A4-9192-BB32-C00E-B16DBE9C0E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54173341"/>
                </p:ext>
              </p:extLst>
            </p:nvPr>
          </p:nvGraphicFramePr>
          <p:xfrm>
            <a:off x="3645706" y="1012217"/>
            <a:ext cx="8703188" cy="54317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4" name="Shape 2530">
              <a:extLst>
                <a:ext uri="{FF2B5EF4-FFF2-40B4-BE49-F238E27FC236}">
                  <a16:creationId xmlns:a16="http://schemas.microsoft.com/office/drawing/2014/main" id="{4E636C97-E99F-7DBA-55B8-C6DA50B38470}"/>
                </a:ext>
              </a:extLst>
            </p:cNvPr>
            <p:cNvSpPr/>
            <p:nvPr/>
          </p:nvSpPr>
          <p:spPr>
            <a:xfrm>
              <a:off x="5105715" y="1184989"/>
              <a:ext cx="408769" cy="53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19636"/>
                  </a:moveTo>
                  <a:cubicBezTo>
                    <a:pt x="20400" y="20178"/>
                    <a:pt x="19862" y="20617"/>
                    <a:pt x="19200" y="20617"/>
                  </a:cubicBezTo>
                  <a:lnTo>
                    <a:pt x="6000" y="20617"/>
                  </a:lnTo>
                  <a:lnTo>
                    <a:pt x="6000" y="982"/>
                  </a:lnTo>
                  <a:lnTo>
                    <a:pt x="13200" y="982"/>
                  </a:lnTo>
                  <a:lnTo>
                    <a:pt x="13200" y="6872"/>
                  </a:lnTo>
                  <a:lnTo>
                    <a:pt x="15600" y="4909"/>
                  </a:lnTo>
                  <a:lnTo>
                    <a:pt x="18000" y="6872"/>
                  </a:lnTo>
                  <a:lnTo>
                    <a:pt x="18000" y="982"/>
                  </a:ln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cubicBezTo>
                    <a:pt x="20400" y="1964"/>
                    <a:pt x="20400" y="19636"/>
                    <a:pt x="20400" y="19636"/>
                  </a:cubicBezTo>
                  <a:close/>
                  <a:moveTo>
                    <a:pt x="4800" y="20617"/>
                  </a:moveTo>
                  <a:lnTo>
                    <a:pt x="2400" y="20617"/>
                  </a:lnTo>
                  <a:cubicBezTo>
                    <a:pt x="1738" y="20617"/>
                    <a:pt x="1200" y="20178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8" y="982"/>
                    <a:pt x="2400" y="982"/>
                  </a:cubicBezTo>
                  <a:lnTo>
                    <a:pt x="4800" y="982"/>
                  </a:lnTo>
                  <a:cubicBezTo>
                    <a:pt x="4800" y="982"/>
                    <a:pt x="4800" y="20617"/>
                    <a:pt x="4800" y="20617"/>
                  </a:cubicBezTo>
                  <a:close/>
                  <a:moveTo>
                    <a:pt x="14400" y="982"/>
                  </a:moveTo>
                  <a:lnTo>
                    <a:pt x="16800" y="982"/>
                  </a:lnTo>
                  <a:lnTo>
                    <a:pt x="16800" y="4418"/>
                  </a:lnTo>
                  <a:lnTo>
                    <a:pt x="15600" y="3436"/>
                  </a:lnTo>
                  <a:lnTo>
                    <a:pt x="14400" y="4418"/>
                  </a:lnTo>
                  <a:cubicBezTo>
                    <a:pt x="14400" y="4418"/>
                    <a:pt x="14400" y="982"/>
                    <a:pt x="14400" y="982"/>
                  </a:cubicBezTo>
                  <a:close/>
                  <a:moveTo>
                    <a:pt x="192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0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0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sp>
          <p:nvSpPr>
            <p:cNvPr id="15" name="Shape 2538">
              <a:extLst>
                <a:ext uri="{FF2B5EF4-FFF2-40B4-BE49-F238E27FC236}">
                  <a16:creationId xmlns:a16="http://schemas.microsoft.com/office/drawing/2014/main" id="{85B6217C-198D-58F8-0295-D404303A49CB}"/>
                </a:ext>
              </a:extLst>
            </p:cNvPr>
            <p:cNvSpPr/>
            <p:nvPr/>
          </p:nvSpPr>
          <p:spPr>
            <a:xfrm>
              <a:off x="5095341" y="3427217"/>
              <a:ext cx="429515" cy="561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5891"/>
                  </a:moveTo>
                  <a:lnTo>
                    <a:pt x="1200" y="5891"/>
                  </a:lnTo>
                  <a:lnTo>
                    <a:pt x="1200" y="3927"/>
                  </a:lnTo>
                  <a:lnTo>
                    <a:pt x="6000" y="3927"/>
                  </a:lnTo>
                  <a:cubicBezTo>
                    <a:pt x="6000" y="4469"/>
                    <a:pt x="6538" y="4909"/>
                    <a:pt x="7200" y="4909"/>
                  </a:cubicBezTo>
                  <a:lnTo>
                    <a:pt x="14400" y="4909"/>
                  </a:lnTo>
                  <a:cubicBezTo>
                    <a:pt x="15062" y="4909"/>
                    <a:pt x="15600" y="4469"/>
                    <a:pt x="15600" y="3927"/>
                  </a:cubicBezTo>
                  <a:lnTo>
                    <a:pt x="20400" y="3927"/>
                  </a:lnTo>
                  <a:cubicBezTo>
                    <a:pt x="20400" y="3927"/>
                    <a:pt x="20400" y="5891"/>
                    <a:pt x="20400" y="5891"/>
                  </a:cubicBezTo>
                  <a:close/>
                  <a:moveTo>
                    <a:pt x="20400" y="20618"/>
                  </a:moveTo>
                  <a:lnTo>
                    <a:pt x="1200" y="20618"/>
                  </a:lnTo>
                  <a:lnTo>
                    <a:pt x="1200" y="6873"/>
                  </a:lnTo>
                  <a:lnTo>
                    <a:pt x="20400" y="6873"/>
                  </a:lnTo>
                  <a:cubicBezTo>
                    <a:pt x="20400" y="6873"/>
                    <a:pt x="20400" y="20618"/>
                    <a:pt x="20400" y="20618"/>
                  </a:cubicBezTo>
                  <a:close/>
                  <a:moveTo>
                    <a:pt x="7200" y="1964"/>
                  </a:moveTo>
                  <a:lnTo>
                    <a:pt x="14400" y="1964"/>
                  </a:lnTo>
                  <a:lnTo>
                    <a:pt x="14400" y="3927"/>
                  </a:lnTo>
                  <a:lnTo>
                    <a:pt x="7200" y="3927"/>
                  </a:lnTo>
                  <a:cubicBezTo>
                    <a:pt x="7200" y="3927"/>
                    <a:pt x="7200" y="1964"/>
                    <a:pt x="7200" y="1964"/>
                  </a:cubicBezTo>
                  <a:close/>
                  <a:moveTo>
                    <a:pt x="20400" y="2945"/>
                  </a:moveTo>
                  <a:lnTo>
                    <a:pt x="15600" y="2945"/>
                  </a:lnTo>
                  <a:lnTo>
                    <a:pt x="15600" y="1964"/>
                  </a:lnTo>
                  <a:cubicBezTo>
                    <a:pt x="15600" y="1422"/>
                    <a:pt x="15062" y="982"/>
                    <a:pt x="14400" y="982"/>
                  </a:cubicBezTo>
                  <a:lnTo>
                    <a:pt x="12000" y="982"/>
                  </a:lnTo>
                  <a:cubicBezTo>
                    <a:pt x="12000" y="440"/>
                    <a:pt x="11462" y="0"/>
                    <a:pt x="10800" y="0"/>
                  </a:cubicBezTo>
                  <a:cubicBezTo>
                    <a:pt x="10138" y="0"/>
                    <a:pt x="9600" y="440"/>
                    <a:pt x="9600" y="982"/>
                  </a:cubicBezTo>
                  <a:lnTo>
                    <a:pt x="7200" y="982"/>
                  </a:lnTo>
                  <a:cubicBezTo>
                    <a:pt x="6538" y="982"/>
                    <a:pt x="6000" y="1422"/>
                    <a:pt x="6000" y="1964"/>
                  </a:cubicBezTo>
                  <a:lnTo>
                    <a:pt x="6000" y="2945"/>
                  </a:lnTo>
                  <a:lnTo>
                    <a:pt x="1200" y="2945"/>
                  </a:lnTo>
                  <a:cubicBezTo>
                    <a:pt x="538" y="2945"/>
                    <a:pt x="0" y="3386"/>
                    <a:pt x="0" y="3927"/>
                  </a:cubicBezTo>
                  <a:lnTo>
                    <a:pt x="0" y="20618"/>
                  </a:lnTo>
                  <a:cubicBezTo>
                    <a:pt x="0" y="21160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21160"/>
                    <a:pt x="21600" y="20618"/>
                  </a:cubicBezTo>
                  <a:lnTo>
                    <a:pt x="21600" y="3927"/>
                  </a:lnTo>
                  <a:cubicBezTo>
                    <a:pt x="21600" y="3386"/>
                    <a:pt x="21062" y="2945"/>
                    <a:pt x="20400" y="2945"/>
                  </a:cubicBezTo>
                  <a:moveTo>
                    <a:pt x="4200" y="16691"/>
                  </a:moveTo>
                  <a:lnTo>
                    <a:pt x="15000" y="16691"/>
                  </a:lnTo>
                  <a:cubicBezTo>
                    <a:pt x="15331" y="16691"/>
                    <a:pt x="15600" y="16472"/>
                    <a:pt x="15600" y="16200"/>
                  </a:cubicBezTo>
                  <a:cubicBezTo>
                    <a:pt x="15600" y="15929"/>
                    <a:pt x="15331" y="15709"/>
                    <a:pt x="15000" y="15709"/>
                  </a:cubicBez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moveTo>
                    <a:pt x="4200" y="13745"/>
                  </a:moveTo>
                  <a:lnTo>
                    <a:pt x="17400" y="13745"/>
                  </a:lnTo>
                  <a:cubicBezTo>
                    <a:pt x="17731" y="13745"/>
                    <a:pt x="18000" y="13526"/>
                    <a:pt x="18000" y="13255"/>
                  </a:cubicBezTo>
                  <a:cubicBezTo>
                    <a:pt x="18000" y="12984"/>
                    <a:pt x="17731" y="12764"/>
                    <a:pt x="17400" y="12764"/>
                  </a:cubicBezTo>
                  <a:lnTo>
                    <a:pt x="4200" y="12764"/>
                  </a:lnTo>
                  <a:cubicBezTo>
                    <a:pt x="3869" y="12764"/>
                    <a:pt x="3600" y="12984"/>
                    <a:pt x="3600" y="13255"/>
                  </a:cubicBezTo>
                  <a:cubicBezTo>
                    <a:pt x="3600" y="13526"/>
                    <a:pt x="3869" y="13745"/>
                    <a:pt x="4200" y="13745"/>
                  </a:cubicBezTo>
                  <a:moveTo>
                    <a:pt x="4200" y="10800"/>
                  </a:moveTo>
                  <a:lnTo>
                    <a:pt x="11400" y="10800"/>
                  </a:lnTo>
                  <a:cubicBezTo>
                    <a:pt x="11731" y="10800"/>
                    <a:pt x="12000" y="10581"/>
                    <a:pt x="12000" y="10309"/>
                  </a:cubicBezTo>
                  <a:cubicBezTo>
                    <a:pt x="12000" y="10038"/>
                    <a:pt x="11731" y="9818"/>
                    <a:pt x="11400" y="9818"/>
                  </a:cubicBezTo>
                  <a:lnTo>
                    <a:pt x="4200" y="9818"/>
                  </a:lnTo>
                  <a:cubicBezTo>
                    <a:pt x="3869" y="9818"/>
                    <a:pt x="3600" y="10038"/>
                    <a:pt x="3600" y="10309"/>
                  </a:cubicBezTo>
                  <a:cubicBezTo>
                    <a:pt x="3600" y="10581"/>
                    <a:pt x="3869" y="10800"/>
                    <a:pt x="4200" y="1080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pic>
          <p:nvPicPr>
            <p:cNvPr id="16" name="Рисунок 15" descr="Одна шестеренка">
              <a:extLst>
                <a:ext uri="{FF2B5EF4-FFF2-40B4-BE49-F238E27FC236}">
                  <a16:creationId xmlns:a16="http://schemas.microsoft.com/office/drawing/2014/main" id="{6A0E385F-4C19-715A-C279-81F0537E0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81180" y="4507431"/>
              <a:ext cx="657837" cy="703146"/>
            </a:xfrm>
            <a:prstGeom prst="rect">
              <a:avLst/>
            </a:prstGeom>
          </p:spPr>
        </p:pic>
        <p:pic>
          <p:nvPicPr>
            <p:cNvPr id="17" name="Рисунок 16" descr="Исследование">
              <a:extLst>
                <a:ext uri="{FF2B5EF4-FFF2-40B4-BE49-F238E27FC236}">
                  <a16:creationId xmlns:a16="http://schemas.microsoft.com/office/drawing/2014/main" id="{4A40B08D-9B08-D44B-7966-3F35974F1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28299" y="5698345"/>
              <a:ext cx="563597" cy="602415"/>
            </a:xfrm>
            <a:prstGeom prst="rect">
              <a:avLst/>
            </a:prstGeom>
          </p:spPr>
        </p:pic>
        <p:sp>
          <p:nvSpPr>
            <p:cNvPr id="18" name="Shape 2930">
              <a:extLst>
                <a:ext uri="{FF2B5EF4-FFF2-40B4-BE49-F238E27FC236}">
                  <a16:creationId xmlns:a16="http://schemas.microsoft.com/office/drawing/2014/main" id="{1DF026C7-A0EB-10FE-0D53-336B73BED86D}"/>
                </a:ext>
              </a:extLst>
            </p:cNvPr>
            <p:cNvSpPr/>
            <p:nvPr/>
          </p:nvSpPr>
          <p:spPr>
            <a:xfrm>
              <a:off x="5015172" y="2410673"/>
              <a:ext cx="589852" cy="401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5" y="1543"/>
                  </a:moveTo>
                  <a:cubicBezTo>
                    <a:pt x="12837" y="1543"/>
                    <a:pt x="10309" y="5515"/>
                    <a:pt x="10309" y="10414"/>
                  </a:cubicBezTo>
                  <a:lnTo>
                    <a:pt x="10309" y="11186"/>
                  </a:lnTo>
                  <a:cubicBezTo>
                    <a:pt x="10309" y="15233"/>
                    <a:pt x="8221" y="18514"/>
                    <a:pt x="5645" y="18514"/>
                  </a:cubicBezTo>
                  <a:cubicBezTo>
                    <a:pt x="3070" y="18514"/>
                    <a:pt x="982" y="15233"/>
                    <a:pt x="982" y="11186"/>
                  </a:cubicBezTo>
                  <a:lnTo>
                    <a:pt x="982" y="10414"/>
                  </a:lnTo>
                  <a:cubicBezTo>
                    <a:pt x="982" y="6367"/>
                    <a:pt x="3070" y="3086"/>
                    <a:pt x="5645" y="3086"/>
                  </a:cubicBezTo>
                  <a:cubicBezTo>
                    <a:pt x="6670" y="3086"/>
                    <a:pt x="7575" y="3630"/>
                    <a:pt x="8321" y="4629"/>
                  </a:cubicBezTo>
                  <a:lnTo>
                    <a:pt x="6382" y="4629"/>
                  </a:lnTo>
                  <a:cubicBezTo>
                    <a:pt x="6110" y="4629"/>
                    <a:pt x="5891" y="4974"/>
                    <a:pt x="5891" y="5400"/>
                  </a:cubicBezTo>
                  <a:cubicBezTo>
                    <a:pt x="5891" y="5826"/>
                    <a:pt x="6110" y="6171"/>
                    <a:pt x="6382" y="6171"/>
                  </a:cubicBezTo>
                  <a:lnTo>
                    <a:pt x="9327" y="6171"/>
                  </a:lnTo>
                  <a:cubicBezTo>
                    <a:pt x="9599" y="6171"/>
                    <a:pt x="9818" y="5826"/>
                    <a:pt x="9818" y="5400"/>
                  </a:cubicBezTo>
                  <a:lnTo>
                    <a:pt x="9818" y="771"/>
                  </a:lnTo>
                  <a:cubicBezTo>
                    <a:pt x="9818" y="346"/>
                    <a:pt x="9599" y="0"/>
                    <a:pt x="9327" y="0"/>
                  </a:cubicBezTo>
                  <a:cubicBezTo>
                    <a:pt x="9056" y="0"/>
                    <a:pt x="8836" y="346"/>
                    <a:pt x="8836" y="771"/>
                  </a:cubicBezTo>
                  <a:lnTo>
                    <a:pt x="8836" y="3321"/>
                  </a:lnTo>
                  <a:cubicBezTo>
                    <a:pt x="7879" y="2160"/>
                    <a:pt x="6706" y="1543"/>
                    <a:pt x="5645" y="1543"/>
                  </a:cubicBezTo>
                  <a:cubicBezTo>
                    <a:pt x="2527" y="1543"/>
                    <a:pt x="0" y="5515"/>
                    <a:pt x="0" y="10414"/>
                  </a:cubicBezTo>
                  <a:lnTo>
                    <a:pt x="0" y="11186"/>
                  </a:lnTo>
                  <a:cubicBezTo>
                    <a:pt x="0" y="16085"/>
                    <a:pt x="2527" y="20057"/>
                    <a:pt x="5645" y="20057"/>
                  </a:cubicBezTo>
                  <a:cubicBezTo>
                    <a:pt x="8763" y="20057"/>
                    <a:pt x="11291" y="16085"/>
                    <a:pt x="11291" y="11186"/>
                  </a:cubicBezTo>
                  <a:lnTo>
                    <a:pt x="11291" y="10414"/>
                  </a:lnTo>
                  <a:cubicBezTo>
                    <a:pt x="11291" y="6367"/>
                    <a:pt x="13379" y="3086"/>
                    <a:pt x="15955" y="3086"/>
                  </a:cubicBezTo>
                  <a:cubicBezTo>
                    <a:pt x="18530" y="3086"/>
                    <a:pt x="20618" y="6367"/>
                    <a:pt x="20618" y="10414"/>
                  </a:cubicBezTo>
                  <a:lnTo>
                    <a:pt x="20618" y="11186"/>
                  </a:lnTo>
                  <a:cubicBezTo>
                    <a:pt x="20618" y="15233"/>
                    <a:pt x="18530" y="18514"/>
                    <a:pt x="15955" y="18514"/>
                  </a:cubicBezTo>
                  <a:cubicBezTo>
                    <a:pt x="14930" y="18514"/>
                    <a:pt x="14025" y="17970"/>
                    <a:pt x="13279" y="16971"/>
                  </a:cubicBezTo>
                  <a:lnTo>
                    <a:pt x="15218" y="16971"/>
                  </a:lnTo>
                  <a:cubicBezTo>
                    <a:pt x="15490" y="16971"/>
                    <a:pt x="15709" y="16626"/>
                    <a:pt x="15709" y="16200"/>
                  </a:cubicBezTo>
                  <a:cubicBezTo>
                    <a:pt x="15709" y="15774"/>
                    <a:pt x="15490" y="15429"/>
                    <a:pt x="15218" y="15429"/>
                  </a:cubicBezTo>
                  <a:lnTo>
                    <a:pt x="12273" y="15429"/>
                  </a:lnTo>
                  <a:cubicBezTo>
                    <a:pt x="12001" y="15429"/>
                    <a:pt x="11782" y="15774"/>
                    <a:pt x="11782" y="16200"/>
                  </a:cubicBezTo>
                  <a:lnTo>
                    <a:pt x="11782" y="20829"/>
                  </a:lnTo>
                  <a:cubicBezTo>
                    <a:pt x="11782" y="21255"/>
                    <a:pt x="12001" y="21600"/>
                    <a:pt x="12273" y="21600"/>
                  </a:cubicBezTo>
                  <a:cubicBezTo>
                    <a:pt x="12544" y="21600"/>
                    <a:pt x="12764" y="21255"/>
                    <a:pt x="12764" y="20829"/>
                  </a:cubicBezTo>
                  <a:lnTo>
                    <a:pt x="12764" y="18279"/>
                  </a:lnTo>
                  <a:cubicBezTo>
                    <a:pt x="13721" y="19441"/>
                    <a:pt x="14894" y="20057"/>
                    <a:pt x="15955" y="20057"/>
                  </a:cubicBezTo>
                  <a:cubicBezTo>
                    <a:pt x="19073" y="20057"/>
                    <a:pt x="21600" y="16085"/>
                    <a:pt x="21600" y="11186"/>
                  </a:cubicBezTo>
                  <a:lnTo>
                    <a:pt x="21600" y="10414"/>
                  </a:lnTo>
                  <a:cubicBezTo>
                    <a:pt x="21600" y="5515"/>
                    <a:pt x="19073" y="1543"/>
                    <a:pt x="15955" y="1543"/>
                  </a:cubicBezTo>
                </a:path>
              </a:pathLst>
            </a:custGeom>
            <a:solidFill>
              <a:srgbClr val="F3F7FF"/>
            </a:solidFill>
            <a:ln w="12700">
              <a:solidFill>
                <a:srgbClr val="F3F7FF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CD0EEC0-91A9-ABB5-4B9B-3D2447786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220" y="1826767"/>
            <a:ext cx="3377485" cy="33774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BB31B3-7FF8-CC30-B732-6BECCA9598DF}"/>
              </a:ext>
            </a:extLst>
          </p:cNvPr>
          <p:cNvSpPr txBox="1"/>
          <p:nvPr/>
        </p:nvSpPr>
        <p:spPr>
          <a:xfrm>
            <a:off x="512003" y="5289955"/>
            <a:ext cx="349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pagamov_bot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535</Words>
  <Application>Microsoft Office PowerPoint</Application>
  <PresentationFormat>Широкоэкранный</PresentationFormat>
  <Paragraphs>149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48</cp:revision>
  <dcterms:created xsi:type="dcterms:W3CDTF">2024-10-09T13:54:56Z</dcterms:created>
  <dcterms:modified xsi:type="dcterms:W3CDTF">2026-06-07T20:24:35Z</dcterms:modified>
</cp:coreProperties>
</file>