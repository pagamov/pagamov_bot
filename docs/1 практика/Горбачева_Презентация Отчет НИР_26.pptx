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3"/>
  </p:notesMasterIdLst>
  <p:sldIdLst>
    <p:sldId id="268" r:id="rId3"/>
    <p:sldId id="257" r:id="rId4"/>
    <p:sldId id="258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 lvl="0">
      <a:defRPr lang="ru-RU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2"/>
  </p:normalViewPr>
  <p:slideViewPr>
    <p:cSldViewPr snapToGrid="0">
      <p:cViewPr>
        <p:scale>
          <a:sx n="140" d="100"/>
          <a:sy n="140" d="100"/>
        </p:scale>
        <p:origin x="752" y="488"/>
      </p:cViewPr>
      <p:guideLst>
        <p:guide orient="horz" pos="42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6ADB05-EF23-4FBA-A423-535E2E2755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38984AA-2330-4EBC-80DD-58C2DC49D10C}">
      <dgm:prSet phldrT="[Текст]" custT="1"/>
      <dgm:spPr/>
      <dgm:t>
        <a:bodyPr/>
        <a:lstStyle/>
        <a:p>
          <a:pPr algn="ctr">
            <a:buNone/>
          </a:pPr>
          <a:r>
            <a: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Текучесть кадров </a:t>
          </a:r>
          <a:endParaRPr lang="ru-RU" sz="2800" dirty="0"/>
        </a:p>
      </dgm:t>
    </dgm:pt>
    <dgm:pt modelId="{AC4CE2CE-E5BC-49FD-825A-DB3CC0F2416B}" type="parTrans" cxnId="{631EF64A-1861-4227-8C86-C79704F60C65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6BB6457A-0D95-41D3-A738-F63BA53ECD77}" type="sibTrans" cxnId="{631EF64A-1861-4227-8C86-C79704F60C65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17E74D14-3DD6-4F6B-9D94-56159AB7CD1D}">
      <dgm:prSet custT="1"/>
      <dgm:spPr/>
      <dgm:t>
        <a:bodyPr/>
        <a:lstStyle/>
        <a:p>
          <a:pPr algn="ctr"/>
          <a:r>
            <a:rPr lang="ru-RU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Частота больничных </a:t>
          </a:r>
          <a:endParaRPr lang="ru-RU" sz="28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81CC65CA-8297-429D-B658-55BC01CAF228}" type="parTrans" cxnId="{F4D3B736-455E-4E17-960D-7980210BBF82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FD9ABF41-E21D-4717-BFC6-BB97AAB668FC}" type="sibTrans" cxnId="{F4D3B736-455E-4E17-960D-7980210BBF82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2F59CBCB-134B-471B-933E-D8659615F251}">
      <dgm:prSet custT="1"/>
      <dgm:spPr/>
      <dgm:t>
        <a:bodyPr/>
        <a:lstStyle/>
        <a:p>
          <a:pPr algn="ctr"/>
          <a:r>
            <a:rPr lang="ru-RU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Снижение производительности </a:t>
          </a:r>
          <a:endParaRPr lang="ru-RU" sz="28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D747FA24-5C6C-45E3-8D3F-19FF2B29F737}" type="parTrans" cxnId="{A1A89EF2-FB2D-4D9C-9B2E-E659EED7F439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4B85920C-5A95-484C-9A7B-A114095FB5CB}" type="sibTrans" cxnId="{A1A89EF2-FB2D-4D9C-9B2E-E659EED7F439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FEAED11E-1363-4594-A6CB-F64DFBA8C5FC}">
      <dgm:prSet custT="1"/>
      <dgm:spPr/>
      <dgm:t>
        <a:bodyPr/>
        <a:lstStyle/>
        <a:p>
          <a:pPr algn="ctr"/>
          <a:r>
            <a:rPr lang="ru-RU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Количество жалоб на рабочие условия </a:t>
          </a:r>
          <a:endParaRPr lang="ru-RU" sz="28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4FA2750A-7A75-4694-B889-4FF9D80CE724}" type="parTrans" cxnId="{C9028DE4-5929-4F89-803B-F58997EDE248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C45164F0-021C-43FC-9138-BC237B5F27E9}" type="sibTrans" cxnId="{C9028DE4-5929-4F89-803B-F58997EDE248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BB4463CE-CC48-491E-BF3E-A4B6A7811E5A}">
      <dgm:prSet custT="1"/>
      <dgm:spPr/>
      <dgm:t>
        <a:bodyPr/>
        <a:lstStyle/>
        <a:p>
          <a:pPr algn="ctr"/>
          <a:r>
            <a:rPr lang="ru-RU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Регулярные опросы удовлетворенности </a:t>
          </a:r>
          <a:endParaRPr lang="ru-RU" sz="28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F4733B75-AFA1-4150-BF8B-67457D432AA2}" type="parTrans" cxnId="{FAF2735B-FAD0-4CC0-91AA-AD0D33344140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6E3BE352-E3D1-4BF9-934E-EA7ED364171D}" type="sibTrans" cxnId="{FAF2735B-FAD0-4CC0-91AA-AD0D33344140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13AB808E-F184-4C72-916E-17695ABB2E51}">
      <dgm:prSet custT="1"/>
      <dgm:spPr/>
      <dgm:t>
        <a:bodyPr/>
        <a:lstStyle/>
        <a:p>
          <a:pPr algn="ctr"/>
          <a:r>
            <a:rPr lang="ru-RU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Анализ поведенческих изменений </a:t>
          </a:r>
          <a:endParaRPr lang="ru-RU" sz="28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7DFE16AF-296D-4B7E-9B71-DD357C719E12}" type="parTrans" cxnId="{B03A2A25-F2CF-4E40-9599-9560D0FBF4EB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AE13249D-ADDA-49A6-95C0-C53091C146AC}" type="sibTrans" cxnId="{B03A2A25-F2CF-4E40-9599-9560D0FBF4EB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A9355FCD-C44D-49D6-90DB-00D8A984F3FF}">
      <dgm:prSet custT="1"/>
      <dgm:spPr/>
      <dgm:t>
        <a:bodyPr/>
        <a:lstStyle/>
        <a:p>
          <a:pPr algn="ctr"/>
          <a:r>
            <a:rPr lang="ru-RU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Оценка климатических факторов </a:t>
          </a:r>
          <a:endParaRPr lang="ru-RU" sz="28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574C69A0-B51A-468E-B6E2-63BCBCA3E731}" type="parTrans" cxnId="{D2CF36D7-86D5-46DD-A9CB-0D5F57F1494D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76D3F291-57ED-44CE-90DF-0822DA2CA959}" type="sibTrans" cxnId="{D2CF36D7-86D5-46DD-A9CB-0D5F57F1494D}">
      <dgm:prSet/>
      <dgm:spPr/>
      <dgm:t>
        <a:bodyPr/>
        <a:lstStyle/>
        <a:p>
          <a:pPr algn="ctr"/>
          <a:endParaRPr lang="ru-RU" sz="2800">
            <a:solidFill>
              <a:schemeClr val="bg1"/>
            </a:solidFill>
          </a:endParaRPr>
        </a:p>
      </dgm:t>
    </dgm:pt>
    <dgm:pt modelId="{62219F38-A58E-4D25-B501-B168E98FFE4C}" type="pres">
      <dgm:prSet presAssocID="{3B6ADB05-EF23-4FBA-A423-535E2E2755B0}" presName="linear" presStyleCnt="0">
        <dgm:presLayoutVars>
          <dgm:animLvl val="lvl"/>
          <dgm:resizeHandles val="exact"/>
        </dgm:presLayoutVars>
      </dgm:prSet>
      <dgm:spPr/>
    </dgm:pt>
    <dgm:pt modelId="{16EC3B31-0F26-4B38-8BE4-E1E2B8248D92}" type="pres">
      <dgm:prSet presAssocID="{138984AA-2330-4EBC-80DD-58C2DC49D10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C5DCCB9-F6CB-40B0-BC80-8CA5FFEC954D}" type="pres">
      <dgm:prSet presAssocID="{6BB6457A-0D95-41D3-A738-F63BA53ECD77}" presName="spacer" presStyleCnt="0"/>
      <dgm:spPr/>
    </dgm:pt>
    <dgm:pt modelId="{368D38B4-9F77-45D9-977C-6D947CA98BA8}" type="pres">
      <dgm:prSet presAssocID="{17E74D14-3DD6-4F6B-9D94-56159AB7CD1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27FBDE1F-C686-4AB4-AAE9-2852C8A6BDE8}" type="pres">
      <dgm:prSet presAssocID="{FD9ABF41-E21D-4717-BFC6-BB97AAB668FC}" presName="spacer" presStyleCnt="0"/>
      <dgm:spPr/>
    </dgm:pt>
    <dgm:pt modelId="{9655C4E4-C32C-47AF-9316-102F3F60E837}" type="pres">
      <dgm:prSet presAssocID="{2F59CBCB-134B-471B-933E-D8659615F25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DBC1992-6DFA-4259-8BA7-4CFA8BD21434}" type="pres">
      <dgm:prSet presAssocID="{4B85920C-5A95-484C-9A7B-A114095FB5CB}" presName="spacer" presStyleCnt="0"/>
      <dgm:spPr/>
    </dgm:pt>
    <dgm:pt modelId="{EA0F5B78-FA9F-4FC0-86BE-0BCBEDE39CE0}" type="pres">
      <dgm:prSet presAssocID="{FEAED11E-1363-4594-A6CB-F64DFBA8C5F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2B20DB7-4D66-4ABB-83E1-DFC55C1C523E}" type="pres">
      <dgm:prSet presAssocID="{C45164F0-021C-43FC-9138-BC237B5F27E9}" presName="spacer" presStyleCnt="0"/>
      <dgm:spPr/>
    </dgm:pt>
    <dgm:pt modelId="{E065604D-3C3C-4A9F-B9BA-7F389BB9F5EB}" type="pres">
      <dgm:prSet presAssocID="{BB4463CE-CC48-491E-BF3E-A4B6A7811E5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46F505E-CCC3-4C69-ADFB-C71B4C4BF243}" type="pres">
      <dgm:prSet presAssocID="{6E3BE352-E3D1-4BF9-934E-EA7ED364171D}" presName="spacer" presStyleCnt="0"/>
      <dgm:spPr/>
    </dgm:pt>
    <dgm:pt modelId="{73381C93-17A7-4799-9574-5248852350B8}" type="pres">
      <dgm:prSet presAssocID="{13AB808E-F184-4C72-916E-17695ABB2E5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E978A28-EC15-4EBC-88F1-2508D1A78266}" type="pres">
      <dgm:prSet presAssocID="{AE13249D-ADDA-49A6-95C0-C53091C146AC}" presName="spacer" presStyleCnt="0"/>
      <dgm:spPr/>
    </dgm:pt>
    <dgm:pt modelId="{D88CA25C-FC2A-40A8-B305-EDC54CA6A0DA}" type="pres">
      <dgm:prSet presAssocID="{A9355FCD-C44D-49D6-90DB-00D8A984F3F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03A2A25-F2CF-4E40-9599-9560D0FBF4EB}" srcId="{3B6ADB05-EF23-4FBA-A423-535E2E2755B0}" destId="{13AB808E-F184-4C72-916E-17695ABB2E51}" srcOrd="5" destOrd="0" parTransId="{7DFE16AF-296D-4B7E-9B71-DD357C719E12}" sibTransId="{AE13249D-ADDA-49A6-95C0-C53091C146AC}"/>
    <dgm:cxn modelId="{76F69427-A50E-4A69-BF7E-05FE35AF6FB1}" type="presOf" srcId="{13AB808E-F184-4C72-916E-17695ABB2E51}" destId="{73381C93-17A7-4799-9574-5248852350B8}" srcOrd="0" destOrd="0" presId="urn:microsoft.com/office/officeart/2005/8/layout/vList2"/>
    <dgm:cxn modelId="{F4D3B736-455E-4E17-960D-7980210BBF82}" srcId="{3B6ADB05-EF23-4FBA-A423-535E2E2755B0}" destId="{17E74D14-3DD6-4F6B-9D94-56159AB7CD1D}" srcOrd="1" destOrd="0" parTransId="{81CC65CA-8297-429D-B658-55BC01CAF228}" sibTransId="{FD9ABF41-E21D-4717-BFC6-BB97AAB668FC}"/>
    <dgm:cxn modelId="{FAF2735B-FAD0-4CC0-91AA-AD0D33344140}" srcId="{3B6ADB05-EF23-4FBA-A423-535E2E2755B0}" destId="{BB4463CE-CC48-491E-BF3E-A4B6A7811E5A}" srcOrd="4" destOrd="0" parTransId="{F4733B75-AFA1-4150-BF8B-67457D432AA2}" sibTransId="{6E3BE352-E3D1-4BF9-934E-EA7ED364171D}"/>
    <dgm:cxn modelId="{21049247-F1BF-4722-846B-081E410179EB}" type="presOf" srcId="{BB4463CE-CC48-491E-BF3E-A4B6A7811E5A}" destId="{E065604D-3C3C-4A9F-B9BA-7F389BB9F5EB}" srcOrd="0" destOrd="0" presId="urn:microsoft.com/office/officeart/2005/8/layout/vList2"/>
    <dgm:cxn modelId="{631EF64A-1861-4227-8C86-C79704F60C65}" srcId="{3B6ADB05-EF23-4FBA-A423-535E2E2755B0}" destId="{138984AA-2330-4EBC-80DD-58C2DC49D10C}" srcOrd="0" destOrd="0" parTransId="{AC4CE2CE-E5BC-49FD-825A-DB3CC0F2416B}" sibTransId="{6BB6457A-0D95-41D3-A738-F63BA53ECD77}"/>
    <dgm:cxn modelId="{B220D357-2957-4294-B88A-5FD3EDBF6534}" type="presOf" srcId="{138984AA-2330-4EBC-80DD-58C2DC49D10C}" destId="{16EC3B31-0F26-4B38-8BE4-E1E2B8248D92}" srcOrd="0" destOrd="0" presId="urn:microsoft.com/office/officeart/2005/8/layout/vList2"/>
    <dgm:cxn modelId="{116B5588-2456-4FE0-9C24-11ABCD899287}" type="presOf" srcId="{17E74D14-3DD6-4F6B-9D94-56159AB7CD1D}" destId="{368D38B4-9F77-45D9-977C-6D947CA98BA8}" srcOrd="0" destOrd="0" presId="urn:microsoft.com/office/officeart/2005/8/layout/vList2"/>
    <dgm:cxn modelId="{7892498D-E5DB-4600-9457-44BE5E90654F}" type="presOf" srcId="{A9355FCD-C44D-49D6-90DB-00D8A984F3FF}" destId="{D88CA25C-FC2A-40A8-B305-EDC54CA6A0DA}" srcOrd="0" destOrd="0" presId="urn:microsoft.com/office/officeart/2005/8/layout/vList2"/>
    <dgm:cxn modelId="{9285A3AD-1DB3-48FD-A33E-DBD230D36694}" type="presOf" srcId="{FEAED11E-1363-4594-A6CB-F64DFBA8C5FC}" destId="{EA0F5B78-FA9F-4FC0-86BE-0BCBEDE39CE0}" srcOrd="0" destOrd="0" presId="urn:microsoft.com/office/officeart/2005/8/layout/vList2"/>
    <dgm:cxn modelId="{116DDFBD-CEEB-4F8B-83C7-6F6D3072222A}" type="presOf" srcId="{2F59CBCB-134B-471B-933E-D8659615F251}" destId="{9655C4E4-C32C-47AF-9316-102F3F60E837}" srcOrd="0" destOrd="0" presId="urn:microsoft.com/office/officeart/2005/8/layout/vList2"/>
    <dgm:cxn modelId="{D2CF36D7-86D5-46DD-A9CB-0D5F57F1494D}" srcId="{3B6ADB05-EF23-4FBA-A423-535E2E2755B0}" destId="{A9355FCD-C44D-49D6-90DB-00D8A984F3FF}" srcOrd="6" destOrd="0" parTransId="{574C69A0-B51A-468E-B6E2-63BCBCA3E731}" sibTransId="{76D3F291-57ED-44CE-90DF-0822DA2CA959}"/>
    <dgm:cxn modelId="{C9028DE4-5929-4F89-803B-F58997EDE248}" srcId="{3B6ADB05-EF23-4FBA-A423-535E2E2755B0}" destId="{FEAED11E-1363-4594-A6CB-F64DFBA8C5FC}" srcOrd="3" destOrd="0" parTransId="{4FA2750A-7A75-4694-B889-4FF9D80CE724}" sibTransId="{C45164F0-021C-43FC-9138-BC237B5F27E9}"/>
    <dgm:cxn modelId="{A1A89EF2-FB2D-4D9C-9B2E-E659EED7F439}" srcId="{3B6ADB05-EF23-4FBA-A423-535E2E2755B0}" destId="{2F59CBCB-134B-471B-933E-D8659615F251}" srcOrd="2" destOrd="0" parTransId="{D747FA24-5C6C-45E3-8D3F-19FF2B29F737}" sibTransId="{4B85920C-5A95-484C-9A7B-A114095FB5CB}"/>
    <dgm:cxn modelId="{0E4CEFFD-616D-4846-A750-7EEFEA8990BB}" type="presOf" srcId="{3B6ADB05-EF23-4FBA-A423-535E2E2755B0}" destId="{62219F38-A58E-4D25-B501-B168E98FFE4C}" srcOrd="0" destOrd="0" presId="urn:microsoft.com/office/officeart/2005/8/layout/vList2"/>
    <dgm:cxn modelId="{1E5E94B5-F874-424E-BB4F-566008E1F604}" type="presParOf" srcId="{62219F38-A58E-4D25-B501-B168E98FFE4C}" destId="{16EC3B31-0F26-4B38-8BE4-E1E2B8248D92}" srcOrd="0" destOrd="0" presId="urn:microsoft.com/office/officeart/2005/8/layout/vList2"/>
    <dgm:cxn modelId="{25414F40-939B-4EC0-AB13-E104CCCB142A}" type="presParOf" srcId="{62219F38-A58E-4D25-B501-B168E98FFE4C}" destId="{3C5DCCB9-F6CB-40B0-BC80-8CA5FFEC954D}" srcOrd="1" destOrd="0" presId="urn:microsoft.com/office/officeart/2005/8/layout/vList2"/>
    <dgm:cxn modelId="{A05C9C70-3045-425F-9B08-3B52EEF73C3E}" type="presParOf" srcId="{62219F38-A58E-4D25-B501-B168E98FFE4C}" destId="{368D38B4-9F77-45D9-977C-6D947CA98BA8}" srcOrd="2" destOrd="0" presId="urn:microsoft.com/office/officeart/2005/8/layout/vList2"/>
    <dgm:cxn modelId="{6D01129E-E6FC-4941-AC1E-A22DE9E4F9C7}" type="presParOf" srcId="{62219F38-A58E-4D25-B501-B168E98FFE4C}" destId="{27FBDE1F-C686-4AB4-AAE9-2852C8A6BDE8}" srcOrd="3" destOrd="0" presId="urn:microsoft.com/office/officeart/2005/8/layout/vList2"/>
    <dgm:cxn modelId="{B6ADA368-8545-4F22-A446-E403210E565B}" type="presParOf" srcId="{62219F38-A58E-4D25-B501-B168E98FFE4C}" destId="{9655C4E4-C32C-47AF-9316-102F3F60E837}" srcOrd="4" destOrd="0" presId="urn:microsoft.com/office/officeart/2005/8/layout/vList2"/>
    <dgm:cxn modelId="{4469C5D7-EA0F-4EAB-B536-E2062A846EB6}" type="presParOf" srcId="{62219F38-A58E-4D25-B501-B168E98FFE4C}" destId="{FDBC1992-6DFA-4259-8BA7-4CFA8BD21434}" srcOrd="5" destOrd="0" presId="urn:microsoft.com/office/officeart/2005/8/layout/vList2"/>
    <dgm:cxn modelId="{E2098DE9-82E2-4F27-8A19-F8154CD51579}" type="presParOf" srcId="{62219F38-A58E-4D25-B501-B168E98FFE4C}" destId="{EA0F5B78-FA9F-4FC0-86BE-0BCBEDE39CE0}" srcOrd="6" destOrd="0" presId="urn:microsoft.com/office/officeart/2005/8/layout/vList2"/>
    <dgm:cxn modelId="{5BE79D6C-F021-4C89-ACFA-D7D9F28F3F79}" type="presParOf" srcId="{62219F38-A58E-4D25-B501-B168E98FFE4C}" destId="{E2B20DB7-4D66-4ABB-83E1-DFC55C1C523E}" srcOrd="7" destOrd="0" presId="urn:microsoft.com/office/officeart/2005/8/layout/vList2"/>
    <dgm:cxn modelId="{033EAC66-6316-4745-9CC0-40728B3B0853}" type="presParOf" srcId="{62219F38-A58E-4D25-B501-B168E98FFE4C}" destId="{E065604D-3C3C-4A9F-B9BA-7F389BB9F5EB}" srcOrd="8" destOrd="0" presId="urn:microsoft.com/office/officeart/2005/8/layout/vList2"/>
    <dgm:cxn modelId="{227B761C-6B48-4B2E-AC7D-A8F91E1011F8}" type="presParOf" srcId="{62219F38-A58E-4D25-B501-B168E98FFE4C}" destId="{A46F505E-CCC3-4C69-ADFB-C71B4C4BF243}" srcOrd="9" destOrd="0" presId="urn:microsoft.com/office/officeart/2005/8/layout/vList2"/>
    <dgm:cxn modelId="{62A5B3E2-80C8-4D7B-A11D-976CC106B398}" type="presParOf" srcId="{62219F38-A58E-4D25-B501-B168E98FFE4C}" destId="{73381C93-17A7-4799-9574-5248852350B8}" srcOrd="10" destOrd="0" presId="urn:microsoft.com/office/officeart/2005/8/layout/vList2"/>
    <dgm:cxn modelId="{486D9B44-9115-41DF-9EFB-CC8C434FD4D8}" type="presParOf" srcId="{62219F38-A58E-4D25-B501-B168E98FFE4C}" destId="{7E978A28-EC15-4EBC-88F1-2508D1A78266}" srcOrd="11" destOrd="0" presId="urn:microsoft.com/office/officeart/2005/8/layout/vList2"/>
    <dgm:cxn modelId="{F682CD68-6A82-4346-9B49-1D173D5A2803}" type="presParOf" srcId="{62219F38-A58E-4D25-B501-B168E98FFE4C}" destId="{D88CA25C-FC2A-40A8-B305-EDC54CA6A0D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C3B31-0F26-4B38-8BE4-E1E2B8248D92}">
      <dsp:nvSpPr>
        <dsp:cNvPr id="0" name=""/>
        <dsp:cNvSpPr/>
      </dsp:nvSpPr>
      <dsp:spPr>
        <a:xfrm>
          <a:off x="0" y="375"/>
          <a:ext cx="6995236" cy="467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Текучесть кадров </a:t>
          </a:r>
          <a:endParaRPr lang="ru-RU" sz="2800" kern="1200" dirty="0"/>
        </a:p>
      </dsp:txBody>
      <dsp:txXfrm>
        <a:off x="22801" y="23176"/>
        <a:ext cx="6949634" cy="421483"/>
      </dsp:txXfrm>
    </dsp:sp>
    <dsp:sp modelId="{368D38B4-9F77-45D9-977C-6D947CA98BA8}">
      <dsp:nvSpPr>
        <dsp:cNvPr id="0" name=""/>
        <dsp:cNvSpPr/>
      </dsp:nvSpPr>
      <dsp:spPr>
        <a:xfrm>
          <a:off x="0" y="477726"/>
          <a:ext cx="6995236" cy="467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Частота больничных </a:t>
          </a:r>
          <a:endParaRPr lang="ru-RU" sz="2800" kern="12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22801" y="500527"/>
        <a:ext cx="6949634" cy="421483"/>
      </dsp:txXfrm>
    </dsp:sp>
    <dsp:sp modelId="{9655C4E4-C32C-47AF-9316-102F3F60E837}">
      <dsp:nvSpPr>
        <dsp:cNvPr id="0" name=""/>
        <dsp:cNvSpPr/>
      </dsp:nvSpPr>
      <dsp:spPr>
        <a:xfrm>
          <a:off x="0" y="955078"/>
          <a:ext cx="6995236" cy="467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Снижение производительности </a:t>
          </a:r>
          <a:endParaRPr lang="ru-RU" sz="2800" kern="12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22801" y="977879"/>
        <a:ext cx="6949634" cy="421483"/>
      </dsp:txXfrm>
    </dsp:sp>
    <dsp:sp modelId="{EA0F5B78-FA9F-4FC0-86BE-0BCBEDE39CE0}">
      <dsp:nvSpPr>
        <dsp:cNvPr id="0" name=""/>
        <dsp:cNvSpPr/>
      </dsp:nvSpPr>
      <dsp:spPr>
        <a:xfrm>
          <a:off x="0" y="1432430"/>
          <a:ext cx="6995236" cy="467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Количество жалоб на рабочие условия </a:t>
          </a:r>
          <a:endParaRPr lang="ru-RU" sz="2800" kern="12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22801" y="1455231"/>
        <a:ext cx="6949634" cy="421483"/>
      </dsp:txXfrm>
    </dsp:sp>
    <dsp:sp modelId="{E065604D-3C3C-4A9F-B9BA-7F389BB9F5EB}">
      <dsp:nvSpPr>
        <dsp:cNvPr id="0" name=""/>
        <dsp:cNvSpPr/>
      </dsp:nvSpPr>
      <dsp:spPr>
        <a:xfrm>
          <a:off x="0" y="1909781"/>
          <a:ext cx="6995236" cy="467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Регулярные опросы удовлетворенности </a:t>
          </a:r>
          <a:endParaRPr lang="ru-RU" sz="2800" kern="12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22801" y="1932582"/>
        <a:ext cx="6949634" cy="421483"/>
      </dsp:txXfrm>
    </dsp:sp>
    <dsp:sp modelId="{73381C93-17A7-4799-9574-5248852350B8}">
      <dsp:nvSpPr>
        <dsp:cNvPr id="0" name=""/>
        <dsp:cNvSpPr/>
      </dsp:nvSpPr>
      <dsp:spPr>
        <a:xfrm>
          <a:off x="0" y="2387133"/>
          <a:ext cx="6995236" cy="467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Анализ поведенческих изменений </a:t>
          </a:r>
          <a:endParaRPr lang="ru-RU" sz="2800" kern="12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22801" y="2409934"/>
        <a:ext cx="6949634" cy="421483"/>
      </dsp:txXfrm>
    </dsp:sp>
    <dsp:sp modelId="{D88CA25C-FC2A-40A8-B305-EDC54CA6A0DA}">
      <dsp:nvSpPr>
        <dsp:cNvPr id="0" name=""/>
        <dsp:cNvSpPr/>
      </dsp:nvSpPr>
      <dsp:spPr>
        <a:xfrm>
          <a:off x="0" y="2864484"/>
          <a:ext cx="6995236" cy="467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Оценка климатических факторов </a:t>
          </a:r>
          <a:endParaRPr lang="ru-RU" sz="2800" kern="12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22801" y="2887285"/>
        <a:ext cx="6949634" cy="4214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03E67-5427-4260-B62A-5770CE0A55F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83497-370A-4769-952C-4A01B6A4B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9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D987-5CF3-1A8B-24A1-5AA8DB65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>
            <a:extLst>
              <a:ext uri="{FF2B5EF4-FFF2-40B4-BE49-F238E27FC236}">
                <a16:creationId xmlns:a16="http://schemas.microsoft.com/office/drawing/2014/main" id="{90181FB9-3E92-069A-240C-4E39FF69D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>
            <a:extLst>
              <a:ext uri="{FF2B5EF4-FFF2-40B4-BE49-F238E27FC236}">
                <a16:creationId xmlns:a16="http://schemas.microsoft.com/office/drawing/2014/main" id="{A790455F-8DD8-581A-80A2-440F611895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>
            <a:extLst>
              <a:ext uri="{FF2B5EF4-FFF2-40B4-BE49-F238E27FC236}">
                <a16:creationId xmlns:a16="http://schemas.microsoft.com/office/drawing/2014/main" id="{62725BC2-4737-9D8B-43CD-47527FA8FF0E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F72EE2-1C9D-45EB-9423-BA8CE5A70DB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3623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30D6A1-13C5-5F49-B94C-D8B748DE4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61" y="0"/>
            <a:ext cx="977398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210DD-6D26-4D36-AE40-FFE3C1C25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44" y="1634427"/>
            <a:ext cx="5897880" cy="2387600"/>
          </a:xfrm>
        </p:spPr>
        <p:txBody>
          <a:bodyPr anchor="ctr">
            <a:noAutofit/>
          </a:bodyPr>
          <a:lstStyle>
            <a:lvl1pPr algn="l">
              <a:defRPr sz="2800" b="1"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96D6D3-4294-47F1-BBE5-D7C78EAB7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4114102"/>
            <a:ext cx="5897880" cy="1655762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9C6557-6491-45F2-9BA6-B11BD690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DE8E-1A21-4D39-9CDA-17B1B51844F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CAF458-85D1-44AE-8EAB-B59FD781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7DC91D-3C14-4B3C-8A52-A4274727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40C38A-A644-416F-A3C2-50002ABEE4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18" y="546291"/>
            <a:ext cx="2778749" cy="6559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FC48ED8-0626-4618-B2A3-3882BDC146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968" y="546291"/>
            <a:ext cx="2216920" cy="7048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3831929-E9B5-1346-9974-4CB326EA3F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07793" y="613341"/>
            <a:ext cx="3309421" cy="7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1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76209E8-A8B2-4136-A615-86B639B24DBE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9CF87-2C07-4561-8FE1-4083F72E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1AC352-5080-4267-B161-FB0D55E7D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932983-544E-4D30-B304-5019A043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2345C1-927B-4025-901F-EC7B638B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D13C20-ADDB-49C3-B926-0779D1F8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46E456-AF83-4D40-AECC-6B5109C3FBEF}"/>
              </a:ext>
            </a:extLst>
          </p:cNvPr>
          <p:cNvCxnSpPr/>
          <p:nvPr userDrawn="1"/>
        </p:nvCxnSpPr>
        <p:spPr>
          <a:xfrm>
            <a:off x="838200" y="365125"/>
            <a:ext cx="0" cy="1325563"/>
          </a:xfrm>
          <a:prstGeom prst="line">
            <a:avLst/>
          </a:prstGeom>
          <a:ln w="12700">
            <a:solidFill>
              <a:srgbClr val="51A6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12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EF1A2F-7BEC-4110-B566-6FE71B0AA6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61" y="0"/>
            <a:ext cx="977398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7A020-5FCE-4DCB-B415-88BAFD2A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5" y="1709738"/>
            <a:ext cx="6117335" cy="2852737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6316C4-84DC-44D7-A870-B4FE992C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345" y="4589463"/>
            <a:ext cx="6117335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8D9D81-324C-49A6-93DB-925700E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DE8E-1A21-4D39-9CDA-17B1B51844F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D64B3F-6BCD-43CA-997D-F08A56E3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ADA0F3-39BF-4469-90FE-8D31E272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9F5BA12-FF23-463F-8F7D-F281EF3588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18" y="546291"/>
            <a:ext cx="2778749" cy="6559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89C21B8-A16D-482F-A848-734C7C3BC18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968" y="546291"/>
            <a:ext cx="2216920" cy="7048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08AB535-49FE-6C43-9853-5282F8FD3D8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07793" y="603914"/>
            <a:ext cx="3309421" cy="7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7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EC9D6-3908-44B1-BC9B-60427DBE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59466-F956-4483-8E7B-E48E71F6F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95D3FD-FDF8-4F6E-8268-6DBE4D84E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C20918-5C7D-42CC-B75E-36A1710FB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9C152B-0BDD-47FE-A243-10E055A8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F079A9-AC04-4C8B-B5D7-A7372752A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AC9B5B4-0574-EC45-A74A-C9AA050E409A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4822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416D8-C2F1-4A3D-9BEE-CD9550E6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C5C5D0-2B0B-4E65-83C7-FFB3450EA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A33A2C-122E-4B6B-AE28-62C363AB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EFF754-6C4F-43BA-BFDF-39CC31ACB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A961CB-EE1C-405F-9982-6BA6A22EA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1FAD4C-318A-4BB1-B75F-EB200D39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804984-59EC-48BA-9179-3B6A1B25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07D5A54-73E6-4D10-8063-2E447089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5D0859D-180F-E643-B273-4665E76ADA83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264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BAAE8-8BF0-43E7-A3B2-90506523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A5EC1D6-63DA-4690-B972-EE7E2594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2E127D-42C1-4FC5-840B-81068FEF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671DB4-CB2B-4F4A-ACC7-0C5E6AD0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F2EDDCA-EBDE-A44F-8C43-427CB84B1A27}"/>
              </a:ext>
            </a:extLst>
          </p:cNvPr>
          <p:cNvCxnSpPr/>
          <p:nvPr userDrawn="1"/>
        </p:nvCxnSpPr>
        <p:spPr>
          <a:xfrm>
            <a:off x="838200" y="365125"/>
            <a:ext cx="0" cy="1325563"/>
          </a:xfrm>
          <a:prstGeom prst="line">
            <a:avLst/>
          </a:prstGeom>
          <a:ln w="12700">
            <a:solidFill>
              <a:srgbClr val="51A6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783D9E4-1652-9141-ACB9-AF13BADA08B5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62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2E03-9BF3-4FF5-8F59-F2480EA8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380468-B410-4A2F-A99F-63111313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0AC6DE-C65C-4182-B897-34CD62C7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A479DDB-6213-284F-B3E2-B6ABA6A6A341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999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203DB-2212-4C78-B733-53D7D3C1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62C375-6C06-4364-9F56-9A23C20F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AB5E27-F0BC-4139-9AD6-C5166194D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BC9994-0138-4B0F-A739-407E822A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910FD3-3872-4CC9-A2EA-F7389F73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FE999A-A569-4DFD-95A4-8E1EAE90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048A690-7E9A-BF44-9884-F337FC95BA50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67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28696-B9A6-42EA-BCA7-2AE79DBA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EF0AA1-B603-4868-93CB-D8EAE5134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1773F7-2113-4DFF-8EF3-3184C6986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A191A5-C374-4F13-B8D6-09E9B7139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363C4C-7B23-4CFB-B0A9-451BDE01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B76A6B-4895-4CD3-A14B-B8CA72CD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D85AF08-1808-694C-8853-1593EFB1CB29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18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904DC-FEBB-45EC-ABD9-120A2BE5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ACCE5E-EB26-4467-9178-AC50FDAA3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2FE847-1E24-47E2-8063-00F636AA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DE8E-1A21-4D39-9CDA-17B1B51844F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95169E-526A-456E-936B-DC4DA9AAD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065E29-F16C-4AF1-98DF-B893F0E6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9CE57B-A7F3-1F43-BF54-3B24F686DE30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596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C78DA7-07C8-431A-A77B-F7CF89A66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03ED87-0A7E-4C10-A532-4668D804E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A6DAE6-2071-4ACB-A7C6-9CF1A474C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DE8E-1A21-4D39-9CDA-17B1B51844F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E1CAE2-3D5C-4535-B790-609710AF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4715DD-C273-4521-8FB0-BD1328E2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F7BAB1A-D522-4F40-B6B2-28B6205573FC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6963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562" y="694524"/>
            <a:ext cx="10970378" cy="3015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ru-RU" sz="2177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609562" y="3324164"/>
            <a:ext cx="10970378" cy="5359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ru-RU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C05E56-3291-4110-BEC9-E64D2364020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157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8D092-0C26-4827-890C-10B9C61C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DCC785-5A6D-4072-9138-9C68620F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A9304-EEF0-4681-A464-BB32E78FB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DE8E-1A21-4D39-9CDA-17B1B51844F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8822A-4779-40A6-B425-FA0A3119C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41F72F-FE34-4139-AD04-44C7ED018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82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0470" t="-11674" r="-10470" b="-11674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562" y="108371"/>
            <a:ext cx="10970378" cy="14738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5321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4038350" y="6356641"/>
            <a:ext cx="4114109" cy="36441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105875">
              <a:lnSpc>
                <a:spcPct val="100000"/>
              </a:lnSpc>
              <a:buNone/>
              <a:tabLst>
                <a:tab pos="0" algn="l"/>
              </a:tabLst>
              <a:defRPr lang="ru-RU" sz="1693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ru-RU"/>
              <a:t>&lt;нижний колонтитул&gt;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sldNum" idx="11"/>
          </p:nvPr>
        </p:nvSpPr>
        <p:spPr>
          <a:xfrm>
            <a:off x="8610066" y="6356641"/>
            <a:ext cx="2742595" cy="36441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105875">
              <a:lnSpc>
                <a:spcPct val="100000"/>
              </a:lnSpc>
              <a:buNone/>
              <a:tabLst>
                <a:tab pos="0" algn="l"/>
              </a:tabLst>
              <a:defRPr lang="ru-RU" sz="1451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fld id="{F924B473-7049-41D9-B63C-23A97585FE5F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2"/>
          </p:nvPr>
        </p:nvSpPr>
        <p:spPr>
          <a:xfrm>
            <a:off x="837712" y="6356641"/>
            <a:ext cx="2742595" cy="36441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693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ru-RU"/>
              <a:t>&lt;дата/время&gt;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562" y="1604399"/>
            <a:ext cx="10972120" cy="397725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86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1044922" lvl="1" indent="-391846">
              <a:lnSpc>
                <a:spcPct val="90000"/>
              </a:lnSpc>
              <a:spcBef>
                <a:spcPts val="137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1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567382" lvl="2" indent="-348307">
              <a:lnSpc>
                <a:spcPct val="90000"/>
              </a:lnSpc>
              <a:spcBef>
                <a:spcPts val="102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7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2089843" lvl="3" indent="-261230">
              <a:lnSpc>
                <a:spcPct val="90000"/>
              </a:lnSpc>
              <a:spcBef>
                <a:spcPts val="6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7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612304" lvl="4" indent="-261230">
              <a:lnSpc>
                <a:spcPct val="90000"/>
              </a:lnSpc>
              <a:spcBef>
                <a:spcPts val="3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1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3134765" lvl="5" indent="-261230">
              <a:lnSpc>
                <a:spcPct val="90000"/>
              </a:lnSpc>
              <a:spcBef>
                <a:spcPts val="3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1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657226" lvl="6" indent="-261230">
              <a:lnSpc>
                <a:spcPct val="90000"/>
              </a:lnSpc>
              <a:spcBef>
                <a:spcPts val="3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1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361791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indent="0" algn="l" defTabSz="1105875" rtl="0" eaLnBrk="1" latinLnBrk="0" hangingPunct="1">
        <a:lnSpc>
          <a:spcPct val="90000"/>
        </a:lnSpc>
        <a:spcBef>
          <a:spcPct val="0"/>
        </a:spcBef>
        <a:buNone/>
        <a:defRPr sz="53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2461" indent="-391846" algn="l" defTabSz="1105875" rtl="0" eaLnBrk="1" latinLnBrk="0" hangingPunct="1">
        <a:lnSpc>
          <a:spcPct val="90000"/>
        </a:lnSpc>
        <a:spcBef>
          <a:spcPts val="1714"/>
        </a:spcBef>
        <a:buClr>
          <a:srgbClr val="000000"/>
        </a:buClr>
        <a:buSzPct val="45000"/>
        <a:buFont typeface="Wingdings" charset="2"/>
        <a:buChar char=""/>
        <a:defRPr sz="3386" kern="1200">
          <a:solidFill>
            <a:schemeClr val="tx1"/>
          </a:solidFill>
          <a:latin typeface="+mn-lt"/>
          <a:ea typeface="+mn-ea"/>
          <a:cs typeface="+mn-cs"/>
        </a:defRPr>
      </a:lvl1pPr>
      <a:lvl2pPr marL="829407" indent="-276469" algn="l" defTabSz="110587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2pPr>
      <a:lvl3pPr marL="1382344" indent="-276469" algn="l" defTabSz="110587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419" kern="1200">
          <a:solidFill>
            <a:schemeClr val="tx1"/>
          </a:solidFill>
          <a:latin typeface="+mn-lt"/>
          <a:ea typeface="+mn-ea"/>
          <a:cs typeface="+mn-cs"/>
        </a:defRPr>
      </a:lvl3pPr>
      <a:lvl4pPr marL="1935282" indent="-276469" algn="l" defTabSz="110587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4pPr>
      <a:lvl5pPr marL="2488220" indent="-276469" algn="l" defTabSz="110587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5pPr>
      <a:lvl6pPr marL="3041157" indent="-276469" algn="l" defTabSz="110587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6pPr>
      <a:lvl7pPr marL="3594095" indent="-276469" algn="l" defTabSz="110587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7pPr>
      <a:lvl8pPr marL="4147033" indent="-276469" algn="l" defTabSz="110587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8pPr>
      <a:lvl9pPr marL="4699970" indent="-276469" algn="l" defTabSz="110587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1pPr>
      <a:lvl2pPr marL="552938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105875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3pPr>
      <a:lvl4pPr marL="1658813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4pPr>
      <a:lvl5pPr marL="2211751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5pPr>
      <a:lvl6pPr marL="2764688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6pPr>
      <a:lvl7pPr marL="3317626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7pPr>
      <a:lvl8pPr marL="3870564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8pPr>
      <a:lvl9pPr marL="4423501" algn="l" defTabSz="1105875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BABD4-D544-2B1B-8211-4F56D70D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6">
            <a:extLst>
              <a:ext uri="{FF2B5EF4-FFF2-40B4-BE49-F238E27FC236}">
                <a16:creationId xmlns:a16="http://schemas.microsoft.com/office/drawing/2014/main" id="{4E524F40-2DE2-7B8D-693B-720A3E0A24AF}"/>
              </a:ext>
            </a:extLst>
          </p:cNvPr>
          <p:cNvSpPr/>
          <p:nvPr/>
        </p:nvSpPr>
        <p:spPr>
          <a:xfrm>
            <a:off x="168964" y="1480978"/>
            <a:ext cx="5474983" cy="33284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ru-RU" sz="2903" b="1" dirty="0">
                <a:solidFill>
                  <a:schemeClr val="accent1"/>
                </a:solidFill>
                <a:latin typeface="Times New Roman"/>
                <a:ea typeface="Tahoma"/>
              </a:rPr>
              <a:t>Отчет о производственной практике</a:t>
            </a:r>
          </a:p>
          <a:p>
            <a:pPr algn="ctr" defTabSz="1105875"/>
            <a:r>
              <a:rPr lang="ru-RU" sz="2903" dirty="0">
                <a:solidFill>
                  <a:schemeClr val="accent1"/>
                </a:solidFill>
                <a:latin typeface="Times New Roman"/>
                <a:ea typeface="Tahoma"/>
              </a:rPr>
              <a:t>Изучение основных методик оценки, показателей</a:t>
            </a:r>
          </a:p>
          <a:p>
            <a:pPr algn="ctr" defTabSz="1105875"/>
            <a:r>
              <a:rPr lang="ru-RU" sz="2903" dirty="0">
                <a:solidFill>
                  <a:schemeClr val="accent1"/>
                </a:solidFill>
                <a:latin typeface="Times New Roman"/>
                <a:ea typeface="Tahoma"/>
              </a:rPr>
              <a:t>мониторинга и определение функциональных</a:t>
            </a:r>
          </a:p>
          <a:p>
            <a:pPr algn="ctr" defTabSz="1105875"/>
            <a:r>
              <a:rPr lang="ru-RU" sz="2903" dirty="0">
                <a:solidFill>
                  <a:schemeClr val="accent1"/>
                </a:solidFill>
                <a:latin typeface="Times New Roman"/>
                <a:ea typeface="Tahoma"/>
              </a:rPr>
              <a:t>возможностей модуля</a:t>
            </a:r>
            <a:endParaRPr lang="ru-RU" sz="2903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01CE154F-3BB7-272B-94AE-80479EFA8D9A}"/>
              </a:ext>
            </a:extLst>
          </p:cNvPr>
          <p:cNvSpPr/>
          <p:nvPr/>
        </p:nvSpPr>
        <p:spPr>
          <a:xfrm>
            <a:off x="326357" y="5585269"/>
            <a:ext cx="5160199" cy="6023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defTabSz="1105875"/>
            <a:r>
              <a:rPr lang="ru-RU" sz="1600" dirty="0">
                <a:solidFill>
                  <a:srgbClr val="000000"/>
                </a:solidFill>
                <a:latin typeface="Times New Roman"/>
              </a:rPr>
              <a:t>Выполнила: Горбачева С. З. , группа ЭМС-271</a:t>
            </a:r>
          </a:p>
          <a:p>
            <a:pPr defTabSz="1105875"/>
            <a:r>
              <a:rPr lang="ru-RU" sz="1600" dirty="0">
                <a:solidFill>
                  <a:srgbClr val="000000"/>
                </a:solidFill>
                <a:latin typeface="Times New Roman"/>
              </a:rPr>
              <a:t>Период: 02.02.2026-01.03.2026</a:t>
            </a:r>
            <a:endParaRPr lang="ru-RU" sz="16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 descr="Поступающему">
            <a:extLst>
              <a:ext uri="{FF2B5EF4-FFF2-40B4-BE49-F238E27FC236}">
                <a16:creationId xmlns:a16="http://schemas.microsoft.com/office/drawing/2014/main" id="{E5C46265-1689-F7CC-787D-A08311ABC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798" y="36590"/>
            <a:ext cx="560645" cy="5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36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24C00-CBB6-43FF-B2C8-022B478F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/>
                </a:solidFill>
                <a:latin typeface="+mn-lt"/>
              </a:rPr>
              <a:t> Цель и задачи исследования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EA82F2-1828-4D76-B8B5-32FEA7854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00B9DF-5818-42DA-B6F5-A7872C2373A6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2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549F9AF-E9A2-11D2-CB50-0A9DD0F1F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76296" cy="4429600"/>
          </a:xfrm>
        </p:spPr>
        <p:txBody>
          <a:bodyPr>
            <a:normAutofit fontScale="77500" lnSpcReduction="20000"/>
          </a:bodyPr>
          <a:lstStyle/>
          <a:p>
            <a:pPr marL="0" indent="450000">
              <a:lnSpc>
                <a:spcPct val="120000"/>
              </a:lnSpc>
              <a:buNone/>
            </a:pPr>
            <a:r>
              <a:rPr lang="ru-RU" sz="2900" b="1" dirty="0"/>
              <a:t>Цель:</a:t>
            </a:r>
            <a:r>
              <a:rPr lang="ru-RU" sz="2900" dirty="0"/>
              <a:t> развитие научно-исследовательских навыков, включая освоение теоретических основ и практическое применение методов научного поиска, а также приобретение опыта самостоятельной работы над магистерской диссертацией. </a:t>
            </a:r>
          </a:p>
          <a:p>
            <a:pPr marL="0" indent="450000">
              <a:lnSpc>
                <a:spcPct val="120000"/>
              </a:lnSpc>
              <a:buNone/>
            </a:pPr>
            <a:r>
              <a:rPr lang="ru-RU" sz="2900" b="1" dirty="0"/>
              <a:t>Задачи:</a:t>
            </a:r>
          </a:p>
          <a:p>
            <a:pPr marL="0" lvl="0" indent="450000">
              <a:lnSpc>
                <a:spcPct val="120000"/>
              </a:lnSpc>
            </a:pPr>
            <a:r>
              <a:rPr lang="ru-RU" sz="2900" dirty="0"/>
              <a:t>изучение факторов, способствующих развитию выгорания; </a:t>
            </a:r>
          </a:p>
          <a:p>
            <a:pPr marL="0" lvl="0" indent="450000">
              <a:lnSpc>
                <a:spcPct val="120000"/>
              </a:lnSpc>
            </a:pPr>
            <a:r>
              <a:rPr lang="ru-RU" sz="2900" dirty="0"/>
              <a:t>анализ научной и нормативно-методической литературы по теме;</a:t>
            </a:r>
          </a:p>
          <a:p>
            <a:pPr marL="0" lvl="0" indent="450000">
              <a:lnSpc>
                <a:spcPct val="120000"/>
              </a:lnSpc>
            </a:pPr>
            <a:r>
              <a:rPr lang="ru-RU" sz="2900" dirty="0"/>
              <a:t>рассмотрение существующей методики и инструменты диагностики выгорания; </a:t>
            </a:r>
          </a:p>
          <a:p>
            <a:pPr marL="0" lvl="0" indent="450000">
              <a:lnSpc>
                <a:spcPct val="120000"/>
              </a:lnSpc>
            </a:pPr>
            <a:r>
              <a:rPr lang="ru-RU" sz="2900" dirty="0"/>
              <a:t>выявление ключевых показателей, используемые в системе мониторинга эмоционального состояния персонала; </a:t>
            </a:r>
          </a:p>
          <a:p>
            <a:pPr marL="0" indent="450000">
              <a:lnSpc>
                <a:spcPct val="120000"/>
              </a:lnSpc>
            </a:pPr>
            <a:r>
              <a:rPr lang="ru-RU" dirty="0"/>
              <a:t>подготовка научных статей.</a:t>
            </a:r>
            <a:endParaRPr lang="ru-RU" sz="2900" dirty="0"/>
          </a:p>
          <a:p>
            <a:pPr marL="0" indent="450000">
              <a:lnSpc>
                <a:spcPct val="120000"/>
              </a:lnSpc>
              <a:buNone/>
            </a:pPr>
            <a:endParaRPr lang="ru-RU" sz="2900" dirty="0"/>
          </a:p>
          <a:p>
            <a:pPr marL="0" indent="450000">
              <a:buNone/>
            </a:pPr>
            <a:endParaRPr lang="en-US" dirty="0"/>
          </a:p>
          <a:p>
            <a:pPr marL="0" indent="450000">
              <a:buAutoNum type="arabicPeriod"/>
            </a:pPr>
            <a:endParaRPr lang="en-US" dirty="0"/>
          </a:p>
          <a:p>
            <a:pPr marL="0" indent="450000">
              <a:buAutoNum type="arabicPeriod"/>
            </a:pPr>
            <a:endParaRPr lang="ru-RU" dirty="0"/>
          </a:p>
          <a:p>
            <a:pPr marL="0" indent="450000"/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8322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5726F-AAD5-41B2-8887-181C872C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/>
                </a:solidFill>
                <a:latin typeface="+mn-lt"/>
              </a:rPr>
              <a:t> Выгорание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3E2F6-04B4-4424-9399-B88A2C4EF0DB}"/>
              </a:ext>
            </a:extLst>
          </p:cNvPr>
          <p:cNvSpPr txBox="1"/>
          <p:nvPr/>
        </p:nvSpPr>
        <p:spPr>
          <a:xfrm>
            <a:off x="788158" y="1759485"/>
            <a:ext cx="551710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ru-RU" sz="2200" dirty="0"/>
              <a:t>Согласно определению Всемирной организации здравоохранения, синдром эмоционального выгорания (СЭВ) — это </a:t>
            </a:r>
            <a:r>
              <a:rPr lang="ru-RU" sz="2200" b="1" dirty="0"/>
              <a:t>состояние, возникающее в результате хронического стресса на рабочем месте. </a:t>
            </a:r>
          </a:p>
          <a:p>
            <a:pPr indent="457200"/>
            <a:endParaRPr lang="ru-RU" sz="2200" b="1" dirty="0"/>
          </a:p>
          <a:p>
            <a:pPr indent="457200"/>
            <a:r>
              <a:rPr lang="ru-RU" sz="2200" dirty="0"/>
              <a:t>Это состояние вызывается и сопровождается большой эмоциональной нагрузкой, что делает его особенно актуальным для профессий, связанных с постоянным взаимодействием с людьми.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0D1030-09BB-F746-AA33-F6E592BADF66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80C0224F-7CB1-B1C9-5D03-A551120E0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pic>
        <p:nvPicPr>
          <p:cNvPr id="1030" name="Picture 6" descr="Тест Эмоционального Выгорания на работе: Онлайн-пример + Ответы">
            <a:extLst>
              <a:ext uri="{FF2B5EF4-FFF2-40B4-BE49-F238E27FC236}">
                <a16:creationId xmlns:a16="http://schemas.microsoft.com/office/drawing/2014/main" id="{577C1DF7-BA75-53AE-DFEA-169EC39A1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112" y="1382791"/>
            <a:ext cx="5374594" cy="358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159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A3FD-9FEB-BD6B-8E6A-3300CD4B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E3023-F31E-8A53-F5B9-E124A3A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+mn-lt"/>
              </a:rPr>
              <a:t> </a:t>
            </a:r>
            <a:r>
              <a:rPr lang="ru-RU" sz="3200" b="1" dirty="0">
                <a:solidFill>
                  <a:schemeClr val="accent5"/>
                </a:solidFill>
                <a:latin typeface="+mn-lt"/>
              </a:rPr>
              <a:t>Международные методики диагностики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E77EC-9FA9-F796-1C31-A5D7882BB94E}"/>
              </a:ext>
            </a:extLst>
          </p:cNvPr>
          <p:cNvSpPr txBox="1"/>
          <p:nvPr/>
        </p:nvSpPr>
        <p:spPr>
          <a:xfrm>
            <a:off x="883692" y="1800428"/>
            <a:ext cx="669991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ru-RU" sz="2200" dirty="0"/>
              <a:t>Для диагностики выгорания в международной практике наиболее широко используется </a:t>
            </a:r>
            <a:r>
              <a:rPr lang="ru-RU" sz="2200" b="1" dirty="0"/>
              <a:t>методика MBI</a:t>
            </a:r>
            <a:r>
              <a:rPr lang="ru-RU" sz="2200" dirty="0"/>
              <a:t>, разработанная Кристиной </a:t>
            </a:r>
            <a:r>
              <a:rPr lang="ru-RU" sz="2200" dirty="0" err="1"/>
              <a:t>Маслач</a:t>
            </a:r>
            <a:r>
              <a:rPr lang="ru-RU" sz="2200" dirty="0"/>
              <a:t>.  </a:t>
            </a:r>
          </a:p>
          <a:p>
            <a:pPr indent="457200"/>
            <a:endParaRPr lang="ru-RU" sz="2200" dirty="0"/>
          </a:p>
          <a:p>
            <a:pPr indent="457200"/>
            <a:r>
              <a:rPr lang="ru-RU" sz="2200" dirty="0"/>
              <a:t>Данная методика представляет собой опросник, предназначенный для измерения основных показателей синдрома профессионального выгорания: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эмоционального истощения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деперсонализации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редукции профессиональных достижений.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C7736-5EF1-F48F-6766-EC280147C0C6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5BF091F8-CBAD-410D-8524-57DEC4218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pic>
        <p:nvPicPr>
          <p:cNvPr id="2050" name="Picture 2" descr="Маслах, Кристина — Википедия">
            <a:extLst>
              <a:ext uri="{FF2B5EF4-FFF2-40B4-BE49-F238E27FC236}">
                <a16:creationId xmlns:a16="http://schemas.microsoft.com/office/drawing/2014/main" id="{E8EC3826-E0B0-5AE8-EE36-EFF8CFA8F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097" y="1536671"/>
            <a:ext cx="2330876" cy="341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B2FCCA-58E4-79BB-73BC-5DCEB41AEC6E}"/>
              </a:ext>
            </a:extLst>
          </p:cNvPr>
          <p:cNvSpPr txBox="1"/>
          <p:nvPr/>
        </p:nvSpPr>
        <p:spPr>
          <a:xfrm>
            <a:off x="7514538" y="4998988"/>
            <a:ext cx="36939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i="1" dirty="0"/>
              <a:t>Кристина </a:t>
            </a:r>
            <a:r>
              <a:rPr lang="ru-RU" sz="1400" i="1" dirty="0" err="1"/>
              <a:t>Маслач</a:t>
            </a:r>
            <a:r>
              <a:rPr lang="ru-RU" sz="1400" i="1" dirty="0"/>
              <a:t> </a:t>
            </a:r>
          </a:p>
          <a:p>
            <a:pPr indent="446088" algn="ctr"/>
            <a:r>
              <a:rPr lang="ru-RU" sz="1400" i="1" dirty="0"/>
              <a:t>Американский социальный психолог, профессор психологии и ведущий научный сотрудник Университета Беркли в Калифорнии.</a:t>
            </a:r>
          </a:p>
        </p:txBody>
      </p:sp>
    </p:spTree>
    <p:extLst>
      <p:ext uri="{BB962C8B-B14F-4D97-AF65-F5344CB8AC3E}">
        <p14:creationId xmlns:p14="http://schemas.microsoft.com/office/powerpoint/2010/main" val="171529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85C6-8865-90A3-E65D-E95BB843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03227-F884-72F4-B52B-F23E4BE8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Montserrat" pitchFamily="2" charset="0"/>
              </a:rPr>
              <a:t> </a:t>
            </a:r>
            <a:r>
              <a:rPr lang="ru-RU" sz="3200" b="1" dirty="0">
                <a:solidFill>
                  <a:schemeClr val="accent5"/>
                </a:solidFill>
                <a:latin typeface="+mn-lt"/>
              </a:rPr>
              <a:t>Российские</a:t>
            </a:r>
            <a:r>
              <a:rPr lang="ru-RU" sz="3200" dirty="0">
                <a:latin typeface="Montserrat" pitchFamily="2" charset="0"/>
              </a:rPr>
              <a:t> </a:t>
            </a:r>
            <a:r>
              <a:rPr lang="ru-RU" sz="3200" b="1" dirty="0">
                <a:solidFill>
                  <a:schemeClr val="accent5"/>
                </a:solidFill>
                <a:latin typeface="+mn-lt"/>
              </a:rPr>
              <a:t>методики диагностики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1FB51-6987-8515-D998-7F607EF99741}"/>
              </a:ext>
            </a:extLst>
          </p:cNvPr>
          <p:cNvSpPr txBox="1"/>
          <p:nvPr/>
        </p:nvSpPr>
        <p:spPr>
          <a:xfrm>
            <a:off x="4424204" y="1441360"/>
            <a:ext cx="749029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ru-RU" sz="2200" dirty="0"/>
              <a:t>В российской практике для диагностики синдрома эмоционального выгорания был разработан </a:t>
            </a:r>
            <a:r>
              <a:rPr lang="ru-RU" sz="2200" b="1" dirty="0"/>
              <a:t>тест В. Бойко</a:t>
            </a:r>
            <a:r>
              <a:rPr lang="ru-RU" sz="2200" dirty="0"/>
              <a:t>, состоящий из 84 вопросов.</a:t>
            </a:r>
          </a:p>
          <a:p>
            <a:pPr indent="457200"/>
            <a:endParaRPr lang="ru-RU" sz="2200" dirty="0"/>
          </a:p>
          <a:p>
            <a:pPr indent="457200"/>
            <a:r>
              <a:rPr lang="ru-RU" sz="2200" dirty="0"/>
              <a:t>В. Бойко выделяет три фазы синдрома эмоционального выгорания:</a:t>
            </a:r>
          </a:p>
          <a:p>
            <a:pPr marL="177800" indent="268288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ru-RU" sz="2200" dirty="0"/>
              <a:t>­	фаза напряжения — начальная стадия, характеризующаяся повышенной ответственностью и стремлением к совершенству;</a:t>
            </a:r>
          </a:p>
          <a:p>
            <a:pPr marL="177800" indent="268288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ru-RU" sz="2200" dirty="0"/>
              <a:t>­	фаза </a:t>
            </a:r>
            <a:r>
              <a:rPr lang="ru-RU" sz="2200" dirty="0" err="1"/>
              <a:t>резистенции</a:t>
            </a:r>
            <a:r>
              <a:rPr lang="ru-RU" sz="2200" dirty="0"/>
              <a:t> — средняя стадия, при которой человек адаптируется к стрессовым условиям;</a:t>
            </a:r>
          </a:p>
          <a:p>
            <a:pPr marL="177800" indent="268288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ru-RU" sz="2200" dirty="0"/>
              <a:t>­	фаза истощения — конечная стадия, характеризующаяся эмоциональным и физическим истощением.</a:t>
            </a:r>
          </a:p>
          <a:p>
            <a:endParaRPr lang="ru-RU" sz="2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34AB8-C2F7-E918-030F-DFD96C4C49B5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912E8279-E322-7EC6-6243-F1C7B9424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pic>
        <p:nvPicPr>
          <p:cNvPr id="3074" name="Picture 2" descr="📗В. В. Бойко - Энергия эмоций в общении: взгляд на себя и ...">
            <a:extLst>
              <a:ext uri="{FF2B5EF4-FFF2-40B4-BE49-F238E27FC236}">
                <a16:creationId xmlns:a16="http://schemas.microsoft.com/office/drawing/2014/main" id="{6DADA825-45A3-2A5F-3565-360019714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19" y="2060658"/>
            <a:ext cx="2601036" cy="378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40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9241-C50B-4AE2-6FE5-7EF2FEBD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44812-5D3A-6693-D60D-8231D540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+mn-lt"/>
              </a:rPr>
              <a:t> </a:t>
            </a:r>
            <a:r>
              <a:rPr lang="ru-RU" sz="3200" b="1" dirty="0">
                <a:solidFill>
                  <a:schemeClr val="accent5"/>
                </a:solidFill>
                <a:latin typeface="+mn-lt"/>
              </a:rPr>
              <a:t>Количественные показатели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4C7547-5E5E-58F7-C0BC-274305383C1E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6C6F2C1B-6B79-0DBE-1909-87622E9E4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B78A99-7CCA-B648-D60D-06440EC79C3F}"/>
              </a:ext>
            </a:extLst>
          </p:cNvPr>
          <p:cNvSpPr txBox="1"/>
          <p:nvPr/>
        </p:nvSpPr>
        <p:spPr>
          <a:xfrm>
            <a:off x="909851" y="1545112"/>
            <a:ext cx="10723783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корпоративной среде для мониторинга уровня выгорания сотрудников используются различные количественные показатели:</a:t>
            </a:r>
            <a:endParaRPr lang="ru-RU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08B158A1-A1C5-D949-71D5-A91DE74249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5574385"/>
              </p:ext>
            </p:extLst>
          </p:nvPr>
        </p:nvGraphicFramePr>
        <p:xfrm>
          <a:off x="2453563" y="2768603"/>
          <a:ext cx="6995236" cy="3331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8809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B0E38-25AF-EC00-356C-03BCF91D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816D5-D3FB-F061-C650-2DACA528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+mn-lt"/>
              </a:rPr>
              <a:t> </a:t>
            </a:r>
            <a:r>
              <a:rPr lang="ru-RU" sz="3200" b="1" dirty="0">
                <a:solidFill>
                  <a:schemeClr val="accent5"/>
                </a:solidFill>
                <a:latin typeface="+mn-lt"/>
              </a:rPr>
              <a:t>Функциональные возможности модуля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2666B7-EC37-0C23-C0DB-5ACAF35268EB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9BC14D83-3E35-3076-51DE-A9030C3FA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8445530-1F4A-7E3C-CC99-B8DE52EE0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72661"/>
              </p:ext>
            </p:extLst>
          </p:nvPr>
        </p:nvGraphicFramePr>
        <p:xfrm>
          <a:off x="361142" y="1565604"/>
          <a:ext cx="11677933" cy="45952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9724">
                  <a:extLst>
                    <a:ext uri="{9D8B030D-6E8A-4147-A177-3AD203B41FA5}">
                      <a16:colId xmlns:a16="http://schemas.microsoft.com/office/drawing/2014/main" val="421560171"/>
                    </a:ext>
                  </a:extLst>
                </a:gridCol>
                <a:gridCol w="2486676">
                  <a:extLst>
                    <a:ext uri="{9D8B030D-6E8A-4147-A177-3AD203B41FA5}">
                      <a16:colId xmlns:a16="http://schemas.microsoft.com/office/drawing/2014/main" val="2797735217"/>
                    </a:ext>
                  </a:extLst>
                </a:gridCol>
                <a:gridCol w="8561533">
                  <a:extLst>
                    <a:ext uri="{9D8B030D-6E8A-4147-A177-3AD203B41FA5}">
                      <a16:colId xmlns:a16="http://schemas.microsoft.com/office/drawing/2014/main" val="1599209841"/>
                    </a:ext>
                  </a:extLst>
                </a:gridCol>
              </a:tblGrid>
              <a:tr h="635729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№ п/п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Функциональный блок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Возможности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extLst>
                  <a:ext uri="{0D108BD9-81ED-4DB2-BD59-A6C34878D82A}">
                    <a16:rowId xmlns:a16="http://schemas.microsoft.com/office/drawing/2014/main" val="2017230166"/>
                  </a:ext>
                </a:extLst>
              </a:tr>
              <a:tr h="973845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Анализ текстовых сообщений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Анализ тональности, лексики и паттернов в рабочих переписках (с согласия пользователя). Распознавание маркеров выгорания: цинизм, апатия, жалобы, сокращение длины и частоты сообщений.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extLst>
                  <a:ext uri="{0D108BD9-81ED-4DB2-BD59-A6C34878D82A}">
                    <a16:rowId xmlns:a16="http://schemas.microsoft.com/office/drawing/2014/main" val="3558178158"/>
                  </a:ext>
                </a:extLst>
              </a:tr>
              <a:tr h="973845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Оценка и классификация уровня выгорания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Присвоение уровня выгорания (норма / начальная стадия / умеренное / высокое) на основе текстовых признаков. Оценка по шкалам эмоционального истощения, деперсонализации и редукции достижений.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extLst>
                  <a:ext uri="{0D108BD9-81ED-4DB2-BD59-A6C34878D82A}">
                    <a16:rowId xmlns:a16="http://schemas.microsoft.com/office/drawing/2014/main" val="3650940358"/>
                  </a:ext>
                </a:extLst>
              </a:tr>
              <a:tr h="747192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Мониторинг и отслеживание динамики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Накопление истории оценок по каждому агенту. Отслеживание трендов: ухудшение / стабильность / улучшение состояния.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extLst>
                  <a:ext uri="{0D108BD9-81ED-4DB2-BD59-A6C34878D82A}">
                    <a16:rowId xmlns:a16="http://schemas.microsoft.com/office/drawing/2014/main" val="2391340982"/>
                  </a:ext>
                </a:extLst>
              </a:tr>
              <a:tr h="973845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Система уведомлений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Уведомление агенту при обнаружении признаков выгорания (в мягкой форме с рекомендациями). Оповещение HR/руководителя при достижении критических порогов (в обезличенной форме).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2" marR="55022" marT="0" marB="0"/>
                </a:tc>
                <a:extLst>
                  <a:ext uri="{0D108BD9-81ED-4DB2-BD59-A6C34878D82A}">
                    <a16:rowId xmlns:a16="http://schemas.microsoft.com/office/drawing/2014/main" val="188372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19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58D6-313A-D5D4-68CA-9D3993DF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D479C-6B71-9A2B-EA09-A423D5FF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+mn-lt"/>
              </a:rPr>
              <a:t> </a:t>
            </a:r>
            <a:r>
              <a:rPr lang="ru-RU" sz="3200" b="1" dirty="0">
                <a:solidFill>
                  <a:schemeClr val="accent5"/>
                </a:solidFill>
                <a:latin typeface="+mn-lt"/>
              </a:rPr>
              <a:t>Статья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634B8F-AE97-8A58-3912-9550A3FC5044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DEEFED39-41B2-D1D1-98DE-B4A068D5C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7B7967-817B-CCBD-A5FA-526C29CC5894}"/>
              </a:ext>
            </a:extLst>
          </p:cNvPr>
          <p:cNvSpPr txBox="1"/>
          <p:nvPr/>
        </p:nvSpPr>
        <p:spPr>
          <a:xfrm>
            <a:off x="797637" y="1795321"/>
            <a:ext cx="11241438" cy="301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000" dirty="0"/>
              <a:t>В рамках производственной практики было подготовлено 2 статьи. 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000" dirty="0"/>
              <a:t>Первая написана на тему «</a:t>
            </a:r>
            <a:r>
              <a:rPr lang="ru-RU" sz="2000" b="1" dirty="0"/>
              <a:t>Проблема выгорания сотрудников в России: причины и последствия</a:t>
            </a:r>
            <a:r>
              <a:rPr lang="ru-RU" sz="2000" dirty="0"/>
              <a:t>». Она посвящена проблеме выгорания сотрудников в России: рассмотрены причины, последствия, стадии развития синдрома, а также пути профилактики и поддержки со стороны работодателя.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Стадии профессионального выгорания">
            <a:extLst>
              <a:ext uri="{FF2B5EF4-FFF2-40B4-BE49-F238E27FC236}">
                <a16:creationId xmlns:a16="http://schemas.microsoft.com/office/drawing/2014/main" id="{1DF13897-36AB-D860-10A4-B259C52FF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008" y="3953035"/>
            <a:ext cx="3944768" cy="22216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3301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2452-97B6-301E-E1B9-576F2B14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BAA72-FDCC-F601-F7F3-A09019B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+mn-lt"/>
              </a:rPr>
              <a:t> </a:t>
            </a:r>
            <a:r>
              <a:rPr lang="ru-RU" sz="3200" b="1" dirty="0">
                <a:solidFill>
                  <a:schemeClr val="accent5"/>
                </a:solidFill>
                <a:latin typeface="+mn-lt"/>
              </a:rPr>
              <a:t>Статья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5C149E-EE51-4913-DD71-D0D4C797F3E9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83956CCC-1408-ACF8-6517-A47E0EEA4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9803B0-A5A0-3071-ABFB-041F5D40E80D}"/>
              </a:ext>
            </a:extLst>
          </p:cNvPr>
          <p:cNvSpPr txBox="1"/>
          <p:nvPr/>
        </p:nvSpPr>
        <p:spPr>
          <a:xfrm>
            <a:off x="838200" y="1724751"/>
            <a:ext cx="7732214" cy="4196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Вторая статья – «</a:t>
            </a:r>
            <a:r>
              <a:rPr lang="ru-RU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Классификация нейронных сетей и их практическое применение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», </a:t>
            </a:r>
            <a:r>
              <a:rPr lang="ru-RU" sz="2200" dirty="0"/>
              <a:t>представляет собой обзор и классификацию архитектур искусственных нейронных сетей с точки зрения их структуры и областей применения, что имеет прямое отношение к реализации интеллектуальных систем мониторинга, таких как модуль, предложенный в ходе практики.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endParaRPr lang="ru-RU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Нейронная сеть — Википедия">
            <a:extLst>
              <a:ext uri="{FF2B5EF4-FFF2-40B4-BE49-F238E27FC236}">
                <a16:creationId xmlns:a16="http://schemas.microsoft.com/office/drawing/2014/main" id="{8AEC1A2F-677B-AF9B-F251-A55E58ECAA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96A63D-8B7C-AC99-EB35-69ABCC3D5B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16200000">
            <a:off x="7506733" y="1646175"/>
            <a:ext cx="6331442" cy="303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9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542C-41FC-C709-6237-E9AA2D65F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7E4F5D-4CCE-C2E1-A492-61A7D45E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+mn-lt"/>
              </a:rPr>
              <a:t> </a:t>
            </a:r>
            <a:r>
              <a:rPr lang="ru-RU" sz="3200" b="1" dirty="0">
                <a:solidFill>
                  <a:schemeClr val="accent5"/>
                </a:solidFill>
                <a:latin typeface="+mn-lt"/>
              </a:rPr>
              <a:t>Заключение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BC7333-63A4-1973-8ED5-DD288A2D4E39}"/>
              </a:ext>
            </a:extLst>
          </p:cNvPr>
          <p:cNvSpPr txBox="1"/>
          <p:nvPr/>
        </p:nvSpPr>
        <p:spPr>
          <a:xfrm>
            <a:off x="11633634" y="6380852"/>
            <a:ext cx="40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" pitchFamily="2" charset="0"/>
              </a:rPr>
              <a:t>3</a:t>
            </a: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76EEA4B6-40FD-AF52-77FB-1F7AF7F02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322565-C525-1C04-BCF4-7DF5DA741E7F}"/>
              </a:ext>
            </a:extLst>
          </p:cNvPr>
          <p:cNvSpPr txBox="1"/>
          <p:nvPr/>
        </p:nvSpPr>
        <p:spPr>
          <a:xfrm>
            <a:off x="838200" y="1799871"/>
            <a:ext cx="10723783" cy="3791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200" dirty="0"/>
              <a:t>В ходе прохождения производственной практики в ПАО СК «Росгосстрах» были изучены актуальные вопросы, связанные с оценкой и мониторингом уровня профессионального выгорания сотрудников страховой компании.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200" dirty="0"/>
              <a:t>Была достигнута поставленная цель и выполнены сформулированные по ней задачи.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Одним из ключевых результатов практики стало формирование функциональных требований к модулю мониторинга профессионального выгорания на базе чат-бота.</a:t>
            </a:r>
          </a:p>
        </p:txBody>
      </p:sp>
    </p:spTree>
    <p:extLst>
      <p:ext uri="{BB962C8B-B14F-4D97-AF65-F5344CB8AC3E}">
        <p14:creationId xmlns:p14="http://schemas.microsoft.com/office/powerpoint/2010/main" val="38650982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23455C"/>
      </a:dk2>
      <a:lt2>
        <a:srgbClr val="E7E6E6"/>
      </a:lt2>
      <a:accent1>
        <a:srgbClr val="51A6DA"/>
      </a:accent1>
      <a:accent2>
        <a:srgbClr val="23455C"/>
      </a:accent2>
      <a:accent3>
        <a:srgbClr val="3B749C"/>
      </a:accent3>
      <a:accent4>
        <a:srgbClr val="56AFE8"/>
      </a:accent4>
      <a:accent5>
        <a:srgbClr val="4792C2"/>
      </a:accent5>
      <a:accent6>
        <a:srgbClr val="70AD47"/>
      </a:accent6>
      <a:hlink>
        <a:srgbClr val="23455C"/>
      </a:hlink>
      <a:folHlink>
        <a:srgbClr val="56AFE8"/>
      </a:folHlink>
    </a:clrScheme>
    <a:fontScheme name="Arial/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636</Words>
  <Application>Microsoft Office PowerPoint</Application>
  <PresentationFormat>Широкоэкранный</PresentationFormat>
  <Paragraphs>81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Montserrat</vt:lpstr>
      <vt:lpstr>Symbol</vt:lpstr>
      <vt:lpstr>Times New Roman</vt:lpstr>
      <vt:lpstr>Wingdings</vt:lpstr>
      <vt:lpstr>Тема Office</vt:lpstr>
      <vt:lpstr>1_Тема Office</vt:lpstr>
      <vt:lpstr>Презентация PowerPoint</vt:lpstr>
      <vt:lpstr> Цель и задачи исследования</vt:lpstr>
      <vt:lpstr> Выгорание</vt:lpstr>
      <vt:lpstr> Международные методики диагностики</vt:lpstr>
      <vt:lpstr> Российские методики диагностики</vt:lpstr>
      <vt:lpstr> Количественные показатели</vt:lpstr>
      <vt:lpstr> Функциональные возможности модуля</vt:lpstr>
      <vt:lpstr> Статья 1</vt:lpstr>
      <vt:lpstr> Статья 2</vt:lpstr>
      <vt:lpstr> 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Павел Гамов</dc:creator>
  <cp:lastModifiedBy>Павел Гамов</cp:lastModifiedBy>
  <cp:revision>18</cp:revision>
  <dcterms:modified xsi:type="dcterms:W3CDTF">2026-03-29T20:21:54Z</dcterms:modified>
</cp:coreProperties>
</file>