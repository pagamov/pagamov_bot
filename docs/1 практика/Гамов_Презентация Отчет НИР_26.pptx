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15"/>
  </p:notesMasterIdLst>
  <p:sldIdLst>
    <p:sldId id="25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81" d="100"/>
          <a:sy n="181" d="100"/>
        </p:scale>
        <p:origin x="612" y="150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lang="ru-RU" sz="2800" b="1" u="none" strike="noStrike">
                <a:solidFill>
                  <a:srgbClr val="595959"/>
                </a:solidFill>
                <a:uFillTx/>
                <a:latin typeface="Times New Roman"/>
                <a:ea typeface="DejaVu Sans"/>
              </a:rPr>
              <a:t>Результаты тестирования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Традиционные методы</c:v>
                </c:pt>
              </c:strCache>
            </c:strRef>
          </c:tx>
          <c:spPr>
            <a:solidFill>
              <a:srgbClr val="18A303"/>
            </a:solidFill>
            <a:ln w="0">
              <a:noFill/>
            </a:ln>
          </c:spPr>
          <c:invertIfNegative val="0"/>
          <c:dLbls>
            <c:numFmt formatCode="0%" sourceLinked="0"/>
            <c:spPr>
              <a:solidFill>
                <a:srgbClr val="FFFFFF"/>
              </a:solidFill>
            </c:spPr>
            <c:txPr>
              <a:bodyPr wrap="square"/>
              <a:lstStyle/>
              <a:p>
                <a:pPr>
                  <a:defRPr sz="1197" b="0" u="none" strike="noStrike">
                    <a:solidFill>
                      <a:srgbClr val="595959"/>
                    </a:solidFill>
                    <a:uFillTx/>
                    <a:latin typeface="Arial"/>
                    <a:ea typeface="DejaVu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Вовлеченность</c:v>
                </c:pt>
                <c:pt idx="1">
                  <c:v>Выполнение задач</c:v>
                </c:pt>
                <c:pt idx="2">
                  <c:v>Удержание</c:v>
                </c:pt>
              </c:strCache>
            </c:strRef>
          </c:cat>
          <c:val>
            <c:numRef>
              <c:f>0</c:f>
              <c:numCache>
                <c:formatCode>0%</c:formatCode>
                <c:ptCount val="3"/>
                <c:pt idx="0">
                  <c:v>0.34</c:v>
                </c:pt>
                <c:pt idx="1">
                  <c:v>0.42</c:v>
                </c:pt>
                <c:pt idx="2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A5-4EEA-94CC-E5102816C467}"/>
            </c:ext>
          </c:extLst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Геймификация</c:v>
                </c:pt>
              </c:strCache>
            </c:strRef>
          </c:tx>
          <c:spPr>
            <a:solidFill>
              <a:srgbClr val="0369A3"/>
            </a:solidFill>
            <a:ln w="0">
              <a:noFill/>
            </a:ln>
          </c:spPr>
          <c:invertIfNegative val="0"/>
          <c:dLbls>
            <c:numFmt formatCode="0%" sourceLinked="0"/>
            <c:spPr>
              <a:solidFill>
                <a:srgbClr val="FFFFFF"/>
              </a:solidFill>
            </c:spPr>
            <c:txPr>
              <a:bodyPr wrap="square"/>
              <a:lstStyle/>
              <a:p>
                <a:pPr>
                  <a:defRPr sz="1197" b="0" u="none" strike="noStrike">
                    <a:solidFill>
                      <a:srgbClr val="595959"/>
                    </a:solidFill>
                    <a:uFillTx/>
                    <a:latin typeface="Arial"/>
                    <a:ea typeface="DejaVu San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Вовлеченность</c:v>
                </c:pt>
                <c:pt idx="1">
                  <c:v>Выполнение задач</c:v>
                </c:pt>
                <c:pt idx="2">
                  <c:v>Удержание</c:v>
                </c:pt>
              </c:strCache>
            </c:strRef>
          </c:cat>
          <c:val>
            <c:numRef>
              <c:f>1</c:f>
              <c:numCache>
                <c:formatCode>0%</c:formatCode>
                <c:ptCount val="3"/>
                <c:pt idx="0">
                  <c:v>0.78</c:v>
                </c:pt>
                <c:pt idx="1">
                  <c:v>0.67</c:v>
                </c:pt>
                <c:pt idx="2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A5-4EEA-94CC-E5102816C4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736033"/>
        <c:axId val="41624237"/>
      </c:barChart>
      <c:catAx>
        <c:axId val="557360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197" b="0" u="none" strike="noStrike">
                <a:solidFill>
                  <a:srgbClr val="595959"/>
                </a:solidFill>
                <a:uFillTx/>
                <a:latin typeface="Arial"/>
                <a:ea typeface="DejaVu Sans"/>
              </a:defRPr>
            </a:pPr>
            <a:endParaRPr lang="ru-RU"/>
          </a:p>
        </c:txPr>
        <c:crossAx val="41624237"/>
        <c:crosses val="autoZero"/>
        <c:auto val="1"/>
        <c:lblAlgn val="ctr"/>
        <c:lblOffset val="100"/>
        <c:noMultiLvlLbl val="0"/>
      </c:catAx>
      <c:valAx>
        <c:axId val="41624237"/>
        <c:scaling>
          <c:orientation val="minMax"/>
        </c:scaling>
        <c:delete val="1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0%" sourceLinked="1"/>
        <c:majorTickMark val="none"/>
        <c:minorTickMark val="none"/>
        <c:tickLblPos val="nextTo"/>
        <c:crossAx val="5573603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97" b="0" u="none" strike="noStrike">
              <a:solidFill>
                <a:srgbClr val="595959"/>
              </a:solidFill>
              <a:uFillTx/>
              <a:latin typeface="Arial"/>
              <a:ea typeface="DejaVu Sans"/>
            </a:defRPr>
          </a:pPr>
          <a:endParaRPr lang="ru-RU"/>
        </a:p>
      </c:txPr>
    </c:legend>
    <c:plotVisOnly val="1"/>
    <c:dispBlanksAs val="gap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CCBBCD-EDA0-44F9-98D9-991EB7CE301B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16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F72EE2-1C9D-45EB-9423-BA8CE5A70DBA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BD987-5CF3-1A8B-24A1-5AA8DB65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>
            <a:extLst>
              <a:ext uri="{FF2B5EF4-FFF2-40B4-BE49-F238E27FC236}">
                <a16:creationId xmlns:a16="http://schemas.microsoft.com/office/drawing/2014/main" id="{90181FB9-3E92-069A-240C-4E39FF69D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>
            <a:extLst>
              <a:ext uri="{FF2B5EF4-FFF2-40B4-BE49-F238E27FC236}">
                <a16:creationId xmlns:a16="http://schemas.microsoft.com/office/drawing/2014/main" id="{A790455F-8DD8-581A-80A2-440F611895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55640" y="5145120"/>
            <a:ext cx="6048000" cy="420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>
            <a:extLst>
              <a:ext uri="{FF2B5EF4-FFF2-40B4-BE49-F238E27FC236}">
                <a16:creationId xmlns:a16="http://schemas.microsoft.com/office/drawing/2014/main" id="{62725BC2-4737-9D8B-43CD-47527FA8FF0E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4281480" y="10155240"/>
            <a:ext cx="32763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F72EE2-1C9D-45EB-9423-BA8CE5A70DBA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3623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6F92BE-2794-4F0C-B16D-D6343D0ED314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Второй уровень структуры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Третий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E0047BB-8A94-4874-826F-FBC3A8B24CD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Обычный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Второй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Пятый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Шестой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Седьмой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E1ABD6-1839-408B-BD26-06FCEB732561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C05E56-3291-4110-BEC9-E64D2364020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10470" t="-11674" r="-10470" b="-11674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3339000" y="5256000"/>
            <a:ext cx="3401640" cy="30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sldNum" idx="11"/>
          </p:nvPr>
        </p:nvSpPr>
        <p:spPr>
          <a:xfrm>
            <a:off x="7119000" y="5256000"/>
            <a:ext cx="2267640" cy="30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24B473-7049-41D9-B63C-23A97585FE5F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2"/>
          </p:nvPr>
        </p:nvSpPr>
        <p:spPr>
          <a:xfrm>
            <a:off x="692640" y="5256000"/>
            <a:ext cx="2267640" cy="30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6"/>
          <p:cNvSpPr/>
          <p:nvPr/>
        </p:nvSpPr>
        <p:spPr>
          <a:xfrm>
            <a:off x="360000" y="2020320"/>
            <a:ext cx="45270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Times New Roman"/>
                <a:ea typeface="Tahoma"/>
              </a:rPr>
              <a:t>Изучение использования элементов геймификации в неигровом контенте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22"/>
          <p:cNvSpPr/>
          <p:nvPr/>
        </p:nvSpPr>
        <p:spPr>
          <a:xfrm>
            <a:off x="360000" y="4465800"/>
            <a:ext cx="4266720" cy="3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Отчет о производственной практике: 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Гамов Павел Антонович ЭМС-271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23"/>
          <p:cNvSpPr/>
          <p:nvPr/>
        </p:nvSpPr>
        <p:spPr>
          <a:xfrm>
            <a:off x="360000" y="4864320"/>
            <a:ext cx="426672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Москва 2026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6" name="Picture 2" descr="Поступающему">
            <a:extLst>
              <a:ext uri="{FF2B5EF4-FFF2-40B4-BE49-F238E27FC236}">
                <a16:creationId xmlns:a16="http://schemas.microsoft.com/office/drawing/2014/main" id="{D8512673-8B44-6DD9-C323-E5904839D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635" y="30255"/>
            <a:ext cx="463570" cy="4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BABD4-D544-2B1B-8211-4F56D70D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6">
            <a:extLst>
              <a:ext uri="{FF2B5EF4-FFF2-40B4-BE49-F238E27FC236}">
                <a16:creationId xmlns:a16="http://schemas.microsoft.com/office/drawing/2014/main" id="{4E524F40-2DE2-7B8D-693B-720A3E0A24AF}"/>
              </a:ext>
            </a:extLst>
          </p:cNvPr>
          <p:cNvSpPr/>
          <p:nvPr/>
        </p:nvSpPr>
        <p:spPr>
          <a:xfrm>
            <a:off x="360000" y="2020320"/>
            <a:ext cx="4527000" cy="118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2400" b="1" u="none" strike="noStrik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Times New Roman"/>
                <a:ea typeface="Tahoma"/>
              </a:rPr>
              <a:t>Изучение использования элементов геймификации в неигровом контенте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22">
            <a:extLst>
              <a:ext uri="{FF2B5EF4-FFF2-40B4-BE49-F238E27FC236}">
                <a16:creationId xmlns:a16="http://schemas.microsoft.com/office/drawing/2014/main" id="{01CE154F-3BB7-272B-94AE-80479EFA8D9A}"/>
              </a:ext>
            </a:extLst>
          </p:cNvPr>
          <p:cNvSpPr/>
          <p:nvPr/>
        </p:nvSpPr>
        <p:spPr>
          <a:xfrm>
            <a:off x="360000" y="4465800"/>
            <a:ext cx="4266720" cy="3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Отчет о производственной практике: 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Гамов Павел Антонович ЭМС-271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DD2C8D77-9392-2605-7EF7-AD74AF935DD6}"/>
              </a:ext>
            </a:extLst>
          </p:cNvPr>
          <p:cNvSpPr/>
          <p:nvPr/>
        </p:nvSpPr>
        <p:spPr>
          <a:xfrm>
            <a:off x="360000" y="4864320"/>
            <a:ext cx="426672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Москва 2026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6" name="Picture 2" descr="Поступающему">
            <a:extLst>
              <a:ext uri="{FF2B5EF4-FFF2-40B4-BE49-F238E27FC236}">
                <a16:creationId xmlns:a16="http://schemas.microsoft.com/office/drawing/2014/main" id="{E5C46265-1689-F7CC-787D-A08311ABC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635" y="30255"/>
            <a:ext cx="463570" cy="46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362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880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Цель и задачи исследования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Цель: Изучение применения игровых механик в боте для профилактики здоровых привычек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Ключевые задачи практики: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Анализ существующих решений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Разработка концепции чат-бота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Реализация прототипа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Тестирование эффективности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ru-RU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3" name="Рисунок 2"/>
          <p:cNvPicPr/>
          <p:nvPr/>
        </p:nvPicPr>
        <p:blipFill>
          <a:blip r:embed="rId2"/>
          <a:stretch/>
        </p:blipFill>
        <p:spPr>
          <a:xfrm>
            <a:off x="6140880" y="1732680"/>
            <a:ext cx="2475000" cy="2475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880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Почему это важно?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3564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19999"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60% взрослого населения страдает от нездоровых привычек (по данным ВОЗ)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Традиционные методы мотивации недостаточно эффективны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Средний пользователь проводит 6+ часов в день в цифровой среде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4+ млрд пользователей мессенджеров ежедневно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ru-RU" sz="10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6" name="Рисунок 28"/>
          <p:cNvPicPr/>
          <p:nvPr/>
        </p:nvPicPr>
        <p:blipFill>
          <a:blip r:embed="rId2"/>
          <a:stretch/>
        </p:blipFill>
        <p:spPr>
          <a:xfrm>
            <a:off x="5397480" y="1260000"/>
            <a:ext cx="4142160" cy="3052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880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Что такое геймификация?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0" y="1326600"/>
            <a:ext cx="4534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Процесс применения игровых элементов в неигровых контекстах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Ключевые элементы: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Системы наград и достижений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Прогресс-бары и уровни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Социальные элементы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Мгновенная обратная связь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9" name="Picture 2" descr="Геймификация - что это такое в образовании и бизнесе | принципы и  инструменты геймификации"/>
          <p:cNvPicPr/>
          <p:nvPr/>
        </p:nvPicPr>
        <p:blipFill>
          <a:blip r:embed="rId2"/>
          <a:stretch/>
        </p:blipFill>
        <p:spPr>
          <a:xfrm>
            <a:off x="461520" y="1362960"/>
            <a:ext cx="4253040" cy="3189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1"/>
          <p:cNvPicPr/>
          <p:nvPr/>
        </p:nvPicPr>
        <p:blipFill>
          <a:blip r:embed="rId2"/>
          <a:stretch/>
        </p:blipFill>
        <p:spPr>
          <a:xfrm>
            <a:off x="5040000" y="2520000"/>
            <a:ext cx="2739240" cy="143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Что уже есть на рынке?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35640" cy="383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Образование: Duolingo (очки опыта, уровни)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Фитнес: Fitbit, Nike Run Club (награды, соц. сравнение)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Здоровье: Habitica (RPG-подход), Streaks (прогресс, напоминания)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Основные ограничения: зависимость от дисциплины, отсутствие соц. поддержки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3" name="Рисунок 34"/>
          <p:cNvPicPr/>
          <p:nvPr/>
        </p:nvPicPr>
        <p:blipFill>
          <a:blip r:embed="rId3"/>
          <a:stretch/>
        </p:blipFill>
        <p:spPr>
          <a:xfrm>
            <a:off x="5220000" y="720000"/>
            <a:ext cx="1439640" cy="126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Рисунок 35"/>
          <p:cNvPicPr/>
          <p:nvPr/>
        </p:nvPicPr>
        <p:blipFill>
          <a:blip r:embed="rId4"/>
          <a:stretch/>
        </p:blipFill>
        <p:spPr>
          <a:xfrm>
            <a:off x="6660000" y="1620000"/>
            <a:ext cx="14396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Рисунок 36"/>
          <p:cNvPicPr/>
          <p:nvPr/>
        </p:nvPicPr>
        <p:blipFill>
          <a:blip r:embed="rId5"/>
          <a:stretch/>
        </p:blipFill>
        <p:spPr>
          <a:xfrm>
            <a:off x="8280000" y="1620000"/>
            <a:ext cx="1439640" cy="143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Рисунок 37"/>
          <p:cNvPicPr/>
          <p:nvPr/>
        </p:nvPicPr>
        <p:blipFill>
          <a:blip r:embed="rId6"/>
          <a:stretch/>
        </p:blipFill>
        <p:spPr>
          <a:xfrm>
            <a:off x="7920000" y="3060000"/>
            <a:ext cx="1497240" cy="1439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1"/>
          <p:cNvPicPr/>
          <p:nvPr/>
        </p:nvPicPr>
        <p:blipFill>
          <a:blip r:embed="rId2"/>
          <a:stretch/>
        </p:blipFill>
        <p:spPr>
          <a:xfrm>
            <a:off x="5873040" y="912240"/>
            <a:ext cx="3701520" cy="370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Для кого это решение?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076400"/>
            <a:ext cx="5368680" cy="353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177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Возраст: 18-45 лет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177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Сегменты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49280" indent="-177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Молодые профессионалы (стресс, дефицит времени)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49280" indent="-177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Начинающие путь к ЗОЖ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49280" indent="-177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Цифровые нативы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177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Требования: простота, персонализация, соц. поддержка, безопасность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Найденное решение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5039640" y="892800"/>
            <a:ext cx="5039280" cy="399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10800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Платформа: Telegram (4+ млрд пользователей)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Основной функционал: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1080" indent="-34308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Программы формирования привычек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1080" indent="-34308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Персонализированные рекомендации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1080" indent="-34308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Система отслеживания прогресса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Игровые механики: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1080" indent="-34308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Очки опыта и уровни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1080" indent="-34308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Достижения и бейджи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1080" indent="-343080" defTabSz="914400">
              <a:lnSpc>
                <a:spcPct val="100000"/>
              </a:lnSpc>
              <a:spcBef>
                <a:spcPts val="601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Arial"/>
              <a:buChar char="•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Виртуальная валюта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Рисунок 6"/>
          <p:cNvPicPr/>
          <p:nvPr/>
        </p:nvPicPr>
        <p:blipFill>
          <a:blip r:embed="rId2"/>
          <a:stretch/>
        </p:blipFill>
        <p:spPr>
          <a:xfrm>
            <a:off x="504000" y="1191240"/>
            <a:ext cx="2088360" cy="20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Рисунок 8"/>
          <p:cNvPicPr/>
          <p:nvPr/>
        </p:nvPicPr>
        <p:blipFill>
          <a:blip r:embed="rId3"/>
          <a:stretch/>
        </p:blipFill>
        <p:spPr>
          <a:xfrm>
            <a:off x="2472480" y="2703600"/>
            <a:ext cx="2566800" cy="2566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808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Как это работает?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773680" cy="363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Технологии: Python 3.13, Telegram Bot API, MongoDB, Redis, Docker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Архитектура: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65200" indent="-204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Модуль управления пользователями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65200" indent="-204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Модуль программ привычек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65200" indent="-204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Модуль игровых механик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65200" indent="-204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Модуль социального взаимодействия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65200" indent="-204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Arial"/>
              <a:buAutoNum type="arabicPeriod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Модуль аналитики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46"/>
          <p:cNvSpPr/>
          <p:nvPr/>
        </p:nvSpPr>
        <p:spPr>
          <a:xfrm>
            <a:off x="5039640" y="5268960"/>
            <a:ext cx="3590640" cy="24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Графика: Техническая архитектура, логотипы технологий 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Группа 11"/>
          <p:cNvGrpSpPr/>
          <p:nvPr/>
        </p:nvGrpSpPr>
        <p:grpSpPr>
          <a:xfrm>
            <a:off x="5828040" y="892440"/>
            <a:ext cx="3702240" cy="904680"/>
            <a:chOff x="5828040" y="892440"/>
            <a:chExt cx="3702240" cy="904680"/>
          </a:xfrm>
        </p:grpSpPr>
        <p:pic>
          <p:nvPicPr>
            <p:cNvPr id="58" name="Рисунок 4"/>
            <p:cNvPicPr/>
            <p:nvPr/>
          </p:nvPicPr>
          <p:blipFill>
            <a:blip r:embed="rId2"/>
            <a:stretch/>
          </p:blipFill>
          <p:spPr>
            <a:xfrm>
              <a:off x="5828040" y="892440"/>
              <a:ext cx="899640" cy="89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" name="Рисунок 6"/>
            <p:cNvPicPr/>
            <p:nvPr/>
          </p:nvPicPr>
          <p:blipFill>
            <a:blip r:embed="rId3"/>
            <a:stretch/>
          </p:blipFill>
          <p:spPr>
            <a:xfrm>
              <a:off x="8630640" y="892440"/>
              <a:ext cx="899640" cy="89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" name="Рисунок 8"/>
            <p:cNvPicPr/>
            <p:nvPr/>
          </p:nvPicPr>
          <p:blipFill>
            <a:blip r:embed="rId4"/>
            <a:stretch/>
          </p:blipFill>
          <p:spPr>
            <a:xfrm>
              <a:off x="7628040" y="892440"/>
              <a:ext cx="899640" cy="89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" name="Рисунок 10"/>
            <p:cNvPicPr/>
            <p:nvPr/>
          </p:nvPicPr>
          <p:blipFill>
            <a:blip r:embed="rId5"/>
            <a:stretch/>
          </p:blipFill>
          <p:spPr>
            <a:xfrm>
              <a:off x="6728040" y="897480"/>
              <a:ext cx="899640" cy="899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2" name="Рисунок 15"/>
          <p:cNvPicPr/>
          <p:nvPr/>
        </p:nvPicPr>
        <p:blipFill>
          <a:blip r:embed="rId6"/>
          <a:stretch/>
        </p:blipFill>
        <p:spPr>
          <a:xfrm>
            <a:off x="5751000" y="3078000"/>
            <a:ext cx="899640" cy="899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" name="Группа 24"/>
          <p:cNvGrpSpPr/>
          <p:nvPr/>
        </p:nvGrpSpPr>
        <p:grpSpPr>
          <a:xfrm>
            <a:off x="8413200" y="2145600"/>
            <a:ext cx="899640" cy="2764800"/>
            <a:chOff x="8413200" y="2145600"/>
            <a:chExt cx="899640" cy="2764800"/>
          </a:xfrm>
        </p:grpSpPr>
        <p:pic>
          <p:nvPicPr>
            <p:cNvPr id="64" name="Рисунок 13"/>
            <p:cNvPicPr/>
            <p:nvPr/>
          </p:nvPicPr>
          <p:blipFill>
            <a:blip r:embed="rId7"/>
            <a:stretch/>
          </p:blipFill>
          <p:spPr>
            <a:xfrm>
              <a:off x="8413200" y="4010760"/>
              <a:ext cx="899640" cy="89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Рисунок 19"/>
            <p:cNvPicPr/>
            <p:nvPr/>
          </p:nvPicPr>
          <p:blipFill>
            <a:blip r:embed="rId8"/>
            <a:stretch/>
          </p:blipFill>
          <p:spPr>
            <a:xfrm>
              <a:off x="8413200" y="3078000"/>
              <a:ext cx="899640" cy="89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6" name="Рисунок 21"/>
            <p:cNvPicPr/>
            <p:nvPr/>
          </p:nvPicPr>
          <p:blipFill>
            <a:blip r:embed="rId9"/>
            <a:stretch/>
          </p:blipFill>
          <p:spPr>
            <a:xfrm>
              <a:off x="8413200" y="2145600"/>
              <a:ext cx="899640" cy="899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7" name="Рисунок 23"/>
          <p:cNvPicPr/>
          <p:nvPr/>
        </p:nvPicPr>
        <p:blipFill>
          <a:blip r:embed="rId10"/>
          <a:stretch/>
        </p:blipFill>
        <p:spPr>
          <a:xfrm>
            <a:off x="7082280" y="3078000"/>
            <a:ext cx="899640" cy="899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8" name="Прямая со стрелкой 26"/>
          <p:cNvCxnSpPr>
            <a:stCxn id="62" idx="3"/>
            <a:endCxn id="67" idx="1"/>
          </p:cNvCxnSpPr>
          <p:nvPr/>
        </p:nvCxnSpPr>
        <p:spPr>
          <a:xfrm>
            <a:off x="6650640" y="3527640"/>
            <a:ext cx="43200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69" name="Прямая со стрелкой 30"/>
          <p:cNvCxnSpPr>
            <a:stCxn id="67" idx="3"/>
            <a:endCxn id="66" idx="1"/>
          </p:cNvCxnSpPr>
          <p:nvPr/>
        </p:nvCxnSpPr>
        <p:spPr>
          <a:xfrm flipV="1">
            <a:off x="7981920" y="2595240"/>
            <a:ext cx="431640" cy="9327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70" name="Прямая со стрелкой 31"/>
          <p:cNvCxnSpPr>
            <a:stCxn id="67" idx="3"/>
            <a:endCxn id="65" idx="1"/>
          </p:cNvCxnSpPr>
          <p:nvPr/>
        </p:nvCxnSpPr>
        <p:spPr>
          <a:xfrm>
            <a:off x="7981920" y="3527640"/>
            <a:ext cx="431640" cy="36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  <p:cxnSp>
        <p:nvCxnSpPr>
          <p:cNvPr id="71" name="Прямая со стрелкой 34"/>
          <p:cNvCxnSpPr>
            <a:stCxn id="67" idx="3"/>
            <a:endCxn id="64" idx="1"/>
          </p:cNvCxnSpPr>
          <p:nvPr/>
        </p:nvCxnSpPr>
        <p:spPr>
          <a:xfrm>
            <a:off x="7981920" y="3527640"/>
            <a:ext cx="431640" cy="933120"/>
          </a:xfrm>
          <a:prstGeom prst="straightConnector1">
            <a:avLst/>
          </a:prstGeom>
          <a:ln>
            <a:solidFill>
              <a:srgbClr val="000000"/>
            </a:solidFill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Диаграмма 3"/>
          <p:cNvGraphicFramePr/>
          <p:nvPr/>
        </p:nvGraphicFramePr>
        <p:xfrm>
          <a:off x="575640" y="165240"/>
          <a:ext cx="8910720" cy="511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808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Эффективные механики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Наиболее успешные элементы: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Система уровней и очков опыта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Ежедневные челленджи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Социальное взаимодействие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Персонализированные достижения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Менее эффективные: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Глобальные лидерборды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Сложные экономические системы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651AFAC-C307-6990-C8AB-46B08FA9D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694" y="1421605"/>
            <a:ext cx="2827339" cy="28273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8440"/>
            <a:ext cx="9070560" cy="134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Итоги и дальнейшие шаги 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0560" cy="3713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Геймификация повышает мотивацию и вовлеченность</a:t>
            </a:r>
            <a:endParaRPr lang="ru-RU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Баланс между игрой и содержанием критически важен</a:t>
            </a:r>
            <a:endParaRPr lang="ru-RU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Проект имеет коммерческие перспективы</a:t>
            </a:r>
            <a:endParaRPr lang="ru-RU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32000" indent="-324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Полученные навыки:</a:t>
            </a:r>
            <a:endParaRPr lang="ru-RU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Научное исследование</a:t>
            </a:r>
            <a:endParaRPr lang="ru-RU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Разработка ИС</a:t>
            </a:r>
            <a:endParaRPr lang="ru-RU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Тестирование и аналитика</a:t>
            </a:r>
            <a:endParaRPr lang="ru-RU" sz="2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</TotalTime>
  <Words>353</Words>
  <Application>Microsoft Office PowerPoint</Application>
  <PresentationFormat>Произвольный</PresentationFormat>
  <Paragraphs>78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Wingdings</vt:lpstr>
      <vt:lpstr>Office</vt:lpstr>
      <vt:lpstr>Тема Office</vt:lpstr>
      <vt:lpstr>Презентация PowerPoint</vt:lpstr>
      <vt:lpstr>Презентация PowerPoint</vt:lpstr>
      <vt:lpstr>Цель и задачи исследования </vt:lpstr>
      <vt:lpstr>Почему это важно? </vt:lpstr>
      <vt:lpstr>Что такое геймификация? </vt:lpstr>
      <vt:lpstr>Что уже есть на рынке? </vt:lpstr>
      <vt:lpstr>Для кого это решение? </vt:lpstr>
      <vt:lpstr>Найденное решение </vt:lpstr>
      <vt:lpstr>Как это работает? </vt:lpstr>
      <vt:lpstr>Презентация PowerPoint</vt:lpstr>
      <vt:lpstr>Эффективные механики</vt:lpstr>
      <vt:lpstr>Итоги и дальнейшие шаги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Павел Гамов</cp:lastModifiedBy>
  <cp:revision>20</cp:revision>
  <dcterms:created xsi:type="dcterms:W3CDTF">2026-03-04T15:09:59Z</dcterms:created>
  <dcterms:modified xsi:type="dcterms:W3CDTF">2026-03-29T20:23:14Z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11</vt:i4>
  </property>
  <property fmtid="{D5CDD505-2E9C-101B-9397-08002B2CF9AE}" pid="3" name="Notes">
    <vt:i4>1</vt:i4>
  </property>
  <property fmtid="{D5CDD505-2E9C-101B-9397-08002B2CF9AE}" pid="4" name="PresentationFormat">
    <vt:lpwstr>Произвольный</vt:lpwstr>
  </property>
  <property fmtid="{D5CDD505-2E9C-101B-9397-08002B2CF9AE}" pid="5" name="Slides">
    <vt:i4>22</vt:i4>
  </property>
</Properties>
</file>